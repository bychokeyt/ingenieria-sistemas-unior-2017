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png"/>
  <Override PartName="/ppt/media/image3.jpg" ContentType="image/png"/>
  <Override PartName="/ppt/media/image4.jpg" ContentType="image/png"/>
  <Override PartName="/ppt/media/image5.jpg" ContentType="image/png"/>
  <Override PartName="/ppt/media/image6.jpg" ContentType="image/png"/>
  <Override PartName="/ppt/media/image7.jpg" ContentType="image/png"/>
  <Override PartName="/ppt/media/image8.jpg" ContentType="image/png"/>
  <Override PartName="/ppt/media/image10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Soft" initials="T" lastIdx="0" clrIdx="0">
    <p:extLst>
      <p:ext uri="{19B8F6BF-5375-455C-9EA6-DF929625EA0E}">
        <p15:presenceInfo xmlns:p15="http://schemas.microsoft.com/office/powerpoint/2012/main" userId="TuSof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CC"/>
    <a:srgbClr val="1D1C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94095" autoAdjust="0"/>
  </p:normalViewPr>
  <p:slideViewPr>
    <p:cSldViewPr snapToGrid="0">
      <p:cViewPr varScale="1">
        <p:scale>
          <a:sx n="65" d="100"/>
          <a:sy n="65" d="100"/>
        </p:scale>
        <p:origin x="912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1E98A-7282-41AD-9F30-2E8FF122F00E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1EA32-2BA7-45E5-B24E-6720B6E026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763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48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5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049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78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42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16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541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862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435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845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824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3641B-042D-4055-B24C-F0A3588527BA}" type="datetimeFigureOut">
              <a:rPr lang="es-ES" smtClean="0"/>
              <a:t>27/05/2020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DCAE9-66D2-4717-82AD-D0091A88F6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937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841620" y="4290052"/>
            <a:ext cx="8785422" cy="2138289"/>
          </a:xfrm>
        </p:spPr>
        <p:txBody>
          <a:bodyPr>
            <a:normAutofit fontScale="90000"/>
          </a:bodyPr>
          <a:lstStyle/>
          <a:p>
            <a:br>
              <a:rPr lang="es-ES" b="1" dirty="0"/>
            </a:br>
            <a:br>
              <a:rPr lang="es-ES" b="1" dirty="0"/>
            </a:br>
            <a:br>
              <a:rPr lang="es-ES" b="1" dirty="0"/>
            </a:br>
            <a:br>
              <a:rPr lang="es-ES" b="1" dirty="0"/>
            </a:br>
            <a:br>
              <a:rPr lang="es-ES" b="1" dirty="0"/>
            </a:br>
            <a:br>
              <a:rPr lang="es-ES" b="1" dirty="0"/>
            </a:br>
            <a:br>
              <a:rPr lang="es-ES" b="1" dirty="0"/>
            </a:br>
            <a:r>
              <a:rPr lang="es-ES" b="1" dirty="0" err="1">
                <a:latin typeface="Allstar4" panose="02000500000000000000" pitchFamily="2" charset="0"/>
              </a:rPr>
              <a:t>Ingenieria</a:t>
            </a:r>
            <a:r>
              <a:rPr lang="es-ES" b="1" dirty="0">
                <a:latin typeface="Allstar4" panose="02000500000000000000" pitchFamily="2" charset="0"/>
              </a:rPr>
              <a:t> de Software</a:t>
            </a:r>
            <a:br>
              <a:rPr lang="es-ES" b="1" dirty="0"/>
            </a:b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2761955" y="5624392"/>
            <a:ext cx="6944753" cy="452851"/>
          </a:xfr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s-ES" dirty="0">
                <a:latin typeface="BankGothic Md BT" panose="020B0807020203060204" pitchFamily="34" charset="0"/>
              </a:rPr>
              <a:t>TAREA S4-MAPA CONCEPTUAL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-1" y="0"/>
            <a:ext cx="12192001" cy="5202237"/>
            <a:chOff x="-1" y="0"/>
            <a:chExt cx="12192001" cy="5202237"/>
          </a:xfrm>
          <a:blipFill>
            <a:blip r:embed="rId2"/>
            <a:stretch>
              <a:fillRect/>
            </a:stretch>
          </a:blipFill>
        </p:grpSpPr>
        <p:sp>
          <p:nvSpPr>
            <p:cNvPr id="12" name="Triángulo isósceles 11"/>
            <p:cNvSpPr/>
            <p:nvPr/>
          </p:nvSpPr>
          <p:spPr>
            <a:xfrm flipV="1">
              <a:off x="377483" y="0"/>
              <a:ext cx="11437033" cy="4888316"/>
            </a:xfrm>
            <a:prstGeom prst="triangle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Triángulo isósceles 12"/>
            <p:cNvSpPr/>
            <p:nvPr/>
          </p:nvSpPr>
          <p:spPr>
            <a:xfrm rot="16200000" flipV="1">
              <a:off x="-131131" y="288091"/>
              <a:ext cx="5045276" cy="4783015"/>
            </a:xfrm>
            <a:prstGeom prst="triangle">
              <a:avLst>
                <a:gd name="adj" fmla="val 179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Triángulo isósceles 13"/>
            <p:cNvSpPr/>
            <p:nvPr/>
          </p:nvSpPr>
          <p:spPr>
            <a:xfrm rot="5400000" flipH="1" flipV="1">
              <a:off x="7277855" y="288091"/>
              <a:ext cx="5045276" cy="4783015"/>
            </a:xfrm>
            <a:prstGeom prst="triangle">
              <a:avLst>
                <a:gd name="adj" fmla="val 2099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2804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0" y="0"/>
            <a:ext cx="12146639" cy="6857998"/>
            <a:chOff x="-1" y="0"/>
            <a:chExt cx="12146639" cy="6857998"/>
          </a:xfrm>
          <a:blipFill dpi="0" rotWithShape="0">
            <a:blip r:embed="rId2"/>
            <a:srcRect/>
            <a:stretch>
              <a:fillRect/>
            </a:stretch>
          </a:blipFill>
        </p:grpSpPr>
        <p:sp>
          <p:nvSpPr>
            <p:cNvPr id="3" name="Triángulo isósceles 2"/>
            <p:cNvSpPr/>
            <p:nvPr/>
          </p:nvSpPr>
          <p:spPr>
            <a:xfrm rot="5400000">
              <a:off x="9938" y="2176669"/>
              <a:ext cx="2862470" cy="2882347"/>
            </a:xfrm>
            <a:prstGeom prst="triangle">
              <a:avLst>
                <a:gd name="adj" fmla="val 1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Forma libre 15"/>
            <p:cNvSpPr/>
            <p:nvPr/>
          </p:nvSpPr>
          <p:spPr>
            <a:xfrm flipV="1">
              <a:off x="-1" y="0"/>
              <a:ext cx="3975653" cy="3876257"/>
            </a:xfrm>
            <a:custGeom>
              <a:avLst/>
              <a:gdLst>
                <a:gd name="connsiteX0" fmla="*/ 0 w 3975653"/>
                <a:gd name="connsiteY0" fmla="*/ 3876257 h 3876257"/>
                <a:gd name="connsiteX1" fmla="*/ 3975653 w 3975653"/>
                <a:gd name="connsiteY1" fmla="*/ 3876257 h 3876257"/>
                <a:gd name="connsiteX2" fmla="*/ 2392950 w 3975653"/>
                <a:gd name="connsiteY2" fmla="*/ 0 h 3876257"/>
                <a:gd name="connsiteX3" fmla="*/ 0 w 3975653"/>
                <a:gd name="connsiteY3" fmla="*/ 2425536 h 3876257"/>
                <a:gd name="connsiteX4" fmla="*/ 0 w 3975653"/>
                <a:gd name="connsiteY4" fmla="*/ 3876257 h 3876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5653" h="3876257">
                  <a:moveTo>
                    <a:pt x="0" y="3876257"/>
                  </a:moveTo>
                  <a:lnTo>
                    <a:pt x="3975653" y="3876257"/>
                  </a:lnTo>
                  <a:lnTo>
                    <a:pt x="2392950" y="0"/>
                  </a:lnTo>
                  <a:lnTo>
                    <a:pt x="0" y="2425536"/>
                  </a:lnTo>
                  <a:lnTo>
                    <a:pt x="0" y="387625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Triángulo isósceles 14"/>
            <p:cNvSpPr/>
            <p:nvPr/>
          </p:nvSpPr>
          <p:spPr>
            <a:xfrm rot="16200000">
              <a:off x="9502319" y="4213680"/>
              <a:ext cx="2802837" cy="2485800"/>
            </a:xfrm>
            <a:prstGeom prst="triangl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89048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9559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06399" y="1770740"/>
            <a:ext cx="4673601" cy="40934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Construye confianza</a:t>
            </a:r>
          </a:p>
          <a:p>
            <a:r>
              <a:rPr lang="es-ES" sz="20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La confianza es el elemento principal del trabajo en equipo. Impulsa un ambiente donde todos los participantes conozcan las habilidades de los demás, entiendan sus roles y sepan cómo ayudarse mutuamente  por eso Google se concentra en el cuidado de la salud psicológica de sus integrantes, su confianza y las habilidades competitivas con sus compañeros.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743200" y="293666"/>
            <a:ext cx="670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>
                <a:latin typeface="[z] Arista" panose="02000500000000020004" pitchFamily="2" charset="0"/>
              </a:rPr>
              <a:t>CONTRUYE  COMFIANZA</a:t>
            </a:r>
          </a:p>
        </p:txBody>
      </p:sp>
    </p:spTree>
    <p:extLst>
      <p:ext uri="{BB962C8B-B14F-4D97-AF65-F5344CB8AC3E}">
        <p14:creationId xmlns:p14="http://schemas.microsoft.com/office/powerpoint/2010/main" val="3317673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EA93CB0-7655-4342-A2FB-DAD4F2A4919B}"/>
              </a:ext>
            </a:extLst>
          </p:cNvPr>
          <p:cNvSpPr txBox="1"/>
          <p:nvPr/>
        </p:nvSpPr>
        <p:spPr>
          <a:xfrm>
            <a:off x="4763728" y="238847"/>
            <a:ext cx="4173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highlight>
                  <a:srgbClr val="C0C0C0"/>
                </a:highlight>
                <a:latin typeface="[z] Arista" panose="02000500000000020004" pitchFamily="2" charset="0"/>
              </a:rPr>
              <a:t>Ser </a:t>
            </a:r>
            <a:r>
              <a:rPr lang="es-ES" sz="4400" dirty="0" err="1">
                <a:highlight>
                  <a:srgbClr val="C0C0C0"/>
                </a:highlight>
                <a:latin typeface="[z] Arista" panose="02000500000000020004" pitchFamily="2" charset="0"/>
              </a:rPr>
              <a:t>Lider</a:t>
            </a:r>
            <a:endParaRPr lang="es-ES" sz="4400" dirty="0">
              <a:highlight>
                <a:srgbClr val="C0C0C0"/>
              </a:highlight>
              <a:latin typeface="[z] Arista" panose="02000500000000020004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949813-79FB-4A98-A32D-86FD8F26417B}"/>
              </a:ext>
            </a:extLst>
          </p:cNvPr>
          <p:cNvSpPr txBox="1"/>
          <p:nvPr/>
        </p:nvSpPr>
        <p:spPr>
          <a:xfrm>
            <a:off x="501445" y="1247135"/>
            <a:ext cx="4945626" cy="44319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obe Kaiti Std R" panose="02020400000000000000" pitchFamily="18" charset="-128"/>
                <a:ea typeface="Adobe Kaiti Std R" panose="02020400000000000000" pitchFamily="18" charset="-128"/>
              </a:rPr>
              <a:t> Cada miembro de Apple tiene una </a:t>
            </a:r>
            <a:r>
              <a:rPr lang="es-ES" sz="2400" dirty="0" err="1">
                <a:latin typeface="Adobe Kaiti Std R" panose="02020400000000000000" pitchFamily="18" charset="-128"/>
                <a:ea typeface="Adobe Kaiti Std R" panose="02020400000000000000" pitchFamily="18" charset="-128"/>
              </a:rPr>
              <a:t>vocacion</a:t>
            </a:r>
            <a:r>
              <a:rPr lang="es-ES" sz="2400" dirty="0">
                <a:latin typeface="Adobe Kaiti Std R" panose="02020400000000000000" pitchFamily="18" charset="-128"/>
                <a:ea typeface="Adobe Kaiti Std R" panose="02020400000000000000" pitchFamily="18" charset="-128"/>
              </a:rPr>
              <a:t> diferente, cuando se planifican reuniones se acuerda que exista oportuna </a:t>
            </a:r>
            <a:r>
              <a:rPr lang="es-ES" sz="2400" dirty="0" err="1">
                <a:latin typeface="Adobe Kaiti Std R" panose="02020400000000000000" pitchFamily="18" charset="-128"/>
                <a:ea typeface="Adobe Kaiti Std R" panose="02020400000000000000" pitchFamily="18" charset="-128"/>
              </a:rPr>
              <a:t>organizacion</a:t>
            </a:r>
            <a:r>
              <a:rPr lang="es-ES" sz="2400" dirty="0">
                <a:latin typeface="Adobe Kaiti Std R" panose="02020400000000000000" pitchFamily="18" charset="-128"/>
                <a:ea typeface="Adobe Kaiti Std R" panose="02020400000000000000" pitchFamily="18" charset="-128"/>
              </a:rPr>
              <a:t> y disponibilidad para realizar mejoras a la empresa. No te “laves las manos” y  se parte del equipo. Como </a:t>
            </a:r>
            <a:r>
              <a:rPr lang="es-ES" sz="2400" dirty="0" err="1">
                <a:latin typeface="Adobe Kaiti Std R" panose="02020400000000000000" pitchFamily="18" charset="-128"/>
                <a:ea typeface="Adobe Kaiti Std R" panose="02020400000000000000" pitchFamily="18" charset="-128"/>
              </a:rPr>
              <a:t>lider</a:t>
            </a:r>
            <a:r>
              <a:rPr lang="es-ES" sz="2400" dirty="0">
                <a:latin typeface="Adobe Kaiti Std R" panose="02020400000000000000" pitchFamily="18" charset="-128"/>
                <a:ea typeface="Adobe Kaiti Std R" panose="02020400000000000000" pitchFamily="18" charset="-128"/>
              </a:rPr>
              <a:t> </a:t>
            </a:r>
            <a:r>
              <a:rPr lang="es-ES" sz="2400" dirty="0" err="1">
                <a:latin typeface="Adobe Kaiti Std R" panose="02020400000000000000" pitchFamily="18" charset="-128"/>
                <a:ea typeface="Adobe Kaiti Std R" panose="02020400000000000000" pitchFamily="18" charset="-128"/>
              </a:rPr>
              <a:t>tendras</a:t>
            </a:r>
            <a:r>
              <a:rPr lang="es-ES" sz="2400" dirty="0">
                <a:latin typeface="Adobe Kaiti Std R" panose="02020400000000000000" pitchFamily="18" charset="-128"/>
                <a:ea typeface="Adobe Kaiti Std R" panose="02020400000000000000" pitchFamily="18" charset="-128"/>
              </a:rPr>
              <a:t> que llegar a consensos y tomar decisiones, con base en las ideas y opiniones de tu equipo.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0301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0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8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4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6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4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4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5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81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143</Words>
  <Application>Microsoft Office PowerPoint</Application>
  <PresentationFormat>Panorámica</PresentationFormat>
  <Paragraphs>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Adobe Kaiti Std R</vt:lpstr>
      <vt:lpstr>[z] Arista</vt:lpstr>
      <vt:lpstr>Allstar4</vt:lpstr>
      <vt:lpstr>Arial</vt:lpstr>
      <vt:lpstr>BankGothic Md BT</vt:lpstr>
      <vt:lpstr>Calibri</vt:lpstr>
      <vt:lpstr>Calibri Light</vt:lpstr>
      <vt:lpstr>Cooper Black</vt:lpstr>
      <vt:lpstr>Tema de Office</vt:lpstr>
      <vt:lpstr>       Ingenieria de Software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TuSoft.org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Explrando el mundo</dc:title>
  <dc:creator>TuSoft</dc:creator>
  <cp:lastModifiedBy>TuSoft</cp:lastModifiedBy>
  <cp:revision>19</cp:revision>
  <dcterms:created xsi:type="dcterms:W3CDTF">2020-05-27T06:27:22Z</dcterms:created>
  <dcterms:modified xsi:type="dcterms:W3CDTF">2020-05-27T20:16:38Z</dcterms:modified>
</cp:coreProperties>
</file>