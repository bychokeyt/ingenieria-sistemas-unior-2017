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slides/_rels/slide20.xml.rels" ContentType="application/vnd.openxmlformats-package.relationships+xml"/>
  <Override PartName="/ppt/slides/_rels/slide16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9.xml.rels" ContentType="application/vnd.openxmlformats-package.relationships+xml"/>
  <Override PartName="/ppt/slides/_rels/slide12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9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5.xml" ContentType="application/vnd.openxmlformats-officedocument.presentationml.slide+xml"/>
  <Override PartName="/ppt/slides/slide2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24.png" ContentType="image/png"/>
  <Override PartName="/ppt/media/image9.png" ContentType="image/png"/>
  <Override PartName="/ppt/media/image10.png" ContentType="image/png"/>
  <Override PartName="/ppt/media/image23.png" ContentType="image/png"/>
  <Override PartName="/ppt/media/image8.png" ContentType="image/png"/>
  <Override PartName="/ppt/media/image1.png" ContentType="image/png"/>
  <Override PartName="/ppt/media/image6.png" ContentType="image/png"/>
  <Override PartName="/ppt/media/image21.png" ContentType="image/png"/>
  <Override PartName="/ppt/media/image2.png" ContentType="image/png"/>
  <Override PartName="/ppt/media/image7.png" ContentType="image/png"/>
  <Override PartName="/ppt/media/image22.png" ContentType="image/png"/>
  <Override PartName="/ppt/media/image3.png" ContentType="image/png"/>
  <Override PartName="/ppt/media/image4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5.png" ContentType="image/png"/>
  <Override PartName="/ppt/media/image20.png" ContentType="image/png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0080625" cy="7559675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1640" cy="585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7" name="" descr=""/>
          <p:cNvPicPr/>
          <p:nvPr/>
        </p:nvPicPr>
        <p:blipFill>
          <a:blip r:embed="rId2"/>
          <a:stretch/>
        </p:blipFill>
        <p:spPr>
          <a:xfrm>
            <a:off x="2292120" y="1768680"/>
            <a:ext cx="5495040" cy="4384440"/>
          </a:xfrm>
          <a:prstGeom prst="rect">
            <a:avLst/>
          </a:prstGeom>
          <a:ln>
            <a:noFill/>
          </a:ln>
        </p:spPr>
      </p:pic>
      <p:pic>
        <p:nvPicPr>
          <p:cNvPr id="38" name="" descr=""/>
          <p:cNvPicPr/>
          <p:nvPr/>
        </p:nvPicPr>
        <p:blipFill>
          <a:blip r:embed="rId3"/>
          <a:stretch/>
        </p:blipFill>
        <p:spPr>
          <a:xfrm>
            <a:off x="2292120" y="1768680"/>
            <a:ext cx="5495040" cy="438444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Pulse para editar el formato del texto de título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Pulse para editar el formato de esquema del texto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2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Segundo nivel del esquema</a:t>
            </a:r>
            <a:endParaRPr b="0" lang="es-BO" sz="2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Tercer nivel del esquema</a:t>
            </a:r>
            <a:endParaRPr b="0" lang="es-BO" sz="2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Cuarto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Quinto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Sexto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Séptimo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</p:spPr>
        <p:txBody>
          <a:bodyPr lIns="0" rIns="0" tIns="0" bIns="0"/>
          <a:p>
            <a:r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&lt;fecha/hora&gt;</a:t>
            </a:r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 lIns="0" rIns="0" tIns="0" bIns="0"/>
          <a:p>
            <a:pPr algn="ctr"/>
            <a:r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&lt;pie de página&gt;</a:t>
            </a:r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 lIns="0" rIns="0" tIns="0" bIns="0"/>
          <a:p>
            <a:pPr algn="r"/>
            <a:fld id="{6BE091E8-DF5D-47BD-B5C4-9A2EB474842F}" type="slidenum"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&lt;número&gt;</a:t>
            </a:fld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 proceso de preparación de un proyecto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0" name="TextShape 2"/>
          <p:cNvSpPr txBox="1"/>
          <p:nvPr/>
        </p:nvSpPr>
        <p:spPr>
          <a:xfrm>
            <a:off x="504000" y="1769040"/>
            <a:ext cx="9071640" cy="5286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organizacional y administrativo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 refiere a la organización y a los procedimientos administrativos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1" name="" descr=""/>
          <p:cNvPicPr/>
          <p:nvPr/>
        </p:nvPicPr>
        <p:blipFill>
          <a:blip r:embed="rId1"/>
          <a:stretch/>
        </p:blipFill>
        <p:spPr>
          <a:xfrm>
            <a:off x="2363760" y="2448000"/>
            <a:ext cx="5772240" cy="40129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 proceso de preparación de un proyecto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3" name="TextShape 2"/>
          <p:cNvSpPr txBox="1"/>
          <p:nvPr/>
        </p:nvSpPr>
        <p:spPr>
          <a:xfrm>
            <a:off x="504000" y="1649880"/>
            <a:ext cx="9071640" cy="55256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organizacional y administrativo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Definir una estructura organizacional ayuda indirectamente a estimar los costos estimados de mano de obra ejecutiva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4" name="" descr=""/>
          <p:cNvPicPr/>
          <p:nvPr/>
        </p:nvPicPr>
        <p:blipFill>
          <a:blip r:embed="rId1"/>
          <a:stretch/>
        </p:blipFill>
        <p:spPr>
          <a:xfrm>
            <a:off x="2330280" y="2448000"/>
            <a:ext cx="5301720" cy="3528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" dur="indefinite" restart="never" nodeType="tmRoot">
          <p:childTnLst>
            <p:seq>
              <p:cTn id="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 proceso de preparación de un proyecto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6" name="TextShape 2"/>
          <p:cNvSpPr txBox="1"/>
          <p:nvPr/>
        </p:nvSpPr>
        <p:spPr>
          <a:xfrm>
            <a:off x="504000" y="1649880"/>
            <a:ext cx="9071640" cy="55256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organizacional y administrativo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Existen diferencias notables entre un procedimiento sistematizado a uno normal, y estas diferencias se reflejan en la organización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7" name="" descr=""/>
          <p:cNvPicPr/>
          <p:nvPr/>
        </p:nvPicPr>
        <p:blipFill>
          <a:blip r:embed="rId1"/>
          <a:stretch/>
        </p:blipFill>
        <p:spPr>
          <a:xfrm>
            <a:off x="2573280" y="2376000"/>
            <a:ext cx="5095080" cy="3816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5" dur="indefinite" restart="never" nodeType="tmRoot">
          <p:childTnLst>
            <p:seq>
              <p:cTn id="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 proceso de preparación de un proyecto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9" name="TextShape 2"/>
          <p:cNvSpPr txBox="1"/>
          <p:nvPr/>
        </p:nvSpPr>
        <p:spPr>
          <a:xfrm>
            <a:off x="504000" y="1649880"/>
            <a:ext cx="9071640" cy="55256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organizacional y administrativo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 tiene que contemplar la idea de subcontratación, ya que en esta modalidad se ahorra en equipamiento, espacio y otros.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0" name="" descr=""/>
          <p:cNvPicPr/>
          <p:nvPr/>
        </p:nvPicPr>
        <p:blipFill>
          <a:blip r:embed="rId1"/>
          <a:stretch/>
        </p:blipFill>
        <p:spPr>
          <a:xfrm>
            <a:off x="2089440" y="2312640"/>
            <a:ext cx="6262560" cy="37353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7" dur="indefinite" restart="never" nodeType="tmRoot">
          <p:childTnLst>
            <p:seq>
              <p:cTn id="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 proceso de preparación de un proyecto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2" name="TextShape 2"/>
          <p:cNvSpPr txBox="1"/>
          <p:nvPr/>
        </p:nvSpPr>
        <p:spPr>
          <a:xfrm>
            <a:off x="504000" y="1649880"/>
            <a:ext cx="9071640" cy="55256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organizacional y administrativo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Este análisis también ayuda a dimensionar el espacio y los requerimientos que necesita este personal ejecutivo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1969920" y="2376000"/>
            <a:ext cx="6526080" cy="38793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9" dur="indefinite" restart="never" nodeType="tmRoot">
          <p:childTnLst>
            <p:seq>
              <p:cTn id="1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 proceso de preparación de un proyecto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5" name="TextShape 2"/>
          <p:cNvSpPr txBox="1"/>
          <p:nvPr/>
        </p:nvSpPr>
        <p:spPr>
          <a:xfrm>
            <a:off x="504000" y="1769040"/>
            <a:ext cx="9071640" cy="5286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organizacional y administrativo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En esta parte es importante incluir el estudio legal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6" name="" descr=""/>
          <p:cNvPicPr/>
          <p:nvPr/>
        </p:nvPicPr>
        <p:blipFill>
          <a:blip r:embed="rId1"/>
          <a:stretch/>
        </p:blipFill>
        <p:spPr>
          <a:xfrm>
            <a:off x="3074040" y="2520000"/>
            <a:ext cx="3621960" cy="39942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1" dur="indefinite" restart="never" nodeType="tmRoot">
          <p:childTnLst>
            <p:seq>
              <p:cTn id="1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 proceso de preparación de un proyecto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8" name="TextShape 2"/>
          <p:cNvSpPr txBox="1"/>
          <p:nvPr/>
        </p:nvSpPr>
        <p:spPr>
          <a:xfrm>
            <a:off x="504000" y="1769040"/>
            <a:ext cx="9071640" cy="5286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financiero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Objetivo, sistematizar y ordenar la información entregada por las otras etapas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9" name="" descr=""/>
          <p:cNvPicPr/>
          <p:nvPr/>
        </p:nvPicPr>
        <p:blipFill>
          <a:blip r:embed="rId1"/>
          <a:stretch/>
        </p:blipFill>
        <p:spPr>
          <a:xfrm>
            <a:off x="2506680" y="2376000"/>
            <a:ext cx="5472000" cy="3888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3" dur="indefinite" restart="never" nodeType="tmRoot">
          <p:childTnLst>
            <p:seq>
              <p:cTn id="1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 proceso de preparación de un proyecto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1" name="TextShape 2"/>
          <p:cNvSpPr txBox="1"/>
          <p:nvPr/>
        </p:nvSpPr>
        <p:spPr>
          <a:xfrm>
            <a:off x="504000" y="1769040"/>
            <a:ext cx="9071640" cy="5286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financiero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La información obtenida nos sirve para encontrar la rentabilidad del proyecto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2151000" y="2448000"/>
            <a:ext cx="5193000" cy="39247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5" dur="indefinite" restart="never" nodeType="tmRoot">
          <p:childTnLst>
            <p:seq>
              <p:cTn id="1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 proceso de preparación de un proyecto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4" name="TextShape 2"/>
          <p:cNvSpPr txBox="1"/>
          <p:nvPr/>
        </p:nvSpPr>
        <p:spPr>
          <a:xfrm>
            <a:off x="504000" y="1769040"/>
            <a:ext cx="9071640" cy="5286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financiero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Generar toda la información necesaria para realizar la evaluación del proyecto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65" name="" descr=""/>
          <p:cNvPicPr/>
          <p:nvPr/>
        </p:nvPicPr>
        <p:blipFill>
          <a:blip r:embed="rId1"/>
          <a:stretch/>
        </p:blipFill>
        <p:spPr>
          <a:xfrm>
            <a:off x="2736000" y="2326680"/>
            <a:ext cx="3960000" cy="42339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7" dur="indefinite" restart="never" nodeType="tmRoot">
          <p:childTnLst>
            <p:seq>
              <p:cTn id="1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 proceso de preparación de un proyecto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7" name="TextShape 2"/>
          <p:cNvSpPr txBox="1"/>
          <p:nvPr/>
        </p:nvSpPr>
        <p:spPr>
          <a:xfrm>
            <a:off x="504000" y="1769040"/>
            <a:ext cx="9071640" cy="5286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financiero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En esta etapa se genera el calendario de inversiones y reinversiones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68" name="" descr=""/>
          <p:cNvPicPr/>
          <p:nvPr/>
        </p:nvPicPr>
        <p:blipFill>
          <a:blip r:embed="rId1"/>
          <a:stretch/>
        </p:blipFill>
        <p:spPr>
          <a:xfrm>
            <a:off x="2375280" y="2339280"/>
            <a:ext cx="4896720" cy="42084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9" dur="indefinite" restart="never" nodeType="tmRoot">
          <p:childTnLst>
            <p:seq>
              <p:cTn id="2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 proceso de preparación de un proyecto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0" name="TextShape 2"/>
          <p:cNvSpPr txBox="1"/>
          <p:nvPr/>
        </p:nvSpPr>
        <p:spPr>
          <a:xfrm>
            <a:off x="504000" y="1769040"/>
            <a:ext cx="9071640" cy="5286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financiero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 la misma manera se genera el valor residual de la inversión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1" name="" descr=""/>
          <p:cNvPicPr/>
          <p:nvPr/>
        </p:nvPicPr>
        <p:blipFill>
          <a:blip r:embed="rId1"/>
          <a:stretch/>
        </p:blipFill>
        <p:spPr>
          <a:xfrm>
            <a:off x="1872000" y="2705400"/>
            <a:ext cx="6556680" cy="34146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1" dur="indefinite" restart="never" nodeType="tmRoot">
          <p:childTnLst>
            <p:seq>
              <p:cTn id="2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 proceso de preparación de un proyecto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3" name="TextShape 2"/>
          <p:cNvSpPr txBox="1"/>
          <p:nvPr/>
        </p:nvSpPr>
        <p:spPr>
          <a:xfrm>
            <a:off x="504000" y="1769040"/>
            <a:ext cx="9071640" cy="5286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financiero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 obtiene el costo de operaciones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4" name="" descr=""/>
          <p:cNvPicPr/>
          <p:nvPr/>
        </p:nvPicPr>
        <p:blipFill>
          <a:blip r:embed="rId1"/>
          <a:stretch/>
        </p:blipFill>
        <p:spPr>
          <a:xfrm>
            <a:off x="2736000" y="2597400"/>
            <a:ext cx="4713480" cy="35946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3" dur="indefinite" restart="never" nodeType="tmRoot">
          <p:childTnLst>
            <p:seq>
              <p:cTn id="2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 proceso de preparación de un proyecto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6" name="TextShape 2"/>
          <p:cNvSpPr txBox="1"/>
          <p:nvPr/>
        </p:nvSpPr>
        <p:spPr>
          <a:xfrm>
            <a:off x="504000" y="1769040"/>
            <a:ext cx="9071640" cy="5286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financiero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Por ultimo se realiza la evaluación del proyecto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7" name="" descr=""/>
          <p:cNvPicPr/>
          <p:nvPr/>
        </p:nvPicPr>
        <p:blipFill>
          <a:blip r:embed="rId1"/>
          <a:stretch/>
        </p:blipFill>
        <p:spPr>
          <a:xfrm>
            <a:off x="2448000" y="2582640"/>
            <a:ext cx="5034240" cy="36093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5" dur="indefinite" restart="never" nodeType="tmRoot">
          <p:childTnLst>
            <p:seq>
              <p:cTn id="2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 proceso de preparación de un proyecto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9" name="TextShape 2"/>
          <p:cNvSpPr txBox="1"/>
          <p:nvPr/>
        </p:nvSpPr>
        <p:spPr>
          <a:xfrm>
            <a:off x="504000" y="1769040"/>
            <a:ext cx="9071640" cy="5286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de impacto ambiental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Instrumento dirigido a prevenir un deterioro ambiental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2376000" y="2592000"/>
            <a:ext cx="5734800" cy="3816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7" dur="indefinite" restart="never" nodeType="tmRoot">
          <p:childTnLst>
            <p:seq>
              <p:cTn id="2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 proceso de preparación de un proyecto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2" name="TextShape 2"/>
          <p:cNvSpPr txBox="1"/>
          <p:nvPr/>
        </p:nvSpPr>
        <p:spPr>
          <a:xfrm>
            <a:off x="504000" y="1649880"/>
            <a:ext cx="9071640" cy="55256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de impacto ambiental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técnico científico cuyo objetivo es predecir los efectos positivos o negativos sobre el ambiente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83" name="" descr=""/>
          <p:cNvPicPr/>
          <p:nvPr/>
        </p:nvPicPr>
        <p:blipFill>
          <a:blip r:embed="rId1"/>
          <a:stretch/>
        </p:blipFill>
        <p:spPr>
          <a:xfrm>
            <a:off x="3024000" y="2232000"/>
            <a:ext cx="3456000" cy="42991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9" dur="indefinite" restart="never" nodeType="tmRoot">
          <p:childTnLst>
            <p:seq>
              <p:cTn id="3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 proceso de preparación de un proyecto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5" name="TextShape 2"/>
          <p:cNvSpPr txBox="1"/>
          <p:nvPr/>
        </p:nvSpPr>
        <p:spPr>
          <a:xfrm>
            <a:off x="504000" y="1769040"/>
            <a:ext cx="9071640" cy="5286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de impacto ambiental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Linea de base medio físico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1224000" y="2400480"/>
            <a:ext cx="2808000" cy="2095200"/>
          </a:xfrm>
          <a:prstGeom prst="rect">
            <a:avLst/>
          </a:prstGeom>
          <a:ln>
            <a:noFill/>
          </a:ln>
        </p:spPr>
      </p:pic>
      <p:pic>
        <p:nvPicPr>
          <p:cNvPr id="87" name="" descr=""/>
          <p:cNvPicPr/>
          <p:nvPr/>
        </p:nvPicPr>
        <p:blipFill>
          <a:blip r:embed="rId2"/>
          <a:stretch/>
        </p:blipFill>
        <p:spPr>
          <a:xfrm>
            <a:off x="6408000" y="2448000"/>
            <a:ext cx="2371320" cy="1923840"/>
          </a:xfrm>
          <a:prstGeom prst="rect">
            <a:avLst/>
          </a:prstGeom>
          <a:ln>
            <a:noFill/>
          </a:ln>
        </p:spPr>
      </p:pic>
      <p:pic>
        <p:nvPicPr>
          <p:cNvPr id="88" name="" descr=""/>
          <p:cNvPicPr/>
          <p:nvPr/>
        </p:nvPicPr>
        <p:blipFill>
          <a:blip r:embed="rId3"/>
          <a:stretch/>
        </p:blipFill>
        <p:spPr>
          <a:xfrm>
            <a:off x="3528000" y="4638960"/>
            <a:ext cx="2628720" cy="17427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1" dur="indefinite" restart="never" nodeType="tmRoot">
          <p:childTnLst>
            <p:seq>
              <p:cTn id="3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 proceso de preparación de un proyecto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0" name="TextShape 2"/>
          <p:cNvSpPr txBox="1"/>
          <p:nvPr/>
        </p:nvSpPr>
        <p:spPr>
          <a:xfrm>
            <a:off x="504000" y="1769040"/>
            <a:ext cx="9071640" cy="5286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de impacto ambiental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Linea de base medio biótico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91" name="" descr=""/>
          <p:cNvPicPr/>
          <p:nvPr/>
        </p:nvPicPr>
        <p:blipFill>
          <a:blip r:embed="rId1"/>
          <a:stretch/>
        </p:blipFill>
        <p:spPr>
          <a:xfrm>
            <a:off x="1157760" y="2428920"/>
            <a:ext cx="3808080" cy="2755080"/>
          </a:xfrm>
          <a:prstGeom prst="rect">
            <a:avLst/>
          </a:prstGeom>
          <a:ln>
            <a:noFill/>
          </a:ln>
        </p:spPr>
      </p:pic>
      <p:pic>
        <p:nvPicPr>
          <p:cNvPr id="92" name="" descr=""/>
          <p:cNvPicPr/>
          <p:nvPr/>
        </p:nvPicPr>
        <p:blipFill>
          <a:blip r:embed="rId2"/>
          <a:stretch/>
        </p:blipFill>
        <p:spPr>
          <a:xfrm>
            <a:off x="5040000" y="4415760"/>
            <a:ext cx="3672000" cy="22802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3" dur="indefinite" restart="never" nodeType="tmRoot">
          <p:childTnLst>
            <p:seq>
              <p:cTn id="3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 proceso de preparación de un proyecto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4" name="TextShape 2"/>
          <p:cNvSpPr txBox="1"/>
          <p:nvPr/>
        </p:nvSpPr>
        <p:spPr>
          <a:xfrm>
            <a:off x="504000" y="1769040"/>
            <a:ext cx="9071640" cy="5286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de impacto ambiental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Linea de base medio humano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2089800" y="2304000"/>
            <a:ext cx="6406200" cy="42627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5" dur="indefinite" restart="never" nodeType="tmRoot">
          <p:childTnLst>
            <p:seq>
              <p:cTn id="3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 proceso de preparación de un proyecto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7" name="TextShape 2"/>
          <p:cNvSpPr txBox="1"/>
          <p:nvPr/>
        </p:nvSpPr>
        <p:spPr>
          <a:xfrm>
            <a:off x="504000" y="1769040"/>
            <a:ext cx="9071640" cy="5286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de impacto ambiental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Linea de base medio construido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1368000" y="2592000"/>
            <a:ext cx="7633080" cy="3816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7" dur="indefinite" restart="never" nodeType="tmRoot">
          <p:childTnLst>
            <p:seq>
              <p:cTn id="3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 proceso de preparación de un proyecto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0" name="TextShape 2"/>
          <p:cNvSpPr txBox="1"/>
          <p:nvPr/>
        </p:nvSpPr>
        <p:spPr>
          <a:xfrm>
            <a:off x="504000" y="1769040"/>
            <a:ext cx="9071640" cy="5286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4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Gracias</a:t>
            </a:r>
            <a:endParaRPr b="0" lang="es-BO" sz="4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4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4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4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4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Ing. Alvaro Rodrigo Lara Valdivia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39" dur="indefinite" restart="never" nodeType="tmRoot">
          <p:childTnLst>
            <p:seq>
              <p:cTn id="4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LibreOffice/5.2.7.2$Linux_X86_64 LibreOffice_project/20m0$Build-2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2020-09-28T16:52:10Z</dcterms:created>
  <dc:creator/>
  <dc:description/>
  <dc:language>es-BO</dc:language>
  <cp:lastModifiedBy/>
  <dcterms:modified xsi:type="dcterms:W3CDTF">2020-09-28T17:59:14Z</dcterms:modified>
  <cp:revision>1</cp:revision>
  <dc:subject/>
  <dc:title/>
</cp:coreProperties>
</file>