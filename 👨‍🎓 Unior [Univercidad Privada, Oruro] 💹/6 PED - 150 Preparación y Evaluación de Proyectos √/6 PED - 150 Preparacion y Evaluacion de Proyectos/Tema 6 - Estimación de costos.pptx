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56" r:id="rId3"/>
    <p:sldId id="257" r:id="rId4"/>
    <p:sldId id="267" r:id="rId5"/>
    <p:sldId id="268" r:id="rId6"/>
    <p:sldId id="269" r:id="rId7"/>
    <p:sldId id="258" r:id="rId8"/>
    <p:sldId id="270" r:id="rId9"/>
    <p:sldId id="271" r:id="rId10"/>
    <p:sldId id="260" r:id="rId11"/>
    <p:sldId id="259" r:id="rId12"/>
    <p:sldId id="272" r:id="rId13"/>
    <p:sldId id="262" r:id="rId14"/>
    <p:sldId id="261" r:id="rId15"/>
    <p:sldId id="273" r:id="rId16"/>
    <p:sldId id="263" r:id="rId17"/>
    <p:sldId id="274" r:id="rId18"/>
    <p:sldId id="275" r:id="rId19"/>
    <p:sldId id="264" r:id="rId20"/>
    <p:sldId id="276" r:id="rId21"/>
    <p:sldId id="277" r:id="rId22"/>
    <p:sldId id="265" r:id="rId23"/>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167255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2984872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4275181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D495A54A-7024-4951-A8E7-431DC1EF054C}"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3955406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D495A54A-7024-4951-A8E7-431DC1EF054C}" type="datetimeFigureOut">
              <a:rPr lang="es-BO" smtClean="0"/>
              <a:t>24/10/2021</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554981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3"/>
          <p:cNvSpPr>
            <a:spLocks noGrp="1"/>
          </p:cNvSpPr>
          <p:nvPr>
            <p:ph type="ftr" sz="quarter" idx="11"/>
          </p:nvPr>
        </p:nvSpPr>
        <p:spPr/>
        <p:txBody>
          <a:bodyPr/>
          <a:lstStyle/>
          <a:p>
            <a:endParaRPr lang="es-BO"/>
          </a:p>
        </p:txBody>
      </p:sp>
      <p:sp>
        <p:nvSpPr>
          <p:cNvPr id="6" name="Slide Number Placeholder 4"/>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3392381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2"/>
          <p:cNvSpPr>
            <a:spLocks noGrp="1"/>
          </p:cNvSpPr>
          <p:nvPr>
            <p:ph type="ftr" sz="quarter" idx="11"/>
          </p:nvPr>
        </p:nvSpPr>
        <p:spPr/>
        <p:txBody>
          <a:bodyPr/>
          <a:lstStyle/>
          <a:p>
            <a:endParaRPr lang="es-BO"/>
          </a:p>
        </p:txBody>
      </p:sp>
      <p:sp>
        <p:nvSpPr>
          <p:cNvPr id="6" name="Slide Number Placeholder 3"/>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2749712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7" name="Date Placeholder 4"/>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5"/>
          <p:cNvSpPr>
            <a:spLocks noGrp="1"/>
          </p:cNvSpPr>
          <p:nvPr>
            <p:ph type="ftr" sz="quarter" idx="11"/>
          </p:nvPr>
        </p:nvSpPr>
        <p:spPr/>
        <p:txBody>
          <a:bodyPr/>
          <a:lstStyle/>
          <a:p>
            <a:endParaRPr lang="es-BO"/>
          </a:p>
        </p:txBody>
      </p:sp>
      <p:sp>
        <p:nvSpPr>
          <p:cNvPr id="6" name="Slide Number Placeholder 6"/>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2348882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D495A54A-7024-4951-A8E7-431DC1EF054C}"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210415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D495A54A-7024-4951-A8E7-431DC1EF054C}"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3877818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1978676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069509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742980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4"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2922781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4"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9131415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30802064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D495A54A-7024-4951-A8E7-431DC1EF054C}"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2D66C17-E2DD-4843-AD88-D3661A10CA7A}" type="slidenum">
              <a:rPr lang="es-BO" smtClean="0"/>
              <a:t>‹Nº›</a:t>
            </a:fld>
            <a:endParaRPr lang="es-BO"/>
          </a:p>
        </p:txBody>
      </p:sp>
    </p:spTree>
    <p:extLst>
      <p:ext uri="{BB962C8B-B14F-4D97-AF65-F5344CB8AC3E}">
        <p14:creationId xmlns:p14="http://schemas.microsoft.com/office/powerpoint/2010/main" val="3228393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495A54A-7024-4951-A8E7-431DC1EF054C}" type="datetimeFigureOut">
              <a:rPr lang="es-BO" smtClean="0"/>
              <a:t>24/10/2021</a:t>
            </a:fld>
            <a:endParaRPr lang="es-BO"/>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BO"/>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2D66C17-E2DD-4843-AD88-D3661A10CA7A}" type="slidenum">
              <a:rPr lang="es-BO" smtClean="0"/>
              <a:t>‹Nº›</a:t>
            </a:fld>
            <a:endParaRPr lang="es-BO"/>
          </a:p>
        </p:txBody>
      </p:sp>
    </p:spTree>
    <p:extLst>
      <p:ext uri="{BB962C8B-B14F-4D97-AF65-F5344CB8AC3E}">
        <p14:creationId xmlns:p14="http://schemas.microsoft.com/office/powerpoint/2010/main" val="14805926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4910028" y="220187"/>
            <a:ext cx="2371944" cy="1714100"/>
          </a:xfrm>
          <a:prstGeom prst="rect">
            <a:avLst/>
          </a:prstGeom>
        </p:spPr>
      </p:pic>
      <p:sp>
        <p:nvSpPr>
          <p:cNvPr id="6" name="CuadroTexto 5"/>
          <p:cNvSpPr txBox="1"/>
          <p:nvPr/>
        </p:nvSpPr>
        <p:spPr>
          <a:xfrm>
            <a:off x="154745" y="3901900"/>
            <a:ext cx="12037255" cy="1384995"/>
          </a:xfrm>
          <a:prstGeom prst="rect">
            <a:avLst/>
          </a:prstGeom>
          <a:noFill/>
        </p:spPr>
        <p:txBody>
          <a:bodyPr wrap="square" rtlCol="0">
            <a:spAutoFit/>
          </a:bodyPr>
          <a:lstStyle/>
          <a:p>
            <a:pPr algn="ctr"/>
            <a:r>
              <a:rPr lang="es-BO" sz="4000" dirty="0" smtClean="0">
                <a:solidFill>
                  <a:srgbClr val="002060"/>
                </a:solidFill>
                <a:latin typeface="Maiandra GD" panose="020E0502030308020204" pitchFamily="34" charset="0"/>
              </a:rPr>
              <a:t>Modulo: Planificación y evaluación de proyectos</a:t>
            </a:r>
          </a:p>
          <a:p>
            <a:pPr algn="ctr"/>
            <a:r>
              <a:rPr lang="es-BO" sz="4400" dirty="0" smtClean="0">
                <a:solidFill>
                  <a:srgbClr val="002060"/>
                </a:solidFill>
                <a:latin typeface="Maiandra GD" panose="020E0502030308020204" pitchFamily="34" charset="0"/>
              </a:rPr>
              <a:t>Código: PEP-150</a:t>
            </a:r>
          </a:p>
        </p:txBody>
      </p:sp>
      <p:sp>
        <p:nvSpPr>
          <p:cNvPr id="7" name="CuadroTexto 6"/>
          <p:cNvSpPr txBox="1"/>
          <p:nvPr/>
        </p:nvSpPr>
        <p:spPr>
          <a:xfrm>
            <a:off x="3740021" y="6134913"/>
            <a:ext cx="5464992" cy="584775"/>
          </a:xfrm>
          <a:prstGeom prst="rect">
            <a:avLst/>
          </a:prstGeom>
          <a:noFill/>
        </p:spPr>
        <p:txBody>
          <a:bodyPr wrap="square" rtlCol="0">
            <a:spAutoFit/>
          </a:bodyPr>
          <a:lstStyle/>
          <a:p>
            <a:r>
              <a:rPr lang="es-BO" sz="3200" dirty="0" smtClean="0">
                <a:solidFill>
                  <a:srgbClr val="FFC000"/>
                </a:solidFill>
                <a:latin typeface="Maiandra GD" panose="020E0502030308020204" pitchFamily="34" charset="0"/>
              </a:rPr>
              <a:t>Docente: Ing. José C. Rojas P.</a:t>
            </a:r>
          </a:p>
        </p:txBody>
      </p:sp>
      <p:sp>
        <p:nvSpPr>
          <p:cNvPr id="9" name="CuadroTexto 8"/>
          <p:cNvSpPr txBox="1"/>
          <p:nvPr/>
        </p:nvSpPr>
        <p:spPr>
          <a:xfrm>
            <a:off x="1951449" y="2031341"/>
            <a:ext cx="8443846" cy="1446550"/>
          </a:xfrm>
          <a:prstGeom prst="rect">
            <a:avLst/>
          </a:prstGeom>
          <a:noFill/>
        </p:spPr>
        <p:txBody>
          <a:bodyPr wrap="square" rtlCol="0">
            <a:spAutoFit/>
          </a:bodyPr>
          <a:lstStyle/>
          <a:p>
            <a:pPr algn="ctr"/>
            <a:r>
              <a:rPr lang="es-BO" sz="4400" dirty="0" smtClean="0">
                <a:solidFill>
                  <a:srgbClr val="FFC000"/>
                </a:solidFill>
                <a:latin typeface="Maiandra GD" panose="020E0502030308020204" pitchFamily="34" charset="0"/>
              </a:rPr>
              <a:t>Carrera de Ingeniería de Sistemas</a:t>
            </a:r>
          </a:p>
          <a:p>
            <a:pPr algn="ctr"/>
            <a:r>
              <a:rPr lang="es-BO" sz="4400" dirty="0" smtClean="0">
                <a:solidFill>
                  <a:srgbClr val="FFC000"/>
                </a:solidFill>
                <a:latin typeface="Maiandra GD" panose="020E0502030308020204" pitchFamily="34" charset="0"/>
              </a:rPr>
              <a:t>Universidad Privada de Oruro</a:t>
            </a:r>
            <a:endParaRPr lang="es-BO" sz="4400" dirty="0">
              <a:solidFill>
                <a:srgbClr val="FFC000"/>
              </a:solidFill>
              <a:latin typeface="Maiandra GD" panose="020E0502030308020204" pitchFamily="34" charset="0"/>
            </a:endParaRPr>
          </a:p>
        </p:txBody>
      </p:sp>
    </p:spTree>
    <p:extLst>
      <p:ext uri="{BB962C8B-B14F-4D97-AF65-F5344CB8AC3E}">
        <p14:creationId xmlns:p14="http://schemas.microsoft.com/office/powerpoint/2010/main" val="36635610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62635" y="2843587"/>
            <a:ext cx="9932894" cy="961931"/>
          </a:xfrm>
        </p:spPr>
        <p:txBody>
          <a:bodyPr/>
          <a:lstStyle/>
          <a:p>
            <a:r>
              <a:rPr lang="es-BO" dirty="0" smtClean="0"/>
              <a:t>Estimación de costos</a:t>
            </a:r>
            <a:endParaRPr lang="es-BO" dirty="0"/>
          </a:p>
        </p:txBody>
      </p:sp>
    </p:spTree>
    <p:extLst>
      <p:ext uri="{BB962C8B-B14F-4D97-AF65-F5344CB8AC3E}">
        <p14:creationId xmlns:p14="http://schemas.microsoft.com/office/powerpoint/2010/main" val="1780738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39907" y="887506"/>
            <a:ext cx="10094258"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631577" y="2405250"/>
            <a:ext cx="9144000" cy="2960127"/>
          </a:xfrm>
          <a:ln>
            <a:solidFill>
              <a:srgbClr val="FFC000"/>
            </a:solidFill>
          </a:ln>
        </p:spPr>
        <p:txBody>
          <a:bodyPr>
            <a:normAutofit fontScale="77500" lnSpcReduction="20000"/>
          </a:bodyPr>
          <a:lstStyle/>
          <a:p>
            <a:pPr algn="l"/>
            <a:r>
              <a:rPr lang="es-BO" sz="2800" dirty="0" smtClean="0"/>
              <a:t>6.1 Información de cosos para la toma de decisiones</a:t>
            </a:r>
          </a:p>
          <a:p>
            <a:pPr algn="l"/>
            <a:r>
              <a:rPr lang="es-BO" sz="2800" dirty="0"/>
              <a:t>Aunque diversos términos, conceptos y clasificaciones se han desarrollado </a:t>
            </a:r>
            <a:r>
              <a:rPr lang="es-BO" sz="2800" dirty="0" smtClean="0"/>
              <a:t>e incorporado </a:t>
            </a:r>
            <a:r>
              <a:rPr lang="es-BO" sz="2800" dirty="0"/>
              <a:t>a la contabilización de </a:t>
            </a:r>
            <a:r>
              <a:rPr lang="es-BO" sz="2800" dirty="0" smtClean="0"/>
              <a:t>costos tradicionales para que proporcionen información válida </a:t>
            </a:r>
            <a:r>
              <a:rPr lang="es-BO" sz="2800" dirty="0"/>
              <a:t>y </a:t>
            </a:r>
            <a:r>
              <a:rPr lang="es-BO" sz="2800" dirty="0" smtClean="0"/>
              <a:t>oportuna para </a:t>
            </a:r>
            <a:r>
              <a:rPr lang="es-BO" sz="2800" dirty="0"/>
              <a:t>la toma </a:t>
            </a:r>
            <a:r>
              <a:rPr lang="es-BO" sz="2800" dirty="0" smtClean="0"/>
              <a:t>de decisiones</a:t>
            </a:r>
            <a:r>
              <a:rPr lang="es-BO" sz="2800" dirty="0"/>
              <a:t>, los costos no </a:t>
            </a:r>
            <a:r>
              <a:rPr lang="es-BO" sz="2800" dirty="0" smtClean="0"/>
              <a:t>contables siguen </a:t>
            </a:r>
            <a:r>
              <a:rPr lang="es-BO" sz="2800" dirty="0"/>
              <a:t>siendo los más </a:t>
            </a:r>
            <a:r>
              <a:rPr lang="es-BO" sz="2800" dirty="0" smtClean="0"/>
              <a:t>utilizados cuando </a:t>
            </a:r>
            <a:r>
              <a:rPr lang="es-BO" sz="2800" dirty="0"/>
              <a:t>debe optarse por uno de varios cursos </a:t>
            </a:r>
            <a:r>
              <a:rPr lang="es-BO" sz="2800" dirty="0" smtClean="0"/>
              <a:t>alternativos </a:t>
            </a:r>
            <a:r>
              <a:rPr lang="es-BO" sz="2800" dirty="0"/>
              <a:t>de acción</a:t>
            </a:r>
            <a:r>
              <a:rPr lang="es-BO" sz="2800" dirty="0" smtClean="0"/>
              <a:t>.</a:t>
            </a:r>
            <a:endParaRPr lang="es-BO" dirty="0"/>
          </a:p>
        </p:txBody>
      </p:sp>
    </p:spTree>
    <p:extLst>
      <p:ext uri="{BB962C8B-B14F-4D97-AF65-F5344CB8AC3E}">
        <p14:creationId xmlns:p14="http://schemas.microsoft.com/office/powerpoint/2010/main" val="3463014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65093" y="510988"/>
            <a:ext cx="10560423"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389529" y="2606956"/>
            <a:ext cx="9144000" cy="2785314"/>
          </a:xfrm>
          <a:ln>
            <a:solidFill>
              <a:srgbClr val="FFC000"/>
            </a:solidFill>
          </a:ln>
        </p:spPr>
        <p:txBody>
          <a:bodyPr>
            <a:normAutofit fontScale="92500" lnSpcReduction="20000"/>
          </a:bodyPr>
          <a:lstStyle/>
          <a:p>
            <a:pPr algn="l"/>
            <a:r>
              <a:rPr lang="es-BO" sz="2800" dirty="0" smtClean="0"/>
              <a:t>6.1   Información de cosos para la toma de decisiones</a:t>
            </a:r>
          </a:p>
          <a:p>
            <a:pPr algn="l"/>
            <a:r>
              <a:rPr lang="es-BO" sz="2800" dirty="0"/>
              <a:t>Mientras que los costos contables son útiles en ciertos campos de la </a:t>
            </a:r>
            <a:r>
              <a:rPr lang="es-BO" sz="2800" dirty="0" smtClean="0"/>
              <a:t>administración </a:t>
            </a:r>
            <a:r>
              <a:rPr lang="es-BO" sz="2800" dirty="0"/>
              <a:t>financiera de una empresa o para satisfacer </a:t>
            </a:r>
            <a:r>
              <a:rPr lang="es-BO" sz="2800" dirty="0" smtClean="0"/>
              <a:t>los requerimientos </a:t>
            </a:r>
            <a:r>
              <a:rPr lang="es-BO" sz="2800" dirty="0"/>
              <a:t>legales y </a:t>
            </a:r>
            <a:r>
              <a:rPr lang="es-BO" sz="2800" dirty="0" smtClean="0"/>
              <a:t>tributarios, los costos no contables buscan medir el efecto neto </a:t>
            </a:r>
            <a:r>
              <a:rPr lang="es-BO" sz="2800" dirty="0"/>
              <a:t>de cada decisión en el resultado</a:t>
            </a:r>
            <a:r>
              <a:rPr lang="es-BO" sz="2800" dirty="0" smtClean="0"/>
              <a:t>.</a:t>
            </a:r>
            <a:endParaRPr lang="es-BO" dirty="0"/>
          </a:p>
        </p:txBody>
      </p:sp>
    </p:spTree>
    <p:extLst>
      <p:ext uri="{BB962C8B-B14F-4D97-AF65-F5344CB8AC3E}">
        <p14:creationId xmlns:p14="http://schemas.microsoft.com/office/powerpoint/2010/main" val="865987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16423" y="605118"/>
            <a:ext cx="10174941"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631577" y="3212074"/>
            <a:ext cx="9144000" cy="3027362"/>
          </a:xfrm>
          <a:ln>
            <a:solidFill>
              <a:srgbClr val="FFC000"/>
            </a:solidFill>
          </a:ln>
        </p:spPr>
        <p:txBody>
          <a:bodyPr>
            <a:normAutofit fontScale="85000" lnSpcReduction="20000"/>
          </a:bodyPr>
          <a:lstStyle/>
          <a:p>
            <a:pPr algn="l"/>
            <a:r>
              <a:rPr lang="es-BO" sz="2800" dirty="0" smtClean="0"/>
              <a:t>6.1   Información de cosos para la toma de decisiones</a:t>
            </a:r>
          </a:p>
          <a:p>
            <a:pPr algn="l"/>
            <a:r>
              <a:rPr lang="es-BO" sz="2800" dirty="0"/>
              <a:t>Incluso, hay costos de obvio significado para el análisis que no </a:t>
            </a:r>
            <a:r>
              <a:rPr lang="es-BO" sz="2800" dirty="0" smtClean="0"/>
              <a:t>se obtienen de </a:t>
            </a:r>
            <a:r>
              <a:rPr lang="es-BO" sz="2800" dirty="0"/>
              <a:t>los estados contables. Es el caso, por ejemplo, de los </a:t>
            </a:r>
            <a:r>
              <a:rPr lang="es-BO" sz="2800" dirty="0" smtClean="0"/>
              <a:t>costos fijos </a:t>
            </a:r>
            <a:r>
              <a:rPr lang="es-BO" sz="2800" dirty="0"/>
              <a:t>a largo plazo </a:t>
            </a:r>
            <a:r>
              <a:rPr lang="es-BO" sz="2800" dirty="0" smtClean="0"/>
              <a:t>y los </a:t>
            </a:r>
            <a:r>
              <a:rPr lang="es-BO" sz="2800" dirty="0"/>
              <a:t>costos de oportunidad, que no sólo </a:t>
            </a:r>
            <a:r>
              <a:rPr lang="es-BO" sz="2800" dirty="0" smtClean="0"/>
              <a:t>deben considerarse </a:t>
            </a:r>
            <a:r>
              <a:rPr lang="es-BO" sz="2800" dirty="0"/>
              <a:t>en la decisión, sino </a:t>
            </a:r>
            <a:r>
              <a:rPr lang="es-BO" sz="2800" dirty="0" smtClean="0"/>
              <a:t>que probablemente </a:t>
            </a:r>
            <a:r>
              <a:rPr lang="es-BO" sz="2800" dirty="0"/>
              <a:t>tendrán </a:t>
            </a:r>
            <a:r>
              <a:rPr lang="es-BO" sz="2800" dirty="0" smtClean="0"/>
              <a:t>una influencia </a:t>
            </a:r>
            <a:r>
              <a:rPr lang="es-BO" sz="2800" dirty="0"/>
              <a:t>marcada en los resultados</a:t>
            </a:r>
            <a:r>
              <a:rPr lang="es-BO" sz="2800" dirty="0" smtClean="0"/>
              <a:t>.</a:t>
            </a:r>
            <a:endParaRPr lang="es-BO" dirty="0"/>
          </a:p>
        </p:txBody>
      </p:sp>
    </p:spTree>
    <p:extLst>
      <p:ext uri="{BB962C8B-B14F-4D97-AF65-F5344CB8AC3E}">
        <p14:creationId xmlns:p14="http://schemas.microsoft.com/office/powerpoint/2010/main" val="1910188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5060" y="564777"/>
            <a:ext cx="10121152"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389529" y="2364909"/>
            <a:ext cx="9144000" cy="3027362"/>
          </a:xfrm>
          <a:ln>
            <a:solidFill>
              <a:srgbClr val="FFC000"/>
            </a:solidFill>
          </a:ln>
        </p:spPr>
        <p:txBody>
          <a:bodyPr>
            <a:normAutofit fontScale="85000" lnSpcReduction="20000"/>
          </a:bodyPr>
          <a:lstStyle/>
          <a:p>
            <a:pPr algn="l"/>
            <a:r>
              <a:rPr lang="es-BO" sz="2800" dirty="0" smtClean="0"/>
              <a:t>6.1   Información de cosos para la toma de decisiones</a:t>
            </a:r>
          </a:p>
          <a:p>
            <a:pPr algn="l"/>
            <a:r>
              <a:rPr lang="es-BO" sz="2800" dirty="0"/>
              <a:t>Incluso, hay costos de obvio significado para el análisis que no </a:t>
            </a:r>
            <a:r>
              <a:rPr lang="es-BO" sz="2800" dirty="0" smtClean="0"/>
              <a:t>se obtienen de </a:t>
            </a:r>
            <a:r>
              <a:rPr lang="es-BO" sz="2800" dirty="0"/>
              <a:t>los estados contables. Es el caso, por ejemplo, de los </a:t>
            </a:r>
            <a:r>
              <a:rPr lang="es-BO" sz="2800" dirty="0" smtClean="0"/>
              <a:t>costos fijos </a:t>
            </a:r>
            <a:r>
              <a:rPr lang="es-BO" sz="2800" dirty="0"/>
              <a:t>a largo plazo </a:t>
            </a:r>
            <a:r>
              <a:rPr lang="es-BO" sz="2800" dirty="0" smtClean="0"/>
              <a:t>y los </a:t>
            </a:r>
            <a:r>
              <a:rPr lang="es-BO" sz="2800" dirty="0"/>
              <a:t>costos de oportunidad, que no sólo </a:t>
            </a:r>
            <a:r>
              <a:rPr lang="es-BO" sz="2800" dirty="0" smtClean="0"/>
              <a:t>deben considerarse </a:t>
            </a:r>
            <a:r>
              <a:rPr lang="es-BO" sz="2800" dirty="0"/>
              <a:t>en la decisión, sino </a:t>
            </a:r>
            <a:r>
              <a:rPr lang="es-BO" sz="2800" dirty="0" smtClean="0"/>
              <a:t>que probablemente </a:t>
            </a:r>
            <a:r>
              <a:rPr lang="es-BO" sz="2800" dirty="0"/>
              <a:t>tendrán </a:t>
            </a:r>
            <a:r>
              <a:rPr lang="es-BO" sz="2800" dirty="0" smtClean="0"/>
              <a:t>una influencia </a:t>
            </a:r>
            <a:r>
              <a:rPr lang="es-BO" sz="2800" dirty="0"/>
              <a:t>marcada en los resultados</a:t>
            </a:r>
            <a:r>
              <a:rPr lang="es-BO" sz="2800" dirty="0" smtClean="0"/>
              <a:t>.</a:t>
            </a:r>
            <a:endParaRPr lang="es-BO" dirty="0"/>
          </a:p>
        </p:txBody>
      </p:sp>
    </p:spTree>
    <p:extLst>
      <p:ext uri="{BB962C8B-B14F-4D97-AF65-F5344CB8AC3E}">
        <p14:creationId xmlns:p14="http://schemas.microsoft.com/office/powerpoint/2010/main" val="2108439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92623" y="753035"/>
            <a:ext cx="9905999"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873623" y="2378355"/>
            <a:ext cx="9144000" cy="3417327"/>
          </a:xfrm>
          <a:ln>
            <a:solidFill>
              <a:srgbClr val="FFC000"/>
            </a:solidFill>
          </a:ln>
        </p:spPr>
        <p:txBody>
          <a:bodyPr>
            <a:normAutofit fontScale="92500" lnSpcReduction="20000"/>
          </a:bodyPr>
          <a:lstStyle/>
          <a:p>
            <a:pPr algn="l"/>
            <a:r>
              <a:rPr lang="es-BO" sz="2800" dirty="0" smtClean="0"/>
              <a:t>6.2 Costos diferenciales.</a:t>
            </a:r>
          </a:p>
          <a:p>
            <a:pPr algn="l"/>
            <a:r>
              <a:rPr lang="es-BO" sz="2800" dirty="0"/>
              <a:t>La diferencia en los costos de cada alternativa que proporcione un retorno o beneficio similar determinará cuál de ellas debe seleccionarse. Estos costos, denominados diferenciales, expresan el incremento o la disminución de los costos totales que implicaría la implementación de cada una de las alternativas, en términos comparativos, respecto a una situación tomada como base y que usualmente es la vigente</a:t>
            </a:r>
            <a:r>
              <a:rPr lang="es-BO" sz="2800" dirty="0" smtClean="0"/>
              <a:t>.</a:t>
            </a:r>
          </a:p>
        </p:txBody>
      </p:sp>
    </p:spTree>
    <p:extLst>
      <p:ext uri="{BB962C8B-B14F-4D97-AF65-F5344CB8AC3E}">
        <p14:creationId xmlns:p14="http://schemas.microsoft.com/office/powerpoint/2010/main" val="3076410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95401" y="699247"/>
            <a:ext cx="9959788"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524000" y="2687638"/>
            <a:ext cx="9144000" cy="2556715"/>
          </a:xfrm>
          <a:ln>
            <a:solidFill>
              <a:srgbClr val="FFC000"/>
            </a:solidFill>
          </a:ln>
        </p:spPr>
        <p:txBody>
          <a:bodyPr>
            <a:normAutofit fontScale="92500" lnSpcReduction="20000"/>
          </a:bodyPr>
          <a:lstStyle/>
          <a:p>
            <a:pPr algn="l"/>
            <a:r>
              <a:rPr lang="es-BO" sz="2800" dirty="0" smtClean="0"/>
              <a:t>6.2 Costos diferenciales.</a:t>
            </a:r>
          </a:p>
          <a:p>
            <a:pPr algn="l"/>
            <a:r>
              <a:rPr lang="es-BO" sz="2800" dirty="0"/>
              <a:t>En consecuencia, los costos diferenciales son los que en definitiva deberán utilizarse para tomar una decisión que involucre algún incremento o decrecimiento en los resultados económicos esperados de cada curso de acción que se estudie.</a:t>
            </a:r>
            <a:endParaRPr lang="es-BO" sz="2800" dirty="0" smtClean="0"/>
          </a:p>
        </p:txBody>
      </p:sp>
    </p:spTree>
    <p:extLst>
      <p:ext uri="{BB962C8B-B14F-4D97-AF65-F5344CB8AC3E}">
        <p14:creationId xmlns:p14="http://schemas.microsoft.com/office/powerpoint/2010/main" val="1775942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89797" y="484094"/>
            <a:ext cx="9827559"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948018" y="1880814"/>
            <a:ext cx="10511118" cy="3914868"/>
          </a:xfrm>
          <a:ln>
            <a:solidFill>
              <a:srgbClr val="FFC000"/>
            </a:solidFill>
          </a:ln>
        </p:spPr>
        <p:txBody>
          <a:bodyPr>
            <a:normAutofit fontScale="85000" lnSpcReduction="20000"/>
          </a:bodyPr>
          <a:lstStyle/>
          <a:p>
            <a:pPr algn="l"/>
            <a:r>
              <a:rPr lang="es-BO" sz="2800" dirty="0" smtClean="0"/>
              <a:t>6.2 Costos diferenciales.</a:t>
            </a:r>
          </a:p>
          <a:p>
            <a:pPr algn="l"/>
            <a:r>
              <a:rPr lang="es-BO" sz="2800" dirty="0"/>
              <a:t>En otras palabras, son aquellos aumentos o disminuciones en el costo total, o el cambio en cualquier elemento del costo, generado por una variación en la operación de la empresa:</a:t>
            </a:r>
          </a:p>
          <a:p>
            <a:pPr marL="514350" indent="-514350" algn="l">
              <a:buFont typeface="+mj-lt"/>
              <a:buAutoNum type="arabicPeriod"/>
            </a:pPr>
            <a:r>
              <a:rPr lang="es-BO" sz="2800" dirty="0" smtClean="0"/>
              <a:t>Costos </a:t>
            </a:r>
            <a:r>
              <a:rPr lang="es-BO" sz="2800" dirty="0" err="1"/>
              <a:t>decrementales</a:t>
            </a:r>
            <a:r>
              <a:rPr lang="es-BO" sz="2800" dirty="0"/>
              <a:t>: cuando los costos diferenciales son generados por disminuciones o reducciones en el volumen de operación.</a:t>
            </a:r>
          </a:p>
          <a:p>
            <a:pPr marL="514350" indent="-514350" algn="l">
              <a:buFont typeface="+mj-lt"/>
              <a:buAutoNum type="arabicPeriod"/>
            </a:pPr>
            <a:r>
              <a:rPr lang="es-BO" sz="2800" dirty="0" smtClean="0"/>
              <a:t>Costos </a:t>
            </a:r>
            <a:r>
              <a:rPr lang="es-BO" sz="2800" dirty="0"/>
              <a:t>incrementales: cuando las variaciones en los costos son ocasionados por un aumento en las actividades u operaciones de la empresa.</a:t>
            </a:r>
            <a:endParaRPr lang="es-BO" sz="2800" dirty="0" smtClean="0"/>
          </a:p>
        </p:txBody>
      </p:sp>
    </p:spTree>
    <p:extLst>
      <p:ext uri="{BB962C8B-B14F-4D97-AF65-F5344CB8AC3E}">
        <p14:creationId xmlns:p14="http://schemas.microsoft.com/office/powerpoint/2010/main" val="138906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37983" y="605118"/>
            <a:ext cx="9731188"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631577" y="1961498"/>
            <a:ext cx="9144000" cy="3914868"/>
          </a:xfrm>
          <a:ln>
            <a:solidFill>
              <a:srgbClr val="FFC000"/>
            </a:solidFill>
          </a:ln>
        </p:spPr>
        <p:txBody>
          <a:bodyPr>
            <a:normAutofit/>
          </a:bodyPr>
          <a:lstStyle/>
          <a:p>
            <a:pPr algn="l"/>
            <a:r>
              <a:rPr lang="es-BO" dirty="0" smtClean="0"/>
              <a:t>6.3 Costos futuros</a:t>
            </a:r>
          </a:p>
          <a:p>
            <a:pPr algn="l"/>
            <a:r>
              <a:rPr lang="es-BO" dirty="0"/>
              <a:t>En sí mismas, las decisiones se relacionan con el futuro, mientras que los costos históricos generalmente ofrecen una base para la predicción de los gastos  y presupuestos, por lo que los costos en los que se espera incurrir, son pertinentes.</a:t>
            </a:r>
          </a:p>
          <a:p>
            <a:pPr algn="l"/>
            <a:r>
              <a:rPr lang="es-BO" dirty="0"/>
              <a:t>Son aquellos que difieren entre cursos alternativos de acción y pueden destacarse si se cambia o se elimina alguna actividad. Por ser futuros se consideran estimados, a mayor o menor grado de acierto, son relevantes porque experimentan cambios positivos o negativos con respecto a una acción</a:t>
            </a:r>
            <a:r>
              <a:rPr lang="es-BO" dirty="0" smtClean="0"/>
              <a:t>.</a:t>
            </a:r>
            <a:endParaRPr lang="es-BO" dirty="0"/>
          </a:p>
        </p:txBody>
      </p:sp>
    </p:spTree>
    <p:extLst>
      <p:ext uri="{BB962C8B-B14F-4D97-AF65-F5344CB8AC3E}">
        <p14:creationId xmlns:p14="http://schemas.microsoft.com/office/powerpoint/2010/main" val="353917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2318" y="793377"/>
            <a:ext cx="10013576"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497106" y="2445590"/>
            <a:ext cx="9144000" cy="2664291"/>
          </a:xfrm>
          <a:ln>
            <a:solidFill>
              <a:srgbClr val="FFC000"/>
            </a:solidFill>
          </a:ln>
        </p:spPr>
        <p:txBody>
          <a:bodyPr>
            <a:normAutofit/>
          </a:bodyPr>
          <a:lstStyle/>
          <a:p>
            <a:pPr algn="l"/>
            <a:r>
              <a:rPr lang="es-BO" dirty="0" smtClean="0"/>
              <a:t>6.4 Sustitución con aumento de capacidad</a:t>
            </a:r>
          </a:p>
          <a:p>
            <a:pPr algn="l"/>
            <a:r>
              <a:rPr lang="es-BO" dirty="0"/>
              <a:t>La mayoría de las inversiones tienen por objeto aumentar la capacidad productiva de una empresa para hacer frente a una expansión del mercado o a una decisión de introducción a nuevos mercados. La inversión, en estos casos, estará condicionada por la estimación de las cantidades futuras de venta y por el efecto de éstas sobre los ingresos netos</a:t>
            </a:r>
            <a:r>
              <a:rPr lang="es-BO" dirty="0" smtClean="0"/>
              <a:t>.</a:t>
            </a:r>
            <a:endParaRPr lang="es-BO" dirty="0"/>
          </a:p>
        </p:txBody>
      </p:sp>
    </p:spTree>
    <p:extLst>
      <p:ext uri="{BB962C8B-B14F-4D97-AF65-F5344CB8AC3E}">
        <p14:creationId xmlns:p14="http://schemas.microsoft.com/office/powerpoint/2010/main" val="2847496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9041" y="1129553"/>
            <a:ext cx="10000129"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497106" y="2902790"/>
            <a:ext cx="9144000" cy="2099515"/>
          </a:xfrm>
          <a:ln>
            <a:solidFill>
              <a:srgbClr val="FFC000"/>
            </a:solidFill>
          </a:ln>
        </p:spPr>
        <p:txBody>
          <a:bodyPr>
            <a:normAutofit/>
          </a:bodyPr>
          <a:lstStyle/>
          <a:p>
            <a:pPr algn="l"/>
            <a:r>
              <a:rPr lang="es-BO" dirty="0" smtClean="0"/>
              <a:t>6.4 Sustitución con aumento de capacidad</a:t>
            </a:r>
          </a:p>
          <a:p>
            <a:pPr algn="l"/>
            <a:r>
              <a:rPr lang="es-BO" dirty="0"/>
              <a:t>El análisis de sustitución con ampliación de la capacidad productiva debe plantearse en función de una estimación del mercado potencial, con referencia específica a las variables precio y volumen de ventas, en una proyección de los ingresos esperados de la operación.</a:t>
            </a:r>
          </a:p>
        </p:txBody>
      </p:sp>
    </p:spTree>
    <p:extLst>
      <p:ext uri="{BB962C8B-B14F-4D97-AF65-F5344CB8AC3E}">
        <p14:creationId xmlns:p14="http://schemas.microsoft.com/office/powerpoint/2010/main" val="2251874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35741" y="363071"/>
            <a:ext cx="9596717"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327212" y="1679108"/>
            <a:ext cx="11250706" cy="4681351"/>
          </a:xfrm>
          <a:ln>
            <a:solidFill>
              <a:srgbClr val="FFC000"/>
            </a:solidFill>
          </a:ln>
        </p:spPr>
        <p:txBody>
          <a:bodyPr>
            <a:normAutofit fontScale="92500" lnSpcReduction="10000"/>
          </a:bodyPr>
          <a:lstStyle/>
          <a:p>
            <a:pPr algn="l"/>
            <a:r>
              <a:rPr lang="es-BO" dirty="0" smtClean="0"/>
              <a:t>6.5 Elementos relevantes de costos</a:t>
            </a:r>
          </a:p>
          <a:p>
            <a:pPr algn="l"/>
            <a:r>
              <a:rPr lang="es-BO" dirty="0" smtClean="0"/>
              <a:t>Son los siguientes:</a:t>
            </a:r>
          </a:p>
          <a:p>
            <a:pPr marL="342900" indent="-342900" algn="l">
              <a:buFont typeface="Arial" panose="020B0604020202020204" pitchFamily="34" charset="0"/>
              <a:buChar char="•"/>
            </a:pPr>
            <a:r>
              <a:rPr lang="es-BO" dirty="0"/>
              <a:t> Variaciones en los estándares de materia prima.</a:t>
            </a:r>
          </a:p>
          <a:p>
            <a:pPr marL="342900" indent="-342900" algn="l">
              <a:buFont typeface="Arial" panose="020B0604020202020204" pitchFamily="34" charset="0"/>
              <a:buChar char="•"/>
            </a:pPr>
            <a:r>
              <a:rPr lang="es-BO" dirty="0"/>
              <a:t> Tasa de salario y requerimientos de personal para la operación directa.</a:t>
            </a:r>
          </a:p>
          <a:p>
            <a:pPr marL="342900" indent="-342900" algn="l">
              <a:buFont typeface="Arial" panose="020B0604020202020204" pitchFamily="34" charset="0"/>
              <a:buChar char="•"/>
            </a:pPr>
            <a:r>
              <a:rPr lang="es-BO" dirty="0"/>
              <a:t> Necesidades de supervisión e inspección.</a:t>
            </a:r>
          </a:p>
          <a:p>
            <a:pPr marL="342900" indent="-342900" algn="l">
              <a:buFont typeface="Arial" panose="020B0604020202020204" pitchFamily="34" charset="0"/>
              <a:buChar char="•"/>
            </a:pPr>
            <a:r>
              <a:rPr lang="es-BO" dirty="0"/>
              <a:t> Combustible y energía.</a:t>
            </a:r>
          </a:p>
          <a:p>
            <a:pPr marL="342900" indent="-342900" algn="l">
              <a:buFont typeface="Arial" panose="020B0604020202020204" pitchFamily="34" charset="0"/>
              <a:buChar char="•"/>
            </a:pPr>
            <a:r>
              <a:rPr lang="es-BO" dirty="0"/>
              <a:t> Volumen de producción y precio de venta.</a:t>
            </a:r>
          </a:p>
          <a:p>
            <a:pPr marL="342900" indent="-342900" algn="l">
              <a:buFont typeface="Arial" panose="020B0604020202020204" pitchFamily="34" charset="0"/>
              <a:buChar char="•"/>
            </a:pPr>
            <a:r>
              <a:rPr lang="es-BO" dirty="0"/>
              <a:t> Desperdicios o mermas.</a:t>
            </a:r>
          </a:p>
          <a:p>
            <a:pPr marL="342900" indent="-342900" algn="l">
              <a:buFont typeface="Arial" panose="020B0604020202020204" pitchFamily="34" charset="0"/>
              <a:buChar char="•"/>
            </a:pPr>
            <a:r>
              <a:rPr lang="es-BO" dirty="0"/>
              <a:t> Valor de adquisición.</a:t>
            </a:r>
          </a:p>
          <a:p>
            <a:pPr marL="342900" indent="-342900" algn="l">
              <a:buFont typeface="Arial" panose="020B0604020202020204" pitchFamily="34" charset="0"/>
              <a:buChar char="•"/>
            </a:pPr>
            <a:r>
              <a:rPr lang="es-BO" dirty="0"/>
              <a:t> Valor residual del equipo en cada año de su vida útil restante.</a:t>
            </a:r>
          </a:p>
          <a:p>
            <a:pPr marL="342900" indent="-342900" algn="l">
              <a:buFont typeface="Arial" panose="020B0604020202020204" pitchFamily="34" charset="0"/>
              <a:buChar char="•"/>
            </a:pPr>
            <a:r>
              <a:rPr lang="es-BO" dirty="0"/>
              <a:t> Impuestos y seguros.</a:t>
            </a:r>
          </a:p>
          <a:p>
            <a:pPr marL="342900" indent="-342900" algn="l">
              <a:buFont typeface="Arial" panose="020B0604020202020204" pitchFamily="34" charset="0"/>
              <a:buChar char="•"/>
            </a:pPr>
            <a:r>
              <a:rPr lang="es-BO" dirty="0"/>
              <a:t> Mantenimiento y reparaciones</a:t>
            </a:r>
            <a:r>
              <a:rPr lang="es-BO" dirty="0" smtClean="0"/>
              <a:t>.</a:t>
            </a:r>
            <a:endParaRPr lang="es-BO" dirty="0"/>
          </a:p>
        </p:txBody>
      </p:sp>
    </p:spTree>
    <p:extLst>
      <p:ext uri="{BB962C8B-B14F-4D97-AF65-F5344CB8AC3E}">
        <p14:creationId xmlns:p14="http://schemas.microsoft.com/office/powerpoint/2010/main" val="1913361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67118" y="658906"/>
            <a:ext cx="9704294"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690282" y="2835555"/>
            <a:ext cx="10381130" cy="2086068"/>
          </a:xfrm>
          <a:ln>
            <a:solidFill>
              <a:srgbClr val="FFC000"/>
            </a:solidFill>
          </a:ln>
        </p:spPr>
        <p:txBody>
          <a:bodyPr>
            <a:normAutofit/>
          </a:bodyPr>
          <a:lstStyle/>
          <a:p>
            <a:pPr algn="l"/>
            <a:r>
              <a:rPr lang="es-BO" dirty="0" smtClean="0"/>
              <a:t>6.6 Análisis de costos</a:t>
            </a:r>
          </a:p>
          <a:p>
            <a:pPr algn="l"/>
            <a:r>
              <a:rPr lang="es-BO" dirty="0"/>
              <a:t>El análisis de costos se define, en economía, como la medida de la relación costo-producción. Es decir, los economistas se preocupan por determinar el costo en el que se incurre al contratar los insumos, y qué tan bien se pueden reorganizar para aumentar la productividad de la empresa.</a:t>
            </a:r>
            <a:endParaRPr lang="es-BO" dirty="0" smtClean="0"/>
          </a:p>
          <a:p>
            <a:pPr algn="l"/>
            <a:endParaRPr lang="es-BO" dirty="0"/>
          </a:p>
        </p:txBody>
      </p:sp>
    </p:spTree>
    <p:extLst>
      <p:ext uri="{BB962C8B-B14F-4D97-AF65-F5344CB8AC3E}">
        <p14:creationId xmlns:p14="http://schemas.microsoft.com/office/powerpoint/2010/main" val="37841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59006" y="753036"/>
            <a:ext cx="9489141"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1013012" y="2405250"/>
            <a:ext cx="10381130" cy="2086068"/>
          </a:xfrm>
          <a:ln>
            <a:solidFill>
              <a:srgbClr val="FFC000"/>
            </a:solidFill>
          </a:ln>
        </p:spPr>
        <p:txBody>
          <a:bodyPr>
            <a:normAutofit/>
          </a:bodyPr>
          <a:lstStyle/>
          <a:p>
            <a:pPr algn="l"/>
            <a:r>
              <a:rPr lang="es-BO" dirty="0" smtClean="0"/>
              <a:t>6.6 Análisis de costos</a:t>
            </a:r>
          </a:p>
          <a:p>
            <a:pPr algn="l"/>
            <a:r>
              <a:rPr lang="es-BO" dirty="0"/>
              <a:t>En otras palabras, el análisis de costos se refiere a la determinación del valor monetario de los insumos (mano de obra, materia prima), denominado como el costo general de producción, que ayuda a decidir el nivel óptimo de producción.</a:t>
            </a:r>
          </a:p>
        </p:txBody>
      </p:sp>
    </p:spTree>
    <p:extLst>
      <p:ext uri="{BB962C8B-B14F-4D97-AF65-F5344CB8AC3E}">
        <p14:creationId xmlns:p14="http://schemas.microsoft.com/office/powerpoint/2010/main" val="2190543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35740" y="672353"/>
            <a:ext cx="9758083"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542363" y="2311120"/>
            <a:ext cx="11062447" cy="3336645"/>
          </a:xfrm>
          <a:ln>
            <a:solidFill>
              <a:srgbClr val="FFC000"/>
            </a:solidFill>
          </a:ln>
        </p:spPr>
        <p:txBody>
          <a:bodyPr>
            <a:normAutofit/>
          </a:bodyPr>
          <a:lstStyle/>
          <a:p>
            <a:pPr algn="l"/>
            <a:r>
              <a:rPr lang="es-BO" dirty="0" smtClean="0"/>
              <a:t>6.7 Costos contables</a:t>
            </a:r>
          </a:p>
          <a:p>
            <a:pPr algn="l"/>
            <a:r>
              <a:rPr lang="es-BO" dirty="0"/>
              <a:t>Los costos asociados con el funcionamiento de una empresa dependen claramente del tipo de empresa que esté ejecutando, pero en términos generales, probablemente podamos nombrar algunos de los costos con los que cualquier empresa tiene que lidiar en algún momento. Está el costo de la mano de obra: después de todo, alguien tiene que cobrar por hacer el trabajo, e incluso si solo eres tú quien dirige tu negocio, obviamente necesitas ganar dinero. Hay equipo o materiales: dado que está vendiendo algo, necesita materiales para hacer su producto o equipo para crear el contenido que vende</a:t>
            </a:r>
            <a:r>
              <a:rPr lang="es-BO" dirty="0" smtClean="0"/>
              <a:t>.</a:t>
            </a:r>
            <a:endParaRPr lang="es-BO" dirty="0"/>
          </a:p>
        </p:txBody>
      </p:sp>
    </p:spTree>
    <p:extLst>
      <p:ext uri="{BB962C8B-B14F-4D97-AF65-F5344CB8AC3E}">
        <p14:creationId xmlns:p14="http://schemas.microsoft.com/office/powerpoint/2010/main" val="1445578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26773" y="779930"/>
            <a:ext cx="9834285"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528916" y="2727980"/>
            <a:ext cx="11062447" cy="2260879"/>
          </a:xfrm>
          <a:ln>
            <a:solidFill>
              <a:srgbClr val="FFC000"/>
            </a:solidFill>
          </a:ln>
        </p:spPr>
        <p:txBody>
          <a:bodyPr>
            <a:normAutofit/>
          </a:bodyPr>
          <a:lstStyle/>
          <a:p>
            <a:pPr algn="l"/>
            <a:r>
              <a:rPr lang="es-BO" dirty="0" smtClean="0"/>
              <a:t>6.7 Costos contables</a:t>
            </a:r>
          </a:p>
          <a:p>
            <a:pPr algn="l"/>
            <a:r>
              <a:rPr lang="es-BO" dirty="0"/>
              <a:t>Todos estos costos se denominan costos contables. Los costos contables son aquellos costos que tienen un valor monetario específico que debe pagar para recibir el beneficio asociado. Los costos contables también se denominan costos explícitos. Los costos explícitos son aquellos costos declarados que ocurren a cambio de un bien o servicio definido.</a:t>
            </a:r>
          </a:p>
        </p:txBody>
      </p:sp>
    </p:spTree>
    <p:extLst>
      <p:ext uri="{BB962C8B-B14F-4D97-AF65-F5344CB8AC3E}">
        <p14:creationId xmlns:p14="http://schemas.microsoft.com/office/powerpoint/2010/main" val="397146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35742" y="632012"/>
            <a:ext cx="9825316"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394446" y="2539720"/>
            <a:ext cx="11062447" cy="3108045"/>
          </a:xfrm>
          <a:ln>
            <a:solidFill>
              <a:srgbClr val="FFC000"/>
            </a:solidFill>
          </a:ln>
        </p:spPr>
        <p:txBody>
          <a:bodyPr>
            <a:normAutofit/>
          </a:bodyPr>
          <a:lstStyle/>
          <a:p>
            <a:pPr algn="l"/>
            <a:r>
              <a:rPr lang="es-BO" dirty="0" smtClean="0"/>
              <a:t>6.7 Costos contables</a:t>
            </a:r>
          </a:p>
          <a:p>
            <a:pPr algn="l"/>
            <a:r>
              <a:rPr lang="es-BO" dirty="0" smtClean="0"/>
              <a:t>Ejemplo</a:t>
            </a:r>
          </a:p>
          <a:p>
            <a:pPr algn="l"/>
            <a:r>
              <a:rPr lang="es-BO" dirty="0"/>
              <a:t>El caso para </a:t>
            </a:r>
            <a:r>
              <a:rPr lang="es-BO" dirty="0" smtClean="0"/>
              <a:t>estudia en </a:t>
            </a:r>
            <a:r>
              <a:rPr lang="es-BO" dirty="0"/>
              <a:t>la universidad es mucho más que financiero, pero como estamos hablando de costos </a:t>
            </a:r>
            <a:r>
              <a:rPr lang="es-BO" dirty="0" smtClean="0"/>
              <a:t>contables, </a:t>
            </a:r>
            <a:r>
              <a:rPr lang="es-BO" dirty="0"/>
              <a:t>centrémonos en </a:t>
            </a:r>
            <a:r>
              <a:rPr lang="es-BO" dirty="0" smtClean="0"/>
              <a:t>estos costos.</a:t>
            </a:r>
            <a:r>
              <a:rPr lang="es-BO" dirty="0"/>
              <a:t> Una buena estimación para un título universitario de 4 años </a:t>
            </a:r>
            <a:r>
              <a:rPr lang="es-BO" dirty="0" smtClean="0"/>
              <a:t>es </a:t>
            </a:r>
            <a:r>
              <a:rPr lang="es-BO" dirty="0"/>
              <a:t>de aproximadamente </a:t>
            </a:r>
            <a:r>
              <a:rPr lang="es-BO" dirty="0" smtClean="0"/>
              <a:t>30000 Bs.</a:t>
            </a:r>
            <a:r>
              <a:rPr lang="es-BO" dirty="0"/>
              <a:t> Eso incluye libros, costo de vida, etc. Entonces, desde una perspectiva de costos contables, </a:t>
            </a:r>
            <a:r>
              <a:rPr lang="es-BO" dirty="0" smtClean="0"/>
              <a:t>una persona gastará 30000 Bs.</a:t>
            </a:r>
            <a:r>
              <a:rPr lang="es-BO" dirty="0"/>
              <a:t> Esos son </a:t>
            </a:r>
            <a:r>
              <a:rPr lang="es-BO" dirty="0" smtClean="0"/>
              <a:t>los costos contables, llamados también costos explícitos.</a:t>
            </a:r>
            <a:endParaRPr lang="es-BO" dirty="0"/>
          </a:p>
        </p:txBody>
      </p:sp>
    </p:spTree>
    <p:extLst>
      <p:ext uri="{BB962C8B-B14F-4D97-AF65-F5344CB8AC3E}">
        <p14:creationId xmlns:p14="http://schemas.microsoft.com/office/powerpoint/2010/main" val="2931968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362635" y="793377"/>
            <a:ext cx="9663953"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555812" y="2768320"/>
            <a:ext cx="10981765" cy="2395351"/>
          </a:xfrm>
          <a:ln>
            <a:solidFill>
              <a:srgbClr val="FFC000"/>
            </a:solidFill>
          </a:ln>
        </p:spPr>
        <p:txBody>
          <a:bodyPr>
            <a:normAutofit/>
          </a:bodyPr>
          <a:lstStyle/>
          <a:p>
            <a:pPr algn="l"/>
            <a:r>
              <a:rPr lang="es-BO" dirty="0" smtClean="0"/>
              <a:t>6.8 Tratamiento del costo IVA (Impuesto al Valor Agregado)</a:t>
            </a:r>
          </a:p>
          <a:p>
            <a:pPr algn="l"/>
            <a:r>
              <a:rPr lang="es-BO" dirty="0"/>
              <a:t>El tratamiento de este impuesto, existente en la mayoría de los países del mundo y que grava los bienes y servicios, puede analizarse en la preparación y evaluación de proyectos de distintas maneras dependiendo de las disposiciones legales y </a:t>
            </a:r>
            <a:r>
              <a:rPr lang="es-BO" dirty="0" smtClean="0"/>
              <a:t>tributarias </a:t>
            </a:r>
            <a:r>
              <a:rPr lang="es-BO" dirty="0"/>
              <a:t>vigentes y de los desembolsos que por este concepto deban efectuarse, tomando en consideración su recuperación en el tiempo</a:t>
            </a:r>
            <a:r>
              <a:rPr lang="es-BO" dirty="0" smtClean="0"/>
              <a:t>.</a:t>
            </a:r>
            <a:endParaRPr lang="es-BO" dirty="0"/>
          </a:p>
        </p:txBody>
      </p:sp>
    </p:spTree>
    <p:extLst>
      <p:ext uri="{BB962C8B-B14F-4D97-AF65-F5344CB8AC3E}">
        <p14:creationId xmlns:p14="http://schemas.microsoft.com/office/powerpoint/2010/main" val="3700896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631577" y="0"/>
            <a:ext cx="9144000"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475129" y="1921155"/>
            <a:ext cx="10981765" cy="2395351"/>
          </a:xfrm>
          <a:ln>
            <a:solidFill>
              <a:srgbClr val="FFC000"/>
            </a:solidFill>
          </a:ln>
        </p:spPr>
        <p:txBody>
          <a:bodyPr>
            <a:normAutofit/>
          </a:bodyPr>
          <a:lstStyle/>
          <a:p>
            <a:pPr algn="l"/>
            <a:r>
              <a:rPr lang="es-BO" dirty="0" smtClean="0"/>
              <a:t>6.8 Tratamiento del costo IVA (Impuesto al Valor Agregado)</a:t>
            </a:r>
          </a:p>
          <a:p>
            <a:pPr algn="l"/>
            <a:r>
              <a:rPr lang="es-BO" dirty="0"/>
              <a:t>Es habitual escuchar que este impuesto no debe considerarse en los flujos, ya que la empresa sólo actúa como intermediaria entre el Estado y el comprador de bienes o servicios que se ofrezcan. De esta manera, los bienes y servicios adquiridos por una empresa, a los cuales les agrega valor mediante su trabajo productivo, al venderlos posteriormente debe incorporarles el impuesto del IVA por el total de lo vendido.</a:t>
            </a:r>
          </a:p>
        </p:txBody>
      </p:sp>
    </p:spTree>
    <p:extLst>
      <p:ext uri="{BB962C8B-B14F-4D97-AF65-F5344CB8AC3E}">
        <p14:creationId xmlns:p14="http://schemas.microsoft.com/office/powerpoint/2010/main" val="4292098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631577" y="0"/>
            <a:ext cx="9144000"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475129" y="1921155"/>
            <a:ext cx="10981765" cy="3040810"/>
          </a:xfrm>
          <a:ln>
            <a:solidFill>
              <a:srgbClr val="FFC000"/>
            </a:solidFill>
          </a:ln>
        </p:spPr>
        <p:txBody>
          <a:bodyPr>
            <a:normAutofit/>
          </a:bodyPr>
          <a:lstStyle/>
          <a:p>
            <a:pPr algn="l"/>
            <a:r>
              <a:rPr lang="es-BO" dirty="0" smtClean="0"/>
              <a:t>6.8 Tratamiento del costo IVA (Impuesto al Valor Agregado)</a:t>
            </a:r>
          </a:p>
          <a:p>
            <a:pPr algn="l"/>
            <a:r>
              <a:rPr lang="es-BO" dirty="0" smtClean="0"/>
              <a:t>Sin </a:t>
            </a:r>
            <a:r>
              <a:rPr lang="es-BO" dirty="0"/>
              <a:t>embargo, como tuvo que adquirir materias primas u otros bienes y servicios afectos a IVA, en su declaración mensual de impuestos, la empresa señalará el IVA pagado y el IVA recibido. Como el recibido es mayor que el pagado, deberá cancelar al fisco la diferencia, anotando el neto de su efecto en los flujos, razón por la cual muchos sostienen que este impuesto no debe ser considerado en los flujos del proyecto.</a:t>
            </a:r>
          </a:p>
        </p:txBody>
      </p:sp>
    </p:spTree>
    <p:extLst>
      <p:ext uri="{BB962C8B-B14F-4D97-AF65-F5344CB8AC3E}">
        <p14:creationId xmlns:p14="http://schemas.microsoft.com/office/powerpoint/2010/main" val="793138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176618" y="766482"/>
            <a:ext cx="10053917" cy="961931"/>
          </a:xfrm>
        </p:spPr>
        <p:txBody>
          <a:bodyPr/>
          <a:lstStyle/>
          <a:p>
            <a:r>
              <a:rPr lang="es-BO" dirty="0" smtClean="0"/>
              <a:t>Estimación de costos</a:t>
            </a:r>
            <a:endParaRPr lang="es-BO" dirty="0"/>
          </a:p>
        </p:txBody>
      </p:sp>
      <p:sp>
        <p:nvSpPr>
          <p:cNvPr id="3" name="Subtítulo 2"/>
          <p:cNvSpPr>
            <a:spLocks noGrp="1"/>
          </p:cNvSpPr>
          <p:nvPr>
            <p:ph type="subTitle" idx="1"/>
          </p:nvPr>
        </p:nvSpPr>
        <p:spPr>
          <a:xfrm>
            <a:off x="5721724" y="3212073"/>
            <a:ext cx="963706" cy="364845"/>
          </a:xfrm>
          <a:ln>
            <a:solidFill>
              <a:srgbClr val="FFC000"/>
            </a:solidFill>
          </a:ln>
        </p:spPr>
        <p:txBody>
          <a:bodyPr>
            <a:normAutofit fontScale="92500" lnSpcReduction="10000"/>
          </a:bodyPr>
          <a:lstStyle/>
          <a:p>
            <a:pPr algn="l"/>
            <a:r>
              <a:rPr lang="es-BO" dirty="0" smtClean="0"/>
              <a:t>FIN</a:t>
            </a:r>
          </a:p>
          <a:p>
            <a:pPr algn="l"/>
            <a:endParaRPr lang="es-BO" dirty="0"/>
          </a:p>
        </p:txBody>
      </p:sp>
    </p:spTree>
    <p:extLst>
      <p:ext uri="{BB962C8B-B14F-4D97-AF65-F5344CB8AC3E}">
        <p14:creationId xmlns:p14="http://schemas.microsoft.com/office/powerpoint/2010/main" val="36790611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347</TotalTime>
  <Words>1393</Words>
  <Application>Microsoft Office PowerPoint</Application>
  <PresentationFormat>Panorámica</PresentationFormat>
  <Paragraphs>79</Paragraphs>
  <Slides>22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Century Gothic</vt:lpstr>
      <vt:lpstr>Maiandra GD</vt:lpstr>
      <vt:lpstr>Wingdings 3</vt:lpstr>
      <vt:lpstr>Ion</vt:lpstr>
      <vt:lpstr>Presentación de PowerPoint</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lpstr>Estimación de costos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Estimación de costos</dc:title>
  <dc:creator>Consultores Academia</dc:creator>
  <cp:lastModifiedBy>Consultores Academia</cp:lastModifiedBy>
  <cp:revision>23</cp:revision>
  <dcterms:created xsi:type="dcterms:W3CDTF">2021-10-11T16:34:30Z</dcterms:created>
  <dcterms:modified xsi:type="dcterms:W3CDTF">2021-10-25T02:17:56Z</dcterms:modified>
</cp:coreProperties>
</file>