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78" r:id="rId2"/>
    <p:sldId id="256" r:id="rId3"/>
    <p:sldId id="257" r:id="rId4"/>
    <p:sldId id="259" r:id="rId5"/>
    <p:sldId id="260" r:id="rId6"/>
    <p:sldId id="261" r:id="rId7"/>
    <p:sldId id="262" r:id="rId8"/>
    <p:sldId id="263" r:id="rId9"/>
    <p:sldId id="264" r:id="rId10"/>
    <p:sldId id="266" r:id="rId11"/>
    <p:sldId id="268" r:id="rId12"/>
    <p:sldId id="270" r:id="rId13"/>
    <p:sldId id="269" r:id="rId14"/>
    <p:sldId id="271" r:id="rId15"/>
    <p:sldId id="272" r:id="rId16"/>
    <p:sldId id="273" r:id="rId17"/>
    <p:sldId id="274" r:id="rId18"/>
    <p:sldId id="275" r:id="rId19"/>
    <p:sldId id="276" r:id="rId20"/>
    <p:sldId id="277" r:id="rId21"/>
    <p:sldId id="258" r:id="rId22"/>
    <p:sldId id="265" r:id="rId23"/>
  </p:sldIdLst>
  <p:sldSz cx="12192000" cy="6858000"/>
  <p:notesSz cx="6858000" cy="9144000"/>
  <p:defaultTextStyle>
    <a:defPPr>
      <a:defRPr lang="es-B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1" d="100"/>
          <a:sy n="71" d="100"/>
        </p:scale>
        <p:origin x="672"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smtClean="0"/>
              <a:t>Haga clic para editar el estilo de subtítulo del patrón</a:t>
            </a:r>
            <a:endParaRPr lang="en-US" dirty="0"/>
          </a:p>
        </p:txBody>
      </p:sp>
      <p:sp>
        <p:nvSpPr>
          <p:cNvPr id="4" name="Date Placeholder 3"/>
          <p:cNvSpPr>
            <a:spLocks noGrp="1"/>
          </p:cNvSpPr>
          <p:nvPr>
            <p:ph type="dt" sz="half" idx="10"/>
          </p:nvPr>
        </p:nvSpPr>
        <p:spPr/>
        <p:txBody>
          <a:bodyPr/>
          <a:lstStyle/>
          <a:p>
            <a:fld id="{76EFFC81-319D-45A8-BF16-13A8214CB972}" type="datetimeFigureOut">
              <a:rPr lang="es-BO" smtClean="0"/>
              <a:t>24/10/2021</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E3B1ED8E-ED0C-47FB-B747-2F2DA0BC4927}" type="slidenum">
              <a:rPr lang="es-BO" smtClean="0"/>
              <a:t>‹Nº›</a:t>
            </a:fld>
            <a:endParaRPr lang="es-BO"/>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4552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76EFFC81-319D-45A8-BF16-13A8214CB972}" type="datetimeFigureOut">
              <a:rPr lang="es-BO" smtClean="0"/>
              <a:t>24/10/2021</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E3B1ED8E-ED0C-47FB-B747-2F2DA0BC4927}" type="slidenum">
              <a:rPr lang="es-BO" smtClean="0"/>
              <a:t>‹Nº›</a:t>
            </a:fld>
            <a:endParaRPr lang="es-BO"/>
          </a:p>
        </p:txBody>
      </p:sp>
    </p:spTree>
    <p:extLst>
      <p:ext uri="{BB962C8B-B14F-4D97-AF65-F5344CB8AC3E}">
        <p14:creationId xmlns:p14="http://schemas.microsoft.com/office/powerpoint/2010/main" val="27219797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76EFFC81-319D-45A8-BF16-13A8214CB972}" type="datetimeFigureOut">
              <a:rPr lang="es-BO" smtClean="0"/>
              <a:t>24/10/2021</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E3B1ED8E-ED0C-47FB-B747-2F2DA0BC4927}" type="slidenum">
              <a:rPr lang="es-BO" smtClean="0"/>
              <a:t>‹Nº›</a:t>
            </a:fld>
            <a:endParaRPr lang="es-BO"/>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027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1097278" y="1845734"/>
            <a:ext cx="4937760" cy="4023359"/>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76EFFC81-319D-45A8-BF16-13A8214CB972}" type="datetimeFigureOut">
              <a:rPr lang="es-BO" smtClean="0"/>
              <a:t>24/10/2021</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E3B1ED8E-ED0C-47FB-B747-2F2DA0BC4927}" type="slidenum">
              <a:rPr lang="es-BO" smtClean="0"/>
              <a:t>‹Nº›</a:t>
            </a:fld>
            <a:endParaRPr lang="es-BO"/>
          </a:p>
        </p:txBody>
      </p:sp>
    </p:spTree>
    <p:extLst>
      <p:ext uri="{BB962C8B-B14F-4D97-AF65-F5344CB8AC3E}">
        <p14:creationId xmlns:p14="http://schemas.microsoft.com/office/powerpoint/2010/main" val="41489325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lumMod val="9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Content Placeholder 3"/>
          <p:cNvSpPr>
            <a:spLocks noGrp="1"/>
          </p:cNvSpPr>
          <p:nvPr>
            <p:ph sz="half" idx="2"/>
          </p:nvPr>
        </p:nvSpPr>
        <p:spPr>
          <a:xfrm>
            <a:off x="1097280" y="2582334"/>
            <a:ext cx="4937760" cy="3378200"/>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lumMod val="9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Content Placeholder 5"/>
          <p:cNvSpPr>
            <a:spLocks noGrp="1"/>
          </p:cNvSpPr>
          <p:nvPr>
            <p:ph sz="quarter" idx="4"/>
          </p:nvPr>
        </p:nvSpPr>
        <p:spPr>
          <a:xfrm>
            <a:off x="6217920" y="2582334"/>
            <a:ext cx="4937760" cy="3378200"/>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76EFFC81-319D-45A8-BF16-13A8214CB972}" type="datetimeFigureOut">
              <a:rPr lang="es-BO" smtClean="0"/>
              <a:t>24/10/2021</a:t>
            </a:fld>
            <a:endParaRPr lang="es-BO"/>
          </a:p>
        </p:txBody>
      </p:sp>
      <p:sp>
        <p:nvSpPr>
          <p:cNvPr id="8" name="Footer Placeholder 7"/>
          <p:cNvSpPr>
            <a:spLocks noGrp="1"/>
          </p:cNvSpPr>
          <p:nvPr>
            <p:ph type="ftr" sz="quarter" idx="11"/>
          </p:nvPr>
        </p:nvSpPr>
        <p:spPr/>
        <p:txBody>
          <a:bodyPr/>
          <a:lstStyle/>
          <a:p>
            <a:endParaRPr lang="es-BO"/>
          </a:p>
        </p:txBody>
      </p:sp>
      <p:sp>
        <p:nvSpPr>
          <p:cNvPr id="9" name="Slide Number Placeholder 8"/>
          <p:cNvSpPr>
            <a:spLocks noGrp="1"/>
          </p:cNvSpPr>
          <p:nvPr>
            <p:ph type="sldNum" sz="quarter" idx="12"/>
          </p:nvPr>
        </p:nvSpPr>
        <p:spPr/>
        <p:txBody>
          <a:bodyPr/>
          <a:lstStyle/>
          <a:p>
            <a:fld id="{E3B1ED8E-ED0C-47FB-B747-2F2DA0BC4927}" type="slidenum">
              <a:rPr lang="es-BO" smtClean="0"/>
              <a:t>‹Nº›</a:t>
            </a:fld>
            <a:endParaRPr lang="es-BO"/>
          </a:p>
        </p:txBody>
      </p:sp>
    </p:spTree>
    <p:extLst>
      <p:ext uri="{BB962C8B-B14F-4D97-AF65-F5344CB8AC3E}">
        <p14:creationId xmlns:p14="http://schemas.microsoft.com/office/powerpoint/2010/main" val="9192238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76EFFC81-319D-45A8-BF16-13A8214CB972}" type="datetimeFigureOut">
              <a:rPr lang="es-BO" smtClean="0"/>
              <a:t>24/10/2021</a:t>
            </a:fld>
            <a:endParaRPr lang="es-BO"/>
          </a:p>
        </p:txBody>
      </p:sp>
      <p:sp>
        <p:nvSpPr>
          <p:cNvPr id="4" name="Footer Placeholder 3"/>
          <p:cNvSpPr>
            <a:spLocks noGrp="1"/>
          </p:cNvSpPr>
          <p:nvPr>
            <p:ph type="ftr" sz="quarter" idx="11"/>
          </p:nvPr>
        </p:nvSpPr>
        <p:spPr/>
        <p:txBody>
          <a:bodyPr/>
          <a:lstStyle/>
          <a:p>
            <a:endParaRPr lang="es-BO"/>
          </a:p>
        </p:txBody>
      </p:sp>
      <p:sp>
        <p:nvSpPr>
          <p:cNvPr id="5" name="Slide Number Placeholder 4"/>
          <p:cNvSpPr>
            <a:spLocks noGrp="1"/>
          </p:cNvSpPr>
          <p:nvPr>
            <p:ph type="sldNum" sz="quarter" idx="12"/>
          </p:nvPr>
        </p:nvSpPr>
        <p:spPr/>
        <p:txBody>
          <a:bodyPr/>
          <a:lstStyle/>
          <a:p>
            <a:fld id="{E3B1ED8E-ED0C-47FB-B747-2F2DA0BC4927}" type="slidenum">
              <a:rPr lang="es-BO" smtClean="0"/>
              <a:t>‹Nº›</a:t>
            </a:fld>
            <a:endParaRPr lang="es-BO"/>
          </a:p>
        </p:txBody>
      </p:sp>
    </p:spTree>
    <p:extLst>
      <p:ext uri="{BB962C8B-B14F-4D97-AF65-F5344CB8AC3E}">
        <p14:creationId xmlns:p14="http://schemas.microsoft.com/office/powerpoint/2010/main" val="38387462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76EFFC81-319D-45A8-BF16-13A8214CB972}" type="datetimeFigureOut">
              <a:rPr lang="es-BO" smtClean="0"/>
              <a:t>24/10/2021</a:t>
            </a:fld>
            <a:endParaRPr lang="es-BO"/>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s-BO"/>
          </a:p>
        </p:txBody>
      </p:sp>
      <p:sp>
        <p:nvSpPr>
          <p:cNvPr id="9" name="Slide Number Placeholder 8"/>
          <p:cNvSpPr>
            <a:spLocks noGrp="1"/>
          </p:cNvSpPr>
          <p:nvPr>
            <p:ph type="sldNum" sz="quarter" idx="12"/>
          </p:nvPr>
        </p:nvSpPr>
        <p:spPr/>
        <p:txBody>
          <a:bodyPr/>
          <a:lstStyle/>
          <a:p>
            <a:fld id="{E3B1ED8E-ED0C-47FB-B747-2F2DA0BC4927}" type="slidenum">
              <a:rPr lang="es-BO" smtClean="0"/>
              <a:t>‹Nº›</a:t>
            </a:fld>
            <a:endParaRPr lang="es-BO"/>
          </a:p>
        </p:txBody>
      </p:sp>
    </p:spTree>
    <p:extLst>
      <p:ext uri="{BB962C8B-B14F-4D97-AF65-F5344CB8AC3E}">
        <p14:creationId xmlns:p14="http://schemas.microsoft.com/office/powerpoint/2010/main" val="4221546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0" y="0"/>
            <a:ext cx="4050791"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76EFFC81-319D-45A8-BF16-13A8214CB972}" type="datetimeFigureOut">
              <a:rPr lang="es-BO" smtClean="0"/>
              <a:t>24/10/2021</a:t>
            </a:fld>
            <a:endParaRPr lang="es-BO"/>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s-BO"/>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3B1ED8E-ED0C-47FB-B747-2F2DA0BC4927}" type="slidenum">
              <a:rPr lang="es-BO" smtClean="0"/>
              <a:t>‹Nº›</a:t>
            </a:fld>
            <a:endParaRPr lang="es-BO"/>
          </a:p>
        </p:txBody>
      </p:sp>
    </p:spTree>
    <p:extLst>
      <p:ext uri="{BB962C8B-B14F-4D97-AF65-F5344CB8AC3E}">
        <p14:creationId xmlns:p14="http://schemas.microsoft.com/office/powerpoint/2010/main" val="37232990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chemeClr val="tx1"/>
                </a:solidFill>
              </a:defRPr>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solidFill>
            <a:schemeClr val="bg1">
              <a:lumMod val="50000"/>
              <a:lumOff val="5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Date Placeholder 4"/>
          <p:cNvSpPr>
            <a:spLocks noGrp="1"/>
          </p:cNvSpPr>
          <p:nvPr>
            <p:ph type="dt" sz="half" idx="10"/>
          </p:nvPr>
        </p:nvSpPr>
        <p:spPr/>
        <p:txBody>
          <a:bodyPr/>
          <a:lstStyle>
            <a:lvl1pPr>
              <a:defRPr>
                <a:solidFill>
                  <a:schemeClr val="tx2"/>
                </a:solidFill>
              </a:defRPr>
            </a:lvl1pPr>
          </a:lstStyle>
          <a:p>
            <a:fld id="{76EFFC81-319D-45A8-BF16-13A8214CB972}" type="datetimeFigureOut">
              <a:rPr lang="es-BO" smtClean="0"/>
              <a:t>24/10/2021</a:t>
            </a:fld>
            <a:endParaRPr lang="es-BO"/>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s-BO"/>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3B1ED8E-ED0C-47FB-B747-2F2DA0BC4927}" type="slidenum">
              <a:rPr lang="es-BO" smtClean="0"/>
              <a:t>‹Nº›</a:t>
            </a:fld>
            <a:endParaRPr lang="es-BO"/>
          </a:p>
        </p:txBody>
      </p:sp>
    </p:spTree>
    <p:extLst>
      <p:ext uri="{BB962C8B-B14F-4D97-AF65-F5344CB8AC3E}">
        <p14:creationId xmlns:p14="http://schemas.microsoft.com/office/powerpoint/2010/main" val="1275336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76EFFC81-319D-45A8-BF16-13A8214CB972}" type="datetimeFigureOut">
              <a:rPr lang="es-BO" smtClean="0"/>
              <a:t>24/10/2021</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E3B1ED8E-ED0C-47FB-B747-2F2DA0BC4927}" type="slidenum">
              <a:rPr lang="es-BO" smtClean="0"/>
              <a:t>‹Nº›</a:t>
            </a:fld>
            <a:endParaRPr lang="es-BO"/>
          </a:p>
        </p:txBody>
      </p:sp>
    </p:spTree>
    <p:extLst>
      <p:ext uri="{BB962C8B-B14F-4D97-AF65-F5344CB8AC3E}">
        <p14:creationId xmlns:p14="http://schemas.microsoft.com/office/powerpoint/2010/main" val="31631047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76EFFC81-319D-45A8-BF16-13A8214CB972}" type="datetimeFigureOut">
              <a:rPr lang="es-BO" smtClean="0"/>
              <a:t>24/10/2021</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E3B1ED8E-ED0C-47FB-B747-2F2DA0BC4927}" type="slidenum">
              <a:rPr lang="es-BO" smtClean="0"/>
              <a:t>‹Nº›</a:t>
            </a:fld>
            <a:endParaRPr lang="es-BO"/>
          </a:p>
        </p:txBody>
      </p:sp>
    </p:spTree>
    <p:extLst>
      <p:ext uri="{BB962C8B-B14F-4D97-AF65-F5344CB8AC3E}">
        <p14:creationId xmlns:p14="http://schemas.microsoft.com/office/powerpoint/2010/main" val="18900831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75000"/>
            <a:lumOff val="25000"/>
          </a:schemeClr>
        </a:solidFill>
        <a:effectLst/>
      </p:bgPr>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76EFFC81-319D-45A8-BF16-13A8214CB972}" type="datetimeFigureOut">
              <a:rPr lang="es-BO" smtClean="0"/>
              <a:t>24/10/2021</a:t>
            </a:fld>
            <a:endParaRPr lang="es-BO"/>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s-BO"/>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E3B1ED8E-ED0C-47FB-B747-2F2DA0BC4927}" type="slidenum">
              <a:rPr lang="es-BO" smtClean="0"/>
              <a:t>‹Nº›</a:t>
            </a:fld>
            <a:endParaRPr lang="es-BO"/>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2018346"/>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3"/>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3"/>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4910028" y="220187"/>
            <a:ext cx="2371944" cy="1714100"/>
          </a:xfrm>
          <a:prstGeom prst="rect">
            <a:avLst/>
          </a:prstGeom>
        </p:spPr>
      </p:pic>
      <p:sp>
        <p:nvSpPr>
          <p:cNvPr id="5" name="CuadroTexto 4"/>
          <p:cNvSpPr txBox="1"/>
          <p:nvPr/>
        </p:nvSpPr>
        <p:spPr>
          <a:xfrm>
            <a:off x="154745" y="3901900"/>
            <a:ext cx="12037255" cy="1384995"/>
          </a:xfrm>
          <a:prstGeom prst="rect">
            <a:avLst/>
          </a:prstGeom>
          <a:noFill/>
        </p:spPr>
        <p:txBody>
          <a:bodyPr wrap="square" rtlCol="0">
            <a:spAutoFit/>
          </a:bodyPr>
          <a:lstStyle/>
          <a:p>
            <a:pPr algn="ctr"/>
            <a:r>
              <a:rPr lang="es-BO" sz="4000" dirty="0" smtClean="0">
                <a:solidFill>
                  <a:schemeClr val="tx1">
                    <a:lumMod val="85000"/>
                  </a:schemeClr>
                </a:solidFill>
                <a:latin typeface="Maiandra GD" panose="020E0502030308020204" pitchFamily="34" charset="0"/>
              </a:rPr>
              <a:t>Modulo: Planificación y evaluación de proyectos</a:t>
            </a:r>
          </a:p>
          <a:p>
            <a:pPr algn="ctr"/>
            <a:r>
              <a:rPr lang="es-BO" sz="4400" dirty="0" smtClean="0">
                <a:solidFill>
                  <a:schemeClr val="tx1">
                    <a:lumMod val="85000"/>
                  </a:schemeClr>
                </a:solidFill>
                <a:latin typeface="Maiandra GD" panose="020E0502030308020204" pitchFamily="34" charset="0"/>
              </a:rPr>
              <a:t>Código: PEP-150</a:t>
            </a:r>
          </a:p>
        </p:txBody>
      </p:sp>
      <p:sp>
        <p:nvSpPr>
          <p:cNvPr id="7" name="CuadroTexto 6"/>
          <p:cNvSpPr txBox="1"/>
          <p:nvPr/>
        </p:nvSpPr>
        <p:spPr>
          <a:xfrm>
            <a:off x="3440876" y="6273225"/>
            <a:ext cx="5464992" cy="584775"/>
          </a:xfrm>
          <a:prstGeom prst="rect">
            <a:avLst/>
          </a:prstGeom>
          <a:noFill/>
        </p:spPr>
        <p:txBody>
          <a:bodyPr wrap="square" rtlCol="0">
            <a:spAutoFit/>
          </a:bodyPr>
          <a:lstStyle/>
          <a:p>
            <a:r>
              <a:rPr lang="es-BO" sz="3200" dirty="0" smtClean="0">
                <a:solidFill>
                  <a:schemeClr val="accent5">
                    <a:lumMod val="75000"/>
                  </a:schemeClr>
                </a:solidFill>
                <a:latin typeface="Maiandra GD" panose="020E0502030308020204" pitchFamily="34" charset="0"/>
              </a:rPr>
              <a:t>Docente: Ing. José C. Rojas P.</a:t>
            </a:r>
          </a:p>
        </p:txBody>
      </p:sp>
      <p:sp>
        <p:nvSpPr>
          <p:cNvPr id="9" name="CuadroTexto 8"/>
          <p:cNvSpPr txBox="1"/>
          <p:nvPr/>
        </p:nvSpPr>
        <p:spPr>
          <a:xfrm>
            <a:off x="1951449" y="2031341"/>
            <a:ext cx="8443846" cy="1446550"/>
          </a:xfrm>
          <a:prstGeom prst="rect">
            <a:avLst/>
          </a:prstGeom>
          <a:noFill/>
        </p:spPr>
        <p:txBody>
          <a:bodyPr wrap="square" rtlCol="0">
            <a:spAutoFit/>
          </a:bodyPr>
          <a:lstStyle/>
          <a:p>
            <a:pPr algn="ctr"/>
            <a:r>
              <a:rPr lang="es-BO" sz="4400" dirty="0" smtClean="0">
                <a:solidFill>
                  <a:srgbClr val="FF0000"/>
                </a:solidFill>
                <a:latin typeface="Maiandra GD" panose="020E0502030308020204" pitchFamily="34" charset="0"/>
              </a:rPr>
              <a:t>Carrera de Ingeniería de Sistemas</a:t>
            </a:r>
          </a:p>
          <a:p>
            <a:pPr algn="ctr"/>
            <a:r>
              <a:rPr lang="es-BO" sz="4400" dirty="0" smtClean="0">
                <a:solidFill>
                  <a:srgbClr val="FF0000"/>
                </a:solidFill>
                <a:latin typeface="Maiandra GD" panose="020E0502030308020204" pitchFamily="34" charset="0"/>
              </a:rPr>
              <a:t>Universidad Privada de Oruro</a:t>
            </a:r>
            <a:endParaRPr lang="es-BO" sz="4400" dirty="0">
              <a:solidFill>
                <a:srgbClr val="FF0000"/>
              </a:solidFill>
              <a:latin typeface="Maiandra GD" panose="020E0502030308020204" pitchFamily="34" charset="0"/>
            </a:endParaRPr>
          </a:p>
        </p:txBody>
      </p:sp>
    </p:spTree>
    <p:extLst>
      <p:ext uri="{BB962C8B-B14F-4D97-AF65-F5344CB8AC3E}">
        <p14:creationId xmlns:p14="http://schemas.microsoft.com/office/powerpoint/2010/main" val="329592340"/>
      </p:ext>
    </p:extLst>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624417" y="2641882"/>
            <a:ext cx="7355541" cy="625753"/>
          </a:xfrm>
        </p:spPr>
        <p:txBody>
          <a:bodyPr>
            <a:normAutofit fontScale="90000"/>
          </a:bodyPr>
          <a:lstStyle/>
          <a:p>
            <a:r>
              <a:rPr lang="es-BO" sz="4000" dirty="0" smtClean="0">
                <a:latin typeface="Maiandra GD" panose="020E0502030308020204" pitchFamily="34" charset="0"/>
              </a:rPr>
              <a:t>9 DESICIONES DE LOCALIZACION</a:t>
            </a:r>
            <a:endParaRPr lang="es-BO" sz="4000" dirty="0">
              <a:latin typeface="Maiandra GD" panose="020E0502030308020204" pitchFamily="34" charset="0"/>
            </a:endParaRPr>
          </a:p>
        </p:txBody>
      </p:sp>
    </p:spTree>
    <p:extLst>
      <p:ext uri="{BB962C8B-B14F-4D97-AF65-F5344CB8AC3E}">
        <p14:creationId xmlns:p14="http://schemas.microsoft.com/office/powerpoint/2010/main" val="19465356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857935" y="181070"/>
            <a:ext cx="7355541" cy="625753"/>
          </a:xfrm>
        </p:spPr>
        <p:txBody>
          <a:bodyPr>
            <a:normAutofit fontScale="90000"/>
          </a:bodyPr>
          <a:lstStyle/>
          <a:p>
            <a:r>
              <a:rPr lang="es-BO" sz="4000" dirty="0" smtClean="0">
                <a:latin typeface="Maiandra GD" panose="020E0502030308020204" pitchFamily="34" charset="0"/>
              </a:rPr>
              <a:t>9 DESICIONES DE LOCALIZACION</a:t>
            </a:r>
            <a:endParaRPr lang="es-BO" sz="4000" dirty="0">
              <a:latin typeface="Maiandra GD" panose="020E0502030308020204" pitchFamily="34" charset="0"/>
            </a:endParaRPr>
          </a:p>
        </p:txBody>
      </p:sp>
      <p:sp>
        <p:nvSpPr>
          <p:cNvPr id="4" name="CuadroTexto 3"/>
          <p:cNvSpPr txBox="1"/>
          <p:nvPr/>
        </p:nvSpPr>
        <p:spPr>
          <a:xfrm>
            <a:off x="833717" y="2124635"/>
            <a:ext cx="10757648" cy="2246769"/>
          </a:xfrm>
          <a:prstGeom prst="rect">
            <a:avLst/>
          </a:prstGeom>
          <a:noFill/>
        </p:spPr>
        <p:txBody>
          <a:bodyPr wrap="square" rtlCol="0">
            <a:spAutoFit/>
          </a:bodyPr>
          <a:lstStyle/>
          <a:p>
            <a:r>
              <a:rPr lang="es-BO" sz="2800" dirty="0" smtClean="0">
                <a:latin typeface="Maiandra GD" panose="020E0502030308020204" pitchFamily="34" charset="0"/>
              </a:rPr>
              <a:t>La localización adecuada de la empresa que se crearía con la aprobación del proyecto puede determinar el éxito o fracaso de un negocio. Por ello, la decisión acerca de dónde ubicar el proyecto obedecerá no sólo a criterios económicos, sino también a criterios estratégicos, institucionales e, incluso, de preferencias emocionales.</a:t>
            </a:r>
            <a:endParaRPr lang="es-BO" sz="2800" dirty="0">
              <a:latin typeface="Maiandra GD" panose="020E0502030308020204" pitchFamily="34" charset="0"/>
            </a:endParaRPr>
          </a:p>
        </p:txBody>
      </p:sp>
    </p:spTree>
    <p:extLst>
      <p:ext uri="{BB962C8B-B14F-4D97-AF65-F5344CB8AC3E}">
        <p14:creationId xmlns:p14="http://schemas.microsoft.com/office/powerpoint/2010/main" val="30866214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857935" y="181070"/>
            <a:ext cx="7355541" cy="625753"/>
          </a:xfrm>
        </p:spPr>
        <p:txBody>
          <a:bodyPr>
            <a:normAutofit fontScale="90000"/>
          </a:bodyPr>
          <a:lstStyle/>
          <a:p>
            <a:r>
              <a:rPr lang="es-BO" sz="4000" dirty="0" smtClean="0">
                <a:latin typeface="Maiandra GD" panose="020E0502030308020204" pitchFamily="34" charset="0"/>
              </a:rPr>
              <a:t>9 DESICIONES DE LOCALIZACION</a:t>
            </a:r>
            <a:endParaRPr lang="es-BO" sz="4000" dirty="0">
              <a:latin typeface="Maiandra GD" panose="020E0502030308020204" pitchFamily="34" charset="0"/>
            </a:endParaRPr>
          </a:p>
        </p:txBody>
      </p:sp>
      <p:sp>
        <p:nvSpPr>
          <p:cNvPr id="4" name="CuadroTexto 3"/>
          <p:cNvSpPr txBox="1"/>
          <p:nvPr/>
        </p:nvSpPr>
        <p:spPr>
          <a:xfrm>
            <a:off x="833717" y="2124635"/>
            <a:ext cx="10757648" cy="1384995"/>
          </a:xfrm>
          <a:prstGeom prst="rect">
            <a:avLst/>
          </a:prstGeom>
          <a:noFill/>
        </p:spPr>
        <p:txBody>
          <a:bodyPr wrap="square" rtlCol="0">
            <a:spAutoFit/>
          </a:bodyPr>
          <a:lstStyle/>
          <a:p>
            <a:r>
              <a:rPr lang="es-BO" sz="2800" dirty="0" smtClean="0">
                <a:latin typeface="Maiandra GD" panose="020E0502030308020204" pitchFamily="34" charset="0"/>
              </a:rPr>
              <a:t>Esto exige que su análisis se realice de manera integrada con las restantes variables del proyecto: demanda, transporte, competencia, etcétera.</a:t>
            </a:r>
            <a:endParaRPr lang="es-BO" sz="2800" dirty="0">
              <a:latin typeface="Maiandra GD" panose="020E0502030308020204" pitchFamily="34" charset="0"/>
            </a:endParaRPr>
          </a:p>
        </p:txBody>
      </p:sp>
    </p:spTree>
    <p:extLst>
      <p:ext uri="{BB962C8B-B14F-4D97-AF65-F5344CB8AC3E}">
        <p14:creationId xmlns:p14="http://schemas.microsoft.com/office/powerpoint/2010/main" val="37543699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857935" y="181070"/>
            <a:ext cx="7355541" cy="625753"/>
          </a:xfrm>
        </p:spPr>
        <p:txBody>
          <a:bodyPr>
            <a:normAutofit fontScale="90000"/>
          </a:bodyPr>
          <a:lstStyle/>
          <a:p>
            <a:r>
              <a:rPr lang="es-BO" sz="4000" dirty="0" smtClean="0">
                <a:latin typeface="Maiandra GD" panose="020E0502030308020204" pitchFamily="34" charset="0"/>
              </a:rPr>
              <a:t>9 DESICIONES DE LOCALIZACION</a:t>
            </a:r>
            <a:endParaRPr lang="es-BO" sz="4000" dirty="0">
              <a:latin typeface="Maiandra GD" panose="020E0502030308020204" pitchFamily="34" charset="0"/>
            </a:endParaRPr>
          </a:p>
        </p:txBody>
      </p:sp>
      <p:sp>
        <p:nvSpPr>
          <p:cNvPr id="3" name="Subtítulo 2"/>
          <p:cNvSpPr>
            <a:spLocks noGrp="1"/>
          </p:cNvSpPr>
          <p:nvPr>
            <p:ph type="subTitle" idx="1"/>
          </p:nvPr>
        </p:nvSpPr>
        <p:spPr>
          <a:xfrm>
            <a:off x="430306" y="1087438"/>
            <a:ext cx="6185647" cy="472421"/>
          </a:xfrm>
        </p:spPr>
        <p:txBody>
          <a:bodyPr/>
          <a:lstStyle/>
          <a:p>
            <a:r>
              <a:rPr lang="es-BO" dirty="0" smtClean="0">
                <a:latin typeface="Maiandra GD" panose="020E0502030308020204" pitchFamily="34" charset="0"/>
              </a:rPr>
              <a:t>9.1 Estudios </a:t>
            </a:r>
            <a:r>
              <a:rPr lang="es-BO" dirty="0">
                <a:latin typeface="Maiandra GD" panose="020E0502030308020204" pitchFamily="34" charset="0"/>
              </a:rPr>
              <a:t>de la localización</a:t>
            </a:r>
          </a:p>
          <a:p>
            <a:endParaRPr lang="es-BO" dirty="0">
              <a:latin typeface="Maiandra GD" panose="020E0502030308020204" pitchFamily="34" charset="0"/>
            </a:endParaRPr>
          </a:p>
        </p:txBody>
      </p:sp>
      <p:sp>
        <p:nvSpPr>
          <p:cNvPr id="4" name="CuadroTexto 3"/>
          <p:cNvSpPr txBox="1"/>
          <p:nvPr/>
        </p:nvSpPr>
        <p:spPr>
          <a:xfrm>
            <a:off x="833717" y="2124635"/>
            <a:ext cx="10757648" cy="1815882"/>
          </a:xfrm>
          <a:prstGeom prst="rect">
            <a:avLst/>
          </a:prstGeom>
          <a:noFill/>
        </p:spPr>
        <p:txBody>
          <a:bodyPr wrap="square" rtlCol="0">
            <a:spAutoFit/>
          </a:bodyPr>
          <a:lstStyle/>
          <a:p>
            <a:r>
              <a:rPr lang="es-BO" sz="2800" dirty="0" smtClean="0">
                <a:latin typeface="Maiandra GD" panose="020E0502030308020204" pitchFamily="34" charset="0"/>
              </a:rPr>
              <a:t>El estudio de localización se orienta a analizar las diferentes variables que determinan el lugar donde finalmente se ubicará el proyecto, buscando en todo caso una mayor utilidad o una minimización de costos.</a:t>
            </a:r>
            <a:endParaRPr lang="es-BO" sz="2800" dirty="0">
              <a:latin typeface="Maiandra GD" panose="020E0502030308020204" pitchFamily="34" charset="0"/>
            </a:endParaRPr>
          </a:p>
        </p:txBody>
      </p:sp>
    </p:spTree>
    <p:extLst>
      <p:ext uri="{BB962C8B-B14F-4D97-AF65-F5344CB8AC3E}">
        <p14:creationId xmlns:p14="http://schemas.microsoft.com/office/powerpoint/2010/main" val="36371046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857935" y="181070"/>
            <a:ext cx="7355541" cy="625753"/>
          </a:xfrm>
        </p:spPr>
        <p:txBody>
          <a:bodyPr>
            <a:normAutofit fontScale="90000"/>
          </a:bodyPr>
          <a:lstStyle/>
          <a:p>
            <a:r>
              <a:rPr lang="es-BO" sz="4000" dirty="0" smtClean="0">
                <a:latin typeface="Maiandra GD" panose="020E0502030308020204" pitchFamily="34" charset="0"/>
              </a:rPr>
              <a:t>9 DESICIONES DE LOCALIZACION</a:t>
            </a:r>
            <a:endParaRPr lang="es-BO" sz="4000" dirty="0">
              <a:latin typeface="Maiandra GD" panose="020E0502030308020204" pitchFamily="34" charset="0"/>
            </a:endParaRPr>
          </a:p>
        </p:txBody>
      </p:sp>
      <p:sp>
        <p:nvSpPr>
          <p:cNvPr id="3" name="Subtítulo 2"/>
          <p:cNvSpPr>
            <a:spLocks noGrp="1"/>
          </p:cNvSpPr>
          <p:nvPr>
            <p:ph type="subTitle" idx="1"/>
          </p:nvPr>
        </p:nvSpPr>
        <p:spPr>
          <a:xfrm>
            <a:off x="430306" y="1087438"/>
            <a:ext cx="6185647" cy="472421"/>
          </a:xfrm>
        </p:spPr>
        <p:txBody>
          <a:bodyPr/>
          <a:lstStyle/>
          <a:p>
            <a:r>
              <a:rPr lang="es-BO" dirty="0" smtClean="0">
                <a:latin typeface="Maiandra GD" panose="020E0502030308020204" pitchFamily="34" charset="0"/>
              </a:rPr>
              <a:t>9.1 Estudios </a:t>
            </a:r>
            <a:r>
              <a:rPr lang="es-BO" dirty="0">
                <a:latin typeface="Maiandra GD" panose="020E0502030308020204" pitchFamily="34" charset="0"/>
              </a:rPr>
              <a:t>de la localización</a:t>
            </a:r>
          </a:p>
          <a:p>
            <a:endParaRPr lang="es-BO" dirty="0">
              <a:latin typeface="Maiandra GD" panose="020E0502030308020204" pitchFamily="34" charset="0"/>
            </a:endParaRPr>
          </a:p>
        </p:txBody>
      </p:sp>
      <p:sp>
        <p:nvSpPr>
          <p:cNvPr id="4" name="CuadroTexto 3"/>
          <p:cNvSpPr txBox="1"/>
          <p:nvPr/>
        </p:nvSpPr>
        <p:spPr>
          <a:xfrm>
            <a:off x="833717" y="2124635"/>
            <a:ext cx="10757648" cy="2246769"/>
          </a:xfrm>
          <a:prstGeom prst="rect">
            <a:avLst/>
          </a:prstGeom>
          <a:noFill/>
        </p:spPr>
        <p:txBody>
          <a:bodyPr wrap="square" rtlCol="0">
            <a:spAutoFit/>
          </a:bodyPr>
          <a:lstStyle/>
          <a:p>
            <a:r>
              <a:rPr lang="es-BO" sz="2800" dirty="0" smtClean="0">
                <a:latin typeface="Maiandra GD" panose="020E0502030308020204" pitchFamily="34" charset="0"/>
              </a:rPr>
              <a:t>El estudio de localización comprende niveles progresivos de aproximación, que van desde una integración al medio nacional o regional (</a:t>
            </a:r>
            <a:r>
              <a:rPr lang="es-BO" sz="2800" dirty="0" err="1" smtClean="0">
                <a:latin typeface="Maiandra GD" panose="020E0502030308020204" pitchFamily="34" charset="0"/>
              </a:rPr>
              <a:t>macrolocalización</a:t>
            </a:r>
            <a:r>
              <a:rPr lang="es-BO" sz="2800" dirty="0" smtClean="0">
                <a:latin typeface="Maiandra GD" panose="020E0502030308020204" pitchFamily="34" charset="0"/>
              </a:rPr>
              <a:t>), hasta identificar una zona urbana o rural (</a:t>
            </a:r>
            <a:r>
              <a:rPr lang="es-BO" sz="2800" dirty="0" err="1" smtClean="0">
                <a:latin typeface="Maiandra GD" panose="020E0502030308020204" pitchFamily="34" charset="0"/>
              </a:rPr>
              <a:t>microlocalización</a:t>
            </a:r>
            <a:r>
              <a:rPr lang="es-BO" sz="2800" dirty="0" smtClean="0">
                <a:latin typeface="Maiandra GD" panose="020E0502030308020204" pitchFamily="34" charset="0"/>
              </a:rPr>
              <a:t>), para finalmente determinar un sitio preciso.</a:t>
            </a:r>
            <a:endParaRPr lang="es-BO" sz="2800" dirty="0">
              <a:latin typeface="Maiandra GD" panose="020E0502030308020204" pitchFamily="34" charset="0"/>
            </a:endParaRPr>
          </a:p>
        </p:txBody>
      </p:sp>
    </p:spTree>
    <p:extLst>
      <p:ext uri="{BB962C8B-B14F-4D97-AF65-F5344CB8AC3E}">
        <p14:creationId xmlns:p14="http://schemas.microsoft.com/office/powerpoint/2010/main" val="37815484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857935" y="181070"/>
            <a:ext cx="7355541" cy="625753"/>
          </a:xfrm>
        </p:spPr>
        <p:txBody>
          <a:bodyPr>
            <a:normAutofit fontScale="90000"/>
          </a:bodyPr>
          <a:lstStyle/>
          <a:p>
            <a:r>
              <a:rPr lang="es-BO" sz="4000" dirty="0" smtClean="0">
                <a:latin typeface="Maiandra GD" panose="020E0502030308020204" pitchFamily="34" charset="0"/>
              </a:rPr>
              <a:t>9 DESICIONES DE LOCALIZACION</a:t>
            </a:r>
            <a:endParaRPr lang="es-BO" sz="4000" dirty="0">
              <a:latin typeface="Maiandra GD" panose="020E0502030308020204" pitchFamily="34" charset="0"/>
            </a:endParaRPr>
          </a:p>
        </p:txBody>
      </p:sp>
      <p:sp>
        <p:nvSpPr>
          <p:cNvPr id="3" name="Subtítulo 2"/>
          <p:cNvSpPr>
            <a:spLocks noGrp="1"/>
          </p:cNvSpPr>
          <p:nvPr>
            <p:ph type="subTitle" idx="1"/>
          </p:nvPr>
        </p:nvSpPr>
        <p:spPr>
          <a:xfrm>
            <a:off x="430306" y="1087438"/>
            <a:ext cx="6185647" cy="472421"/>
          </a:xfrm>
        </p:spPr>
        <p:txBody>
          <a:bodyPr/>
          <a:lstStyle/>
          <a:p>
            <a:r>
              <a:rPr lang="es-BO" dirty="0" smtClean="0">
                <a:latin typeface="Maiandra GD" panose="020E0502030308020204" pitchFamily="34" charset="0"/>
              </a:rPr>
              <a:t>9.1 Estudios </a:t>
            </a:r>
            <a:r>
              <a:rPr lang="es-BO" dirty="0">
                <a:latin typeface="Maiandra GD" panose="020E0502030308020204" pitchFamily="34" charset="0"/>
              </a:rPr>
              <a:t>de la localización</a:t>
            </a:r>
          </a:p>
          <a:p>
            <a:endParaRPr lang="es-BO" dirty="0">
              <a:latin typeface="Maiandra GD" panose="020E0502030308020204" pitchFamily="34" charset="0"/>
            </a:endParaRPr>
          </a:p>
        </p:txBody>
      </p:sp>
      <p:pic>
        <p:nvPicPr>
          <p:cNvPr id="5" name="Imagen 4"/>
          <p:cNvPicPr>
            <a:picLocks noChangeAspect="1"/>
          </p:cNvPicPr>
          <p:nvPr/>
        </p:nvPicPr>
        <p:blipFill>
          <a:blip r:embed="rId2"/>
          <a:stretch>
            <a:fillRect/>
          </a:stretch>
        </p:blipFill>
        <p:spPr>
          <a:xfrm>
            <a:off x="1600200" y="1559859"/>
            <a:ext cx="9080687" cy="5194949"/>
          </a:xfrm>
          <a:prstGeom prst="rect">
            <a:avLst/>
          </a:prstGeom>
        </p:spPr>
      </p:pic>
    </p:spTree>
    <p:extLst>
      <p:ext uri="{BB962C8B-B14F-4D97-AF65-F5344CB8AC3E}">
        <p14:creationId xmlns:p14="http://schemas.microsoft.com/office/powerpoint/2010/main" val="2122639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857935" y="181070"/>
            <a:ext cx="7355541" cy="625753"/>
          </a:xfrm>
        </p:spPr>
        <p:txBody>
          <a:bodyPr>
            <a:normAutofit fontScale="90000"/>
          </a:bodyPr>
          <a:lstStyle/>
          <a:p>
            <a:r>
              <a:rPr lang="es-BO" sz="4000" dirty="0" smtClean="0">
                <a:latin typeface="Maiandra GD" panose="020E0502030308020204" pitchFamily="34" charset="0"/>
              </a:rPr>
              <a:t>9 DESICIONES DE LOCALIZACION</a:t>
            </a:r>
            <a:endParaRPr lang="es-BO" sz="4000" dirty="0">
              <a:latin typeface="Maiandra GD" panose="020E0502030308020204" pitchFamily="34" charset="0"/>
            </a:endParaRPr>
          </a:p>
        </p:txBody>
      </p:sp>
      <p:sp>
        <p:nvSpPr>
          <p:cNvPr id="3" name="Subtítulo 2"/>
          <p:cNvSpPr>
            <a:spLocks noGrp="1"/>
          </p:cNvSpPr>
          <p:nvPr>
            <p:ph type="subTitle" idx="1"/>
          </p:nvPr>
        </p:nvSpPr>
        <p:spPr>
          <a:xfrm>
            <a:off x="430306" y="1087438"/>
            <a:ext cx="6185647" cy="472421"/>
          </a:xfrm>
        </p:spPr>
        <p:txBody>
          <a:bodyPr/>
          <a:lstStyle/>
          <a:p>
            <a:r>
              <a:rPr lang="es-BO" dirty="0" smtClean="0">
                <a:latin typeface="Maiandra GD" panose="020E0502030308020204" pitchFamily="34" charset="0"/>
              </a:rPr>
              <a:t>9.1 Estudios </a:t>
            </a:r>
            <a:r>
              <a:rPr lang="es-BO" dirty="0">
                <a:latin typeface="Maiandra GD" panose="020E0502030308020204" pitchFamily="34" charset="0"/>
              </a:rPr>
              <a:t>de la localización</a:t>
            </a:r>
          </a:p>
          <a:p>
            <a:endParaRPr lang="es-BO" dirty="0">
              <a:latin typeface="Maiandra GD" panose="020E0502030308020204" pitchFamily="34" charset="0"/>
            </a:endParaRPr>
          </a:p>
        </p:txBody>
      </p:sp>
      <p:sp>
        <p:nvSpPr>
          <p:cNvPr id="4" name="CuadroTexto 3"/>
          <p:cNvSpPr txBox="1"/>
          <p:nvPr/>
        </p:nvSpPr>
        <p:spPr>
          <a:xfrm>
            <a:off x="833717" y="2124635"/>
            <a:ext cx="10757648" cy="2677656"/>
          </a:xfrm>
          <a:prstGeom prst="rect">
            <a:avLst/>
          </a:prstGeom>
          <a:noFill/>
        </p:spPr>
        <p:txBody>
          <a:bodyPr wrap="square" rtlCol="0">
            <a:spAutoFit/>
          </a:bodyPr>
          <a:lstStyle/>
          <a:p>
            <a:r>
              <a:rPr lang="es-BO" sz="2800" dirty="0" smtClean="0">
                <a:latin typeface="Maiandra GD" panose="020E0502030308020204" pitchFamily="34" charset="0"/>
              </a:rPr>
              <a:t>El análisis de la ubicación del proyecto puede realizarse con distintos grados de profundidad, que dependen del carácter de factibilidad, pre factibilidad o perfil del estudio. Independientemente de ello, es necesario realizar dos etapas: la selección de una macro localización y, dentro de ésta, la de la micro localización definitiva.</a:t>
            </a:r>
            <a:endParaRPr lang="es-BO" sz="2800" dirty="0">
              <a:latin typeface="Maiandra GD" panose="020E0502030308020204" pitchFamily="34" charset="0"/>
            </a:endParaRPr>
          </a:p>
        </p:txBody>
      </p:sp>
    </p:spTree>
    <p:extLst>
      <p:ext uri="{BB962C8B-B14F-4D97-AF65-F5344CB8AC3E}">
        <p14:creationId xmlns:p14="http://schemas.microsoft.com/office/powerpoint/2010/main" val="26075126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857935" y="181070"/>
            <a:ext cx="7355541" cy="625753"/>
          </a:xfrm>
        </p:spPr>
        <p:txBody>
          <a:bodyPr>
            <a:normAutofit fontScale="90000"/>
          </a:bodyPr>
          <a:lstStyle/>
          <a:p>
            <a:r>
              <a:rPr lang="es-BO" sz="4000" dirty="0" smtClean="0">
                <a:latin typeface="Maiandra GD" panose="020E0502030308020204" pitchFamily="34" charset="0"/>
              </a:rPr>
              <a:t>9 DESICIONES DE LOCALIZACION</a:t>
            </a:r>
            <a:endParaRPr lang="es-BO" sz="4000" dirty="0">
              <a:latin typeface="Maiandra GD" panose="020E0502030308020204" pitchFamily="34" charset="0"/>
            </a:endParaRPr>
          </a:p>
        </p:txBody>
      </p:sp>
      <p:sp>
        <p:nvSpPr>
          <p:cNvPr id="3" name="Subtítulo 2"/>
          <p:cNvSpPr>
            <a:spLocks noGrp="1"/>
          </p:cNvSpPr>
          <p:nvPr>
            <p:ph type="subTitle" idx="1"/>
          </p:nvPr>
        </p:nvSpPr>
        <p:spPr>
          <a:xfrm>
            <a:off x="430306" y="1087438"/>
            <a:ext cx="6185647" cy="472421"/>
          </a:xfrm>
        </p:spPr>
        <p:txBody>
          <a:bodyPr/>
          <a:lstStyle/>
          <a:p>
            <a:r>
              <a:rPr lang="es-BO" dirty="0" smtClean="0">
                <a:latin typeface="Maiandra GD" panose="020E0502030308020204" pitchFamily="34" charset="0"/>
              </a:rPr>
              <a:t>9.1 Estudios </a:t>
            </a:r>
            <a:r>
              <a:rPr lang="es-BO" dirty="0">
                <a:latin typeface="Maiandra GD" panose="020E0502030308020204" pitchFamily="34" charset="0"/>
              </a:rPr>
              <a:t>de la localización</a:t>
            </a:r>
          </a:p>
          <a:p>
            <a:endParaRPr lang="es-BO" dirty="0">
              <a:latin typeface="Maiandra GD" panose="020E0502030308020204" pitchFamily="34" charset="0"/>
            </a:endParaRPr>
          </a:p>
        </p:txBody>
      </p:sp>
      <p:sp>
        <p:nvSpPr>
          <p:cNvPr id="4" name="CuadroTexto 3"/>
          <p:cNvSpPr txBox="1"/>
          <p:nvPr/>
        </p:nvSpPr>
        <p:spPr>
          <a:xfrm>
            <a:off x="833717" y="2124635"/>
            <a:ext cx="10757648" cy="2677656"/>
          </a:xfrm>
          <a:prstGeom prst="rect">
            <a:avLst/>
          </a:prstGeom>
          <a:noFill/>
        </p:spPr>
        <p:txBody>
          <a:bodyPr wrap="square" rtlCol="0">
            <a:spAutoFit/>
          </a:bodyPr>
          <a:lstStyle/>
          <a:p>
            <a:r>
              <a:rPr lang="es-BO" sz="2800" dirty="0" smtClean="0">
                <a:latin typeface="Maiandra GD" panose="020E0502030308020204" pitchFamily="34" charset="0"/>
              </a:rPr>
              <a:t>La deficiente recolección de datos es la principal causa de los errores de la selección, que se manifiesta generalmente en costos excesivamente altos, debidos a la “seducción del lugar”, a medios de transporte insuficientes, a dificultades para captar mano de obra especializada en número suficiente, a la falta de agua y a la incapacidad de deshacerse de desechos, entre otros factores.</a:t>
            </a:r>
            <a:endParaRPr lang="es-BO" sz="2800" dirty="0">
              <a:latin typeface="Maiandra GD" panose="020E0502030308020204" pitchFamily="34" charset="0"/>
            </a:endParaRPr>
          </a:p>
        </p:txBody>
      </p:sp>
    </p:spTree>
    <p:extLst>
      <p:ext uri="{BB962C8B-B14F-4D97-AF65-F5344CB8AC3E}">
        <p14:creationId xmlns:p14="http://schemas.microsoft.com/office/powerpoint/2010/main" val="30966548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857935" y="181070"/>
            <a:ext cx="7355541" cy="625753"/>
          </a:xfrm>
        </p:spPr>
        <p:txBody>
          <a:bodyPr>
            <a:normAutofit fontScale="90000"/>
          </a:bodyPr>
          <a:lstStyle/>
          <a:p>
            <a:r>
              <a:rPr lang="es-BO" sz="4000" dirty="0" smtClean="0">
                <a:latin typeface="Maiandra GD" panose="020E0502030308020204" pitchFamily="34" charset="0"/>
              </a:rPr>
              <a:t>9 DESICIONES DE LOCALIZACION</a:t>
            </a:r>
            <a:endParaRPr lang="es-BO" sz="4000" dirty="0">
              <a:latin typeface="Maiandra GD" panose="020E0502030308020204" pitchFamily="34" charset="0"/>
            </a:endParaRPr>
          </a:p>
        </p:txBody>
      </p:sp>
      <p:sp>
        <p:nvSpPr>
          <p:cNvPr id="3" name="Subtítulo 2"/>
          <p:cNvSpPr>
            <a:spLocks noGrp="1"/>
          </p:cNvSpPr>
          <p:nvPr>
            <p:ph type="subTitle" idx="1"/>
          </p:nvPr>
        </p:nvSpPr>
        <p:spPr>
          <a:xfrm>
            <a:off x="430306" y="1087438"/>
            <a:ext cx="6185647" cy="472421"/>
          </a:xfrm>
        </p:spPr>
        <p:txBody>
          <a:bodyPr>
            <a:normAutofit/>
          </a:bodyPr>
          <a:lstStyle/>
          <a:p>
            <a:r>
              <a:rPr lang="es-BO" dirty="0" smtClean="0">
                <a:latin typeface="Maiandra GD" panose="020E0502030308020204" pitchFamily="34" charset="0"/>
              </a:rPr>
              <a:t>9.2 Factores </a:t>
            </a:r>
            <a:r>
              <a:rPr lang="es-BO" dirty="0">
                <a:latin typeface="Maiandra GD" panose="020E0502030308020204" pitchFamily="34" charset="0"/>
              </a:rPr>
              <a:t>de la </a:t>
            </a:r>
            <a:r>
              <a:rPr lang="es-BO" dirty="0" smtClean="0">
                <a:latin typeface="Maiandra GD" panose="020E0502030308020204" pitchFamily="34" charset="0"/>
              </a:rPr>
              <a:t>localización</a:t>
            </a:r>
            <a:endParaRPr lang="es-BO" dirty="0">
              <a:latin typeface="Maiandra GD" panose="020E0502030308020204" pitchFamily="34" charset="0"/>
            </a:endParaRPr>
          </a:p>
        </p:txBody>
      </p:sp>
      <p:sp>
        <p:nvSpPr>
          <p:cNvPr id="4" name="CuadroTexto 3"/>
          <p:cNvSpPr txBox="1"/>
          <p:nvPr/>
        </p:nvSpPr>
        <p:spPr>
          <a:xfrm>
            <a:off x="833717" y="2124635"/>
            <a:ext cx="10757648" cy="1384995"/>
          </a:xfrm>
          <a:prstGeom prst="rect">
            <a:avLst/>
          </a:prstGeom>
          <a:noFill/>
        </p:spPr>
        <p:txBody>
          <a:bodyPr wrap="square" rtlCol="0">
            <a:spAutoFit/>
          </a:bodyPr>
          <a:lstStyle/>
          <a:p>
            <a:r>
              <a:rPr lang="es-BO" sz="2800" dirty="0" smtClean="0">
                <a:latin typeface="Maiandra GD" panose="020E0502030308020204" pitchFamily="34" charset="0"/>
              </a:rPr>
              <a:t>Son los aspectos que influyen en la locación del proyecto. Actúan como parámetros orientadores, determinantes o restrictivos de la decisión.</a:t>
            </a:r>
          </a:p>
        </p:txBody>
      </p:sp>
    </p:spTree>
    <p:extLst>
      <p:ext uri="{BB962C8B-B14F-4D97-AF65-F5344CB8AC3E}">
        <p14:creationId xmlns:p14="http://schemas.microsoft.com/office/powerpoint/2010/main" val="38341733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857935" y="181070"/>
            <a:ext cx="7355541" cy="625753"/>
          </a:xfrm>
        </p:spPr>
        <p:txBody>
          <a:bodyPr>
            <a:normAutofit fontScale="90000"/>
          </a:bodyPr>
          <a:lstStyle/>
          <a:p>
            <a:r>
              <a:rPr lang="es-BO" sz="4000" dirty="0" smtClean="0">
                <a:latin typeface="Maiandra GD" panose="020E0502030308020204" pitchFamily="34" charset="0"/>
              </a:rPr>
              <a:t>9 DESICIONES DE LOCALIZACION</a:t>
            </a:r>
            <a:endParaRPr lang="es-BO" sz="4000" dirty="0">
              <a:latin typeface="Maiandra GD" panose="020E0502030308020204" pitchFamily="34" charset="0"/>
            </a:endParaRPr>
          </a:p>
        </p:txBody>
      </p:sp>
      <p:sp>
        <p:nvSpPr>
          <p:cNvPr id="3" name="Subtítulo 2"/>
          <p:cNvSpPr>
            <a:spLocks noGrp="1"/>
          </p:cNvSpPr>
          <p:nvPr>
            <p:ph type="subTitle" idx="1"/>
          </p:nvPr>
        </p:nvSpPr>
        <p:spPr>
          <a:xfrm>
            <a:off x="430306" y="1087438"/>
            <a:ext cx="6185647" cy="472421"/>
          </a:xfrm>
        </p:spPr>
        <p:txBody>
          <a:bodyPr>
            <a:normAutofit fontScale="92500"/>
          </a:bodyPr>
          <a:lstStyle/>
          <a:p>
            <a:r>
              <a:rPr lang="es-BO" dirty="0">
                <a:latin typeface="Maiandra GD" panose="020E0502030308020204" pitchFamily="34" charset="0"/>
              </a:rPr>
              <a:t>9.2.   Factores de la </a:t>
            </a:r>
            <a:r>
              <a:rPr lang="es-BO" dirty="0" smtClean="0">
                <a:latin typeface="Maiandra GD" panose="020E0502030308020204" pitchFamily="34" charset="0"/>
              </a:rPr>
              <a:t>localización</a:t>
            </a:r>
            <a:endParaRPr lang="es-BO" dirty="0">
              <a:latin typeface="Maiandra GD" panose="020E0502030308020204" pitchFamily="34" charset="0"/>
            </a:endParaRPr>
          </a:p>
        </p:txBody>
      </p:sp>
      <p:sp>
        <p:nvSpPr>
          <p:cNvPr id="4" name="CuadroTexto 3"/>
          <p:cNvSpPr txBox="1"/>
          <p:nvPr/>
        </p:nvSpPr>
        <p:spPr>
          <a:xfrm>
            <a:off x="833717" y="2124635"/>
            <a:ext cx="10757648" cy="1384995"/>
          </a:xfrm>
          <a:prstGeom prst="rect">
            <a:avLst/>
          </a:prstGeom>
          <a:noFill/>
        </p:spPr>
        <p:txBody>
          <a:bodyPr wrap="square" rtlCol="0">
            <a:spAutoFit/>
          </a:bodyPr>
          <a:lstStyle/>
          <a:p>
            <a:r>
              <a:rPr lang="es-BO" sz="2800" dirty="0" smtClean="0">
                <a:latin typeface="Maiandra GD" panose="020E0502030308020204" pitchFamily="34" charset="0"/>
              </a:rPr>
              <a:t>De manera general son: económicos, políticos, demográficos, institucionales, de infraestructura, físicos, medio ambientales, sociales, culturales, religiosos.</a:t>
            </a:r>
          </a:p>
        </p:txBody>
      </p:sp>
      <p:sp>
        <p:nvSpPr>
          <p:cNvPr id="5" name="CuadroTexto 4"/>
          <p:cNvSpPr txBox="1"/>
          <p:nvPr/>
        </p:nvSpPr>
        <p:spPr>
          <a:xfrm>
            <a:off x="833717" y="3724834"/>
            <a:ext cx="10757648" cy="954107"/>
          </a:xfrm>
          <a:prstGeom prst="rect">
            <a:avLst/>
          </a:prstGeom>
          <a:noFill/>
        </p:spPr>
        <p:txBody>
          <a:bodyPr wrap="square" rtlCol="0">
            <a:spAutoFit/>
          </a:bodyPr>
          <a:lstStyle/>
          <a:p>
            <a:r>
              <a:rPr lang="es-BO" sz="2800" dirty="0" smtClean="0">
                <a:latin typeface="Maiandra GD" panose="020E0502030308020204" pitchFamily="34" charset="0"/>
              </a:rPr>
              <a:t>Una clasificación más concentrada debería incluir por lo</a:t>
            </a:r>
          </a:p>
          <a:p>
            <a:r>
              <a:rPr lang="es-BO" sz="2800" dirty="0" smtClean="0">
                <a:latin typeface="Maiandra GD" panose="020E0502030308020204" pitchFamily="34" charset="0"/>
              </a:rPr>
              <a:t>menos los siguientes factores globales:</a:t>
            </a:r>
          </a:p>
        </p:txBody>
      </p:sp>
    </p:spTree>
    <p:extLst>
      <p:ext uri="{BB962C8B-B14F-4D97-AF65-F5344CB8AC3E}">
        <p14:creationId xmlns:p14="http://schemas.microsoft.com/office/powerpoint/2010/main" val="4133994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857935" y="181070"/>
            <a:ext cx="7355541" cy="625753"/>
          </a:xfrm>
        </p:spPr>
        <p:txBody>
          <a:bodyPr>
            <a:normAutofit fontScale="90000"/>
          </a:bodyPr>
          <a:lstStyle/>
          <a:p>
            <a:r>
              <a:rPr lang="es-BO" sz="4000" dirty="0" smtClean="0">
                <a:latin typeface="Maiandra GD" panose="020E0502030308020204" pitchFamily="34" charset="0"/>
              </a:rPr>
              <a:t>9 DESICIONES DE LOCALIZACION</a:t>
            </a:r>
            <a:endParaRPr lang="es-BO" sz="4000" dirty="0">
              <a:latin typeface="Maiandra GD" panose="020E0502030308020204" pitchFamily="34" charset="0"/>
            </a:endParaRPr>
          </a:p>
        </p:txBody>
      </p:sp>
      <p:sp>
        <p:nvSpPr>
          <p:cNvPr id="4" name="CuadroTexto 3"/>
          <p:cNvSpPr txBox="1"/>
          <p:nvPr/>
        </p:nvSpPr>
        <p:spPr>
          <a:xfrm>
            <a:off x="779929" y="1694329"/>
            <a:ext cx="10757648" cy="4832092"/>
          </a:xfrm>
          <a:prstGeom prst="rect">
            <a:avLst/>
          </a:prstGeom>
          <a:noFill/>
        </p:spPr>
        <p:txBody>
          <a:bodyPr wrap="square" rtlCol="0">
            <a:spAutoFit/>
          </a:bodyPr>
          <a:lstStyle/>
          <a:p>
            <a:pPr marL="457200" indent="-457200">
              <a:buFont typeface="Arial" panose="020B0604020202020204" pitchFamily="34" charset="0"/>
              <a:buChar char="•"/>
            </a:pPr>
            <a:r>
              <a:rPr lang="es-BO" sz="2800" dirty="0" smtClean="0">
                <a:latin typeface="Maiandra GD" panose="020E0502030308020204" pitchFamily="34" charset="0"/>
              </a:rPr>
              <a:t>Medios y costos de transporte.</a:t>
            </a:r>
          </a:p>
          <a:p>
            <a:pPr marL="457200" indent="-457200">
              <a:buFont typeface="Arial" panose="020B0604020202020204" pitchFamily="34" charset="0"/>
              <a:buChar char="•"/>
            </a:pPr>
            <a:r>
              <a:rPr lang="es-BO" sz="2800" dirty="0" smtClean="0">
                <a:latin typeface="Maiandra GD" panose="020E0502030308020204" pitchFamily="34" charset="0"/>
              </a:rPr>
              <a:t>Disponibilidad y costo de mano de obra.</a:t>
            </a:r>
          </a:p>
          <a:p>
            <a:pPr marL="457200" indent="-457200">
              <a:buFont typeface="Arial" panose="020B0604020202020204" pitchFamily="34" charset="0"/>
              <a:buChar char="•"/>
            </a:pPr>
            <a:r>
              <a:rPr lang="es-BO" sz="2800" dirty="0" smtClean="0">
                <a:latin typeface="Maiandra GD" panose="020E0502030308020204" pitchFamily="34" charset="0"/>
              </a:rPr>
              <a:t>Cercanía de las fuentes de abastecimiento.</a:t>
            </a:r>
          </a:p>
          <a:p>
            <a:pPr marL="457200" indent="-457200">
              <a:buFont typeface="Arial" panose="020B0604020202020204" pitchFamily="34" charset="0"/>
              <a:buChar char="•"/>
            </a:pPr>
            <a:r>
              <a:rPr lang="es-BO" sz="2800" dirty="0" smtClean="0">
                <a:latin typeface="Maiandra GD" panose="020E0502030308020204" pitchFamily="34" charset="0"/>
              </a:rPr>
              <a:t>Factores ambientales.</a:t>
            </a:r>
          </a:p>
          <a:p>
            <a:pPr marL="457200" indent="-457200">
              <a:buFont typeface="Arial" panose="020B0604020202020204" pitchFamily="34" charset="0"/>
              <a:buChar char="•"/>
            </a:pPr>
            <a:r>
              <a:rPr lang="es-BO" sz="2800" dirty="0" smtClean="0">
                <a:latin typeface="Maiandra GD" panose="020E0502030308020204" pitchFamily="34" charset="0"/>
              </a:rPr>
              <a:t>Cercanía del mercado.</a:t>
            </a:r>
          </a:p>
          <a:p>
            <a:pPr marL="457200" indent="-457200">
              <a:buFont typeface="Arial" panose="020B0604020202020204" pitchFamily="34" charset="0"/>
              <a:buChar char="•"/>
            </a:pPr>
            <a:r>
              <a:rPr lang="es-BO" sz="2800" dirty="0" smtClean="0">
                <a:latin typeface="Maiandra GD" panose="020E0502030308020204" pitchFamily="34" charset="0"/>
              </a:rPr>
              <a:t>Costo y disponibilidad de terrenos.</a:t>
            </a:r>
          </a:p>
          <a:p>
            <a:pPr marL="457200" indent="-457200">
              <a:buFont typeface="Arial" panose="020B0604020202020204" pitchFamily="34" charset="0"/>
              <a:buChar char="•"/>
            </a:pPr>
            <a:r>
              <a:rPr lang="es-BO" sz="2800" dirty="0" smtClean="0">
                <a:latin typeface="Maiandra GD" panose="020E0502030308020204" pitchFamily="34" charset="0"/>
              </a:rPr>
              <a:t>Topografía de suelos.</a:t>
            </a:r>
          </a:p>
          <a:p>
            <a:pPr marL="457200" indent="-457200">
              <a:buFont typeface="Arial" panose="020B0604020202020204" pitchFamily="34" charset="0"/>
              <a:buChar char="•"/>
            </a:pPr>
            <a:r>
              <a:rPr lang="es-BO" sz="2800" dirty="0" smtClean="0">
                <a:latin typeface="Maiandra GD" panose="020E0502030308020204" pitchFamily="34" charset="0"/>
              </a:rPr>
              <a:t>Estructura impositiva y legal.</a:t>
            </a:r>
          </a:p>
          <a:p>
            <a:pPr marL="457200" indent="-457200">
              <a:buFont typeface="Arial" panose="020B0604020202020204" pitchFamily="34" charset="0"/>
              <a:buChar char="•"/>
            </a:pPr>
            <a:r>
              <a:rPr lang="es-BO" sz="2800" dirty="0" smtClean="0">
                <a:latin typeface="Maiandra GD" panose="020E0502030308020204" pitchFamily="34" charset="0"/>
              </a:rPr>
              <a:t>Disponibilidad de agua, energía y otros suministros.</a:t>
            </a:r>
          </a:p>
          <a:p>
            <a:pPr marL="457200" indent="-457200">
              <a:buFont typeface="Arial" panose="020B0604020202020204" pitchFamily="34" charset="0"/>
              <a:buChar char="•"/>
            </a:pPr>
            <a:r>
              <a:rPr lang="es-BO" sz="2800" dirty="0" smtClean="0">
                <a:latin typeface="Maiandra GD" panose="020E0502030308020204" pitchFamily="34" charset="0"/>
              </a:rPr>
              <a:t>Comunicaciones.</a:t>
            </a:r>
          </a:p>
          <a:p>
            <a:pPr marL="457200" indent="-457200">
              <a:buFont typeface="Arial" panose="020B0604020202020204" pitchFamily="34" charset="0"/>
              <a:buChar char="•"/>
            </a:pPr>
            <a:r>
              <a:rPr lang="es-BO" sz="2800" dirty="0" smtClean="0">
                <a:latin typeface="Maiandra GD" panose="020E0502030308020204" pitchFamily="34" charset="0"/>
              </a:rPr>
              <a:t>Posibilidad de desprenderse de desechos.</a:t>
            </a:r>
          </a:p>
        </p:txBody>
      </p:sp>
      <p:sp>
        <p:nvSpPr>
          <p:cNvPr id="5" name="Subtítulo 2"/>
          <p:cNvSpPr txBox="1">
            <a:spLocks/>
          </p:cNvSpPr>
          <p:nvPr/>
        </p:nvSpPr>
        <p:spPr>
          <a:xfrm>
            <a:off x="430306" y="1034512"/>
            <a:ext cx="6185647" cy="472421"/>
          </a:xfrm>
          <a:prstGeom prst="rect">
            <a:avLst/>
          </a:prstGeom>
        </p:spPr>
        <p:txBody>
          <a:bodyPr vert="horz" lIns="91440" tIns="45720" rIns="91440" bIns="45720" rtlCol="0">
            <a:normAutofit fontScale="92500"/>
          </a:bodyPr>
          <a:lstStyle>
            <a:lvl1pPr marL="0" indent="0" algn="l" defTabSz="914400" rtl="0" eaLnBrk="1" latinLnBrk="0" hangingPunct="1">
              <a:lnSpc>
                <a:spcPct val="90000"/>
              </a:lnSpc>
              <a:spcBef>
                <a:spcPts val="1200"/>
              </a:spcBef>
              <a:spcAft>
                <a:spcPts val="200"/>
              </a:spcAft>
              <a:buClr>
                <a:schemeClr val="accent3"/>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3"/>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3"/>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9pPr>
          </a:lstStyle>
          <a:p>
            <a:r>
              <a:rPr lang="es-BO" dirty="0" smtClean="0">
                <a:latin typeface="Maiandra GD" panose="020E0502030308020204" pitchFamily="34" charset="0"/>
              </a:rPr>
              <a:t>9.2.   Factores de la localización</a:t>
            </a:r>
            <a:endParaRPr lang="es-BO" dirty="0">
              <a:latin typeface="Maiandra GD" panose="020E0502030308020204" pitchFamily="34" charset="0"/>
            </a:endParaRPr>
          </a:p>
        </p:txBody>
      </p:sp>
    </p:spTree>
    <p:extLst>
      <p:ext uri="{BB962C8B-B14F-4D97-AF65-F5344CB8AC3E}">
        <p14:creationId xmlns:p14="http://schemas.microsoft.com/office/powerpoint/2010/main" val="8403797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857935" y="181070"/>
            <a:ext cx="7355541" cy="625753"/>
          </a:xfrm>
        </p:spPr>
        <p:txBody>
          <a:bodyPr>
            <a:normAutofit fontScale="90000"/>
          </a:bodyPr>
          <a:lstStyle/>
          <a:p>
            <a:r>
              <a:rPr lang="es-BO" sz="4000" dirty="0" smtClean="0">
                <a:latin typeface="Maiandra GD" panose="020E0502030308020204" pitchFamily="34" charset="0"/>
              </a:rPr>
              <a:t>9 DESICIONES DE LOCALIZACION</a:t>
            </a:r>
            <a:endParaRPr lang="es-BO" sz="4000" dirty="0">
              <a:latin typeface="Maiandra GD" panose="020E0502030308020204" pitchFamily="34" charset="0"/>
            </a:endParaRPr>
          </a:p>
        </p:txBody>
      </p:sp>
      <p:sp>
        <p:nvSpPr>
          <p:cNvPr id="4" name="CuadroTexto 3"/>
          <p:cNvSpPr txBox="1"/>
          <p:nvPr/>
        </p:nvSpPr>
        <p:spPr>
          <a:xfrm>
            <a:off x="779929" y="1694329"/>
            <a:ext cx="10757648" cy="3539430"/>
          </a:xfrm>
          <a:prstGeom prst="rect">
            <a:avLst/>
          </a:prstGeom>
          <a:noFill/>
        </p:spPr>
        <p:txBody>
          <a:bodyPr wrap="square" rtlCol="0">
            <a:spAutoFit/>
          </a:bodyPr>
          <a:lstStyle/>
          <a:p>
            <a:r>
              <a:rPr lang="es-BO" sz="2800" dirty="0" smtClean="0">
                <a:latin typeface="Maiandra GD" panose="020E0502030308020204" pitchFamily="34" charset="0"/>
              </a:rPr>
              <a:t>Métodos de evaluación por factores no cuantificables</a:t>
            </a:r>
          </a:p>
          <a:p>
            <a:pPr marL="914400" lvl="1" indent="-457200">
              <a:buFont typeface="Arial" panose="020B0604020202020204" pitchFamily="34" charset="0"/>
              <a:buChar char="•"/>
            </a:pPr>
            <a:r>
              <a:rPr lang="es-BO" sz="2800" dirty="0" smtClean="0">
                <a:latin typeface="Maiandra GD" panose="020E0502030308020204" pitchFamily="34" charset="0"/>
              </a:rPr>
              <a:t>Antecedentes industriales.</a:t>
            </a:r>
          </a:p>
          <a:p>
            <a:pPr marL="914400" lvl="1" indent="-457200">
              <a:buFont typeface="Arial" panose="020B0604020202020204" pitchFamily="34" charset="0"/>
              <a:buChar char="•"/>
            </a:pPr>
            <a:r>
              <a:rPr lang="es-BO" sz="2800" dirty="0" smtClean="0">
                <a:latin typeface="Maiandra GD" panose="020E0502030308020204" pitchFamily="34" charset="0"/>
              </a:rPr>
              <a:t>Factor preferencial.</a:t>
            </a:r>
          </a:p>
          <a:p>
            <a:pPr marL="914400" lvl="1" indent="-457200">
              <a:buFont typeface="Arial" panose="020B0604020202020204" pitchFamily="34" charset="0"/>
              <a:buChar char="•"/>
            </a:pPr>
            <a:r>
              <a:rPr lang="es-BO" sz="2800" dirty="0" smtClean="0">
                <a:latin typeface="Maiandra GD" panose="020E0502030308020204" pitchFamily="34" charset="0"/>
              </a:rPr>
              <a:t>Factor dominante.</a:t>
            </a:r>
          </a:p>
          <a:p>
            <a:r>
              <a:rPr lang="es-BO" sz="2800" dirty="0" smtClean="0">
                <a:latin typeface="Maiandra GD" panose="020E0502030308020204" pitchFamily="34" charset="0"/>
              </a:rPr>
              <a:t>Métodos de evaluación cualitativos</a:t>
            </a:r>
          </a:p>
          <a:p>
            <a:pPr marL="914400" lvl="1" indent="-457200">
              <a:buFont typeface="Arial" panose="020B0604020202020204" pitchFamily="34" charset="0"/>
              <a:buChar char="•"/>
            </a:pPr>
            <a:r>
              <a:rPr lang="es-BO" sz="2800" dirty="0" smtClean="0">
                <a:latin typeface="Maiandra GD" panose="020E0502030308020204" pitchFamily="34" charset="0"/>
              </a:rPr>
              <a:t>Método cualitativo por puntos</a:t>
            </a:r>
          </a:p>
          <a:p>
            <a:r>
              <a:rPr lang="es-BO" sz="2800" dirty="0" smtClean="0">
                <a:latin typeface="Maiandra GD" panose="020E0502030308020204" pitchFamily="34" charset="0"/>
              </a:rPr>
              <a:t>Métodos de evaluación cuantitativos.</a:t>
            </a:r>
          </a:p>
          <a:p>
            <a:pPr marL="914400" lvl="1" indent="-457200">
              <a:buFont typeface="Arial" panose="020B0604020202020204" pitchFamily="34" charset="0"/>
              <a:buChar char="•"/>
            </a:pPr>
            <a:r>
              <a:rPr lang="es-BO" sz="2800" dirty="0" smtClean="0">
                <a:latin typeface="Maiandra GD" panose="020E0502030308020204" pitchFamily="34" charset="0"/>
              </a:rPr>
              <a:t>Método por costeo</a:t>
            </a:r>
          </a:p>
        </p:txBody>
      </p:sp>
      <p:sp>
        <p:nvSpPr>
          <p:cNvPr id="5" name="Subtítulo 2"/>
          <p:cNvSpPr txBox="1">
            <a:spLocks/>
          </p:cNvSpPr>
          <p:nvPr/>
        </p:nvSpPr>
        <p:spPr>
          <a:xfrm>
            <a:off x="618565" y="1061430"/>
            <a:ext cx="6589059" cy="37829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200"/>
              </a:spcBef>
              <a:spcAft>
                <a:spcPts val="200"/>
              </a:spcAft>
              <a:buClr>
                <a:schemeClr val="accent3"/>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3"/>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3"/>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9pPr>
          </a:lstStyle>
          <a:p>
            <a:r>
              <a:rPr lang="es-BO" sz="2200" dirty="0" smtClean="0">
                <a:latin typeface="Maiandra GD" panose="020E0502030308020204" pitchFamily="34" charset="0"/>
              </a:rPr>
              <a:t>9.3 Métodos para la localización</a:t>
            </a:r>
            <a:endParaRPr lang="es-BO" sz="2200" dirty="0">
              <a:latin typeface="Maiandra GD" panose="020E0502030308020204" pitchFamily="34" charset="0"/>
            </a:endParaRPr>
          </a:p>
        </p:txBody>
      </p:sp>
    </p:spTree>
    <p:extLst>
      <p:ext uri="{BB962C8B-B14F-4D97-AF65-F5344CB8AC3E}">
        <p14:creationId xmlns:p14="http://schemas.microsoft.com/office/powerpoint/2010/main" val="11788507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857935" y="181070"/>
            <a:ext cx="7355541" cy="625753"/>
          </a:xfrm>
        </p:spPr>
        <p:txBody>
          <a:bodyPr>
            <a:normAutofit fontScale="90000"/>
          </a:bodyPr>
          <a:lstStyle/>
          <a:p>
            <a:r>
              <a:rPr lang="es-BO" sz="4000" dirty="0" smtClean="0">
                <a:latin typeface="Maiandra GD" panose="020E0502030308020204" pitchFamily="34" charset="0"/>
              </a:rPr>
              <a:t>9 DESICIONES DE LOCALIZACION</a:t>
            </a:r>
            <a:endParaRPr lang="es-BO" sz="4000" dirty="0">
              <a:latin typeface="Maiandra GD" panose="020E0502030308020204" pitchFamily="34" charset="0"/>
            </a:endParaRPr>
          </a:p>
        </p:txBody>
      </p:sp>
      <p:sp>
        <p:nvSpPr>
          <p:cNvPr id="4" name="CuadroTexto 3"/>
          <p:cNvSpPr txBox="1"/>
          <p:nvPr/>
        </p:nvSpPr>
        <p:spPr>
          <a:xfrm>
            <a:off x="779929" y="1694329"/>
            <a:ext cx="10757648" cy="3108543"/>
          </a:xfrm>
          <a:prstGeom prst="rect">
            <a:avLst/>
          </a:prstGeom>
          <a:noFill/>
        </p:spPr>
        <p:txBody>
          <a:bodyPr wrap="square" rtlCol="0">
            <a:spAutoFit/>
          </a:bodyPr>
          <a:lstStyle/>
          <a:p>
            <a:r>
              <a:rPr lang="es-BO" sz="2800" dirty="0" smtClean="0">
                <a:latin typeface="Maiandra GD" panose="020E0502030308020204" pitchFamily="34" charset="0"/>
              </a:rPr>
              <a:t>Método cualitativo por puntos.</a:t>
            </a:r>
          </a:p>
          <a:p>
            <a:endParaRPr lang="es-BO" sz="2800" dirty="0" smtClean="0">
              <a:latin typeface="Maiandra GD" panose="020E0502030308020204" pitchFamily="34" charset="0"/>
            </a:endParaRPr>
          </a:p>
          <a:p>
            <a:r>
              <a:rPr lang="es-BO" sz="2800" dirty="0" smtClean="0">
                <a:latin typeface="Maiandra GD" panose="020E0502030308020204" pitchFamily="34" charset="0"/>
              </a:rPr>
              <a:t>Este método consiste en definir los principales Factores determinantes de una Localización, para asignarles valores ponderados de peso relativo, de acuerdo con la importancia que se les atribuye. El peso relativo, sobre la base de una suma igual a uno, depende fuertemente del criterio y experiencia del Evaluador.</a:t>
            </a:r>
          </a:p>
        </p:txBody>
      </p:sp>
      <p:sp>
        <p:nvSpPr>
          <p:cNvPr id="5" name="Subtítulo 2"/>
          <p:cNvSpPr txBox="1">
            <a:spLocks/>
          </p:cNvSpPr>
          <p:nvPr/>
        </p:nvSpPr>
        <p:spPr>
          <a:xfrm>
            <a:off x="618565" y="1061430"/>
            <a:ext cx="6589059" cy="37829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200"/>
              </a:spcBef>
              <a:spcAft>
                <a:spcPts val="200"/>
              </a:spcAft>
              <a:buClr>
                <a:schemeClr val="accent3"/>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3"/>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3"/>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9pPr>
          </a:lstStyle>
          <a:p>
            <a:r>
              <a:rPr lang="es-BO" sz="2200" dirty="0" smtClean="0">
                <a:latin typeface="Maiandra GD" panose="020E0502030308020204" pitchFamily="34" charset="0"/>
              </a:rPr>
              <a:t>9.3 Métodos para la localización</a:t>
            </a:r>
            <a:endParaRPr lang="es-BO" sz="2200" dirty="0">
              <a:latin typeface="Maiandra GD" panose="020E0502030308020204" pitchFamily="34" charset="0"/>
            </a:endParaRPr>
          </a:p>
        </p:txBody>
      </p:sp>
    </p:spTree>
    <p:extLst>
      <p:ext uri="{BB962C8B-B14F-4D97-AF65-F5344CB8AC3E}">
        <p14:creationId xmlns:p14="http://schemas.microsoft.com/office/powerpoint/2010/main" val="4505649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857935" y="181070"/>
            <a:ext cx="7355541" cy="625753"/>
          </a:xfrm>
        </p:spPr>
        <p:txBody>
          <a:bodyPr>
            <a:normAutofit fontScale="90000"/>
          </a:bodyPr>
          <a:lstStyle/>
          <a:p>
            <a:r>
              <a:rPr lang="es-BO" sz="4000" dirty="0" smtClean="0">
                <a:latin typeface="Maiandra GD" panose="020E0502030308020204" pitchFamily="34" charset="0"/>
              </a:rPr>
              <a:t>9 DESICIONES DE LOCALIZACION</a:t>
            </a:r>
            <a:endParaRPr lang="es-BO" sz="4000" dirty="0">
              <a:latin typeface="Maiandra GD" panose="020E0502030308020204" pitchFamily="34" charset="0"/>
            </a:endParaRPr>
          </a:p>
        </p:txBody>
      </p:sp>
      <p:sp>
        <p:nvSpPr>
          <p:cNvPr id="4" name="CuadroTexto 3"/>
          <p:cNvSpPr txBox="1"/>
          <p:nvPr/>
        </p:nvSpPr>
        <p:spPr>
          <a:xfrm>
            <a:off x="779929" y="1694329"/>
            <a:ext cx="10757648" cy="3108543"/>
          </a:xfrm>
          <a:prstGeom prst="rect">
            <a:avLst/>
          </a:prstGeom>
          <a:noFill/>
        </p:spPr>
        <p:txBody>
          <a:bodyPr wrap="square" rtlCol="0">
            <a:spAutoFit/>
          </a:bodyPr>
          <a:lstStyle/>
          <a:p>
            <a:r>
              <a:rPr lang="es-BO" sz="2800" dirty="0" smtClean="0">
                <a:latin typeface="Maiandra GD" panose="020E0502030308020204" pitchFamily="34" charset="0"/>
              </a:rPr>
              <a:t>Método cualitativo por puntos.</a:t>
            </a:r>
          </a:p>
          <a:p>
            <a:endParaRPr lang="es-BO" sz="2800" dirty="0" smtClean="0">
              <a:latin typeface="Maiandra GD" panose="020E0502030308020204" pitchFamily="34" charset="0"/>
            </a:endParaRPr>
          </a:p>
          <a:p>
            <a:r>
              <a:rPr lang="es-BO" sz="2800" dirty="0" smtClean="0">
                <a:latin typeface="Maiandra GD" panose="020E0502030308020204" pitchFamily="34" charset="0"/>
              </a:rPr>
              <a:t>Al comprar dos o más Localizaciones opcionales, se procede a asignar una calificación a cada factor en una Localización de acuerdo a una escala predeterminada como por ejemplo de 0 a 10. La suma de las calificaciones ponderadas permitirá seleccionar la Localización que acumule el mayor puntaje.</a:t>
            </a:r>
          </a:p>
        </p:txBody>
      </p:sp>
      <p:sp>
        <p:nvSpPr>
          <p:cNvPr id="5" name="Subtítulo 2"/>
          <p:cNvSpPr txBox="1">
            <a:spLocks/>
          </p:cNvSpPr>
          <p:nvPr/>
        </p:nvSpPr>
        <p:spPr>
          <a:xfrm>
            <a:off x="618565" y="1061430"/>
            <a:ext cx="6589059" cy="37829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200"/>
              </a:spcBef>
              <a:spcAft>
                <a:spcPts val="200"/>
              </a:spcAft>
              <a:buClr>
                <a:schemeClr val="accent3"/>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3"/>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3"/>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9pPr>
          </a:lstStyle>
          <a:p>
            <a:r>
              <a:rPr lang="es-BO" sz="2200" dirty="0" smtClean="0">
                <a:latin typeface="Maiandra GD" panose="020E0502030308020204" pitchFamily="34" charset="0"/>
              </a:rPr>
              <a:t>9.3 Métodos para la localización</a:t>
            </a:r>
            <a:endParaRPr lang="es-BO" sz="2200" dirty="0">
              <a:latin typeface="Maiandra GD" panose="020E0502030308020204" pitchFamily="34" charset="0"/>
            </a:endParaRPr>
          </a:p>
        </p:txBody>
      </p:sp>
    </p:spTree>
    <p:extLst>
      <p:ext uri="{BB962C8B-B14F-4D97-AF65-F5344CB8AC3E}">
        <p14:creationId xmlns:p14="http://schemas.microsoft.com/office/powerpoint/2010/main" val="2694135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857935" y="181070"/>
            <a:ext cx="7355541" cy="625753"/>
          </a:xfrm>
        </p:spPr>
        <p:txBody>
          <a:bodyPr>
            <a:normAutofit fontScale="90000"/>
          </a:bodyPr>
          <a:lstStyle/>
          <a:p>
            <a:r>
              <a:rPr lang="es-BO" sz="4000" dirty="0" smtClean="0">
                <a:latin typeface="Maiandra GD" panose="020E0502030308020204" pitchFamily="34" charset="0"/>
              </a:rPr>
              <a:t>9 DESICIONES DE LOCALIZACION</a:t>
            </a:r>
            <a:endParaRPr lang="es-BO" sz="4000" dirty="0">
              <a:latin typeface="Maiandra GD" panose="020E0502030308020204" pitchFamily="34" charset="0"/>
            </a:endParaRPr>
          </a:p>
        </p:txBody>
      </p:sp>
      <p:sp>
        <p:nvSpPr>
          <p:cNvPr id="4" name="CuadroTexto 3"/>
          <p:cNvSpPr txBox="1"/>
          <p:nvPr/>
        </p:nvSpPr>
        <p:spPr>
          <a:xfrm>
            <a:off x="779929" y="1694329"/>
            <a:ext cx="10757648" cy="954107"/>
          </a:xfrm>
          <a:prstGeom prst="rect">
            <a:avLst/>
          </a:prstGeom>
          <a:noFill/>
        </p:spPr>
        <p:txBody>
          <a:bodyPr wrap="square" rtlCol="0">
            <a:spAutoFit/>
          </a:bodyPr>
          <a:lstStyle/>
          <a:p>
            <a:r>
              <a:rPr lang="es-BO" sz="2800" dirty="0" smtClean="0">
                <a:latin typeface="Maiandra GD" panose="020E0502030308020204" pitchFamily="34" charset="0"/>
              </a:rPr>
              <a:t>Para una decisión entre tres lugares el modelo se aplica como indica el siguiente cuadro:</a:t>
            </a:r>
          </a:p>
        </p:txBody>
      </p:sp>
      <p:sp>
        <p:nvSpPr>
          <p:cNvPr id="5" name="Subtítulo 2"/>
          <p:cNvSpPr txBox="1">
            <a:spLocks/>
          </p:cNvSpPr>
          <p:nvPr/>
        </p:nvSpPr>
        <p:spPr>
          <a:xfrm>
            <a:off x="618565" y="1061430"/>
            <a:ext cx="6589059" cy="37829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200"/>
              </a:spcBef>
              <a:spcAft>
                <a:spcPts val="200"/>
              </a:spcAft>
              <a:buClr>
                <a:schemeClr val="accent3"/>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3"/>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3"/>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9pPr>
          </a:lstStyle>
          <a:p>
            <a:r>
              <a:rPr lang="es-BO" sz="2200" dirty="0" smtClean="0">
                <a:latin typeface="Maiandra GD" panose="020E0502030308020204" pitchFamily="34" charset="0"/>
              </a:rPr>
              <a:t>9.3    Métodos para la localización</a:t>
            </a:r>
            <a:endParaRPr lang="es-BO" sz="2200" dirty="0">
              <a:latin typeface="Maiandra GD" panose="020E0502030308020204" pitchFamily="34" charset="0"/>
            </a:endParaRPr>
          </a:p>
        </p:txBody>
      </p:sp>
      <p:pic>
        <p:nvPicPr>
          <p:cNvPr id="3" name="Imagen 2"/>
          <p:cNvPicPr>
            <a:picLocks noChangeAspect="1"/>
          </p:cNvPicPr>
          <p:nvPr/>
        </p:nvPicPr>
        <p:blipFill>
          <a:blip r:embed="rId2"/>
          <a:stretch>
            <a:fillRect/>
          </a:stretch>
        </p:blipFill>
        <p:spPr>
          <a:xfrm>
            <a:off x="914400" y="3037353"/>
            <a:ext cx="10244477" cy="3255869"/>
          </a:xfrm>
          <a:prstGeom prst="rect">
            <a:avLst/>
          </a:prstGeom>
        </p:spPr>
      </p:pic>
    </p:spTree>
    <p:extLst>
      <p:ext uri="{BB962C8B-B14F-4D97-AF65-F5344CB8AC3E}">
        <p14:creationId xmlns:p14="http://schemas.microsoft.com/office/powerpoint/2010/main" val="5166147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857935" y="181070"/>
            <a:ext cx="7355541" cy="625753"/>
          </a:xfrm>
        </p:spPr>
        <p:txBody>
          <a:bodyPr>
            <a:normAutofit fontScale="90000"/>
          </a:bodyPr>
          <a:lstStyle/>
          <a:p>
            <a:r>
              <a:rPr lang="es-BO" sz="4000" dirty="0" smtClean="0">
                <a:latin typeface="Maiandra GD" panose="020E0502030308020204" pitchFamily="34" charset="0"/>
              </a:rPr>
              <a:t>9 DESICIONES DE LOCALIZACION</a:t>
            </a:r>
            <a:endParaRPr lang="es-BO" sz="4000" dirty="0">
              <a:latin typeface="Maiandra GD" panose="020E0502030308020204" pitchFamily="34" charset="0"/>
            </a:endParaRPr>
          </a:p>
        </p:txBody>
      </p:sp>
      <p:sp>
        <p:nvSpPr>
          <p:cNvPr id="4" name="CuadroTexto 3"/>
          <p:cNvSpPr txBox="1"/>
          <p:nvPr/>
        </p:nvSpPr>
        <p:spPr>
          <a:xfrm>
            <a:off x="820270" y="2138082"/>
            <a:ext cx="10757648" cy="2246769"/>
          </a:xfrm>
          <a:prstGeom prst="rect">
            <a:avLst/>
          </a:prstGeom>
          <a:noFill/>
        </p:spPr>
        <p:txBody>
          <a:bodyPr wrap="square" rtlCol="0">
            <a:spAutoFit/>
          </a:bodyPr>
          <a:lstStyle/>
          <a:p>
            <a:r>
              <a:rPr lang="es-BO" sz="2800" dirty="0" smtClean="0">
                <a:latin typeface="Maiandra GD" panose="020E0502030308020204" pitchFamily="34" charset="0"/>
              </a:rPr>
              <a:t>En términos generales puede afirmarse que los factores que influyen en la determinación de la localización del proyecto son fundamentalmente de costos, puesto que las proyecciones calculadas de demanda se mantendrán casi siempre constantes, sea cual fuere la localización que se seleccione.</a:t>
            </a:r>
          </a:p>
        </p:txBody>
      </p:sp>
      <p:sp>
        <p:nvSpPr>
          <p:cNvPr id="5" name="Subtítulo 2"/>
          <p:cNvSpPr txBox="1">
            <a:spLocks/>
          </p:cNvSpPr>
          <p:nvPr/>
        </p:nvSpPr>
        <p:spPr>
          <a:xfrm>
            <a:off x="618565" y="1061430"/>
            <a:ext cx="7597588" cy="37829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200"/>
              </a:spcBef>
              <a:spcAft>
                <a:spcPts val="200"/>
              </a:spcAft>
              <a:buClr>
                <a:schemeClr val="accent3"/>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3"/>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3"/>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9pPr>
          </a:lstStyle>
          <a:p>
            <a:r>
              <a:rPr lang="es-BO" sz="2200" dirty="0" smtClean="0">
                <a:latin typeface="Maiandra GD" panose="020E0502030308020204" pitchFamily="34" charset="0"/>
              </a:rPr>
              <a:t>9.4 Maximización </a:t>
            </a:r>
            <a:r>
              <a:rPr lang="es-BO" sz="2200" dirty="0">
                <a:latin typeface="Maiandra GD" panose="020E0502030308020204" pitchFamily="34" charset="0"/>
              </a:rPr>
              <a:t>del valor actual neto</a:t>
            </a:r>
          </a:p>
        </p:txBody>
      </p:sp>
    </p:spTree>
    <p:extLst>
      <p:ext uri="{BB962C8B-B14F-4D97-AF65-F5344CB8AC3E}">
        <p14:creationId xmlns:p14="http://schemas.microsoft.com/office/powerpoint/2010/main" val="36732998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857935" y="181070"/>
            <a:ext cx="7355541" cy="625753"/>
          </a:xfrm>
        </p:spPr>
        <p:txBody>
          <a:bodyPr>
            <a:normAutofit fontScale="90000"/>
          </a:bodyPr>
          <a:lstStyle/>
          <a:p>
            <a:r>
              <a:rPr lang="es-BO" sz="4000" dirty="0" smtClean="0">
                <a:latin typeface="Maiandra GD" panose="020E0502030308020204" pitchFamily="34" charset="0"/>
              </a:rPr>
              <a:t>9 DESICIONES DE LOCALIZACION</a:t>
            </a:r>
            <a:endParaRPr lang="es-BO" sz="4000" dirty="0">
              <a:latin typeface="Maiandra GD" panose="020E0502030308020204" pitchFamily="34" charset="0"/>
            </a:endParaRPr>
          </a:p>
        </p:txBody>
      </p:sp>
      <p:sp>
        <p:nvSpPr>
          <p:cNvPr id="4" name="CuadroTexto 3"/>
          <p:cNvSpPr txBox="1"/>
          <p:nvPr/>
        </p:nvSpPr>
        <p:spPr>
          <a:xfrm>
            <a:off x="820270" y="2138082"/>
            <a:ext cx="10757648" cy="1815882"/>
          </a:xfrm>
          <a:prstGeom prst="rect">
            <a:avLst/>
          </a:prstGeom>
          <a:noFill/>
        </p:spPr>
        <p:txBody>
          <a:bodyPr wrap="square" rtlCol="0">
            <a:spAutoFit/>
          </a:bodyPr>
          <a:lstStyle/>
          <a:p>
            <a:r>
              <a:rPr lang="es-BO" sz="2800" dirty="0" smtClean="0">
                <a:latin typeface="Maiandra GD" panose="020E0502030308020204" pitchFamily="34" charset="0"/>
              </a:rPr>
              <a:t>El consumidor no consulta, antes de adquirir el bien, el lugar donde éste se elaboró; su decisión de compra se fundamenta en las características, la calidad y el precio del producto que está demandando.</a:t>
            </a:r>
          </a:p>
        </p:txBody>
      </p:sp>
      <p:sp>
        <p:nvSpPr>
          <p:cNvPr id="5" name="Subtítulo 2"/>
          <p:cNvSpPr txBox="1">
            <a:spLocks/>
          </p:cNvSpPr>
          <p:nvPr/>
        </p:nvSpPr>
        <p:spPr>
          <a:xfrm>
            <a:off x="618565" y="1061430"/>
            <a:ext cx="7597588" cy="37829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200"/>
              </a:spcBef>
              <a:spcAft>
                <a:spcPts val="200"/>
              </a:spcAft>
              <a:buClr>
                <a:schemeClr val="accent3"/>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3"/>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3"/>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9pPr>
          </a:lstStyle>
          <a:p>
            <a:r>
              <a:rPr lang="es-BO" sz="2200" dirty="0" smtClean="0">
                <a:latin typeface="Maiandra GD" panose="020E0502030308020204" pitchFamily="34" charset="0"/>
              </a:rPr>
              <a:t>9.4 Maximización </a:t>
            </a:r>
            <a:r>
              <a:rPr lang="es-BO" sz="2200" dirty="0">
                <a:latin typeface="Maiandra GD" panose="020E0502030308020204" pitchFamily="34" charset="0"/>
              </a:rPr>
              <a:t>del valor actual neto</a:t>
            </a:r>
          </a:p>
        </p:txBody>
      </p:sp>
    </p:spTree>
    <p:extLst>
      <p:ext uri="{BB962C8B-B14F-4D97-AF65-F5344CB8AC3E}">
        <p14:creationId xmlns:p14="http://schemas.microsoft.com/office/powerpoint/2010/main" val="9213630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857935" y="181070"/>
            <a:ext cx="7355541" cy="625753"/>
          </a:xfrm>
        </p:spPr>
        <p:txBody>
          <a:bodyPr>
            <a:normAutofit fontScale="90000"/>
          </a:bodyPr>
          <a:lstStyle/>
          <a:p>
            <a:r>
              <a:rPr lang="es-BO" sz="4000" dirty="0" smtClean="0">
                <a:latin typeface="Maiandra GD" panose="020E0502030308020204" pitchFamily="34" charset="0"/>
              </a:rPr>
              <a:t>9 DESICIONES DE LOCALIZACION</a:t>
            </a:r>
            <a:endParaRPr lang="es-BO" sz="4000" dirty="0">
              <a:latin typeface="Maiandra GD" panose="020E0502030308020204" pitchFamily="34" charset="0"/>
            </a:endParaRPr>
          </a:p>
        </p:txBody>
      </p:sp>
      <p:sp>
        <p:nvSpPr>
          <p:cNvPr id="4" name="CuadroTexto 3"/>
          <p:cNvSpPr txBox="1"/>
          <p:nvPr/>
        </p:nvSpPr>
        <p:spPr>
          <a:xfrm>
            <a:off x="820270" y="2138082"/>
            <a:ext cx="10757648" cy="3108543"/>
          </a:xfrm>
          <a:prstGeom prst="rect">
            <a:avLst/>
          </a:prstGeom>
          <a:noFill/>
        </p:spPr>
        <p:txBody>
          <a:bodyPr wrap="square" rtlCol="0">
            <a:spAutoFit/>
          </a:bodyPr>
          <a:lstStyle/>
          <a:p>
            <a:r>
              <a:rPr lang="es-BO" sz="2800" dirty="0" smtClean="0">
                <a:latin typeface="Maiandra GD" panose="020E0502030308020204" pitchFamily="34" charset="0"/>
              </a:rPr>
              <a:t>Muchas veces las decisiones de localización que forman parte de un análisis técnico económico, condicionan la demanda de un producto o servicio, en especial cuando se trata de un proyecto en el cual el consumidor es quien debe interactuar físicamente con la localización del proyecto, como es el caso de los supermercados, hoteles, cines, centros comerciales, hospitales y las estaciones de servicio, por mencionar algunos.</a:t>
            </a:r>
          </a:p>
        </p:txBody>
      </p:sp>
      <p:sp>
        <p:nvSpPr>
          <p:cNvPr id="5" name="Subtítulo 2"/>
          <p:cNvSpPr txBox="1">
            <a:spLocks/>
          </p:cNvSpPr>
          <p:nvPr/>
        </p:nvSpPr>
        <p:spPr>
          <a:xfrm>
            <a:off x="618565" y="1061430"/>
            <a:ext cx="8310282" cy="37829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200"/>
              </a:spcBef>
              <a:spcAft>
                <a:spcPts val="200"/>
              </a:spcAft>
              <a:buClr>
                <a:schemeClr val="accent3"/>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3"/>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3"/>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9pPr>
          </a:lstStyle>
          <a:p>
            <a:r>
              <a:rPr lang="es-BO" sz="2200" dirty="0" smtClean="0">
                <a:latin typeface="Maiandra GD" panose="020E0502030308020204" pitchFamily="34" charset="0"/>
              </a:rPr>
              <a:t>9.5 La </a:t>
            </a:r>
            <a:r>
              <a:rPr lang="es-BO" sz="2200" dirty="0">
                <a:latin typeface="Maiandra GD" panose="020E0502030308020204" pitchFamily="34" charset="0"/>
              </a:rPr>
              <a:t>demanda y las áreas de influencia</a:t>
            </a:r>
          </a:p>
        </p:txBody>
      </p:sp>
    </p:spTree>
    <p:extLst>
      <p:ext uri="{BB962C8B-B14F-4D97-AF65-F5344CB8AC3E}">
        <p14:creationId xmlns:p14="http://schemas.microsoft.com/office/powerpoint/2010/main" val="20705941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857935" y="181070"/>
            <a:ext cx="7355541" cy="625753"/>
          </a:xfrm>
        </p:spPr>
        <p:txBody>
          <a:bodyPr>
            <a:normAutofit fontScale="90000"/>
          </a:bodyPr>
          <a:lstStyle/>
          <a:p>
            <a:r>
              <a:rPr lang="es-BO" sz="4000" dirty="0" smtClean="0">
                <a:latin typeface="Maiandra GD" panose="020E0502030308020204" pitchFamily="34" charset="0"/>
              </a:rPr>
              <a:t>9 DESICIONES DE LOCALIZACION</a:t>
            </a:r>
            <a:endParaRPr lang="es-BO" sz="4000" dirty="0">
              <a:latin typeface="Maiandra GD" panose="020E0502030308020204" pitchFamily="34" charset="0"/>
            </a:endParaRPr>
          </a:p>
        </p:txBody>
      </p:sp>
      <p:sp>
        <p:nvSpPr>
          <p:cNvPr id="4" name="CuadroTexto 3"/>
          <p:cNvSpPr txBox="1"/>
          <p:nvPr/>
        </p:nvSpPr>
        <p:spPr>
          <a:xfrm>
            <a:off x="820270" y="2138082"/>
            <a:ext cx="10757648" cy="3108543"/>
          </a:xfrm>
          <a:prstGeom prst="rect">
            <a:avLst/>
          </a:prstGeom>
          <a:noFill/>
        </p:spPr>
        <p:txBody>
          <a:bodyPr wrap="square" rtlCol="0">
            <a:spAutoFit/>
          </a:bodyPr>
          <a:lstStyle/>
          <a:p>
            <a:r>
              <a:rPr lang="es-BO" sz="2800" dirty="0" smtClean="0">
                <a:latin typeface="Maiandra GD" panose="020E0502030308020204" pitchFamily="34" charset="0"/>
              </a:rPr>
              <a:t>En este sentido, el análisis y estudio del área de influencia termina siendo fundamental para la cuantificación de la demanda. En efecto, el tamaño de la población de área de influencia inmediata, el estrato socioeconómico a que pertenece, el nivel de ingreso familiar, las edades y el estilo de vida, son variables tremendamente relevantes, ya que de ello dependerá el nivel de gasto en un determinado bien o servicio.</a:t>
            </a:r>
          </a:p>
        </p:txBody>
      </p:sp>
      <p:sp>
        <p:nvSpPr>
          <p:cNvPr id="5" name="Subtítulo 2"/>
          <p:cNvSpPr txBox="1">
            <a:spLocks/>
          </p:cNvSpPr>
          <p:nvPr/>
        </p:nvSpPr>
        <p:spPr>
          <a:xfrm>
            <a:off x="618565" y="1061430"/>
            <a:ext cx="8310282" cy="37829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200"/>
              </a:spcBef>
              <a:spcAft>
                <a:spcPts val="200"/>
              </a:spcAft>
              <a:buClr>
                <a:schemeClr val="accent3"/>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3"/>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3"/>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3"/>
              </a:buClr>
              <a:buFont typeface="Calibri" pitchFamily="34" charset="0"/>
              <a:buNone/>
              <a:defRPr sz="2000" kern="1200">
                <a:solidFill>
                  <a:schemeClr val="tx1">
                    <a:lumMod val="75000"/>
                    <a:lumOff val="25000"/>
                  </a:schemeClr>
                </a:solidFill>
                <a:latin typeface="+mn-lt"/>
                <a:ea typeface="+mn-ea"/>
                <a:cs typeface="+mn-cs"/>
              </a:defRPr>
            </a:lvl9pPr>
          </a:lstStyle>
          <a:p>
            <a:r>
              <a:rPr lang="es-BO" sz="2200" dirty="0" smtClean="0">
                <a:latin typeface="Maiandra GD" panose="020E0502030308020204" pitchFamily="34" charset="0"/>
              </a:rPr>
              <a:t>9.5 La </a:t>
            </a:r>
            <a:r>
              <a:rPr lang="es-BO" sz="2200" dirty="0">
                <a:latin typeface="Maiandra GD" panose="020E0502030308020204" pitchFamily="34" charset="0"/>
              </a:rPr>
              <a:t>demanda y las áreas de influencia</a:t>
            </a:r>
          </a:p>
        </p:txBody>
      </p:sp>
    </p:spTree>
    <p:extLst>
      <p:ext uri="{BB962C8B-B14F-4D97-AF65-F5344CB8AC3E}">
        <p14:creationId xmlns:p14="http://schemas.microsoft.com/office/powerpoint/2010/main" val="17381725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857935" y="181070"/>
            <a:ext cx="7355541" cy="625753"/>
          </a:xfrm>
        </p:spPr>
        <p:txBody>
          <a:bodyPr>
            <a:normAutofit fontScale="90000"/>
          </a:bodyPr>
          <a:lstStyle/>
          <a:p>
            <a:r>
              <a:rPr lang="es-BO" sz="4000" dirty="0" smtClean="0">
                <a:latin typeface="Maiandra GD" panose="020E0502030308020204" pitchFamily="34" charset="0"/>
              </a:rPr>
              <a:t>9 DESICIONES DE LOCALIZACION</a:t>
            </a:r>
            <a:endParaRPr lang="es-BO" sz="4000" dirty="0">
              <a:latin typeface="Maiandra GD" panose="020E0502030308020204" pitchFamily="34" charset="0"/>
            </a:endParaRPr>
          </a:p>
        </p:txBody>
      </p:sp>
      <p:sp>
        <p:nvSpPr>
          <p:cNvPr id="3" name="Subtítulo 2"/>
          <p:cNvSpPr>
            <a:spLocks noGrp="1"/>
          </p:cNvSpPr>
          <p:nvPr>
            <p:ph type="subTitle" idx="1"/>
          </p:nvPr>
        </p:nvSpPr>
        <p:spPr>
          <a:xfrm>
            <a:off x="5351929" y="2835556"/>
            <a:ext cx="1600200" cy="848938"/>
          </a:xfrm>
        </p:spPr>
        <p:txBody>
          <a:bodyPr>
            <a:noAutofit/>
          </a:bodyPr>
          <a:lstStyle/>
          <a:p>
            <a:r>
              <a:rPr lang="es-BO" sz="3200" dirty="0" smtClean="0">
                <a:latin typeface="Maiandra GD" panose="020E0502030308020204" pitchFamily="34" charset="0"/>
              </a:rPr>
              <a:t>FIN</a:t>
            </a:r>
            <a:endParaRPr lang="es-BO" sz="3200" dirty="0">
              <a:latin typeface="Maiandra GD" panose="020E0502030308020204" pitchFamily="34" charset="0"/>
            </a:endParaRPr>
          </a:p>
        </p:txBody>
      </p:sp>
    </p:spTree>
    <p:extLst>
      <p:ext uri="{BB962C8B-B14F-4D97-AF65-F5344CB8AC3E}">
        <p14:creationId xmlns:p14="http://schemas.microsoft.com/office/powerpoint/2010/main" val="34370336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p:cNvPicPr>
            <a:picLocks noChangeAspect="1"/>
          </p:cNvPicPr>
          <p:nvPr/>
        </p:nvPicPr>
        <p:blipFill>
          <a:blip r:embed="rId2"/>
          <a:stretch>
            <a:fillRect/>
          </a:stretch>
        </p:blipFill>
        <p:spPr>
          <a:xfrm>
            <a:off x="2454087" y="810942"/>
            <a:ext cx="7738783" cy="5340995"/>
          </a:xfrm>
          <a:prstGeom prst="rect">
            <a:avLst/>
          </a:prstGeom>
        </p:spPr>
      </p:pic>
    </p:spTree>
    <p:extLst>
      <p:ext uri="{BB962C8B-B14F-4D97-AF65-F5344CB8AC3E}">
        <p14:creationId xmlns:p14="http://schemas.microsoft.com/office/powerpoint/2010/main" val="2806771664"/>
      </p:ext>
    </p:extLst>
  </p:cSld>
  <p:clrMapOvr>
    <a:masterClrMapping/>
  </p:clrMapOvr>
</p:sld>
</file>

<file path=ppt/theme/theme1.xml><?xml version="1.0" encoding="utf-8"?>
<a:theme xmlns:a="http://schemas.openxmlformats.org/drawingml/2006/main" name="Retrospección">
  <a:themeElements>
    <a:clrScheme name="Retrospección">
      <a:dk1>
        <a:sysClr val="windowText" lastClr="000000"/>
      </a:dk1>
      <a:lt1>
        <a:sysClr val="window" lastClr="FFFFFF"/>
      </a:lt1>
      <a:dk2>
        <a:srgbClr val="564B3C"/>
      </a:dk2>
      <a:lt2>
        <a:srgbClr val="ECEDD1"/>
      </a:lt2>
      <a:accent1>
        <a:srgbClr val="93A299"/>
      </a:accent1>
      <a:accent2>
        <a:srgbClr val="CF543F"/>
      </a:accent2>
      <a:accent3>
        <a:srgbClr val="B5AE53"/>
      </a:accent3>
      <a:accent4>
        <a:srgbClr val="848058"/>
      </a:accent4>
      <a:accent5>
        <a:srgbClr val="E8B54D"/>
      </a:accent5>
      <a:accent6>
        <a:srgbClr val="786C71"/>
      </a:accent6>
      <a:hlink>
        <a:srgbClr val="CCCC00"/>
      </a:hlink>
      <a:folHlink>
        <a:srgbClr val="B2B2B2"/>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E3DA18C2-75F1-4980-A5F0-165F6F71DE6D}"/>
    </a:ext>
  </a:extLst>
</a:theme>
</file>

<file path=docProps/app.xml><?xml version="1.0" encoding="utf-8"?>
<Properties xmlns="http://schemas.openxmlformats.org/officeDocument/2006/extended-properties" xmlns:vt="http://schemas.openxmlformats.org/officeDocument/2006/docPropsVTypes">
  <Template>Retrospect</Template>
  <TotalTime>93</TotalTime>
  <Words>1006</Words>
  <Application>Microsoft Office PowerPoint</Application>
  <PresentationFormat>Panorámica</PresentationFormat>
  <Paragraphs>82</Paragraphs>
  <Slides>22</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22</vt:i4>
      </vt:variant>
    </vt:vector>
  </HeadingPairs>
  <TitlesOfParts>
    <vt:vector size="27" baseType="lpstr">
      <vt:lpstr>Arial</vt:lpstr>
      <vt:lpstr>Calibri</vt:lpstr>
      <vt:lpstr>Calibri Light</vt:lpstr>
      <vt:lpstr>Maiandra GD</vt:lpstr>
      <vt:lpstr>Retrospección</vt:lpstr>
      <vt:lpstr>Presentación de PowerPoint</vt:lpstr>
      <vt:lpstr>9 DESICIONES DE LOCALIZACION</vt:lpstr>
      <vt:lpstr>9 DESICIONES DE LOCALIZACION</vt:lpstr>
      <vt:lpstr>9 DESICIONES DE LOCALIZACION</vt:lpstr>
      <vt:lpstr>9 DESICIONES DE LOCALIZACION</vt:lpstr>
      <vt:lpstr>9 DESICIONES DE LOCALIZACION</vt:lpstr>
      <vt:lpstr>9 DESICIONES DE LOCALIZACION</vt:lpstr>
      <vt:lpstr>9 DESICIONES DE LOCALIZACION</vt:lpstr>
      <vt:lpstr>9 DESICIONES DE LOCALIZACION</vt:lpstr>
      <vt:lpstr>9 DESICIONES DE LOCALIZACION</vt:lpstr>
      <vt:lpstr>9 DESICIONES DE LOCALIZACION</vt:lpstr>
      <vt:lpstr>9 DESICIONES DE LOCALIZACION</vt:lpstr>
      <vt:lpstr>9 DESICIONES DE LOCALIZACION</vt:lpstr>
      <vt:lpstr>9 DESICIONES DE LOCALIZACION</vt:lpstr>
      <vt:lpstr>9 DESICIONES DE LOCALIZACION</vt:lpstr>
      <vt:lpstr>9 DESICIONES DE LOCALIZACION</vt:lpstr>
      <vt:lpstr>9 DESICIONES DE LOCALIZACION</vt:lpstr>
      <vt:lpstr>9 DESICIONES DE LOCALIZACION</vt:lpstr>
      <vt:lpstr>9 DESICIONES DE LOCALIZACION</vt:lpstr>
      <vt:lpstr>9 DESICIONES DE LOCALIZACION</vt:lpstr>
      <vt:lpstr>9 DESICIONES DE LOCALIZACION</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 DESICIONES DE LOCALIZACION</dc:title>
  <dc:creator>Consultores Academia</dc:creator>
  <cp:lastModifiedBy>Consultores Academia</cp:lastModifiedBy>
  <cp:revision>19</cp:revision>
  <dcterms:created xsi:type="dcterms:W3CDTF">2021-10-24T22:40:21Z</dcterms:created>
  <dcterms:modified xsi:type="dcterms:W3CDTF">2021-10-25T02:24:57Z</dcterms:modified>
</cp:coreProperties>
</file>