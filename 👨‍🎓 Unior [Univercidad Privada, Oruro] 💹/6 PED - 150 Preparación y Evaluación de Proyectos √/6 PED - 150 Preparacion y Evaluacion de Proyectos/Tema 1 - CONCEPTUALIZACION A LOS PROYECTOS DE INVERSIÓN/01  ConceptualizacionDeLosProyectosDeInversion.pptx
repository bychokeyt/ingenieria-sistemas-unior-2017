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81" r:id="rId7"/>
    <p:sldId id="282" r:id="rId8"/>
    <p:sldId id="284" r:id="rId9"/>
    <p:sldId id="261" r:id="rId10"/>
    <p:sldId id="262" r:id="rId11"/>
    <p:sldId id="263" r:id="rId12"/>
    <p:sldId id="276" r:id="rId13"/>
    <p:sldId id="277" r:id="rId14"/>
    <p:sldId id="278" r:id="rId15"/>
    <p:sldId id="279" r:id="rId16"/>
    <p:sldId id="264" r:id="rId17"/>
    <p:sldId id="280" r:id="rId18"/>
    <p:sldId id="274" r:id="rId19"/>
    <p:sldId id="275" r:id="rId20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35107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05372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75121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0034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3201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085270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81050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684697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6203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371899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97644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7520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4412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12333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17412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843321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880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69A9C03-38DE-4D22-A9C1-73311197468F}" type="datetimeFigureOut">
              <a:rPr lang="es-BO" smtClean="0"/>
              <a:t>20/09/2021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8DF2D-9B2C-413E-8198-152F7D32C51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7157033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028" y="220187"/>
            <a:ext cx="2371944" cy="171410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54745" y="3901900"/>
            <a:ext cx="120372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sz="40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Maiandra GD" panose="020E0502030308020204" pitchFamily="34" charset="0"/>
              </a:rPr>
              <a:t>Modulo: Planificación y evaluación de proyectos</a:t>
            </a:r>
          </a:p>
          <a:p>
            <a:pPr algn="ctr"/>
            <a:r>
              <a:rPr lang="es-BO" sz="44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Maiandra GD" panose="020E0502030308020204" pitchFamily="34" charset="0"/>
              </a:rPr>
              <a:t>Código: PEP-150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3740021" y="6134913"/>
            <a:ext cx="5464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chemeClr val="accent5">
                    <a:lumMod val="75000"/>
                  </a:schemeClr>
                </a:solidFill>
                <a:latin typeface="Maiandra GD" panose="020E0502030308020204" pitchFamily="34" charset="0"/>
              </a:rPr>
              <a:t>Docente: Ing. José C. Rojas P.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951449" y="2031341"/>
            <a:ext cx="84438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Carrera de Ingeniería de Sistemas</a:t>
            </a:r>
          </a:p>
          <a:p>
            <a:pPr algn="ctr"/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Universidad Privada de Oruro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990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820271" y="2649071"/>
            <a:ext cx="104707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sz="4000" dirty="0" smtClean="0">
                <a:solidFill>
                  <a:schemeClr val="accent5"/>
                </a:solidFill>
                <a:latin typeface="Maiandra GD" panose="020E0502030308020204" pitchFamily="34" charset="0"/>
              </a:rPr>
              <a:t>“Tener grandes expectativas es la clave de todo”</a:t>
            </a:r>
          </a:p>
          <a:p>
            <a:pPr algn="ctr"/>
            <a:r>
              <a:rPr lang="es-BO" sz="4000" dirty="0" smtClean="0">
                <a:solidFill>
                  <a:schemeClr val="accent5"/>
                </a:solidFill>
                <a:latin typeface="Maiandra GD" panose="020E0502030308020204" pitchFamily="34" charset="0"/>
              </a:rPr>
              <a:t>Sam </a:t>
            </a:r>
            <a:r>
              <a:rPr lang="es-BO" sz="4000" dirty="0" err="1" smtClean="0">
                <a:solidFill>
                  <a:schemeClr val="accent5"/>
                </a:solidFill>
                <a:latin typeface="Maiandra GD" panose="020E0502030308020204" pitchFamily="34" charset="0"/>
              </a:rPr>
              <a:t>Walton</a:t>
            </a:r>
            <a:endParaRPr lang="es-BO" sz="4400" dirty="0" smtClean="0">
              <a:solidFill>
                <a:schemeClr val="accent5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76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0" y="1075713"/>
            <a:ext cx="85657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Introducción</a:t>
            </a:r>
          </a:p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Que es un proyecto?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55335" y="2784601"/>
            <a:ext cx="584066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Un proyecto es un </a:t>
            </a:r>
            <a:r>
              <a:rPr lang="es-BO" sz="2800" u="sng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esfuerzo temporal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 donde se juntan ideas, que organizadas </a:t>
            </a:r>
            <a:r>
              <a:rPr lang="es-BO" sz="2800" u="sng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sistemáticamente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 darán respuestas para la solución de </a:t>
            </a:r>
            <a:r>
              <a:rPr lang="es-BO" sz="2800" u="sng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problemas o necesidades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, del </a:t>
            </a:r>
            <a:r>
              <a:rPr lang="es-BO" sz="2800" u="sng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ser humano 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o de </a:t>
            </a:r>
            <a:r>
              <a:rPr lang="es-BO" sz="2800" u="sng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grupos comunitarios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, en un </a:t>
            </a:r>
            <a:r>
              <a:rPr lang="es-BO" sz="2800" u="sng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tiempo determinado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.</a:t>
            </a:r>
            <a:endParaRPr lang="es-BO" sz="3600" dirty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716" t="21961" r="4167" b="8431"/>
          <a:stretch/>
        </p:blipFill>
        <p:spPr>
          <a:xfrm>
            <a:off x="5878686" y="1678828"/>
            <a:ext cx="3041116" cy="1686869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6804054" y="3610798"/>
            <a:ext cx="516383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Es un esfuerzo sistemático, generador de capacidad para solucionar un problema o lograr un objetivo especifico, que requiere la aplicación de recursos, en un espacio y en un tiempo determinados.</a:t>
            </a:r>
            <a:endParaRPr lang="es-BO" sz="3600" dirty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24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0" y="1075713"/>
            <a:ext cx="74362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Estudio de Ideas, Diagnostico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76517" y="1697236"/>
            <a:ext cx="1113416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Un proyecto es la búsqueda de una solución inteligente al planteamiento de un problema, la cual tiende a resolver una necesidad humana. En este sentido puede haber diferentes ideas,  inversiones de monto distinto, tecnología y metodologías con diverso enfoque, pero todas ellas destinadas a satisfacer las necesidades del ser humano en todas sus facetas, como pueden ser educación, alimentación, salud, ambiente, cultura, etc.</a:t>
            </a:r>
            <a:endParaRPr lang="es-BO" sz="4000" dirty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9022976" y="5538472"/>
            <a:ext cx="2985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400" dirty="0" smtClean="0"/>
              <a:t>Gabriel Baca Urbina</a:t>
            </a:r>
            <a:endParaRPr lang="es-BO" sz="2400" dirty="0"/>
          </a:p>
        </p:txBody>
      </p:sp>
    </p:spTree>
    <p:extLst>
      <p:ext uri="{BB962C8B-B14F-4D97-AF65-F5344CB8AC3E}">
        <p14:creationId xmlns:p14="http://schemas.microsoft.com/office/powerpoint/2010/main" val="2784437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0" y="1075713"/>
            <a:ext cx="74362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Estudio de Ideas, Diagnostico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775012" y="2450272"/>
            <a:ext cx="74362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Un proyecto es, ni más ni menos, la búsqueda de una solución inteligente al planteamiento de un problema tendiente a resolver, entre tantos, una necesidad humana.</a:t>
            </a:r>
            <a:endParaRPr lang="es-BO" sz="4000" dirty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9022976" y="5538472"/>
            <a:ext cx="2985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400" dirty="0" smtClean="0"/>
              <a:t>Gabriel Baca Urbina</a:t>
            </a:r>
            <a:endParaRPr lang="es-BO" sz="2400" dirty="0"/>
          </a:p>
        </p:txBody>
      </p:sp>
    </p:spTree>
    <p:extLst>
      <p:ext uri="{BB962C8B-B14F-4D97-AF65-F5344CB8AC3E}">
        <p14:creationId xmlns:p14="http://schemas.microsoft.com/office/powerpoint/2010/main" val="422419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0" y="1075713"/>
            <a:ext cx="1101314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Estudio de Ideas, Diagnostico</a:t>
            </a:r>
          </a:p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Que es un Proyecto de inversión.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811305" y="2784601"/>
            <a:ext cx="1056938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Es el conjunto de elementos técnicos, económicos, financieros y organizacionales que permiten visualizar las ventajas y desventajas económicas de la adquisición, construcción, instalación y operación de una empresa que produzca bienes y/o servicios.</a:t>
            </a:r>
            <a:endParaRPr lang="es-BO" sz="4000" dirty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9022976" y="5538472"/>
            <a:ext cx="2985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400" dirty="0" smtClean="0"/>
              <a:t>Vicente Insulza.</a:t>
            </a:r>
            <a:endParaRPr lang="es-BO" sz="2400" dirty="0"/>
          </a:p>
        </p:txBody>
      </p:sp>
    </p:spTree>
    <p:extLst>
      <p:ext uri="{BB962C8B-B14F-4D97-AF65-F5344CB8AC3E}">
        <p14:creationId xmlns:p14="http://schemas.microsoft.com/office/powerpoint/2010/main" val="1740035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0" y="1075713"/>
            <a:ext cx="1101314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Estudio de Ideas, Diagnostico</a:t>
            </a:r>
          </a:p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Que es un Proyecto de inversión.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420470" y="2784601"/>
            <a:ext cx="73510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Es una decisión sobre el uso de determinados recursos, con el objetivo de mantener o incrementar la producción de cierto bien o la prestación de un servicio.</a:t>
            </a:r>
            <a:endParaRPr lang="es-BO" sz="4000" dirty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60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0" y="1075713"/>
            <a:ext cx="11013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6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Estudio de Ideas, Diagnostico</a:t>
            </a:r>
          </a:p>
          <a:p>
            <a:r>
              <a:rPr lang="es-BO" sz="36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Dos grandes grupos de proyectos.</a:t>
            </a:r>
            <a:endParaRPr lang="es-BO" sz="36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76518" y="2276042"/>
            <a:ext cx="58763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Las necesidades que tiene el ser humano (Alimentación, vestimenta, recreación, educación, salud, vivienda, etc.) tiene características que permiten agruparlas en dos: aquellas que satisfacen económicamente el interés personal, y aquellas que buscan incrementar el bienestar social (servicios básicos, alcantarillado, etc.)</a:t>
            </a:r>
            <a:endParaRPr lang="es-BO" sz="2800" dirty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7093325" y="3091649"/>
            <a:ext cx="51972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Proyectos de inversión privada.</a:t>
            </a:r>
          </a:p>
          <a:p>
            <a:endParaRPr lang="es-BO" sz="2800" dirty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  <a:p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Proyectos de inversión publica.</a:t>
            </a:r>
            <a:endParaRPr lang="es-BO" sz="2800" dirty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Flecha derecha 1"/>
          <p:cNvSpPr/>
          <p:nvPr/>
        </p:nvSpPr>
        <p:spPr>
          <a:xfrm>
            <a:off x="6007476" y="3192475"/>
            <a:ext cx="1075765" cy="11833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637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0" y="820220"/>
            <a:ext cx="74362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Caracterización</a:t>
            </a:r>
            <a:endParaRPr lang="es-BO" sz="4400" dirty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-1" y="1697237"/>
            <a:ext cx="1152413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BO" sz="32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Un </a:t>
            </a:r>
            <a:r>
              <a:rPr lang="es-BO" sz="32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proyecto tiene un objetivo claro a lograr.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BO" sz="32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Un </a:t>
            </a:r>
            <a:r>
              <a:rPr lang="es-BO" sz="32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proyecto tiene un marco de tiempo específico, o periodo de vida finito.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BO" sz="32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Un </a:t>
            </a:r>
            <a:r>
              <a:rPr lang="es-BO" sz="32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proyecto utiliza recursos para realizar las tareas.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BO" sz="32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Un </a:t>
            </a:r>
            <a:r>
              <a:rPr lang="es-BO" sz="32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proyecto se realiza por medio de una serie de tareas interdependientes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BO" sz="32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Un </a:t>
            </a:r>
            <a:r>
              <a:rPr lang="es-BO" sz="32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proyecto puede ser una tarea única o que se realiza una sola vez.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BO" sz="32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Un </a:t>
            </a:r>
            <a:r>
              <a:rPr lang="es-BO" sz="32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proyecto tiene un patrocinador o cliente.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BO" sz="32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Un </a:t>
            </a:r>
            <a:r>
              <a:rPr lang="es-BO" sz="32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proyecto implica un grado de incertidumbre.</a:t>
            </a:r>
            <a:endParaRPr lang="es-BO" sz="4000" dirty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Botón de acción: Hacia delante o Siguiente 1">
            <a:hlinkClick r:id="rId2" action="ppaction://hlinksldjump" highlightClick="1"/>
          </p:cNvPr>
          <p:cNvSpPr/>
          <p:nvPr/>
        </p:nvSpPr>
        <p:spPr>
          <a:xfrm>
            <a:off x="10475259" y="5271248"/>
            <a:ext cx="1048870" cy="83371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05174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0" y="820220"/>
            <a:ext cx="116048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Estudio de Perfil tanto públicos como privados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309281" y="1596506"/>
            <a:ext cx="716728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Que es un perfil?</a:t>
            </a:r>
          </a:p>
          <a:p>
            <a:endParaRPr lang="es-BO" sz="2800" dirty="0" smtClean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  <a:p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Un perfil de proyecto es una descripción simplificada de un proyecto. Además de definir el propósito y la pertenencia del proyecto, presenta un primer estimado de las actividades requeridas y de la inversión total que se necesitará, así como de los costos operativos anuales, y, en el caso de proyectos destinados a la generación de ingresos, del ingreso anual.</a:t>
            </a:r>
          </a:p>
        </p:txBody>
      </p:sp>
    </p:spTree>
    <p:extLst>
      <p:ext uri="{BB962C8B-B14F-4D97-AF65-F5344CB8AC3E}">
        <p14:creationId xmlns:p14="http://schemas.microsoft.com/office/powerpoint/2010/main" val="24707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72351" y="1724131"/>
            <a:ext cx="103945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¿Cuál es el propósito del perfil?</a:t>
            </a:r>
            <a:endParaRPr lang="es-BO" sz="2800" dirty="0" smtClean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  <a:p>
            <a:endParaRPr lang="es-BO" sz="2800" dirty="0" smtClean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  <a:p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1 El </a:t>
            </a:r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perfil de proyecto ayuda a asegurar que los miembros de la comunidad o grupo en cuestión comprendan las posibles implicaciones de su propuesta en términos de inversión y de costos operativos, requerimientos de mano de obra y escala de las operaciones y otros factores.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0" y="820220"/>
            <a:ext cx="116048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Estudio de Perfil tanto públicos como privados</a:t>
            </a:r>
          </a:p>
        </p:txBody>
      </p:sp>
    </p:spTree>
    <p:extLst>
      <p:ext uri="{BB962C8B-B14F-4D97-AF65-F5344CB8AC3E}">
        <p14:creationId xmlns:p14="http://schemas.microsoft.com/office/powerpoint/2010/main" val="269177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72351" y="1724131"/>
            <a:ext cx="103945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¿Cuál es el propósito del perfil?</a:t>
            </a:r>
            <a:endParaRPr lang="es-BO" sz="2800" dirty="0" smtClean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  <a:p>
            <a:endParaRPr lang="es-BO" sz="2800" dirty="0" smtClean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  <a:p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2 El </a:t>
            </a:r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perfil evita que se desperdicien esfuerzos en la preparación detallada de proyectos incoherentes, que carecen del apoyo de los solicitantes o que no pasan las pruebas básicas de viabilidad.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0" y="820220"/>
            <a:ext cx="116048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Estudio de Perfil tanto públicos como privados</a:t>
            </a:r>
          </a:p>
        </p:txBody>
      </p:sp>
    </p:spTree>
    <p:extLst>
      <p:ext uri="{BB962C8B-B14F-4D97-AF65-F5344CB8AC3E}">
        <p14:creationId xmlns:p14="http://schemas.microsoft.com/office/powerpoint/2010/main" val="141845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72351" y="1724131"/>
            <a:ext cx="103945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¿Cuál es el propósito del perfil?</a:t>
            </a:r>
            <a:endParaRPr lang="es-BO" sz="2800" dirty="0" smtClean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  <a:p>
            <a:endParaRPr lang="es-BO" sz="2800" dirty="0" smtClean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  <a:p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3 La </a:t>
            </a:r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participación de los miembros del grupo en la preparación y evaluación del perfil es una etapa importante en el proceso de apropiación del proyecto específico.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0" y="820220"/>
            <a:ext cx="116048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Estudio de Perfil tanto públicos como privados</a:t>
            </a:r>
          </a:p>
        </p:txBody>
      </p:sp>
    </p:spTree>
    <p:extLst>
      <p:ext uri="{BB962C8B-B14F-4D97-AF65-F5344CB8AC3E}">
        <p14:creationId xmlns:p14="http://schemas.microsoft.com/office/powerpoint/2010/main" val="3214112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898711" y="2288908"/>
            <a:ext cx="1039457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Que contiene un perfil de proyecto de inversión privado?</a:t>
            </a:r>
          </a:p>
          <a:p>
            <a:endParaRPr lang="es-BO" sz="2800" dirty="0" smtClean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  <a:p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Antecedentes.</a:t>
            </a:r>
          </a:p>
          <a:p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Inversión.</a:t>
            </a:r>
          </a:p>
          <a:p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Costos operativos e ingresos por 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actividad.</a:t>
            </a:r>
          </a:p>
          <a:p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Costos generales y de 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mantenimiento.</a:t>
            </a:r>
          </a:p>
          <a:p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Estimado preliminar y de 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viabilidad </a:t>
            </a:r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(únicamente para los proyectos dirigidos a la generación de ingresos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).</a:t>
            </a:r>
            <a:endParaRPr lang="es-BO" sz="2800" dirty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0" y="820220"/>
            <a:ext cx="116048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Estudio de Perfil tanto públicos como privados</a:t>
            </a:r>
          </a:p>
        </p:txBody>
      </p:sp>
    </p:spTree>
    <p:extLst>
      <p:ext uri="{BB962C8B-B14F-4D97-AF65-F5344CB8AC3E}">
        <p14:creationId xmlns:p14="http://schemas.microsoft.com/office/powerpoint/2010/main" val="1553406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898711" y="2288908"/>
            <a:ext cx="103945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Que contiene un perfil de proyecto de inversión publica?</a:t>
            </a:r>
          </a:p>
          <a:p>
            <a:endParaRPr lang="es-BO" sz="2800" dirty="0" smtClean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  <a:p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Además de lo anteriormente detallado, es importante que el perfil de un proyecto de inversión publica conlleve:</a:t>
            </a:r>
          </a:p>
          <a:p>
            <a:endParaRPr lang="es-BO" sz="2800" dirty="0" smtClean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  <a:p>
            <a:r>
              <a:rPr lang="es-BO" sz="2800" dirty="0">
                <a:solidFill>
                  <a:srgbClr val="FFC000"/>
                </a:solidFill>
                <a:latin typeface="Maiandra GD" panose="020E0502030308020204" pitchFamily="34" charset="0"/>
              </a:rPr>
              <a:t>Estimado preliminar sobre los beneficiarios (proyectos no dirigidos a la generación de ingresos</a:t>
            </a:r>
            <a:r>
              <a:rPr lang="es-BO" sz="2800" dirty="0" smtClean="0">
                <a:solidFill>
                  <a:srgbClr val="FFC000"/>
                </a:solidFill>
                <a:latin typeface="Maiandra GD" panose="020E0502030308020204" pitchFamily="34" charset="0"/>
              </a:rPr>
              <a:t>).</a:t>
            </a:r>
          </a:p>
          <a:p>
            <a:pPr lvl="1"/>
            <a:r>
              <a:rPr lang="es-BO" sz="2800" dirty="0">
                <a:solidFill>
                  <a:srgbClr val="FFC000"/>
                </a:solidFill>
                <a:latin typeface="Maiandra GD" panose="020E0502030308020204" pitchFamily="34" charset="0"/>
              </a:rPr>
              <a:t>Costo de inversión por </a:t>
            </a:r>
            <a:r>
              <a:rPr lang="es-BO" sz="2800" dirty="0" smtClean="0">
                <a:solidFill>
                  <a:srgbClr val="FFC000"/>
                </a:solidFill>
                <a:latin typeface="Maiandra GD" panose="020E0502030308020204" pitchFamily="34" charset="0"/>
              </a:rPr>
              <a:t>beneficiario.</a:t>
            </a:r>
          </a:p>
          <a:p>
            <a:pPr lvl="1"/>
            <a:r>
              <a:rPr lang="es-BO" sz="2800" dirty="0">
                <a:solidFill>
                  <a:srgbClr val="FFC000"/>
                </a:solidFill>
                <a:latin typeface="Maiandra GD" panose="020E0502030308020204" pitchFamily="34" charset="0"/>
              </a:rPr>
              <a:t>Costo operativo anual por </a:t>
            </a:r>
            <a:r>
              <a:rPr lang="es-BO" sz="2800" dirty="0" smtClean="0">
                <a:solidFill>
                  <a:srgbClr val="FFC000"/>
                </a:solidFill>
                <a:latin typeface="Maiandra GD" panose="020E0502030308020204" pitchFamily="34" charset="0"/>
              </a:rPr>
              <a:t>beneficiario.</a:t>
            </a:r>
            <a:endParaRPr lang="es-BO" sz="2800" dirty="0">
              <a:solidFill>
                <a:srgbClr val="FFC000"/>
              </a:solidFill>
              <a:latin typeface="Maiandra GD" panose="020E0502030308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0" y="820220"/>
            <a:ext cx="116048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Estudio de Perfil tanto públicos como privados</a:t>
            </a:r>
          </a:p>
        </p:txBody>
      </p:sp>
    </p:spTree>
    <p:extLst>
      <p:ext uri="{BB962C8B-B14F-4D97-AF65-F5344CB8AC3E}">
        <p14:creationId xmlns:p14="http://schemas.microsoft.com/office/powerpoint/2010/main" val="10089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0" y="820220"/>
            <a:ext cx="116317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La toma de decisiones asociados a un Proyecto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898711" y="2288908"/>
            <a:ext cx="103945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El propósito de la evaluación de proyectos es </a:t>
            </a:r>
            <a:r>
              <a:rPr lang="es-BO" sz="2800" dirty="0">
                <a:solidFill>
                  <a:srgbClr val="FF0000"/>
                </a:solidFill>
                <a:latin typeface="Maiandra GD" panose="020E0502030308020204" pitchFamily="34" charset="0"/>
              </a:rPr>
              <a:t>reducir</a:t>
            </a:r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 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las probabilidades </a:t>
            </a:r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de desperdiciar recursos invirtiendo en 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proyectos que no den rendimientos satisfactorios. Con </a:t>
            </a:r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la evaluación 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de proyectos se pretende </a:t>
            </a:r>
            <a:r>
              <a:rPr lang="es-BO" sz="28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mejorar la toma de decisiones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 sobre la actuación a emprender en </a:t>
            </a:r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lo futuro .</a:t>
            </a:r>
            <a:endParaRPr lang="es-BO" sz="2800" dirty="0">
              <a:solidFill>
                <a:srgbClr val="FFC000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114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0" y="820220"/>
            <a:ext cx="116317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>
                <a:solidFill>
                  <a:srgbClr val="FF0000"/>
                </a:solidFill>
                <a:latin typeface="Maiandra GD" panose="020E0502030308020204" pitchFamily="34" charset="0"/>
              </a:rPr>
              <a:t>La toma de decisiones asociados a un Proyecto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898711" y="2288908"/>
            <a:ext cx="103945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Sin embargo, lo fundamental en la toma de decisiones  es 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que estas </a:t>
            </a:r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se encuentren cimentadas en </a:t>
            </a:r>
            <a:r>
              <a:rPr lang="es-BO" sz="2800" dirty="0">
                <a:solidFill>
                  <a:srgbClr val="FF0000"/>
                </a:solidFill>
                <a:latin typeface="Maiandra GD" panose="020E0502030308020204" pitchFamily="34" charset="0"/>
              </a:rPr>
              <a:t>antecedentes </a:t>
            </a:r>
            <a:r>
              <a:rPr lang="es-BO" sz="28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básicos 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concretos que hagan </a:t>
            </a:r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que se adopten 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concienzudamente y </a:t>
            </a:r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con 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el debido conocimiento </a:t>
            </a:r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de las 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distintas variables que entran en juego. Estas, una vez valoradas, permitirán </a:t>
            </a:r>
            <a:r>
              <a:rPr lang="es-BO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en última instancia </a:t>
            </a:r>
            <a:r>
              <a:rPr lang="es-BO" sz="28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adoptar conscientemente las mejores decisiones posibles.</a:t>
            </a:r>
          </a:p>
          <a:p>
            <a:pPr algn="r"/>
            <a:r>
              <a:rPr lang="es-BO" sz="2800" dirty="0" err="1">
                <a:solidFill>
                  <a:srgbClr val="FFC000"/>
                </a:solidFill>
                <a:latin typeface="Maiandra GD" panose="020E0502030308020204" pitchFamily="34" charset="0"/>
              </a:rPr>
              <a:t>Nassir</a:t>
            </a:r>
            <a:r>
              <a:rPr lang="es-BO" sz="2800" dirty="0">
                <a:solidFill>
                  <a:srgbClr val="FFC000"/>
                </a:solidFill>
                <a:latin typeface="Maiandra GD" panose="020E0502030308020204" pitchFamily="34" charset="0"/>
              </a:rPr>
              <a:t> </a:t>
            </a:r>
            <a:r>
              <a:rPr lang="es-BO" sz="2800" dirty="0" err="1">
                <a:solidFill>
                  <a:srgbClr val="FFC000"/>
                </a:solidFill>
                <a:latin typeface="Maiandra GD" panose="020E0502030308020204" pitchFamily="34" charset="0"/>
              </a:rPr>
              <a:t>Sapag</a:t>
            </a:r>
            <a:r>
              <a:rPr lang="es-BO" sz="2800" dirty="0">
                <a:solidFill>
                  <a:srgbClr val="FFC000"/>
                </a:solidFill>
                <a:latin typeface="Maiandra GD" panose="020E0502030308020204" pitchFamily="34" charset="0"/>
              </a:rPr>
              <a:t> </a:t>
            </a:r>
            <a:r>
              <a:rPr lang="es-BO" sz="2800" dirty="0" err="1">
                <a:solidFill>
                  <a:srgbClr val="FFC000"/>
                </a:solidFill>
                <a:latin typeface="Maiandra GD" panose="020E0502030308020204" pitchFamily="34" charset="0"/>
              </a:rPr>
              <a:t>Chain</a:t>
            </a:r>
            <a:endParaRPr lang="es-BO" sz="2800" dirty="0">
              <a:solidFill>
                <a:srgbClr val="FFC000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09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4881282" y="3039034"/>
            <a:ext cx="2554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Fin del Tema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67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0" y="2286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32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CONCEPTUALIZACION A LOS PROYECTOS DE INVERSION </a:t>
            </a:r>
            <a:endParaRPr lang="es-BO" sz="3600" dirty="0" smtClean="0">
              <a:solidFill>
                <a:srgbClr val="FF0000"/>
              </a:solidFill>
              <a:latin typeface="Maiandra GD" panose="020E0502030308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0" y="820220"/>
            <a:ext cx="74362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4400" dirty="0" smtClean="0">
                <a:solidFill>
                  <a:srgbClr val="FF0000"/>
                </a:solidFill>
                <a:latin typeface="Maiandra GD" panose="020E0502030308020204" pitchFamily="34" charset="0"/>
              </a:rPr>
              <a:t>Ejemplo: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-1" y="1697237"/>
            <a:ext cx="115241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24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CONSTRUCCIÓN DE UN COLEGIO.</a:t>
            </a:r>
          </a:p>
          <a:p>
            <a:r>
              <a:rPr lang="es-BO" sz="24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OBJETIVO: Satisfacer las necesidades de educación básica, en la ciudad de Oruro.</a:t>
            </a:r>
          </a:p>
          <a:p>
            <a:r>
              <a:rPr lang="es-BO" sz="24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META: Atender a partir del año 2023 a 150 alumnos.</a:t>
            </a:r>
          </a:p>
          <a:p>
            <a:r>
              <a:rPr lang="es-BO" sz="24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F. INICIO: Marzo de 2022.</a:t>
            </a:r>
          </a:p>
          <a:p>
            <a:r>
              <a:rPr lang="es-BO" sz="24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F. CONCLUSIÓN: Octubre 2022.</a:t>
            </a:r>
          </a:p>
          <a:p>
            <a:r>
              <a:rPr lang="es-BO" sz="24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VIDA ÚTIL: 20 años.</a:t>
            </a:r>
          </a:p>
          <a:p>
            <a:r>
              <a:rPr lang="es-BO" sz="24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ACTIVIDADES: Diseño, licitación, contratación, limpieza del terreno, instalación de obra, excavaciones, fundaciones, obra gruesa, obra fina, instalación de servicios, techado, terminaciones, equipamiento, recepción final e informe de termino del proyecto.</a:t>
            </a:r>
          </a:p>
          <a:p>
            <a:r>
              <a:rPr lang="es-BO" sz="24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RECURSOS: Materiales, trabajadores, maquinaria y dinero.</a:t>
            </a:r>
          </a:p>
          <a:p>
            <a:r>
              <a:rPr lang="es-BO" sz="24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Maiandra GD" panose="020E0502030308020204" pitchFamily="34" charset="0"/>
              </a:rPr>
              <a:t>FINANCIACION: Recursos del estado.</a:t>
            </a:r>
            <a:endParaRPr lang="es-BO" sz="4000" dirty="0">
              <a:solidFill>
                <a:schemeClr val="bg2">
                  <a:lumMod val="40000"/>
                  <a:lumOff val="60000"/>
                </a:schemeClr>
              </a:solidFill>
              <a:latin typeface="Maiandra GD" panose="020E0502030308020204" pitchFamily="34" charset="0"/>
            </a:endParaRPr>
          </a:p>
        </p:txBody>
      </p:sp>
      <p:sp>
        <p:nvSpPr>
          <p:cNvPr id="3" name="Botón de acción: Volver 2">
            <a:hlinkClick r:id="rId2" action="ppaction://hlinksldjump" highlightClick="1"/>
          </p:cNvPr>
          <p:cNvSpPr/>
          <p:nvPr/>
        </p:nvSpPr>
        <p:spPr>
          <a:xfrm>
            <a:off x="10529047" y="5405718"/>
            <a:ext cx="1102659" cy="1062317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80516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359</TotalTime>
  <Words>1167</Words>
  <Application>Microsoft Office PowerPoint</Application>
  <PresentationFormat>Panorámica</PresentationFormat>
  <Paragraphs>102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Century Gothic</vt:lpstr>
      <vt:lpstr>Maiandra GD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Consultores Academia</dc:creator>
  <cp:lastModifiedBy>Consultores Academia</cp:lastModifiedBy>
  <cp:revision>35</cp:revision>
  <dcterms:created xsi:type="dcterms:W3CDTF">2021-08-13T03:11:31Z</dcterms:created>
  <dcterms:modified xsi:type="dcterms:W3CDTF">2021-09-20T21:54:53Z</dcterms:modified>
</cp:coreProperties>
</file>