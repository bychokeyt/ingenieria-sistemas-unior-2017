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2" r:id="rId1"/>
  </p:sldMasterIdLst>
  <p:sldIdLst>
    <p:sldId id="257" r:id="rId2"/>
    <p:sldId id="261" r:id="rId3"/>
    <p:sldId id="262" r:id="rId4"/>
    <p:sldId id="263" r:id="rId5"/>
    <p:sldId id="264" r:id="rId6"/>
    <p:sldId id="265" r:id="rId7"/>
    <p:sldId id="266" r:id="rId8"/>
    <p:sldId id="278" r:id="rId9"/>
    <p:sldId id="279" r:id="rId10"/>
    <p:sldId id="270" r:id="rId11"/>
    <p:sldId id="268" r:id="rId12"/>
    <p:sldId id="271" r:id="rId13"/>
    <p:sldId id="269" r:id="rId14"/>
    <p:sldId id="280" r:id="rId15"/>
    <p:sldId id="272" r:id="rId16"/>
    <p:sldId id="281" r:id="rId17"/>
    <p:sldId id="273" r:id="rId18"/>
    <p:sldId id="274" r:id="rId19"/>
    <p:sldId id="275" r:id="rId20"/>
    <p:sldId id="276" r:id="rId21"/>
    <p:sldId id="277" r:id="rId22"/>
    <p:sldId id="283" r:id="rId23"/>
    <p:sldId id="284" r:id="rId24"/>
    <p:sldId id="285" r:id="rId25"/>
    <p:sldId id="287" r:id="rId26"/>
    <p:sldId id="291" r:id="rId27"/>
    <p:sldId id="286" r:id="rId28"/>
    <p:sldId id="293" r:id="rId29"/>
    <p:sldId id="292" r:id="rId30"/>
    <p:sldId id="294" r:id="rId31"/>
    <p:sldId id="288" r:id="rId32"/>
    <p:sldId id="295" r:id="rId33"/>
    <p:sldId id="296" r:id="rId34"/>
    <p:sldId id="297" r:id="rId35"/>
    <p:sldId id="289" r:id="rId36"/>
    <p:sldId id="299" r:id="rId37"/>
    <p:sldId id="300" r:id="rId38"/>
    <p:sldId id="301" r:id="rId39"/>
    <p:sldId id="302" r:id="rId40"/>
    <p:sldId id="282" r:id="rId41"/>
  </p:sldIdLst>
  <p:sldSz cx="12192000" cy="6858000"/>
  <p:notesSz cx="6858000" cy="9144000"/>
  <p:defaultTextStyle>
    <a:defPPr>
      <a:defRPr lang="es-B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38B1855-1B75-4FBE-930C-398BA8C253C6}" styleName="Estilo temático 2 - Énfasis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5" d="100"/>
          <a:sy n="75" d="100"/>
        </p:scale>
        <p:origin x="540"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684212" y="685799"/>
            <a:ext cx="8001000" cy="2971801"/>
          </a:xfrm>
        </p:spPr>
        <p:txBody>
          <a:bodyPr anchor="b">
            <a:normAutofit/>
          </a:bodyPr>
          <a:lstStyle>
            <a:lvl1pPr algn="l">
              <a:defRPr sz="4800">
                <a:effectLst/>
              </a:defRPr>
            </a:lvl1pPr>
          </a:lstStyle>
          <a:p>
            <a:r>
              <a:rPr lang="es-ES" smtClean="0"/>
              <a:t>Haga clic para modificar el estilo de título del patrón</a:t>
            </a:r>
            <a:endParaRPr lang="en-US" dirty="0"/>
          </a:p>
        </p:txBody>
      </p:sp>
      <p:sp>
        <p:nvSpPr>
          <p:cNvPr id="3" name="Subtitle 2"/>
          <p:cNvSpPr>
            <a:spLocks noGrp="1"/>
          </p:cNvSpPr>
          <p:nvPr>
            <p:ph type="subTitle" idx="1"/>
          </p:nvPr>
        </p:nvSpPr>
        <p:spPr>
          <a:xfrm>
            <a:off x="684212" y="3843867"/>
            <a:ext cx="6400800" cy="1947333"/>
          </a:xfrm>
        </p:spPr>
        <p:txBody>
          <a:bodyPr anchor="t">
            <a:normAutofit/>
          </a:bodyPr>
          <a:lstStyle>
            <a:lvl1pPr marL="0" indent="0" algn="l">
              <a:buNone/>
              <a:defRPr sz="2100">
                <a:solidFill>
                  <a:schemeClr val="bg2">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smtClean="0"/>
              <a:t>Haga clic para editar el estilo de subtítulo del patrón</a:t>
            </a:r>
            <a:endParaRPr lang="en-US" dirty="0"/>
          </a:p>
        </p:txBody>
      </p:sp>
      <p:sp>
        <p:nvSpPr>
          <p:cNvPr id="4" name="Date Placeholder 3"/>
          <p:cNvSpPr>
            <a:spLocks noGrp="1"/>
          </p:cNvSpPr>
          <p:nvPr>
            <p:ph type="dt" sz="half" idx="10"/>
          </p:nvPr>
        </p:nvSpPr>
        <p:spPr/>
        <p:txBody>
          <a:bodyPr/>
          <a:lstStyle/>
          <a:p>
            <a:fld id="{0C832E35-374F-4C89-A8C0-6460C1034341}" type="datetimeFigureOut">
              <a:rPr lang="es-BO" smtClean="0"/>
              <a:t>24/10/2021</a:t>
            </a:fld>
            <a:endParaRPr lang="es-BO"/>
          </a:p>
        </p:txBody>
      </p:sp>
      <p:sp>
        <p:nvSpPr>
          <p:cNvPr id="5" name="Footer Placeholder 4"/>
          <p:cNvSpPr>
            <a:spLocks noGrp="1"/>
          </p:cNvSpPr>
          <p:nvPr>
            <p:ph type="ftr" sz="quarter" idx="11"/>
          </p:nvPr>
        </p:nvSpPr>
        <p:spPr/>
        <p:txBody>
          <a:bodyPr/>
          <a:lstStyle/>
          <a:p>
            <a:endParaRPr lang="es-BO"/>
          </a:p>
        </p:txBody>
      </p:sp>
      <p:sp>
        <p:nvSpPr>
          <p:cNvPr id="6" name="Slide Number Placeholder 5"/>
          <p:cNvSpPr>
            <a:spLocks noGrp="1"/>
          </p:cNvSpPr>
          <p:nvPr>
            <p:ph type="sldNum" sz="quarter" idx="12"/>
          </p:nvPr>
        </p:nvSpPr>
        <p:spPr/>
        <p:txBody>
          <a:bodyPr/>
          <a:lstStyle/>
          <a:p>
            <a:fld id="{5603E5D4-2952-4502-B34C-11FA4819703A}" type="slidenum">
              <a:rPr lang="es-BO" smtClean="0"/>
              <a:t>‹Nº›</a:t>
            </a:fld>
            <a:endParaRPr lang="es-BO"/>
          </a:p>
        </p:txBody>
      </p:sp>
      <p:cxnSp>
        <p:nvCxnSpPr>
          <p:cNvPr id="16" name="Straight Connector 15"/>
          <p:cNvCxnSpPr/>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466511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Content Placeholder 2"/>
          <p:cNvSpPr>
            <a:spLocks noGrp="1"/>
          </p:cNvSpPr>
          <p:nvPr>
            <p:ph idx="1"/>
          </p:nvPr>
        </p:nvSpPr>
        <p:spPr/>
        <p:txBody>
          <a:bodyPr anchor="ct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0C832E35-374F-4C89-A8C0-6460C1034341}" type="datetimeFigureOut">
              <a:rPr lang="es-BO" smtClean="0"/>
              <a:t>24/10/2021</a:t>
            </a:fld>
            <a:endParaRPr lang="es-BO"/>
          </a:p>
        </p:txBody>
      </p:sp>
      <p:sp>
        <p:nvSpPr>
          <p:cNvPr id="5" name="Footer Placeholder 4"/>
          <p:cNvSpPr>
            <a:spLocks noGrp="1"/>
          </p:cNvSpPr>
          <p:nvPr>
            <p:ph type="ftr" sz="quarter" idx="11"/>
          </p:nvPr>
        </p:nvSpPr>
        <p:spPr/>
        <p:txBody>
          <a:bodyPr/>
          <a:lstStyle/>
          <a:p>
            <a:endParaRPr lang="es-BO"/>
          </a:p>
        </p:txBody>
      </p:sp>
      <p:sp>
        <p:nvSpPr>
          <p:cNvPr id="6" name="Slide Number Placeholder 5"/>
          <p:cNvSpPr>
            <a:spLocks noGrp="1"/>
          </p:cNvSpPr>
          <p:nvPr>
            <p:ph type="sldNum" sz="quarter" idx="12"/>
          </p:nvPr>
        </p:nvSpPr>
        <p:spPr/>
        <p:txBody>
          <a:bodyPr/>
          <a:lstStyle/>
          <a:p>
            <a:fld id="{5603E5D4-2952-4502-B34C-11FA4819703A}" type="slidenum">
              <a:rPr lang="es-BO" smtClean="0"/>
              <a:t>‹Nº›</a:t>
            </a:fld>
            <a:endParaRPr lang="es-BO"/>
          </a:p>
        </p:txBody>
      </p:sp>
    </p:spTree>
    <p:extLst>
      <p:ext uri="{BB962C8B-B14F-4D97-AF65-F5344CB8AC3E}">
        <p14:creationId xmlns:p14="http://schemas.microsoft.com/office/powerpoint/2010/main" val="18713790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684211" y="2006600"/>
            <a:ext cx="8534401" cy="2281600"/>
          </a:xfrm>
        </p:spPr>
        <p:txBody>
          <a:bodyPr anchor="b">
            <a:normAutofit/>
          </a:bodyPr>
          <a:lstStyle>
            <a:lvl1pPr algn="l">
              <a:defRPr sz="3600" b="0" cap="all"/>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684213" y="4495800"/>
            <a:ext cx="8534400" cy="14986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Editar el estilo de texto del patrón</a:t>
            </a:r>
          </a:p>
        </p:txBody>
      </p:sp>
      <p:sp>
        <p:nvSpPr>
          <p:cNvPr id="4" name="Date Placeholder 3"/>
          <p:cNvSpPr>
            <a:spLocks noGrp="1"/>
          </p:cNvSpPr>
          <p:nvPr>
            <p:ph type="dt" sz="half" idx="10"/>
          </p:nvPr>
        </p:nvSpPr>
        <p:spPr/>
        <p:txBody>
          <a:bodyPr/>
          <a:lstStyle/>
          <a:p>
            <a:fld id="{0C832E35-374F-4C89-A8C0-6460C1034341}" type="datetimeFigureOut">
              <a:rPr lang="es-BO" smtClean="0"/>
              <a:t>24/10/2021</a:t>
            </a:fld>
            <a:endParaRPr lang="es-BO"/>
          </a:p>
        </p:txBody>
      </p:sp>
      <p:sp>
        <p:nvSpPr>
          <p:cNvPr id="5" name="Footer Placeholder 4"/>
          <p:cNvSpPr>
            <a:spLocks noGrp="1"/>
          </p:cNvSpPr>
          <p:nvPr>
            <p:ph type="ftr" sz="quarter" idx="11"/>
          </p:nvPr>
        </p:nvSpPr>
        <p:spPr/>
        <p:txBody>
          <a:bodyPr/>
          <a:lstStyle/>
          <a:p>
            <a:endParaRPr lang="es-BO"/>
          </a:p>
        </p:txBody>
      </p:sp>
      <p:sp>
        <p:nvSpPr>
          <p:cNvPr id="6" name="Slide Number Placeholder 5"/>
          <p:cNvSpPr>
            <a:spLocks noGrp="1"/>
          </p:cNvSpPr>
          <p:nvPr>
            <p:ph type="sldNum" sz="quarter" idx="12"/>
          </p:nvPr>
        </p:nvSpPr>
        <p:spPr/>
        <p:txBody>
          <a:bodyPr/>
          <a:lstStyle/>
          <a:p>
            <a:fld id="{5603E5D4-2952-4502-B34C-11FA4819703A}" type="slidenum">
              <a:rPr lang="es-BO" smtClean="0"/>
              <a:t>‹Nº›</a:t>
            </a:fld>
            <a:endParaRPr lang="es-BO"/>
          </a:p>
        </p:txBody>
      </p:sp>
    </p:spTree>
    <p:extLst>
      <p:ext uri="{BB962C8B-B14F-4D97-AF65-F5344CB8AC3E}">
        <p14:creationId xmlns:p14="http://schemas.microsoft.com/office/powerpoint/2010/main" val="331871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Content Placeholder 2"/>
          <p:cNvSpPr>
            <a:spLocks noGrp="1"/>
          </p:cNvSpPr>
          <p:nvPr>
            <p:ph sz="half" idx="1"/>
          </p:nvPr>
        </p:nvSpPr>
        <p:spPr>
          <a:xfrm>
            <a:off x="684211" y="685800"/>
            <a:ext cx="4937655" cy="3615267"/>
          </a:xfrm>
        </p:spPr>
        <p:txBody>
          <a:bodyPr>
            <a:normAutofit/>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Content Placeholder 3"/>
          <p:cNvSpPr>
            <a:spLocks noGrp="1"/>
          </p:cNvSpPr>
          <p:nvPr>
            <p:ph sz="half" idx="2"/>
          </p:nvPr>
        </p:nvSpPr>
        <p:spPr>
          <a:xfrm>
            <a:off x="5808133" y="685801"/>
            <a:ext cx="4934479" cy="3615266"/>
          </a:xfrm>
        </p:spPr>
        <p:txBody>
          <a:bodyPr>
            <a:normAutofit/>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5" name="Date Placeholder 4"/>
          <p:cNvSpPr>
            <a:spLocks noGrp="1"/>
          </p:cNvSpPr>
          <p:nvPr>
            <p:ph type="dt" sz="half" idx="10"/>
          </p:nvPr>
        </p:nvSpPr>
        <p:spPr/>
        <p:txBody>
          <a:bodyPr/>
          <a:lstStyle/>
          <a:p>
            <a:fld id="{0C832E35-374F-4C89-A8C0-6460C1034341}" type="datetimeFigureOut">
              <a:rPr lang="es-BO" smtClean="0"/>
              <a:t>24/10/2021</a:t>
            </a:fld>
            <a:endParaRPr lang="es-BO"/>
          </a:p>
        </p:txBody>
      </p:sp>
      <p:sp>
        <p:nvSpPr>
          <p:cNvPr id="6" name="Footer Placeholder 5"/>
          <p:cNvSpPr>
            <a:spLocks noGrp="1"/>
          </p:cNvSpPr>
          <p:nvPr>
            <p:ph type="ftr" sz="quarter" idx="11"/>
          </p:nvPr>
        </p:nvSpPr>
        <p:spPr/>
        <p:txBody>
          <a:bodyPr/>
          <a:lstStyle/>
          <a:p>
            <a:endParaRPr lang="es-BO"/>
          </a:p>
        </p:txBody>
      </p:sp>
      <p:sp>
        <p:nvSpPr>
          <p:cNvPr id="7" name="Slide Number Placeholder 6"/>
          <p:cNvSpPr>
            <a:spLocks noGrp="1"/>
          </p:cNvSpPr>
          <p:nvPr>
            <p:ph type="sldNum" sz="quarter" idx="12"/>
          </p:nvPr>
        </p:nvSpPr>
        <p:spPr/>
        <p:txBody>
          <a:bodyPr/>
          <a:lstStyle/>
          <a:p>
            <a:fld id="{5603E5D4-2952-4502-B34C-11FA4819703A}" type="slidenum">
              <a:rPr lang="es-BO" smtClean="0"/>
              <a:t>‹Nº›</a:t>
            </a:fld>
            <a:endParaRPr lang="es-BO"/>
          </a:p>
        </p:txBody>
      </p:sp>
    </p:spTree>
    <p:extLst>
      <p:ext uri="{BB962C8B-B14F-4D97-AF65-F5344CB8AC3E}">
        <p14:creationId xmlns:p14="http://schemas.microsoft.com/office/powerpoint/2010/main" val="9215726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972080" y="685800"/>
            <a:ext cx="4649787"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4" name="Content Placeholder 3"/>
          <p:cNvSpPr>
            <a:spLocks noGrp="1"/>
          </p:cNvSpPr>
          <p:nvPr>
            <p:ph sz="half" idx="2"/>
          </p:nvPr>
        </p:nvSpPr>
        <p:spPr>
          <a:xfrm>
            <a:off x="684211" y="1270529"/>
            <a:ext cx="4937655" cy="3030538"/>
          </a:xfrm>
        </p:spPr>
        <p:txBody>
          <a:bodyPr anchor="t">
            <a:normAutofit/>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5" name="Text Placeholder 4"/>
          <p:cNvSpPr>
            <a:spLocks noGrp="1"/>
          </p:cNvSpPr>
          <p:nvPr>
            <p:ph type="body" sz="quarter" idx="3"/>
          </p:nvPr>
        </p:nvSpPr>
        <p:spPr>
          <a:xfrm>
            <a:off x="6079066" y="685800"/>
            <a:ext cx="4665134"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6" name="Content Placeholder 5"/>
          <p:cNvSpPr>
            <a:spLocks noGrp="1"/>
          </p:cNvSpPr>
          <p:nvPr>
            <p:ph sz="quarter" idx="4"/>
          </p:nvPr>
        </p:nvSpPr>
        <p:spPr>
          <a:xfrm>
            <a:off x="5806545" y="1262062"/>
            <a:ext cx="4929188" cy="3030538"/>
          </a:xfrm>
        </p:spPr>
        <p:txBody>
          <a:bodyPr anchor="t">
            <a:normAutofit/>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7" name="Date Placeholder 6"/>
          <p:cNvSpPr>
            <a:spLocks noGrp="1"/>
          </p:cNvSpPr>
          <p:nvPr>
            <p:ph type="dt" sz="half" idx="10"/>
          </p:nvPr>
        </p:nvSpPr>
        <p:spPr/>
        <p:txBody>
          <a:bodyPr/>
          <a:lstStyle/>
          <a:p>
            <a:fld id="{0C832E35-374F-4C89-A8C0-6460C1034341}" type="datetimeFigureOut">
              <a:rPr lang="es-BO" smtClean="0"/>
              <a:t>24/10/2021</a:t>
            </a:fld>
            <a:endParaRPr lang="es-BO"/>
          </a:p>
        </p:txBody>
      </p:sp>
      <p:sp>
        <p:nvSpPr>
          <p:cNvPr id="8" name="Footer Placeholder 7"/>
          <p:cNvSpPr>
            <a:spLocks noGrp="1"/>
          </p:cNvSpPr>
          <p:nvPr>
            <p:ph type="ftr" sz="quarter" idx="11"/>
          </p:nvPr>
        </p:nvSpPr>
        <p:spPr/>
        <p:txBody>
          <a:bodyPr/>
          <a:lstStyle/>
          <a:p>
            <a:endParaRPr lang="es-BO"/>
          </a:p>
        </p:txBody>
      </p:sp>
      <p:sp>
        <p:nvSpPr>
          <p:cNvPr id="9" name="Slide Number Placeholder 8"/>
          <p:cNvSpPr>
            <a:spLocks noGrp="1"/>
          </p:cNvSpPr>
          <p:nvPr>
            <p:ph type="sldNum" sz="quarter" idx="12"/>
          </p:nvPr>
        </p:nvSpPr>
        <p:spPr/>
        <p:txBody>
          <a:bodyPr/>
          <a:lstStyle/>
          <a:p>
            <a:fld id="{5603E5D4-2952-4502-B34C-11FA4819703A}" type="slidenum">
              <a:rPr lang="es-BO" smtClean="0"/>
              <a:t>‹Nº›</a:t>
            </a:fld>
            <a:endParaRPr lang="es-BO"/>
          </a:p>
        </p:txBody>
      </p:sp>
    </p:spTree>
    <p:extLst>
      <p:ext uri="{BB962C8B-B14F-4D97-AF65-F5344CB8AC3E}">
        <p14:creationId xmlns:p14="http://schemas.microsoft.com/office/powerpoint/2010/main" val="27111677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Date Placeholder 2"/>
          <p:cNvSpPr>
            <a:spLocks noGrp="1"/>
          </p:cNvSpPr>
          <p:nvPr>
            <p:ph type="dt" sz="half" idx="10"/>
          </p:nvPr>
        </p:nvSpPr>
        <p:spPr/>
        <p:txBody>
          <a:bodyPr/>
          <a:lstStyle/>
          <a:p>
            <a:fld id="{0C832E35-374F-4C89-A8C0-6460C1034341}" type="datetimeFigureOut">
              <a:rPr lang="es-BO" smtClean="0"/>
              <a:t>24/10/2021</a:t>
            </a:fld>
            <a:endParaRPr lang="es-BO"/>
          </a:p>
        </p:txBody>
      </p:sp>
      <p:sp>
        <p:nvSpPr>
          <p:cNvPr id="4" name="Footer Placeholder 3"/>
          <p:cNvSpPr>
            <a:spLocks noGrp="1"/>
          </p:cNvSpPr>
          <p:nvPr>
            <p:ph type="ftr" sz="quarter" idx="11"/>
          </p:nvPr>
        </p:nvSpPr>
        <p:spPr/>
        <p:txBody>
          <a:bodyPr/>
          <a:lstStyle/>
          <a:p>
            <a:endParaRPr lang="es-BO"/>
          </a:p>
        </p:txBody>
      </p:sp>
      <p:sp>
        <p:nvSpPr>
          <p:cNvPr id="5" name="Slide Number Placeholder 4"/>
          <p:cNvSpPr>
            <a:spLocks noGrp="1"/>
          </p:cNvSpPr>
          <p:nvPr>
            <p:ph type="sldNum" sz="quarter" idx="12"/>
          </p:nvPr>
        </p:nvSpPr>
        <p:spPr/>
        <p:txBody>
          <a:bodyPr/>
          <a:lstStyle/>
          <a:p>
            <a:fld id="{5603E5D4-2952-4502-B34C-11FA4819703A}" type="slidenum">
              <a:rPr lang="es-BO" smtClean="0"/>
              <a:t>‹Nº›</a:t>
            </a:fld>
            <a:endParaRPr lang="es-BO"/>
          </a:p>
        </p:txBody>
      </p:sp>
    </p:spTree>
    <p:extLst>
      <p:ext uri="{BB962C8B-B14F-4D97-AF65-F5344CB8AC3E}">
        <p14:creationId xmlns:p14="http://schemas.microsoft.com/office/powerpoint/2010/main" val="21875129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C832E35-374F-4C89-A8C0-6460C1034341}" type="datetimeFigureOut">
              <a:rPr lang="es-BO" smtClean="0"/>
              <a:t>24/10/2021</a:t>
            </a:fld>
            <a:endParaRPr lang="es-BO"/>
          </a:p>
        </p:txBody>
      </p:sp>
      <p:sp>
        <p:nvSpPr>
          <p:cNvPr id="3" name="Footer Placeholder 2"/>
          <p:cNvSpPr>
            <a:spLocks noGrp="1"/>
          </p:cNvSpPr>
          <p:nvPr>
            <p:ph type="ftr" sz="quarter" idx="11"/>
          </p:nvPr>
        </p:nvSpPr>
        <p:spPr/>
        <p:txBody>
          <a:bodyPr/>
          <a:lstStyle/>
          <a:p>
            <a:endParaRPr lang="es-BO"/>
          </a:p>
        </p:txBody>
      </p:sp>
      <p:sp>
        <p:nvSpPr>
          <p:cNvPr id="4" name="Slide Number Placeholder 3"/>
          <p:cNvSpPr>
            <a:spLocks noGrp="1"/>
          </p:cNvSpPr>
          <p:nvPr>
            <p:ph type="sldNum" sz="quarter" idx="12"/>
          </p:nvPr>
        </p:nvSpPr>
        <p:spPr/>
        <p:txBody>
          <a:bodyPr/>
          <a:lstStyle/>
          <a:p>
            <a:fld id="{5603E5D4-2952-4502-B34C-11FA4819703A}" type="slidenum">
              <a:rPr lang="es-BO" smtClean="0"/>
              <a:t>‹Nº›</a:t>
            </a:fld>
            <a:endParaRPr lang="es-BO"/>
          </a:p>
        </p:txBody>
      </p:sp>
    </p:spTree>
    <p:extLst>
      <p:ext uri="{BB962C8B-B14F-4D97-AF65-F5344CB8AC3E}">
        <p14:creationId xmlns:p14="http://schemas.microsoft.com/office/powerpoint/2010/main" val="25207168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7085012" y="685800"/>
            <a:ext cx="3657600" cy="1371600"/>
          </a:xfrm>
        </p:spPr>
        <p:txBody>
          <a:bodyPr anchor="b">
            <a:normAutofit/>
          </a:bodyPr>
          <a:lstStyle>
            <a:lvl1pPr algn="l">
              <a:defRPr sz="2400" b="0"/>
            </a:lvl1pPr>
          </a:lstStyle>
          <a:p>
            <a:r>
              <a:rPr lang="es-ES" smtClean="0"/>
              <a:t>Haga clic para modificar el estilo de título del patrón</a:t>
            </a:r>
            <a:endParaRPr lang="en-US" dirty="0"/>
          </a:p>
        </p:txBody>
      </p:sp>
      <p:sp>
        <p:nvSpPr>
          <p:cNvPr id="3" name="Content Placeholder 2"/>
          <p:cNvSpPr>
            <a:spLocks noGrp="1"/>
          </p:cNvSpPr>
          <p:nvPr>
            <p:ph idx="1"/>
          </p:nvPr>
        </p:nvSpPr>
        <p:spPr>
          <a:xfrm>
            <a:off x="684212" y="685800"/>
            <a:ext cx="5943601" cy="5308600"/>
          </a:xfrm>
        </p:spPr>
        <p:txBody>
          <a:bodyPr anchor="ctr">
            <a:normAutofit/>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Text Placeholder 3"/>
          <p:cNvSpPr>
            <a:spLocks noGrp="1"/>
          </p:cNvSpPr>
          <p:nvPr>
            <p:ph type="body" sz="half" idx="2"/>
          </p:nvPr>
        </p:nvSpPr>
        <p:spPr>
          <a:xfrm>
            <a:off x="7085012" y="2209799"/>
            <a:ext cx="3657600" cy="2091267"/>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Editar el estilo de texto del patrón</a:t>
            </a:r>
          </a:p>
        </p:txBody>
      </p:sp>
      <p:sp>
        <p:nvSpPr>
          <p:cNvPr id="5" name="Date Placeholder 4"/>
          <p:cNvSpPr>
            <a:spLocks noGrp="1"/>
          </p:cNvSpPr>
          <p:nvPr>
            <p:ph type="dt" sz="half" idx="10"/>
          </p:nvPr>
        </p:nvSpPr>
        <p:spPr/>
        <p:txBody>
          <a:bodyPr/>
          <a:lstStyle/>
          <a:p>
            <a:fld id="{0C832E35-374F-4C89-A8C0-6460C1034341}" type="datetimeFigureOut">
              <a:rPr lang="es-BO" smtClean="0"/>
              <a:t>24/10/2021</a:t>
            </a:fld>
            <a:endParaRPr lang="es-BO"/>
          </a:p>
        </p:txBody>
      </p:sp>
      <p:sp>
        <p:nvSpPr>
          <p:cNvPr id="6" name="Footer Placeholder 5"/>
          <p:cNvSpPr>
            <a:spLocks noGrp="1"/>
          </p:cNvSpPr>
          <p:nvPr>
            <p:ph type="ftr" sz="quarter" idx="11"/>
          </p:nvPr>
        </p:nvSpPr>
        <p:spPr/>
        <p:txBody>
          <a:bodyPr/>
          <a:lstStyle/>
          <a:p>
            <a:endParaRPr lang="es-BO"/>
          </a:p>
        </p:txBody>
      </p:sp>
      <p:sp>
        <p:nvSpPr>
          <p:cNvPr id="7" name="Slide Number Placeholder 6"/>
          <p:cNvSpPr>
            <a:spLocks noGrp="1"/>
          </p:cNvSpPr>
          <p:nvPr>
            <p:ph type="sldNum" sz="quarter" idx="12"/>
          </p:nvPr>
        </p:nvSpPr>
        <p:spPr/>
        <p:txBody>
          <a:bodyPr/>
          <a:lstStyle/>
          <a:p>
            <a:fld id="{5603E5D4-2952-4502-B34C-11FA4819703A}" type="slidenum">
              <a:rPr lang="es-BO" smtClean="0"/>
              <a:t>‹Nº›</a:t>
            </a:fld>
            <a:endParaRPr lang="es-BO"/>
          </a:p>
        </p:txBody>
      </p:sp>
    </p:spTree>
    <p:extLst>
      <p:ext uri="{BB962C8B-B14F-4D97-AF65-F5344CB8AC3E}">
        <p14:creationId xmlns:p14="http://schemas.microsoft.com/office/powerpoint/2010/main" val="19753038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4722812" y="1447800"/>
            <a:ext cx="6019800" cy="1143000"/>
          </a:xfrm>
        </p:spPr>
        <p:txBody>
          <a:bodyPr anchor="b">
            <a:normAutofit/>
          </a:bodyPr>
          <a:lstStyle>
            <a:lvl1pPr algn="l">
              <a:defRPr sz="2800" b="0"/>
            </a:lvl1pPr>
          </a:lstStyle>
          <a:p>
            <a:r>
              <a:rPr lang="es-ES" smtClean="0"/>
              <a:t>Haga clic para modificar el estilo de título del patrón</a:t>
            </a:r>
            <a:endParaRPr lang="en-US" dirty="0"/>
          </a:p>
        </p:txBody>
      </p:sp>
      <p:sp>
        <p:nvSpPr>
          <p:cNvPr id="14" name="Picture Placeholder 2"/>
          <p:cNvSpPr>
            <a:spLocks noGrp="1" noChangeAspect="1"/>
          </p:cNvSpPr>
          <p:nvPr>
            <p:ph type="pic" idx="1"/>
          </p:nvPr>
        </p:nvSpPr>
        <p:spPr>
          <a:xfrm>
            <a:off x="989012" y="914400"/>
            <a:ext cx="3280974" cy="45720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smtClean="0"/>
              <a:t>Haga clic en el icono para agregar una imagen</a:t>
            </a:r>
            <a:endParaRPr lang="en-US" dirty="0"/>
          </a:p>
        </p:txBody>
      </p:sp>
      <p:sp>
        <p:nvSpPr>
          <p:cNvPr id="4" name="Text Placeholder 3"/>
          <p:cNvSpPr>
            <a:spLocks noGrp="1"/>
          </p:cNvSpPr>
          <p:nvPr>
            <p:ph type="body" sz="half" idx="2"/>
          </p:nvPr>
        </p:nvSpPr>
        <p:spPr>
          <a:xfrm>
            <a:off x="4722812" y="2777066"/>
            <a:ext cx="6021388" cy="2048933"/>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Editar el estilo de texto del patrón</a:t>
            </a:r>
          </a:p>
        </p:txBody>
      </p:sp>
      <p:sp>
        <p:nvSpPr>
          <p:cNvPr id="5" name="Date Placeholder 4"/>
          <p:cNvSpPr>
            <a:spLocks noGrp="1"/>
          </p:cNvSpPr>
          <p:nvPr>
            <p:ph type="dt" sz="half" idx="10"/>
          </p:nvPr>
        </p:nvSpPr>
        <p:spPr/>
        <p:txBody>
          <a:bodyPr/>
          <a:lstStyle/>
          <a:p>
            <a:fld id="{0C832E35-374F-4C89-A8C0-6460C1034341}" type="datetimeFigureOut">
              <a:rPr lang="es-BO" smtClean="0"/>
              <a:t>24/10/2021</a:t>
            </a:fld>
            <a:endParaRPr lang="es-BO"/>
          </a:p>
        </p:txBody>
      </p:sp>
      <p:sp>
        <p:nvSpPr>
          <p:cNvPr id="6" name="Footer Placeholder 5"/>
          <p:cNvSpPr>
            <a:spLocks noGrp="1"/>
          </p:cNvSpPr>
          <p:nvPr>
            <p:ph type="ftr" sz="quarter" idx="11"/>
          </p:nvPr>
        </p:nvSpPr>
        <p:spPr/>
        <p:txBody>
          <a:bodyPr/>
          <a:lstStyle/>
          <a:p>
            <a:endParaRPr lang="es-BO"/>
          </a:p>
        </p:txBody>
      </p:sp>
      <p:sp>
        <p:nvSpPr>
          <p:cNvPr id="7" name="Slide Number Placeholder 6"/>
          <p:cNvSpPr>
            <a:spLocks noGrp="1"/>
          </p:cNvSpPr>
          <p:nvPr>
            <p:ph type="sldNum" sz="quarter" idx="12"/>
          </p:nvPr>
        </p:nvSpPr>
        <p:spPr/>
        <p:txBody>
          <a:bodyPr/>
          <a:lstStyle/>
          <a:p>
            <a:fld id="{5603E5D4-2952-4502-B34C-11FA4819703A}" type="slidenum">
              <a:rPr lang="es-BO" smtClean="0"/>
              <a:t>‹Nº›</a:t>
            </a:fld>
            <a:endParaRPr lang="es-BO"/>
          </a:p>
        </p:txBody>
      </p:sp>
    </p:spTree>
    <p:extLst>
      <p:ext uri="{BB962C8B-B14F-4D97-AF65-F5344CB8AC3E}">
        <p14:creationId xmlns:p14="http://schemas.microsoft.com/office/powerpoint/2010/main" val="2206200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n panorámica con descrip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17" name="Picture Placeholder 2"/>
          <p:cNvSpPr>
            <a:spLocks noGrp="1" noChangeAspect="1"/>
          </p:cNvSpPr>
          <p:nvPr>
            <p:ph type="pic" idx="13"/>
          </p:nvPr>
        </p:nvSpPr>
        <p:spPr>
          <a:xfrm>
            <a:off x="685800" y="533400"/>
            <a:ext cx="10818812" cy="31242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smtClean="0"/>
              <a:t>Haga clic en el icono para agregar una imagen</a:t>
            </a:r>
            <a:endParaRPr lang="en-US" dirty="0"/>
          </a:p>
        </p:txBody>
      </p:sp>
      <p:sp>
        <p:nvSpPr>
          <p:cNvPr id="16" name="Text Placeholder 9"/>
          <p:cNvSpPr>
            <a:spLocks noGrp="1"/>
          </p:cNvSpPr>
          <p:nvPr>
            <p:ph type="body" sz="quarter" idx="14"/>
          </p:nvPr>
        </p:nvSpPr>
        <p:spPr>
          <a:xfrm>
            <a:off x="914402" y="3843867"/>
            <a:ext cx="8304210" cy="457200"/>
          </a:xfrm>
        </p:spPr>
        <p:txBody>
          <a:bodyPr anchor="t">
            <a:norm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smtClean="0"/>
              <a:t>Editar el estilo de texto del patrón</a:t>
            </a:r>
          </a:p>
        </p:txBody>
      </p:sp>
      <p:sp>
        <p:nvSpPr>
          <p:cNvPr id="3" name="Date Placeholder 2"/>
          <p:cNvSpPr>
            <a:spLocks noGrp="1"/>
          </p:cNvSpPr>
          <p:nvPr>
            <p:ph type="dt" sz="half" idx="10"/>
          </p:nvPr>
        </p:nvSpPr>
        <p:spPr/>
        <p:txBody>
          <a:bodyPr/>
          <a:lstStyle/>
          <a:p>
            <a:fld id="{0C832E35-374F-4C89-A8C0-6460C1034341}" type="datetimeFigureOut">
              <a:rPr lang="es-BO" smtClean="0"/>
              <a:t>24/10/2021</a:t>
            </a:fld>
            <a:endParaRPr lang="es-BO"/>
          </a:p>
        </p:txBody>
      </p:sp>
      <p:sp>
        <p:nvSpPr>
          <p:cNvPr id="4" name="Footer Placeholder 3"/>
          <p:cNvSpPr>
            <a:spLocks noGrp="1"/>
          </p:cNvSpPr>
          <p:nvPr>
            <p:ph type="ftr" sz="quarter" idx="11"/>
          </p:nvPr>
        </p:nvSpPr>
        <p:spPr/>
        <p:txBody>
          <a:bodyPr/>
          <a:lstStyle/>
          <a:p>
            <a:endParaRPr lang="es-BO"/>
          </a:p>
        </p:txBody>
      </p:sp>
      <p:sp>
        <p:nvSpPr>
          <p:cNvPr id="5" name="Slide Number Placeholder 4"/>
          <p:cNvSpPr>
            <a:spLocks noGrp="1"/>
          </p:cNvSpPr>
          <p:nvPr>
            <p:ph type="sldNum" sz="quarter" idx="12"/>
          </p:nvPr>
        </p:nvSpPr>
        <p:spPr/>
        <p:txBody>
          <a:bodyPr/>
          <a:lstStyle/>
          <a:p>
            <a:fld id="{5603E5D4-2952-4502-B34C-11FA4819703A}" type="slidenum">
              <a:rPr lang="es-BO" smtClean="0"/>
              <a:t>‹Nº›</a:t>
            </a:fld>
            <a:endParaRPr lang="es-BO"/>
          </a:p>
        </p:txBody>
      </p:sp>
    </p:spTree>
    <p:extLst>
      <p:ext uri="{BB962C8B-B14F-4D97-AF65-F5344CB8AC3E}">
        <p14:creationId xmlns:p14="http://schemas.microsoft.com/office/powerpoint/2010/main" val="36800752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anchor="ctr">
            <a:normAutofit/>
          </a:bodyPr>
          <a:lstStyle>
            <a:lvl1pPr algn="l">
              <a:defRPr sz="3200" b="0" cap="all"/>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684212" y="4114800"/>
            <a:ext cx="8535988" cy="1879600"/>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Editar el estilo de texto del patrón</a:t>
            </a:r>
          </a:p>
        </p:txBody>
      </p:sp>
      <p:sp>
        <p:nvSpPr>
          <p:cNvPr id="4" name="Date Placeholder 3"/>
          <p:cNvSpPr>
            <a:spLocks noGrp="1"/>
          </p:cNvSpPr>
          <p:nvPr>
            <p:ph type="dt" sz="half" idx="10"/>
          </p:nvPr>
        </p:nvSpPr>
        <p:spPr/>
        <p:txBody>
          <a:bodyPr/>
          <a:lstStyle/>
          <a:p>
            <a:fld id="{0C832E35-374F-4C89-A8C0-6460C1034341}" type="datetimeFigureOut">
              <a:rPr lang="es-BO" smtClean="0"/>
              <a:t>24/10/2021</a:t>
            </a:fld>
            <a:endParaRPr lang="es-BO"/>
          </a:p>
        </p:txBody>
      </p:sp>
      <p:sp>
        <p:nvSpPr>
          <p:cNvPr id="5" name="Footer Placeholder 4"/>
          <p:cNvSpPr>
            <a:spLocks noGrp="1"/>
          </p:cNvSpPr>
          <p:nvPr>
            <p:ph type="ftr" sz="quarter" idx="11"/>
          </p:nvPr>
        </p:nvSpPr>
        <p:spPr/>
        <p:txBody>
          <a:bodyPr/>
          <a:lstStyle/>
          <a:p>
            <a:endParaRPr lang="es-BO"/>
          </a:p>
        </p:txBody>
      </p:sp>
      <p:sp>
        <p:nvSpPr>
          <p:cNvPr id="6" name="Slide Number Placeholder 5"/>
          <p:cNvSpPr>
            <a:spLocks noGrp="1"/>
          </p:cNvSpPr>
          <p:nvPr>
            <p:ph type="sldNum" sz="quarter" idx="12"/>
          </p:nvPr>
        </p:nvSpPr>
        <p:spPr/>
        <p:txBody>
          <a:bodyPr/>
          <a:lstStyle/>
          <a:p>
            <a:fld id="{5603E5D4-2952-4502-B34C-11FA4819703A}" type="slidenum">
              <a:rPr lang="es-BO" smtClean="0"/>
              <a:t>‹Nº›</a:t>
            </a:fld>
            <a:endParaRPr lang="es-BO"/>
          </a:p>
        </p:txBody>
      </p:sp>
    </p:spTree>
    <p:extLst>
      <p:ext uri="{BB962C8B-B14F-4D97-AF65-F5344CB8AC3E}">
        <p14:creationId xmlns:p14="http://schemas.microsoft.com/office/powerpoint/2010/main" val="26733582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141411" y="685800"/>
            <a:ext cx="9144001" cy="2743200"/>
          </a:xfrm>
        </p:spPr>
        <p:txBody>
          <a:bodyPr anchor="ctr">
            <a:normAutofit/>
          </a:bodyPr>
          <a:lstStyle>
            <a:lvl1pPr algn="l">
              <a:defRPr sz="3200" b="0" cap="all">
                <a:solidFill>
                  <a:schemeClr val="tx1"/>
                </a:solidFill>
              </a:defRPr>
            </a:lvl1pPr>
          </a:lstStyle>
          <a:p>
            <a:r>
              <a:rPr lang="es-ES" smtClean="0"/>
              <a:t>Haga clic para modificar el estilo de título del patrón</a:t>
            </a:r>
            <a:endParaRPr lang="en-US" dirty="0"/>
          </a:p>
        </p:txBody>
      </p:sp>
      <p:sp>
        <p:nvSpPr>
          <p:cNvPr id="10" name="Text Placeholder 9"/>
          <p:cNvSpPr>
            <a:spLocks noGrp="1"/>
          </p:cNvSpPr>
          <p:nvPr>
            <p:ph type="body" sz="quarter" idx="13"/>
          </p:nvPr>
        </p:nvSpPr>
        <p:spPr>
          <a:xfrm>
            <a:off x="1446212" y="3429000"/>
            <a:ext cx="8534400"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smtClean="0"/>
              <a:t>Editar el estilo de texto del patrón</a:t>
            </a:r>
          </a:p>
        </p:txBody>
      </p:sp>
      <p:sp>
        <p:nvSpPr>
          <p:cNvPr id="3" name="Text Placeholder 2"/>
          <p:cNvSpPr>
            <a:spLocks noGrp="1"/>
          </p:cNvSpPr>
          <p:nvPr>
            <p:ph type="body" idx="1"/>
          </p:nvPr>
        </p:nvSpPr>
        <p:spPr>
          <a:xfrm>
            <a:off x="684213" y="4301067"/>
            <a:ext cx="8534400" cy="1684865"/>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Editar el estilo de texto del patrón</a:t>
            </a:r>
          </a:p>
        </p:txBody>
      </p:sp>
      <p:sp>
        <p:nvSpPr>
          <p:cNvPr id="4" name="Date Placeholder 3"/>
          <p:cNvSpPr>
            <a:spLocks noGrp="1"/>
          </p:cNvSpPr>
          <p:nvPr>
            <p:ph type="dt" sz="half" idx="10"/>
          </p:nvPr>
        </p:nvSpPr>
        <p:spPr/>
        <p:txBody>
          <a:bodyPr/>
          <a:lstStyle/>
          <a:p>
            <a:fld id="{0C832E35-374F-4C89-A8C0-6460C1034341}" type="datetimeFigureOut">
              <a:rPr lang="es-BO" smtClean="0"/>
              <a:t>24/10/2021</a:t>
            </a:fld>
            <a:endParaRPr lang="es-BO"/>
          </a:p>
        </p:txBody>
      </p:sp>
      <p:sp>
        <p:nvSpPr>
          <p:cNvPr id="5" name="Footer Placeholder 4"/>
          <p:cNvSpPr>
            <a:spLocks noGrp="1"/>
          </p:cNvSpPr>
          <p:nvPr>
            <p:ph type="ftr" sz="quarter" idx="11"/>
          </p:nvPr>
        </p:nvSpPr>
        <p:spPr/>
        <p:txBody>
          <a:bodyPr/>
          <a:lstStyle/>
          <a:p>
            <a:endParaRPr lang="es-BO"/>
          </a:p>
        </p:txBody>
      </p:sp>
      <p:sp>
        <p:nvSpPr>
          <p:cNvPr id="6" name="Slide Number Placeholder 5"/>
          <p:cNvSpPr>
            <a:spLocks noGrp="1"/>
          </p:cNvSpPr>
          <p:nvPr>
            <p:ph type="sldNum" sz="quarter" idx="12"/>
          </p:nvPr>
        </p:nvSpPr>
        <p:spPr/>
        <p:txBody>
          <a:bodyPr/>
          <a:lstStyle/>
          <a:p>
            <a:fld id="{5603E5D4-2952-4502-B34C-11FA4819703A}" type="slidenum">
              <a:rPr lang="es-BO" smtClean="0"/>
              <a:t>‹Nº›</a:t>
            </a:fld>
            <a:endParaRPr lang="es-BO"/>
          </a:p>
        </p:txBody>
      </p:sp>
      <p:sp>
        <p:nvSpPr>
          <p:cNvPr id="14" name="TextBox 13"/>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268141853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684212" y="3429000"/>
            <a:ext cx="8534400" cy="1697400"/>
          </a:xfrm>
        </p:spPr>
        <p:txBody>
          <a:bodyPr anchor="b">
            <a:normAutofit/>
          </a:bodyPr>
          <a:lstStyle>
            <a:lvl1pPr algn="l">
              <a:defRPr sz="3200" b="0" cap="all"/>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684211" y="5132981"/>
            <a:ext cx="8535990" cy="860400"/>
          </a:xfrm>
        </p:spPr>
        <p:txBody>
          <a:bodyPr anchor="t">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Editar el estilo de texto del patrón</a:t>
            </a:r>
          </a:p>
        </p:txBody>
      </p:sp>
      <p:sp>
        <p:nvSpPr>
          <p:cNvPr id="4" name="Date Placeholder 3"/>
          <p:cNvSpPr>
            <a:spLocks noGrp="1"/>
          </p:cNvSpPr>
          <p:nvPr>
            <p:ph type="dt" sz="half" idx="10"/>
          </p:nvPr>
        </p:nvSpPr>
        <p:spPr/>
        <p:txBody>
          <a:bodyPr/>
          <a:lstStyle/>
          <a:p>
            <a:fld id="{0C832E35-374F-4C89-A8C0-6460C1034341}" type="datetimeFigureOut">
              <a:rPr lang="es-BO" smtClean="0"/>
              <a:t>24/10/2021</a:t>
            </a:fld>
            <a:endParaRPr lang="es-BO"/>
          </a:p>
        </p:txBody>
      </p:sp>
      <p:sp>
        <p:nvSpPr>
          <p:cNvPr id="5" name="Footer Placeholder 4"/>
          <p:cNvSpPr>
            <a:spLocks noGrp="1"/>
          </p:cNvSpPr>
          <p:nvPr>
            <p:ph type="ftr" sz="quarter" idx="11"/>
          </p:nvPr>
        </p:nvSpPr>
        <p:spPr/>
        <p:txBody>
          <a:bodyPr/>
          <a:lstStyle/>
          <a:p>
            <a:endParaRPr lang="es-BO"/>
          </a:p>
        </p:txBody>
      </p:sp>
      <p:sp>
        <p:nvSpPr>
          <p:cNvPr id="6" name="Slide Number Placeholder 5"/>
          <p:cNvSpPr>
            <a:spLocks noGrp="1"/>
          </p:cNvSpPr>
          <p:nvPr>
            <p:ph type="sldNum" sz="quarter" idx="12"/>
          </p:nvPr>
        </p:nvSpPr>
        <p:spPr/>
        <p:txBody>
          <a:bodyPr/>
          <a:lstStyle/>
          <a:p>
            <a:fld id="{5603E5D4-2952-4502-B34C-11FA4819703A}" type="slidenum">
              <a:rPr lang="es-BO" smtClean="0"/>
              <a:t>‹Nº›</a:t>
            </a:fld>
            <a:endParaRPr lang="es-BO"/>
          </a:p>
        </p:txBody>
      </p:sp>
    </p:spTree>
    <p:extLst>
      <p:ext uri="{BB962C8B-B14F-4D97-AF65-F5344CB8AC3E}">
        <p14:creationId xmlns:p14="http://schemas.microsoft.com/office/powerpoint/2010/main" val="5674383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itar la 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1141413" y="685800"/>
            <a:ext cx="9144000" cy="2743200"/>
          </a:xfrm>
        </p:spPr>
        <p:txBody>
          <a:bodyPr anchor="ctr">
            <a:normAutofit/>
          </a:bodyPr>
          <a:lstStyle>
            <a:lvl1pPr algn="l">
              <a:defRPr sz="3200" b="0" cap="all">
                <a:solidFill>
                  <a:schemeClr val="tx1"/>
                </a:solidFill>
              </a:defRPr>
            </a:lvl1pPr>
          </a:lstStyle>
          <a:p>
            <a:r>
              <a:rPr lang="es-ES" smtClean="0"/>
              <a:t>Haga clic para modificar el estilo de título del patrón</a:t>
            </a:r>
            <a:endParaRPr lang="en-US" dirty="0"/>
          </a:p>
        </p:txBody>
      </p:sp>
      <p:sp>
        <p:nvSpPr>
          <p:cNvPr id="10" name="Text Placeholder 9"/>
          <p:cNvSpPr>
            <a:spLocks noGrp="1"/>
          </p:cNvSpPr>
          <p:nvPr>
            <p:ph type="body" sz="quarter" idx="13"/>
          </p:nvPr>
        </p:nvSpPr>
        <p:spPr>
          <a:xfrm>
            <a:off x="684212" y="3928534"/>
            <a:ext cx="8534401" cy="1049866"/>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s-ES" smtClean="0"/>
              <a:t>Editar el estilo de texto del patrón</a:t>
            </a:r>
          </a:p>
        </p:txBody>
      </p:sp>
      <p:sp>
        <p:nvSpPr>
          <p:cNvPr id="3" name="Text Placeholder 2"/>
          <p:cNvSpPr>
            <a:spLocks noGrp="1"/>
          </p:cNvSpPr>
          <p:nvPr>
            <p:ph type="body" idx="1"/>
          </p:nvPr>
        </p:nvSpPr>
        <p:spPr>
          <a:xfrm>
            <a:off x="684211" y="4978400"/>
            <a:ext cx="8534401" cy="10160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Editar el estilo de texto del patrón</a:t>
            </a:r>
          </a:p>
        </p:txBody>
      </p:sp>
      <p:sp>
        <p:nvSpPr>
          <p:cNvPr id="4" name="Date Placeholder 3"/>
          <p:cNvSpPr>
            <a:spLocks noGrp="1"/>
          </p:cNvSpPr>
          <p:nvPr>
            <p:ph type="dt" sz="half" idx="10"/>
          </p:nvPr>
        </p:nvSpPr>
        <p:spPr/>
        <p:txBody>
          <a:bodyPr/>
          <a:lstStyle/>
          <a:p>
            <a:fld id="{0C832E35-374F-4C89-A8C0-6460C1034341}" type="datetimeFigureOut">
              <a:rPr lang="es-BO" smtClean="0"/>
              <a:t>24/10/2021</a:t>
            </a:fld>
            <a:endParaRPr lang="es-BO"/>
          </a:p>
        </p:txBody>
      </p:sp>
      <p:sp>
        <p:nvSpPr>
          <p:cNvPr id="5" name="Footer Placeholder 4"/>
          <p:cNvSpPr>
            <a:spLocks noGrp="1"/>
          </p:cNvSpPr>
          <p:nvPr>
            <p:ph type="ftr" sz="quarter" idx="11"/>
          </p:nvPr>
        </p:nvSpPr>
        <p:spPr/>
        <p:txBody>
          <a:bodyPr/>
          <a:lstStyle/>
          <a:p>
            <a:endParaRPr lang="es-BO"/>
          </a:p>
        </p:txBody>
      </p:sp>
      <p:sp>
        <p:nvSpPr>
          <p:cNvPr id="6" name="Slide Number Placeholder 5"/>
          <p:cNvSpPr>
            <a:spLocks noGrp="1"/>
          </p:cNvSpPr>
          <p:nvPr>
            <p:ph type="sldNum" sz="quarter" idx="12"/>
          </p:nvPr>
        </p:nvSpPr>
        <p:spPr/>
        <p:txBody>
          <a:bodyPr/>
          <a:lstStyle/>
          <a:p>
            <a:fld id="{5603E5D4-2952-4502-B34C-11FA4819703A}" type="slidenum">
              <a:rPr lang="es-BO" smtClean="0"/>
              <a:t>‹Nº›</a:t>
            </a:fld>
            <a:endParaRPr lang="es-BO"/>
          </a:p>
        </p:txBody>
      </p:sp>
      <p:sp>
        <p:nvSpPr>
          <p:cNvPr id="11" name="TextBox 10"/>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2" name="TextBox 11"/>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169803397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Verdadero o falso">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vert="horz" lIns="91440" tIns="45720" rIns="91440" bIns="45720" rtlCol="0" anchor="ctr">
            <a:normAutofit/>
          </a:bodyPr>
          <a:lstStyle>
            <a:lvl1pPr>
              <a:defRPr lang="en-US" b="0" dirty="0"/>
            </a:lvl1pPr>
          </a:lstStyle>
          <a:p>
            <a:pPr marL="0" lvl="0"/>
            <a:r>
              <a:rPr lang="es-ES" smtClean="0"/>
              <a:t>Haga clic para modificar el estilo de título del patrón</a:t>
            </a:r>
            <a:endParaRPr lang="en-US" dirty="0"/>
          </a:p>
        </p:txBody>
      </p:sp>
      <p:sp>
        <p:nvSpPr>
          <p:cNvPr id="10" name="Text Placeholder 9"/>
          <p:cNvSpPr>
            <a:spLocks noGrp="1"/>
          </p:cNvSpPr>
          <p:nvPr>
            <p:ph type="body" sz="quarter" idx="13"/>
          </p:nvPr>
        </p:nvSpPr>
        <p:spPr>
          <a:xfrm>
            <a:off x="684212" y="3928534"/>
            <a:ext cx="8534400" cy="838200"/>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s-ES" smtClean="0"/>
              <a:t>Editar el estilo de texto del patrón</a:t>
            </a:r>
          </a:p>
        </p:txBody>
      </p:sp>
      <p:sp>
        <p:nvSpPr>
          <p:cNvPr id="3" name="Text Placeholder 2"/>
          <p:cNvSpPr>
            <a:spLocks noGrp="1"/>
          </p:cNvSpPr>
          <p:nvPr>
            <p:ph type="body" idx="1"/>
          </p:nvPr>
        </p:nvSpPr>
        <p:spPr>
          <a:xfrm>
            <a:off x="684211" y="4766732"/>
            <a:ext cx="8534401" cy="1227667"/>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Editar el estilo de texto del patrón</a:t>
            </a:r>
          </a:p>
        </p:txBody>
      </p:sp>
      <p:sp>
        <p:nvSpPr>
          <p:cNvPr id="4" name="Date Placeholder 3"/>
          <p:cNvSpPr>
            <a:spLocks noGrp="1"/>
          </p:cNvSpPr>
          <p:nvPr>
            <p:ph type="dt" sz="half" idx="10"/>
          </p:nvPr>
        </p:nvSpPr>
        <p:spPr/>
        <p:txBody>
          <a:bodyPr/>
          <a:lstStyle/>
          <a:p>
            <a:fld id="{0C832E35-374F-4C89-A8C0-6460C1034341}" type="datetimeFigureOut">
              <a:rPr lang="es-BO" smtClean="0"/>
              <a:t>24/10/2021</a:t>
            </a:fld>
            <a:endParaRPr lang="es-BO"/>
          </a:p>
        </p:txBody>
      </p:sp>
      <p:sp>
        <p:nvSpPr>
          <p:cNvPr id="5" name="Footer Placeholder 4"/>
          <p:cNvSpPr>
            <a:spLocks noGrp="1"/>
          </p:cNvSpPr>
          <p:nvPr>
            <p:ph type="ftr" sz="quarter" idx="11"/>
          </p:nvPr>
        </p:nvSpPr>
        <p:spPr/>
        <p:txBody>
          <a:bodyPr/>
          <a:lstStyle/>
          <a:p>
            <a:endParaRPr lang="es-BO"/>
          </a:p>
        </p:txBody>
      </p:sp>
      <p:sp>
        <p:nvSpPr>
          <p:cNvPr id="6" name="Slide Number Placeholder 5"/>
          <p:cNvSpPr>
            <a:spLocks noGrp="1"/>
          </p:cNvSpPr>
          <p:nvPr>
            <p:ph type="sldNum" sz="quarter" idx="12"/>
          </p:nvPr>
        </p:nvSpPr>
        <p:spPr/>
        <p:txBody>
          <a:bodyPr/>
          <a:lstStyle/>
          <a:p>
            <a:fld id="{5603E5D4-2952-4502-B34C-11FA4819703A}" type="slidenum">
              <a:rPr lang="es-BO" smtClean="0"/>
              <a:t>‹Nº›</a:t>
            </a:fld>
            <a:endParaRPr lang="es-BO"/>
          </a:p>
        </p:txBody>
      </p:sp>
    </p:spTree>
    <p:extLst>
      <p:ext uri="{BB962C8B-B14F-4D97-AF65-F5344CB8AC3E}">
        <p14:creationId xmlns:p14="http://schemas.microsoft.com/office/powerpoint/2010/main" val="113520769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s-ES" smtClean="0"/>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nchor="t"/>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0C832E35-374F-4C89-A8C0-6460C1034341}" type="datetimeFigureOut">
              <a:rPr lang="es-BO" smtClean="0"/>
              <a:t>24/10/2021</a:t>
            </a:fld>
            <a:endParaRPr lang="es-BO"/>
          </a:p>
        </p:txBody>
      </p:sp>
      <p:sp>
        <p:nvSpPr>
          <p:cNvPr id="5" name="Footer Placeholder 4"/>
          <p:cNvSpPr>
            <a:spLocks noGrp="1"/>
          </p:cNvSpPr>
          <p:nvPr>
            <p:ph type="ftr" sz="quarter" idx="11"/>
          </p:nvPr>
        </p:nvSpPr>
        <p:spPr/>
        <p:txBody>
          <a:bodyPr/>
          <a:lstStyle/>
          <a:p>
            <a:endParaRPr lang="es-BO"/>
          </a:p>
        </p:txBody>
      </p:sp>
      <p:sp>
        <p:nvSpPr>
          <p:cNvPr id="6" name="Slide Number Placeholder 5"/>
          <p:cNvSpPr>
            <a:spLocks noGrp="1"/>
          </p:cNvSpPr>
          <p:nvPr>
            <p:ph type="sldNum" sz="quarter" idx="12"/>
          </p:nvPr>
        </p:nvSpPr>
        <p:spPr/>
        <p:txBody>
          <a:bodyPr/>
          <a:lstStyle/>
          <a:p>
            <a:fld id="{5603E5D4-2952-4502-B34C-11FA4819703A}" type="slidenum">
              <a:rPr lang="es-BO" smtClean="0"/>
              <a:t>‹Nº›</a:t>
            </a:fld>
            <a:endParaRPr lang="es-BO"/>
          </a:p>
        </p:txBody>
      </p:sp>
    </p:spTree>
    <p:extLst>
      <p:ext uri="{BB962C8B-B14F-4D97-AF65-F5344CB8AC3E}">
        <p14:creationId xmlns:p14="http://schemas.microsoft.com/office/powerpoint/2010/main" val="307578683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5212" y="685800"/>
            <a:ext cx="2057400" cy="4572000"/>
          </a:xfrm>
        </p:spPr>
        <p:txBody>
          <a:bodyPr vert="eaVert"/>
          <a:lstStyle/>
          <a:p>
            <a:r>
              <a:rPr lang="es-ES" smtClean="0"/>
              <a:t>Haga clic para modificar el estilo de título del patrón</a:t>
            </a:r>
            <a:endParaRPr lang="en-US" dirty="0"/>
          </a:p>
        </p:txBody>
      </p:sp>
      <p:sp>
        <p:nvSpPr>
          <p:cNvPr id="3" name="Vertical Text Placeholder 2"/>
          <p:cNvSpPr>
            <a:spLocks noGrp="1"/>
          </p:cNvSpPr>
          <p:nvPr>
            <p:ph type="body" orient="vert" idx="1"/>
          </p:nvPr>
        </p:nvSpPr>
        <p:spPr>
          <a:xfrm>
            <a:off x="685800" y="685800"/>
            <a:ext cx="7823200" cy="5308600"/>
          </a:xfrm>
        </p:spPr>
        <p:txBody>
          <a:bodyPr vert="eaVert" anchor="t"/>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0C832E35-374F-4C89-A8C0-6460C1034341}" type="datetimeFigureOut">
              <a:rPr lang="es-BO" smtClean="0"/>
              <a:t>24/10/2021</a:t>
            </a:fld>
            <a:endParaRPr lang="es-BO"/>
          </a:p>
        </p:txBody>
      </p:sp>
      <p:sp>
        <p:nvSpPr>
          <p:cNvPr id="5" name="Footer Placeholder 4"/>
          <p:cNvSpPr>
            <a:spLocks noGrp="1"/>
          </p:cNvSpPr>
          <p:nvPr>
            <p:ph type="ftr" sz="quarter" idx="11"/>
          </p:nvPr>
        </p:nvSpPr>
        <p:spPr/>
        <p:txBody>
          <a:bodyPr/>
          <a:lstStyle/>
          <a:p>
            <a:endParaRPr lang="es-BO"/>
          </a:p>
        </p:txBody>
      </p:sp>
      <p:sp>
        <p:nvSpPr>
          <p:cNvPr id="6" name="Slide Number Placeholder 5"/>
          <p:cNvSpPr>
            <a:spLocks noGrp="1"/>
          </p:cNvSpPr>
          <p:nvPr>
            <p:ph type="sldNum" sz="quarter" idx="12"/>
          </p:nvPr>
        </p:nvSpPr>
        <p:spPr/>
        <p:txBody>
          <a:bodyPr/>
          <a:lstStyle/>
          <a:p>
            <a:fld id="{5603E5D4-2952-4502-B34C-11FA4819703A}" type="slidenum">
              <a:rPr lang="es-BO" smtClean="0"/>
              <a:t>‹Nº›</a:t>
            </a:fld>
            <a:endParaRPr lang="es-BO"/>
          </a:p>
        </p:txBody>
      </p:sp>
    </p:spTree>
    <p:extLst>
      <p:ext uri="{BB962C8B-B14F-4D97-AF65-F5344CB8AC3E}">
        <p14:creationId xmlns:p14="http://schemas.microsoft.com/office/powerpoint/2010/main" val="4231060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7" name="Group 6"/>
          <p:cNvGrpSpPr/>
          <p:nvPr/>
        </p:nvGrpSpPr>
        <p:grpSpPr>
          <a:xfrm>
            <a:off x="9206969" y="2963333"/>
            <a:ext cx="2981858" cy="3208867"/>
            <a:chOff x="9206969" y="2963333"/>
            <a:chExt cx="2981858" cy="3208867"/>
          </a:xfrm>
        </p:grpSpPr>
        <p:cxnSp>
          <p:nvCxnSpPr>
            <p:cNvPr id="8" name="Straight Connector 7"/>
            <p:cNvCxnSpPr/>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p:ph type="title"/>
          </p:nvPr>
        </p:nvSpPr>
        <p:spPr>
          <a:xfrm>
            <a:off x="684212" y="4487332"/>
            <a:ext cx="8534400" cy="1507067"/>
          </a:xfrm>
          <a:prstGeom prst="rect">
            <a:avLst/>
          </a:prstGeom>
          <a:effectLst/>
        </p:spPr>
        <p:txBody>
          <a:bodyPr vert="horz" lIns="91440" tIns="45720" rIns="91440" bIns="45720" rtlCol="0" anchor="ctr">
            <a:normAutofit/>
          </a:body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684212" y="685800"/>
            <a:ext cx="8534400" cy="3615267"/>
          </a:xfrm>
          <a:prstGeom prst="rect">
            <a:avLst/>
          </a:prstGeom>
        </p:spPr>
        <p:txBody>
          <a:bodyPr vert="horz" lIns="91440" tIns="45720" rIns="91440" bIns="45720" rtlCol="0" anchor="ctr">
            <a:normAutofit/>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2"/>
          </p:nvPr>
        </p:nvSpPr>
        <p:spPr>
          <a:xfrm>
            <a:off x="9904412" y="6172200"/>
            <a:ext cx="1600200" cy="365125"/>
          </a:xfrm>
          <a:prstGeom prst="rect">
            <a:avLst/>
          </a:prstGeom>
        </p:spPr>
        <p:txBody>
          <a:bodyPr vert="horz" lIns="91440" tIns="45720" rIns="91440" bIns="45720" rtlCol="0" anchor="t"/>
          <a:lstStyle>
            <a:lvl1pPr algn="r">
              <a:defRPr sz="1000" b="0" i="0">
                <a:solidFill>
                  <a:schemeClr val="bg2">
                    <a:lumMod val="50000"/>
                  </a:schemeClr>
                </a:solidFill>
                <a:effectLst/>
                <a:latin typeface="+mn-lt"/>
              </a:defRPr>
            </a:lvl1pPr>
          </a:lstStyle>
          <a:p>
            <a:fld id="{0C832E35-374F-4C89-A8C0-6460C1034341}" type="datetimeFigureOut">
              <a:rPr lang="es-BO" smtClean="0"/>
              <a:t>24/10/2021</a:t>
            </a:fld>
            <a:endParaRPr lang="es-BO"/>
          </a:p>
        </p:txBody>
      </p:sp>
      <p:sp>
        <p:nvSpPr>
          <p:cNvPr id="5" name="Footer Placeholder 4"/>
          <p:cNvSpPr>
            <a:spLocks noGrp="1"/>
          </p:cNvSpPr>
          <p:nvPr>
            <p:ph type="ftr" sz="quarter" idx="3"/>
          </p:nvPr>
        </p:nvSpPr>
        <p:spPr>
          <a:xfrm>
            <a:off x="684212" y="6172200"/>
            <a:ext cx="7543800" cy="365125"/>
          </a:xfrm>
          <a:prstGeom prst="rect">
            <a:avLst/>
          </a:prstGeom>
        </p:spPr>
        <p:txBody>
          <a:bodyPr vert="horz" lIns="91440" tIns="45720" rIns="91440" bIns="45720" rtlCol="0" anchor="t"/>
          <a:lstStyle>
            <a:lvl1pPr algn="l">
              <a:defRPr sz="1000" b="0" i="0">
                <a:solidFill>
                  <a:schemeClr val="bg2">
                    <a:lumMod val="50000"/>
                  </a:schemeClr>
                </a:solidFill>
                <a:effectLst/>
                <a:latin typeface="+mn-lt"/>
              </a:defRPr>
            </a:lvl1pPr>
          </a:lstStyle>
          <a:p>
            <a:endParaRPr lang="es-BO"/>
          </a:p>
        </p:txBody>
      </p:sp>
      <p:sp>
        <p:nvSpPr>
          <p:cNvPr id="6" name="Slide Number Placeholder 5"/>
          <p:cNvSpPr>
            <a:spLocks noGrp="1"/>
          </p:cNvSpPr>
          <p:nvPr>
            <p:ph type="sldNum" sz="quarter" idx="4"/>
          </p:nvPr>
        </p:nvSpPr>
        <p:spPr>
          <a:xfrm>
            <a:off x="10363200" y="5578475"/>
            <a:ext cx="1142245" cy="669925"/>
          </a:xfrm>
          <a:prstGeom prst="rect">
            <a:avLst/>
          </a:prstGeom>
        </p:spPr>
        <p:txBody>
          <a:bodyPr vert="horz" lIns="91440" tIns="45720" rIns="91440" bIns="45720" rtlCol="0" anchor="b"/>
          <a:lstStyle>
            <a:lvl1pPr algn="r">
              <a:defRPr sz="3200" b="0" i="0">
                <a:solidFill>
                  <a:schemeClr val="bg2">
                    <a:lumMod val="50000"/>
                  </a:schemeClr>
                </a:solidFill>
                <a:effectLst/>
                <a:latin typeface="+mn-lt"/>
              </a:defRPr>
            </a:lvl1pPr>
          </a:lstStyle>
          <a:p>
            <a:fld id="{5603E5D4-2952-4502-B34C-11FA4819703A}" type="slidenum">
              <a:rPr lang="es-BO" smtClean="0"/>
              <a:t>‹Nº›</a:t>
            </a:fld>
            <a:endParaRPr lang="es-BO"/>
          </a:p>
        </p:txBody>
      </p:sp>
    </p:spTree>
    <p:extLst>
      <p:ext uri="{BB962C8B-B14F-4D97-AF65-F5344CB8AC3E}">
        <p14:creationId xmlns:p14="http://schemas.microsoft.com/office/powerpoint/2010/main" val="2975097404"/>
      </p:ext>
    </p:extLst>
  </p:cSld>
  <p:clrMap bg1="dk1" tx1="lt1" bg2="dk2" tx2="lt2" accent1="accent1" accent2="accent2" accent3="accent3" accent4="accent4" accent5="accent5" accent6="accent6" hlink="hlink" folHlink="folHlink"/>
  <p:sldLayoutIdLst>
    <p:sldLayoutId id="2147483743" r:id="rId1"/>
    <p:sldLayoutId id="2147483744" r:id="rId2"/>
    <p:sldLayoutId id="2147483745" r:id="rId3"/>
    <p:sldLayoutId id="2147483746" r:id="rId4"/>
    <p:sldLayoutId id="2147483747" r:id="rId5"/>
    <p:sldLayoutId id="2147483748" r:id="rId6"/>
    <p:sldLayoutId id="2147483749" r:id="rId7"/>
    <p:sldLayoutId id="2147483750" r:id="rId8"/>
    <p:sldLayoutId id="2147483751" r:id="rId9"/>
    <p:sldLayoutId id="2147483752" r:id="rId10"/>
    <p:sldLayoutId id="2147483753" r:id="rId11"/>
    <p:sldLayoutId id="2147483754" r:id="rId12"/>
    <p:sldLayoutId id="2147483755" r:id="rId13"/>
    <p:sldLayoutId id="2147483756" r:id="rId14"/>
    <p:sldLayoutId id="2147483757" r:id="rId15"/>
    <p:sldLayoutId id="2147483758" r:id="rId16"/>
    <p:sldLayoutId id="2147483759"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2000" kern="1200" cap="none">
          <a:solidFill>
            <a:schemeClr val="bg2">
              <a:lumMod val="7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800" kern="1200" cap="none">
          <a:solidFill>
            <a:schemeClr val="bg2">
              <a:lumMod val="7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600" kern="1200" cap="none">
          <a:solidFill>
            <a:schemeClr val="bg2">
              <a:lumMod val="7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5.xml"/><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image" Target="../media/image15.emf"/><Relationship Id="rId1" Type="http://schemas.openxmlformats.org/officeDocument/2006/relationships/slideLayout" Target="../slideLayouts/slideLayout15.xml"/><Relationship Id="rId4" Type="http://schemas.openxmlformats.org/officeDocument/2006/relationships/image" Target="../media/image17.emf"/></Relationships>
</file>

<file path=ppt/slides/_rels/slide2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emf"/><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15.xml"/></Relationships>
</file>

<file path=ppt/slides/_rels/slide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7.emf"/><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15.xml"/></Relationships>
</file>

<file path=ppt/slides/_rels/slide29.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15.xml"/></Relationships>
</file>

<file path=ppt/slides/_rels/slide30.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15.xml"/></Relationships>
</file>

<file path=ppt/slides/_rels/slide31.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15.xml"/></Relationships>
</file>

<file path=ppt/slides/_rels/slide3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6.emf"/><Relationship Id="rId1" Type="http://schemas.openxmlformats.org/officeDocument/2006/relationships/slideLayout" Target="../slideLayouts/slideLayout15.xml"/><Relationship Id="rId4" Type="http://schemas.openxmlformats.org/officeDocument/2006/relationships/image" Target="../media/image21.png"/></Relationships>
</file>

<file path=ppt/slides/_rels/slide3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6.emf"/><Relationship Id="rId1" Type="http://schemas.openxmlformats.org/officeDocument/2006/relationships/slideLayout" Target="../slideLayouts/slideLayout15.xml"/><Relationship Id="rId4" Type="http://schemas.openxmlformats.org/officeDocument/2006/relationships/image" Target="../media/image21.png"/></Relationships>
</file>

<file path=ppt/slides/_rels/slide34.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15.xml"/></Relationships>
</file>

<file path=ppt/slides/_rels/slide3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6.emf"/><Relationship Id="rId1" Type="http://schemas.openxmlformats.org/officeDocument/2006/relationships/slideLayout" Target="../slideLayouts/slideLayout15.xml"/></Relationships>
</file>

<file path=ppt/slides/_rels/slide3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6.emf"/><Relationship Id="rId1" Type="http://schemas.openxmlformats.org/officeDocument/2006/relationships/slideLayout" Target="../slideLayouts/slideLayout15.xml"/></Relationships>
</file>

<file path=ppt/slides/_rels/slide37.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15.xml"/></Relationships>
</file>

<file path=ppt/slides/_rels/slide3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6.emf"/><Relationship Id="rId1" Type="http://schemas.openxmlformats.org/officeDocument/2006/relationships/slideLayout" Target="../slideLayouts/slideLayout15.xml"/><Relationship Id="rId5" Type="http://schemas.openxmlformats.org/officeDocument/2006/relationships/image" Target="../media/image26.png"/><Relationship Id="rId4" Type="http://schemas.openxmlformats.org/officeDocument/2006/relationships/image" Target="../media/image25.png"/></Relationships>
</file>

<file path=ppt/slides/_rels/slide39.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1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p:cNvPicPr>
            <a:picLocks noChangeAspect="1"/>
          </p:cNvPicPr>
          <p:nvPr/>
        </p:nvPicPr>
        <p:blipFill>
          <a:blip r:embed="rId2"/>
          <a:stretch>
            <a:fillRect/>
          </a:stretch>
        </p:blipFill>
        <p:spPr>
          <a:xfrm>
            <a:off x="4910028" y="220187"/>
            <a:ext cx="2371944" cy="1714100"/>
          </a:xfrm>
          <a:prstGeom prst="rect">
            <a:avLst/>
          </a:prstGeom>
        </p:spPr>
      </p:pic>
      <p:sp>
        <p:nvSpPr>
          <p:cNvPr id="6" name="CuadroTexto 5"/>
          <p:cNvSpPr txBox="1"/>
          <p:nvPr/>
        </p:nvSpPr>
        <p:spPr>
          <a:xfrm>
            <a:off x="154745" y="3901900"/>
            <a:ext cx="12037255" cy="1384995"/>
          </a:xfrm>
          <a:prstGeom prst="rect">
            <a:avLst/>
          </a:prstGeom>
          <a:noFill/>
        </p:spPr>
        <p:txBody>
          <a:bodyPr wrap="square" rtlCol="0">
            <a:spAutoFit/>
          </a:bodyPr>
          <a:lstStyle/>
          <a:p>
            <a:pPr algn="ctr"/>
            <a:r>
              <a:rPr lang="es-BO" sz="4000" dirty="0" smtClean="0">
                <a:solidFill>
                  <a:srgbClr val="002060"/>
                </a:solidFill>
                <a:latin typeface="Maiandra GD" panose="020E0502030308020204" pitchFamily="34" charset="0"/>
              </a:rPr>
              <a:t>Modulo: Planificación y evaluación de proyectos</a:t>
            </a:r>
          </a:p>
          <a:p>
            <a:pPr algn="ctr"/>
            <a:r>
              <a:rPr lang="es-BO" sz="4400" dirty="0" smtClean="0">
                <a:solidFill>
                  <a:srgbClr val="002060"/>
                </a:solidFill>
                <a:latin typeface="Maiandra GD" panose="020E0502030308020204" pitchFamily="34" charset="0"/>
              </a:rPr>
              <a:t>Código: PEP-150</a:t>
            </a:r>
          </a:p>
        </p:txBody>
      </p:sp>
      <p:sp>
        <p:nvSpPr>
          <p:cNvPr id="7" name="CuadroTexto 6"/>
          <p:cNvSpPr txBox="1"/>
          <p:nvPr/>
        </p:nvSpPr>
        <p:spPr>
          <a:xfrm>
            <a:off x="3740021" y="6134913"/>
            <a:ext cx="5464992" cy="584775"/>
          </a:xfrm>
          <a:prstGeom prst="rect">
            <a:avLst/>
          </a:prstGeom>
          <a:noFill/>
        </p:spPr>
        <p:txBody>
          <a:bodyPr wrap="square" rtlCol="0">
            <a:spAutoFit/>
          </a:bodyPr>
          <a:lstStyle/>
          <a:p>
            <a:r>
              <a:rPr lang="es-BO" sz="3200" dirty="0" smtClean="0">
                <a:solidFill>
                  <a:schemeClr val="accent5">
                    <a:lumMod val="75000"/>
                  </a:schemeClr>
                </a:solidFill>
                <a:latin typeface="Maiandra GD" panose="020E0502030308020204" pitchFamily="34" charset="0"/>
              </a:rPr>
              <a:t>Docente: Ing. José C. Rojas P.</a:t>
            </a:r>
          </a:p>
        </p:txBody>
      </p:sp>
      <p:sp>
        <p:nvSpPr>
          <p:cNvPr id="9" name="CuadroTexto 8"/>
          <p:cNvSpPr txBox="1"/>
          <p:nvPr/>
        </p:nvSpPr>
        <p:spPr>
          <a:xfrm>
            <a:off x="1951449" y="2031341"/>
            <a:ext cx="8443846" cy="1446550"/>
          </a:xfrm>
          <a:prstGeom prst="rect">
            <a:avLst/>
          </a:prstGeom>
          <a:noFill/>
        </p:spPr>
        <p:txBody>
          <a:bodyPr wrap="square" rtlCol="0">
            <a:spAutoFit/>
          </a:bodyPr>
          <a:lstStyle/>
          <a:p>
            <a:pPr algn="ctr"/>
            <a:r>
              <a:rPr lang="es-BO" sz="4400" dirty="0" smtClean="0">
                <a:solidFill>
                  <a:srgbClr val="FFC000"/>
                </a:solidFill>
                <a:latin typeface="Maiandra GD" panose="020E0502030308020204" pitchFamily="34" charset="0"/>
              </a:rPr>
              <a:t>Carrera de Ingeniería de Sistemas</a:t>
            </a:r>
          </a:p>
          <a:p>
            <a:pPr algn="ctr"/>
            <a:r>
              <a:rPr lang="es-BO" sz="4400" dirty="0" smtClean="0">
                <a:solidFill>
                  <a:srgbClr val="FFC000"/>
                </a:solidFill>
                <a:latin typeface="Maiandra GD" panose="020E0502030308020204" pitchFamily="34" charset="0"/>
              </a:rPr>
              <a:t>Universidad Privada de Oruro</a:t>
            </a:r>
            <a:endParaRPr lang="es-BO" sz="4400" dirty="0">
              <a:solidFill>
                <a:srgbClr val="FFC000"/>
              </a:solidFill>
              <a:latin typeface="Maiandra GD" panose="020E0502030308020204" pitchFamily="34" charset="0"/>
            </a:endParaRPr>
          </a:p>
        </p:txBody>
      </p:sp>
    </p:spTree>
    <p:extLst>
      <p:ext uri="{BB962C8B-B14F-4D97-AF65-F5344CB8AC3E}">
        <p14:creationId xmlns:p14="http://schemas.microsoft.com/office/powerpoint/2010/main" val="23844823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p:cNvSpPr txBox="1"/>
          <p:nvPr/>
        </p:nvSpPr>
        <p:spPr>
          <a:xfrm>
            <a:off x="152400" y="203200"/>
            <a:ext cx="8369300" cy="584775"/>
          </a:xfrm>
          <a:prstGeom prst="rect">
            <a:avLst/>
          </a:prstGeom>
          <a:noFill/>
        </p:spPr>
        <p:txBody>
          <a:bodyPr wrap="square" rtlCol="0">
            <a:spAutoFit/>
          </a:bodyPr>
          <a:lstStyle/>
          <a:p>
            <a:r>
              <a:rPr lang="es-BO" sz="3200" dirty="0" smtClean="0">
                <a:solidFill>
                  <a:srgbClr val="FF0000"/>
                </a:solidFill>
              </a:rPr>
              <a:t>5 Técnicas de proyección del mercado.</a:t>
            </a:r>
            <a:endParaRPr lang="es-BO" sz="3200" dirty="0">
              <a:solidFill>
                <a:srgbClr val="FF0000"/>
              </a:solidFill>
            </a:endParaRPr>
          </a:p>
        </p:txBody>
      </p:sp>
      <p:sp>
        <p:nvSpPr>
          <p:cNvPr id="7" name="CuadroTexto 6"/>
          <p:cNvSpPr txBox="1"/>
          <p:nvPr/>
        </p:nvSpPr>
        <p:spPr>
          <a:xfrm>
            <a:off x="1054100" y="2324100"/>
            <a:ext cx="10172700" cy="2554545"/>
          </a:xfrm>
          <a:prstGeom prst="rect">
            <a:avLst/>
          </a:prstGeom>
          <a:solidFill>
            <a:schemeClr val="tx2">
              <a:lumMod val="50000"/>
            </a:schemeClr>
          </a:solidFill>
        </p:spPr>
        <p:txBody>
          <a:bodyPr wrap="square" rtlCol="0">
            <a:spAutoFit/>
          </a:bodyPr>
          <a:lstStyle/>
          <a:p>
            <a:r>
              <a:rPr lang="es-BO" sz="4000" dirty="0" smtClean="0">
                <a:solidFill>
                  <a:srgbClr val="002060"/>
                </a:solidFill>
              </a:rPr>
              <a:t>“Mi </a:t>
            </a:r>
            <a:r>
              <a:rPr lang="es-BO" sz="4000" dirty="0">
                <a:solidFill>
                  <a:srgbClr val="002060"/>
                </a:solidFill>
              </a:rPr>
              <a:t>preocupación radica en el </a:t>
            </a:r>
            <a:r>
              <a:rPr lang="es-BO" sz="4000" dirty="0">
                <a:solidFill>
                  <a:srgbClr val="FF0000"/>
                </a:solidFill>
              </a:rPr>
              <a:t>futuro</a:t>
            </a:r>
            <a:r>
              <a:rPr lang="es-BO" sz="4000" dirty="0">
                <a:solidFill>
                  <a:srgbClr val="002060"/>
                </a:solidFill>
              </a:rPr>
              <a:t>, ya que </a:t>
            </a:r>
            <a:r>
              <a:rPr lang="es-BO" sz="4000" dirty="0">
                <a:solidFill>
                  <a:srgbClr val="FFC000"/>
                </a:solidFill>
              </a:rPr>
              <a:t>planeo</a:t>
            </a:r>
            <a:r>
              <a:rPr lang="es-BO" sz="4000" dirty="0">
                <a:solidFill>
                  <a:srgbClr val="002060"/>
                </a:solidFill>
              </a:rPr>
              <a:t> pasar el resto de mi vida </a:t>
            </a:r>
            <a:r>
              <a:rPr lang="es-BO" sz="4000" dirty="0" smtClean="0">
                <a:solidFill>
                  <a:srgbClr val="002060"/>
                </a:solidFill>
              </a:rPr>
              <a:t>ahí”.</a:t>
            </a:r>
          </a:p>
          <a:p>
            <a:pPr algn="r"/>
            <a:r>
              <a:rPr lang="es-BO" sz="4000" dirty="0" smtClean="0">
                <a:solidFill>
                  <a:srgbClr val="002060"/>
                </a:solidFill>
              </a:rPr>
              <a:t>Charles </a:t>
            </a:r>
            <a:r>
              <a:rPr lang="es-BO" sz="4000" dirty="0" err="1" smtClean="0">
                <a:solidFill>
                  <a:srgbClr val="002060"/>
                </a:solidFill>
              </a:rPr>
              <a:t>Kettering</a:t>
            </a:r>
            <a:endParaRPr lang="es-BO" sz="4000" dirty="0">
              <a:solidFill>
                <a:srgbClr val="002060"/>
              </a:solidFill>
            </a:endParaRPr>
          </a:p>
        </p:txBody>
      </p:sp>
    </p:spTree>
    <p:extLst>
      <p:ext uri="{BB962C8B-B14F-4D97-AF65-F5344CB8AC3E}">
        <p14:creationId xmlns:p14="http://schemas.microsoft.com/office/powerpoint/2010/main" val="33300355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p:cNvSpPr txBox="1"/>
          <p:nvPr/>
        </p:nvSpPr>
        <p:spPr>
          <a:xfrm>
            <a:off x="152400" y="203200"/>
            <a:ext cx="8369300" cy="1077218"/>
          </a:xfrm>
          <a:prstGeom prst="rect">
            <a:avLst/>
          </a:prstGeom>
          <a:noFill/>
        </p:spPr>
        <p:txBody>
          <a:bodyPr wrap="square" rtlCol="0">
            <a:spAutoFit/>
          </a:bodyPr>
          <a:lstStyle/>
          <a:p>
            <a:r>
              <a:rPr lang="es-BO" sz="3200" dirty="0" smtClean="0">
                <a:solidFill>
                  <a:srgbClr val="FF0000"/>
                </a:solidFill>
              </a:rPr>
              <a:t>5 Técnicas de proyección del mercado.</a:t>
            </a:r>
          </a:p>
          <a:p>
            <a:r>
              <a:rPr lang="es-BO" sz="3200" dirty="0" smtClean="0">
                <a:solidFill>
                  <a:srgbClr val="FF0000"/>
                </a:solidFill>
              </a:rPr>
              <a:t>El ámbito de la proyección.</a:t>
            </a:r>
            <a:endParaRPr lang="es-BO" sz="3200" dirty="0">
              <a:solidFill>
                <a:srgbClr val="FF0000"/>
              </a:solidFill>
            </a:endParaRPr>
          </a:p>
        </p:txBody>
      </p:sp>
      <p:sp>
        <p:nvSpPr>
          <p:cNvPr id="7" name="CuadroTexto 6"/>
          <p:cNvSpPr txBox="1"/>
          <p:nvPr/>
        </p:nvSpPr>
        <p:spPr>
          <a:xfrm>
            <a:off x="1054100" y="2324100"/>
            <a:ext cx="10172700" cy="1569660"/>
          </a:xfrm>
          <a:prstGeom prst="rect">
            <a:avLst/>
          </a:prstGeom>
          <a:solidFill>
            <a:schemeClr val="tx2">
              <a:lumMod val="75000"/>
            </a:schemeClr>
          </a:solidFill>
        </p:spPr>
        <p:txBody>
          <a:bodyPr wrap="square" rtlCol="0">
            <a:spAutoFit/>
          </a:bodyPr>
          <a:lstStyle/>
          <a:p>
            <a:r>
              <a:rPr lang="es-BO" sz="2400" dirty="0">
                <a:solidFill>
                  <a:srgbClr val="002060"/>
                </a:solidFill>
              </a:rPr>
              <a:t>La elección del método correcto dependerá principalmente tanto de la cantidad y calidad de los antecedentes disponibles, como de los resultados esperados. La efectividad del método elegido se evaluará en función de su </a:t>
            </a:r>
            <a:r>
              <a:rPr lang="es-BO" sz="2400" dirty="0">
                <a:solidFill>
                  <a:srgbClr val="FF0000"/>
                </a:solidFill>
              </a:rPr>
              <a:t>precisión</a:t>
            </a:r>
            <a:r>
              <a:rPr lang="es-BO" sz="2400" dirty="0">
                <a:solidFill>
                  <a:srgbClr val="002060"/>
                </a:solidFill>
              </a:rPr>
              <a:t>, </a:t>
            </a:r>
            <a:r>
              <a:rPr lang="es-BO" sz="2400" dirty="0">
                <a:solidFill>
                  <a:srgbClr val="FFC000"/>
                </a:solidFill>
              </a:rPr>
              <a:t>sensibilidad</a:t>
            </a:r>
            <a:r>
              <a:rPr lang="es-BO" sz="2400" dirty="0">
                <a:solidFill>
                  <a:srgbClr val="002060"/>
                </a:solidFill>
              </a:rPr>
              <a:t> y </a:t>
            </a:r>
            <a:r>
              <a:rPr lang="es-BO" sz="2400" dirty="0">
                <a:solidFill>
                  <a:srgbClr val="7030A0"/>
                </a:solidFill>
              </a:rPr>
              <a:t>objetividad</a:t>
            </a:r>
            <a:r>
              <a:rPr lang="es-BO" sz="2400" dirty="0">
                <a:solidFill>
                  <a:srgbClr val="002060"/>
                </a:solidFill>
              </a:rPr>
              <a:t>.</a:t>
            </a:r>
          </a:p>
        </p:txBody>
      </p:sp>
    </p:spTree>
    <p:extLst>
      <p:ext uri="{BB962C8B-B14F-4D97-AF65-F5344CB8AC3E}">
        <p14:creationId xmlns:p14="http://schemas.microsoft.com/office/powerpoint/2010/main" val="28453942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uadroTexto 6"/>
          <p:cNvSpPr txBox="1"/>
          <p:nvPr/>
        </p:nvSpPr>
        <p:spPr>
          <a:xfrm>
            <a:off x="1054100" y="2324100"/>
            <a:ext cx="10172700" cy="1569660"/>
          </a:xfrm>
          <a:prstGeom prst="rect">
            <a:avLst/>
          </a:prstGeom>
          <a:solidFill>
            <a:schemeClr val="tx2">
              <a:lumMod val="75000"/>
            </a:schemeClr>
          </a:solidFill>
        </p:spPr>
        <p:txBody>
          <a:bodyPr wrap="square" rtlCol="0">
            <a:spAutoFit/>
          </a:bodyPr>
          <a:lstStyle/>
          <a:p>
            <a:r>
              <a:rPr lang="es-BO" sz="2400" dirty="0">
                <a:solidFill>
                  <a:srgbClr val="002060"/>
                </a:solidFill>
              </a:rPr>
              <a:t>La elección del método correcto dependerá principalmente tanto de la cantidad y calidad de los antecedentes disponibles, como de los resultados esperados. La efectividad del método elegido se evaluará en función de su </a:t>
            </a:r>
            <a:r>
              <a:rPr lang="es-BO" sz="2400" dirty="0">
                <a:solidFill>
                  <a:srgbClr val="FF0000"/>
                </a:solidFill>
              </a:rPr>
              <a:t>precisión</a:t>
            </a:r>
            <a:r>
              <a:rPr lang="es-BO" sz="2400" dirty="0">
                <a:solidFill>
                  <a:srgbClr val="002060"/>
                </a:solidFill>
              </a:rPr>
              <a:t>, </a:t>
            </a:r>
            <a:r>
              <a:rPr lang="es-BO" sz="2400" dirty="0">
                <a:solidFill>
                  <a:srgbClr val="FFC000"/>
                </a:solidFill>
              </a:rPr>
              <a:t>sensibilidad</a:t>
            </a:r>
            <a:r>
              <a:rPr lang="es-BO" sz="2400" dirty="0">
                <a:solidFill>
                  <a:srgbClr val="002060"/>
                </a:solidFill>
              </a:rPr>
              <a:t> y </a:t>
            </a:r>
            <a:r>
              <a:rPr lang="es-BO" sz="2400" dirty="0">
                <a:solidFill>
                  <a:srgbClr val="7030A0"/>
                </a:solidFill>
              </a:rPr>
              <a:t>objetividad</a:t>
            </a:r>
            <a:r>
              <a:rPr lang="es-BO" sz="2400" dirty="0">
                <a:solidFill>
                  <a:srgbClr val="002060"/>
                </a:solidFill>
              </a:rPr>
              <a:t>.</a:t>
            </a:r>
          </a:p>
        </p:txBody>
      </p:sp>
      <p:sp>
        <p:nvSpPr>
          <p:cNvPr id="4" name="CuadroTexto 3"/>
          <p:cNvSpPr txBox="1"/>
          <p:nvPr/>
        </p:nvSpPr>
        <p:spPr>
          <a:xfrm>
            <a:off x="152400" y="203200"/>
            <a:ext cx="8369300" cy="1077218"/>
          </a:xfrm>
          <a:prstGeom prst="rect">
            <a:avLst/>
          </a:prstGeom>
          <a:noFill/>
        </p:spPr>
        <p:txBody>
          <a:bodyPr wrap="square" rtlCol="0">
            <a:spAutoFit/>
          </a:bodyPr>
          <a:lstStyle/>
          <a:p>
            <a:r>
              <a:rPr lang="es-BO" sz="3200" dirty="0" smtClean="0">
                <a:solidFill>
                  <a:srgbClr val="FF0000"/>
                </a:solidFill>
              </a:rPr>
              <a:t>5 Técnicas de proyección del mercado.</a:t>
            </a:r>
          </a:p>
          <a:p>
            <a:r>
              <a:rPr lang="es-BO" sz="3200" dirty="0" smtClean="0">
                <a:solidFill>
                  <a:srgbClr val="FF0000"/>
                </a:solidFill>
              </a:rPr>
              <a:t>El ámbito de la proyección.</a:t>
            </a:r>
            <a:endParaRPr lang="es-BO" sz="3200" dirty="0">
              <a:solidFill>
                <a:srgbClr val="FF0000"/>
              </a:solidFill>
            </a:endParaRPr>
          </a:p>
        </p:txBody>
      </p:sp>
    </p:spTree>
    <p:extLst>
      <p:ext uri="{BB962C8B-B14F-4D97-AF65-F5344CB8AC3E}">
        <p14:creationId xmlns:p14="http://schemas.microsoft.com/office/powerpoint/2010/main" val="39905854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uadroTexto 6"/>
          <p:cNvSpPr txBox="1"/>
          <p:nvPr/>
        </p:nvSpPr>
        <p:spPr>
          <a:xfrm>
            <a:off x="1054100" y="1866900"/>
            <a:ext cx="10172700" cy="3785652"/>
          </a:xfrm>
          <a:prstGeom prst="rect">
            <a:avLst/>
          </a:prstGeom>
          <a:solidFill>
            <a:schemeClr val="tx2">
              <a:lumMod val="75000"/>
            </a:schemeClr>
          </a:solidFill>
        </p:spPr>
        <p:txBody>
          <a:bodyPr wrap="square" rtlCol="0">
            <a:spAutoFit/>
          </a:bodyPr>
          <a:lstStyle/>
          <a:p>
            <a:r>
              <a:rPr lang="es-BO" sz="2400" dirty="0">
                <a:solidFill>
                  <a:srgbClr val="002060"/>
                </a:solidFill>
              </a:rPr>
              <a:t>Precisión, porque cualquier error en su pronóstico tendrá asociado un costo</a:t>
            </a:r>
            <a:r>
              <a:rPr lang="es-BO" sz="2400" dirty="0" smtClean="0">
                <a:solidFill>
                  <a:srgbClr val="002060"/>
                </a:solidFill>
              </a:rPr>
              <a:t>.</a:t>
            </a:r>
          </a:p>
          <a:p>
            <a:endParaRPr lang="es-BO" sz="2400" dirty="0">
              <a:solidFill>
                <a:srgbClr val="002060"/>
              </a:solidFill>
            </a:endParaRPr>
          </a:p>
          <a:p>
            <a:r>
              <a:rPr lang="es-BO" sz="2400" dirty="0">
                <a:solidFill>
                  <a:srgbClr val="002060"/>
                </a:solidFill>
              </a:rPr>
              <a:t>Sensibilidad, porque al situarse en un medio cambiante, debe ser lo suficientemente estable para enfrentar una situación de cambios</a:t>
            </a:r>
            <a:r>
              <a:rPr lang="es-BO" sz="2400" dirty="0" smtClean="0">
                <a:solidFill>
                  <a:srgbClr val="002060"/>
                </a:solidFill>
              </a:rPr>
              <a:t>.</a:t>
            </a:r>
          </a:p>
          <a:p>
            <a:endParaRPr lang="es-BO" sz="2400" dirty="0">
              <a:solidFill>
                <a:srgbClr val="002060"/>
              </a:solidFill>
            </a:endParaRPr>
          </a:p>
          <a:p>
            <a:r>
              <a:rPr lang="es-BO" sz="2400" dirty="0">
                <a:solidFill>
                  <a:srgbClr val="002060"/>
                </a:solidFill>
              </a:rPr>
              <a:t>Objetividad, porque la información que se tome como base de </a:t>
            </a:r>
            <a:r>
              <a:rPr lang="es-BO" sz="2400" dirty="0" smtClean="0">
                <a:solidFill>
                  <a:srgbClr val="002060"/>
                </a:solidFill>
              </a:rPr>
              <a:t>la proyección </a:t>
            </a:r>
            <a:r>
              <a:rPr lang="es-BO" sz="2400" dirty="0">
                <a:solidFill>
                  <a:srgbClr val="002060"/>
                </a:solidFill>
              </a:rPr>
              <a:t>debe </a:t>
            </a:r>
            <a:r>
              <a:rPr lang="es-BO" sz="2400" dirty="0" smtClean="0">
                <a:solidFill>
                  <a:srgbClr val="002060"/>
                </a:solidFill>
              </a:rPr>
              <a:t>garantizar </a:t>
            </a:r>
            <a:r>
              <a:rPr lang="es-BO" sz="2400" dirty="0">
                <a:solidFill>
                  <a:srgbClr val="002060"/>
                </a:solidFill>
              </a:rPr>
              <a:t>su validez y oportunidad en </a:t>
            </a:r>
            <a:r>
              <a:rPr lang="es-BO" sz="2400" dirty="0" smtClean="0">
                <a:solidFill>
                  <a:srgbClr val="002060"/>
                </a:solidFill>
              </a:rPr>
              <a:t>una situación </a:t>
            </a:r>
            <a:r>
              <a:rPr lang="es-BO" sz="2400" dirty="0">
                <a:solidFill>
                  <a:srgbClr val="002060"/>
                </a:solidFill>
              </a:rPr>
              <a:t>histórica.</a:t>
            </a:r>
          </a:p>
        </p:txBody>
      </p:sp>
      <p:sp>
        <p:nvSpPr>
          <p:cNvPr id="4" name="CuadroTexto 3"/>
          <p:cNvSpPr txBox="1"/>
          <p:nvPr/>
        </p:nvSpPr>
        <p:spPr>
          <a:xfrm>
            <a:off x="152400" y="203200"/>
            <a:ext cx="8369300" cy="1077218"/>
          </a:xfrm>
          <a:prstGeom prst="rect">
            <a:avLst/>
          </a:prstGeom>
          <a:noFill/>
        </p:spPr>
        <p:txBody>
          <a:bodyPr wrap="square" rtlCol="0">
            <a:spAutoFit/>
          </a:bodyPr>
          <a:lstStyle/>
          <a:p>
            <a:r>
              <a:rPr lang="es-BO" sz="3200" dirty="0" smtClean="0">
                <a:solidFill>
                  <a:srgbClr val="FF0000"/>
                </a:solidFill>
              </a:rPr>
              <a:t>5 Técnicas de proyección del mercado.</a:t>
            </a:r>
          </a:p>
          <a:p>
            <a:r>
              <a:rPr lang="es-BO" sz="3200" dirty="0" smtClean="0">
                <a:solidFill>
                  <a:srgbClr val="FF0000"/>
                </a:solidFill>
              </a:rPr>
              <a:t>El ámbito de la proyección.</a:t>
            </a:r>
            <a:endParaRPr lang="es-BO" sz="3200" dirty="0">
              <a:solidFill>
                <a:srgbClr val="FF0000"/>
              </a:solidFill>
            </a:endParaRPr>
          </a:p>
        </p:txBody>
      </p:sp>
    </p:spTree>
    <p:extLst>
      <p:ext uri="{BB962C8B-B14F-4D97-AF65-F5344CB8AC3E}">
        <p14:creationId xmlns:p14="http://schemas.microsoft.com/office/powerpoint/2010/main" val="8418195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uadroTexto 6"/>
          <p:cNvSpPr txBox="1"/>
          <p:nvPr/>
        </p:nvSpPr>
        <p:spPr>
          <a:xfrm>
            <a:off x="1003300" y="2628900"/>
            <a:ext cx="10172700" cy="2308324"/>
          </a:xfrm>
          <a:prstGeom prst="rect">
            <a:avLst/>
          </a:prstGeom>
          <a:solidFill>
            <a:srgbClr val="FFC000"/>
          </a:solidFill>
        </p:spPr>
        <p:txBody>
          <a:bodyPr wrap="square" rtlCol="0">
            <a:spAutoFit/>
          </a:bodyPr>
          <a:lstStyle/>
          <a:p>
            <a:pPr algn="ctr"/>
            <a:r>
              <a:rPr lang="es-BO" sz="2400" dirty="0" smtClean="0">
                <a:solidFill>
                  <a:srgbClr val="002060"/>
                </a:solidFill>
              </a:rPr>
              <a:t>IMPORTANTE!!!!</a:t>
            </a:r>
          </a:p>
          <a:p>
            <a:r>
              <a:rPr lang="es-BO" sz="2400" dirty="0" smtClean="0">
                <a:solidFill>
                  <a:srgbClr val="002060"/>
                </a:solidFill>
              </a:rPr>
              <a:t>Los </a:t>
            </a:r>
            <a:r>
              <a:rPr lang="es-BO" sz="2400" dirty="0">
                <a:solidFill>
                  <a:srgbClr val="002060"/>
                </a:solidFill>
              </a:rPr>
              <a:t>resultados que se obtienen de los métodos de proyección del mercado son sólo indicadores de referencia para una estimación definitiva, la cual, aunque difícilmente será exacta, deberá complementarse con el juicio y las apreciaciones cualitativas del análisis.</a:t>
            </a:r>
          </a:p>
        </p:txBody>
      </p:sp>
      <p:sp>
        <p:nvSpPr>
          <p:cNvPr id="4" name="CuadroTexto 3"/>
          <p:cNvSpPr txBox="1"/>
          <p:nvPr/>
        </p:nvSpPr>
        <p:spPr>
          <a:xfrm>
            <a:off x="152400" y="203200"/>
            <a:ext cx="8369300" cy="1077218"/>
          </a:xfrm>
          <a:prstGeom prst="rect">
            <a:avLst/>
          </a:prstGeom>
          <a:noFill/>
        </p:spPr>
        <p:txBody>
          <a:bodyPr wrap="square" rtlCol="0">
            <a:spAutoFit/>
          </a:bodyPr>
          <a:lstStyle/>
          <a:p>
            <a:r>
              <a:rPr lang="es-BO" sz="3200" dirty="0" smtClean="0">
                <a:solidFill>
                  <a:srgbClr val="FF0000"/>
                </a:solidFill>
              </a:rPr>
              <a:t>5 Técnicas de proyección del mercado.</a:t>
            </a:r>
          </a:p>
          <a:p>
            <a:r>
              <a:rPr lang="es-BO" sz="3200" dirty="0" smtClean="0">
                <a:solidFill>
                  <a:srgbClr val="FF0000"/>
                </a:solidFill>
              </a:rPr>
              <a:t>El ámbito de la proyección.</a:t>
            </a:r>
            <a:endParaRPr lang="es-BO" sz="3200" dirty="0">
              <a:solidFill>
                <a:srgbClr val="FF0000"/>
              </a:solidFill>
            </a:endParaRPr>
          </a:p>
        </p:txBody>
      </p:sp>
    </p:spTree>
    <p:extLst>
      <p:ext uri="{BB962C8B-B14F-4D97-AF65-F5344CB8AC3E}">
        <p14:creationId xmlns:p14="http://schemas.microsoft.com/office/powerpoint/2010/main" val="39268667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uadroTexto 6"/>
          <p:cNvSpPr txBox="1"/>
          <p:nvPr/>
        </p:nvSpPr>
        <p:spPr>
          <a:xfrm>
            <a:off x="1003300" y="2628900"/>
            <a:ext cx="10172700" cy="1569660"/>
          </a:xfrm>
          <a:prstGeom prst="rect">
            <a:avLst/>
          </a:prstGeom>
          <a:solidFill>
            <a:srgbClr val="00B0F0"/>
          </a:solidFill>
        </p:spPr>
        <p:txBody>
          <a:bodyPr wrap="square" rtlCol="0">
            <a:spAutoFit/>
          </a:bodyPr>
          <a:lstStyle/>
          <a:p>
            <a:r>
              <a:rPr lang="es-BO" sz="2400" dirty="0">
                <a:solidFill>
                  <a:srgbClr val="002060"/>
                </a:solidFill>
              </a:rPr>
              <a:t>Una manera de clasificar las técnicas de proyección consiste en hacerlo en función de su carácter, esto es, aplicando métodos de carácter </a:t>
            </a:r>
            <a:r>
              <a:rPr lang="es-BO" sz="2400" dirty="0">
                <a:solidFill>
                  <a:srgbClr val="FF0000"/>
                </a:solidFill>
              </a:rPr>
              <a:t>cualitativo</a:t>
            </a:r>
            <a:r>
              <a:rPr lang="es-BO" sz="2400" dirty="0">
                <a:solidFill>
                  <a:srgbClr val="002060"/>
                </a:solidFill>
              </a:rPr>
              <a:t>, </a:t>
            </a:r>
            <a:r>
              <a:rPr lang="es-BO" sz="2400" dirty="0">
                <a:solidFill>
                  <a:srgbClr val="FFC000"/>
                </a:solidFill>
              </a:rPr>
              <a:t>modelos causales </a:t>
            </a:r>
            <a:r>
              <a:rPr lang="es-BO" sz="2400" dirty="0">
                <a:solidFill>
                  <a:srgbClr val="002060"/>
                </a:solidFill>
              </a:rPr>
              <a:t>y </a:t>
            </a:r>
            <a:r>
              <a:rPr lang="es-BO" sz="2400" dirty="0">
                <a:solidFill>
                  <a:srgbClr val="FFFF00"/>
                </a:solidFill>
              </a:rPr>
              <a:t>modelos de series de tiempo</a:t>
            </a:r>
            <a:r>
              <a:rPr lang="es-BO" sz="2400" dirty="0">
                <a:solidFill>
                  <a:srgbClr val="002060"/>
                </a:solidFill>
              </a:rPr>
              <a:t>.</a:t>
            </a:r>
          </a:p>
        </p:txBody>
      </p:sp>
      <p:sp>
        <p:nvSpPr>
          <p:cNvPr id="4" name="CuadroTexto 3"/>
          <p:cNvSpPr txBox="1"/>
          <p:nvPr/>
        </p:nvSpPr>
        <p:spPr>
          <a:xfrm>
            <a:off x="152400" y="203200"/>
            <a:ext cx="8369300" cy="1077218"/>
          </a:xfrm>
          <a:prstGeom prst="rect">
            <a:avLst/>
          </a:prstGeom>
          <a:noFill/>
        </p:spPr>
        <p:txBody>
          <a:bodyPr wrap="square" rtlCol="0">
            <a:spAutoFit/>
          </a:bodyPr>
          <a:lstStyle/>
          <a:p>
            <a:r>
              <a:rPr lang="es-BO" sz="3200" dirty="0" smtClean="0">
                <a:solidFill>
                  <a:srgbClr val="FF0000"/>
                </a:solidFill>
              </a:rPr>
              <a:t>5 Técnicas de proyección del mercado.</a:t>
            </a:r>
          </a:p>
          <a:p>
            <a:r>
              <a:rPr lang="es-BO" sz="3200" dirty="0" smtClean="0">
                <a:solidFill>
                  <a:srgbClr val="FF0000"/>
                </a:solidFill>
              </a:rPr>
              <a:t>Métodos de proyección.</a:t>
            </a:r>
            <a:endParaRPr lang="es-BO" sz="3200" dirty="0">
              <a:solidFill>
                <a:srgbClr val="FF0000"/>
              </a:solidFill>
            </a:endParaRPr>
          </a:p>
        </p:txBody>
      </p:sp>
    </p:spTree>
    <p:extLst>
      <p:ext uri="{BB962C8B-B14F-4D97-AF65-F5344CB8AC3E}">
        <p14:creationId xmlns:p14="http://schemas.microsoft.com/office/powerpoint/2010/main" val="34459255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p:cNvSpPr txBox="1"/>
          <p:nvPr/>
        </p:nvSpPr>
        <p:spPr>
          <a:xfrm>
            <a:off x="152400" y="203200"/>
            <a:ext cx="8369300" cy="1077218"/>
          </a:xfrm>
          <a:prstGeom prst="rect">
            <a:avLst/>
          </a:prstGeom>
          <a:noFill/>
        </p:spPr>
        <p:txBody>
          <a:bodyPr wrap="square" rtlCol="0">
            <a:spAutoFit/>
          </a:bodyPr>
          <a:lstStyle/>
          <a:p>
            <a:r>
              <a:rPr lang="es-BO" sz="3200" dirty="0" smtClean="0">
                <a:solidFill>
                  <a:srgbClr val="FF0000"/>
                </a:solidFill>
              </a:rPr>
              <a:t>5 Técnicas de proyección del mercado.</a:t>
            </a:r>
          </a:p>
          <a:p>
            <a:r>
              <a:rPr lang="es-BO" sz="3200" dirty="0" smtClean="0">
                <a:solidFill>
                  <a:srgbClr val="FF0000"/>
                </a:solidFill>
              </a:rPr>
              <a:t>Métodos de proyección.</a:t>
            </a:r>
            <a:endParaRPr lang="es-BO" sz="3200" dirty="0">
              <a:solidFill>
                <a:srgbClr val="FF0000"/>
              </a:solidFill>
            </a:endParaRPr>
          </a:p>
        </p:txBody>
      </p:sp>
      <p:pic>
        <p:nvPicPr>
          <p:cNvPr id="8" name="Imagen 7"/>
          <p:cNvPicPr>
            <a:picLocks noChangeAspect="1"/>
          </p:cNvPicPr>
          <p:nvPr/>
        </p:nvPicPr>
        <p:blipFill>
          <a:blip r:embed="rId2"/>
          <a:stretch>
            <a:fillRect/>
          </a:stretch>
        </p:blipFill>
        <p:spPr>
          <a:xfrm>
            <a:off x="2576869" y="1631554"/>
            <a:ext cx="6978425" cy="3994546"/>
          </a:xfrm>
          <a:prstGeom prst="rect">
            <a:avLst/>
          </a:prstGeom>
        </p:spPr>
      </p:pic>
    </p:spTree>
    <p:extLst>
      <p:ext uri="{BB962C8B-B14F-4D97-AF65-F5344CB8AC3E}">
        <p14:creationId xmlns:p14="http://schemas.microsoft.com/office/powerpoint/2010/main" val="9932727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uadroTexto 6"/>
          <p:cNvSpPr txBox="1"/>
          <p:nvPr/>
        </p:nvSpPr>
        <p:spPr>
          <a:xfrm>
            <a:off x="1117600" y="1498600"/>
            <a:ext cx="10172700" cy="2308324"/>
          </a:xfrm>
          <a:prstGeom prst="rect">
            <a:avLst/>
          </a:prstGeom>
          <a:solidFill>
            <a:srgbClr val="002060"/>
          </a:solidFill>
        </p:spPr>
        <p:txBody>
          <a:bodyPr wrap="square" rtlCol="0">
            <a:spAutoFit/>
          </a:bodyPr>
          <a:lstStyle/>
          <a:p>
            <a:r>
              <a:rPr lang="es-BO" sz="2400" dirty="0" smtClean="0">
                <a:solidFill>
                  <a:schemeClr val="tx1">
                    <a:lumMod val="85000"/>
                  </a:schemeClr>
                </a:solidFill>
              </a:rPr>
              <a:t>Métodos Cualitativos.</a:t>
            </a:r>
          </a:p>
          <a:p>
            <a:r>
              <a:rPr lang="es-BO" sz="2400" dirty="0" smtClean="0">
                <a:solidFill>
                  <a:schemeClr val="tx1">
                    <a:lumMod val="85000"/>
                  </a:schemeClr>
                </a:solidFill>
              </a:rPr>
              <a:t>Se basan </a:t>
            </a:r>
            <a:r>
              <a:rPr lang="es-BO" sz="2400" dirty="0">
                <a:solidFill>
                  <a:schemeClr val="tx1">
                    <a:lumMod val="85000"/>
                  </a:schemeClr>
                </a:solidFill>
              </a:rPr>
              <a:t>principalmente en opiniones de expertos. Su uso es frecuente cuando el tiempo para elaborar el pronóstico es escaso, cuando no se dispone de todos los antecedentes mínimos necesarios o cuando los datos disponibles no son confiables para predecir algún comportamiento futuro.</a:t>
            </a:r>
          </a:p>
        </p:txBody>
      </p:sp>
      <p:sp>
        <p:nvSpPr>
          <p:cNvPr id="4" name="CuadroTexto 3"/>
          <p:cNvSpPr txBox="1"/>
          <p:nvPr/>
        </p:nvSpPr>
        <p:spPr>
          <a:xfrm>
            <a:off x="152400" y="203200"/>
            <a:ext cx="8369300" cy="1077218"/>
          </a:xfrm>
          <a:prstGeom prst="rect">
            <a:avLst/>
          </a:prstGeom>
          <a:noFill/>
        </p:spPr>
        <p:txBody>
          <a:bodyPr wrap="square" rtlCol="0">
            <a:spAutoFit/>
          </a:bodyPr>
          <a:lstStyle/>
          <a:p>
            <a:r>
              <a:rPr lang="es-BO" sz="3200" dirty="0" smtClean="0">
                <a:solidFill>
                  <a:srgbClr val="FF0000"/>
                </a:solidFill>
              </a:rPr>
              <a:t>5 Técnicas de proyección del mercado.</a:t>
            </a:r>
          </a:p>
          <a:p>
            <a:r>
              <a:rPr lang="es-BO" sz="3200" dirty="0" smtClean="0">
                <a:solidFill>
                  <a:srgbClr val="FF0000"/>
                </a:solidFill>
              </a:rPr>
              <a:t>Métodos de proyección.</a:t>
            </a:r>
            <a:endParaRPr lang="es-BO" sz="3200" dirty="0">
              <a:solidFill>
                <a:srgbClr val="FF0000"/>
              </a:solidFill>
            </a:endParaRPr>
          </a:p>
        </p:txBody>
      </p:sp>
    </p:spTree>
    <p:extLst>
      <p:ext uri="{BB962C8B-B14F-4D97-AF65-F5344CB8AC3E}">
        <p14:creationId xmlns:p14="http://schemas.microsoft.com/office/powerpoint/2010/main" val="32703815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p:cNvSpPr txBox="1"/>
          <p:nvPr/>
        </p:nvSpPr>
        <p:spPr>
          <a:xfrm>
            <a:off x="152400" y="203200"/>
            <a:ext cx="8369300" cy="1077218"/>
          </a:xfrm>
          <a:prstGeom prst="rect">
            <a:avLst/>
          </a:prstGeom>
          <a:noFill/>
        </p:spPr>
        <p:txBody>
          <a:bodyPr wrap="square" rtlCol="0">
            <a:spAutoFit/>
          </a:bodyPr>
          <a:lstStyle/>
          <a:p>
            <a:r>
              <a:rPr lang="es-BO" sz="3200" dirty="0" smtClean="0">
                <a:solidFill>
                  <a:srgbClr val="FF0000"/>
                </a:solidFill>
              </a:rPr>
              <a:t>5 Técnicas de proyección del mercado.</a:t>
            </a:r>
          </a:p>
          <a:p>
            <a:r>
              <a:rPr lang="es-BO" sz="3200" dirty="0" smtClean="0">
                <a:solidFill>
                  <a:srgbClr val="FF0000"/>
                </a:solidFill>
              </a:rPr>
              <a:t>Métodos de proyección.</a:t>
            </a:r>
            <a:endParaRPr lang="es-BO" sz="3200" dirty="0">
              <a:solidFill>
                <a:srgbClr val="FF0000"/>
              </a:solidFill>
            </a:endParaRPr>
          </a:p>
        </p:txBody>
      </p:sp>
      <p:pic>
        <p:nvPicPr>
          <p:cNvPr id="2" name="Imagen 1"/>
          <p:cNvPicPr>
            <a:picLocks noChangeAspect="1"/>
          </p:cNvPicPr>
          <p:nvPr/>
        </p:nvPicPr>
        <p:blipFill rotWithShape="1">
          <a:blip r:embed="rId2"/>
          <a:srcRect l="1875" t="13148" r="938" b="14630"/>
          <a:stretch/>
        </p:blipFill>
        <p:spPr>
          <a:xfrm>
            <a:off x="1333499" y="1637810"/>
            <a:ext cx="10331157" cy="4318490"/>
          </a:xfrm>
          <a:prstGeom prst="rect">
            <a:avLst/>
          </a:prstGeom>
        </p:spPr>
      </p:pic>
    </p:spTree>
    <p:extLst>
      <p:ext uri="{BB962C8B-B14F-4D97-AF65-F5344CB8AC3E}">
        <p14:creationId xmlns:p14="http://schemas.microsoft.com/office/powerpoint/2010/main" val="6919495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uadroTexto 6"/>
          <p:cNvSpPr txBox="1"/>
          <p:nvPr/>
        </p:nvSpPr>
        <p:spPr>
          <a:xfrm>
            <a:off x="1092200" y="1587500"/>
            <a:ext cx="10172700" cy="2308324"/>
          </a:xfrm>
          <a:prstGeom prst="rect">
            <a:avLst/>
          </a:prstGeom>
          <a:solidFill>
            <a:srgbClr val="002060"/>
          </a:solidFill>
        </p:spPr>
        <p:txBody>
          <a:bodyPr wrap="square" rtlCol="0">
            <a:spAutoFit/>
          </a:bodyPr>
          <a:lstStyle/>
          <a:p>
            <a:r>
              <a:rPr lang="es-BO" sz="2400" dirty="0">
                <a:solidFill>
                  <a:schemeClr val="tx1">
                    <a:lumMod val="85000"/>
                  </a:schemeClr>
                </a:solidFill>
              </a:rPr>
              <a:t>Los modelos de pronóstico </a:t>
            </a:r>
            <a:r>
              <a:rPr lang="es-BO" sz="2400" dirty="0">
                <a:solidFill>
                  <a:srgbClr val="92D050"/>
                </a:solidFill>
              </a:rPr>
              <a:t>causales</a:t>
            </a:r>
            <a:r>
              <a:rPr lang="es-BO" sz="2400" dirty="0">
                <a:solidFill>
                  <a:schemeClr val="tx1">
                    <a:lumMod val="85000"/>
                  </a:schemeClr>
                </a:solidFill>
              </a:rPr>
              <a:t> parten del presupuesto de que el grado de influencia de las variables que afectan el comportamiento del mercado permanece estable, para luego construir un modelo que relacione ese comportamiento con las variables que se estima son las causantes de los cambios que se observan en el mercado.</a:t>
            </a:r>
          </a:p>
        </p:txBody>
      </p:sp>
      <p:sp>
        <p:nvSpPr>
          <p:cNvPr id="4" name="CuadroTexto 3"/>
          <p:cNvSpPr txBox="1"/>
          <p:nvPr/>
        </p:nvSpPr>
        <p:spPr>
          <a:xfrm>
            <a:off x="152400" y="203200"/>
            <a:ext cx="8369300" cy="1077218"/>
          </a:xfrm>
          <a:prstGeom prst="rect">
            <a:avLst/>
          </a:prstGeom>
          <a:noFill/>
        </p:spPr>
        <p:txBody>
          <a:bodyPr wrap="square" rtlCol="0">
            <a:spAutoFit/>
          </a:bodyPr>
          <a:lstStyle/>
          <a:p>
            <a:r>
              <a:rPr lang="es-BO" sz="3200" dirty="0" smtClean="0">
                <a:solidFill>
                  <a:srgbClr val="FF0000"/>
                </a:solidFill>
              </a:rPr>
              <a:t>5 Técnicas de proyección del mercado.</a:t>
            </a:r>
          </a:p>
          <a:p>
            <a:r>
              <a:rPr lang="es-BO" sz="3200" dirty="0" smtClean="0">
                <a:solidFill>
                  <a:srgbClr val="FF0000"/>
                </a:solidFill>
              </a:rPr>
              <a:t>Métodos de proyección.</a:t>
            </a:r>
            <a:endParaRPr lang="es-BO" sz="3200" dirty="0">
              <a:solidFill>
                <a:srgbClr val="FF0000"/>
              </a:solidFill>
            </a:endParaRPr>
          </a:p>
        </p:txBody>
      </p:sp>
      <p:sp>
        <p:nvSpPr>
          <p:cNvPr id="2" name="Rectángulo 1"/>
          <p:cNvSpPr/>
          <p:nvPr/>
        </p:nvSpPr>
        <p:spPr>
          <a:xfrm>
            <a:off x="1968500" y="4202906"/>
            <a:ext cx="8420100" cy="1477328"/>
          </a:xfrm>
          <a:prstGeom prst="rect">
            <a:avLst/>
          </a:prstGeom>
          <a:solidFill>
            <a:srgbClr val="0070C0"/>
          </a:solidFill>
        </p:spPr>
        <p:txBody>
          <a:bodyPr wrap="square">
            <a:spAutoFit/>
          </a:bodyPr>
          <a:lstStyle/>
          <a:p>
            <a:pPr marL="285750" indent="-285750">
              <a:buFont typeface="Arial" panose="020B0604020202020204" pitchFamily="34" charset="0"/>
              <a:buChar char="•"/>
            </a:pPr>
            <a:r>
              <a:rPr lang="es-BO" dirty="0"/>
              <a:t>Usan </a:t>
            </a:r>
            <a:r>
              <a:rPr lang="es-BO" dirty="0" smtClean="0"/>
              <a:t>datos provenientes </a:t>
            </a:r>
            <a:r>
              <a:rPr lang="es-BO" dirty="0"/>
              <a:t>de </a:t>
            </a:r>
            <a:r>
              <a:rPr lang="es-BO" dirty="0" smtClean="0"/>
              <a:t>fuentes </a:t>
            </a:r>
            <a:r>
              <a:rPr lang="es-BO" dirty="0"/>
              <a:t>distintas a las </a:t>
            </a:r>
            <a:r>
              <a:rPr lang="es-BO" dirty="0" smtClean="0"/>
              <a:t>series, </a:t>
            </a:r>
            <a:r>
              <a:rPr lang="es-BO" dirty="0"/>
              <a:t>son utilizados en el área de finanzas y economía para pronosticar valores de variables </a:t>
            </a:r>
            <a:r>
              <a:rPr lang="es-BO" dirty="0" smtClean="0"/>
              <a:t>macroeconómicas.</a:t>
            </a:r>
          </a:p>
          <a:p>
            <a:pPr marL="285750" indent="-285750">
              <a:buFont typeface="Arial" panose="020B0604020202020204" pitchFamily="34" charset="0"/>
              <a:buChar char="•"/>
            </a:pPr>
            <a:r>
              <a:rPr lang="es-BO" dirty="0" smtClean="0"/>
              <a:t>Una </a:t>
            </a:r>
            <a:r>
              <a:rPr lang="es-BO" dirty="0"/>
              <a:t>variable depende de muchas causas o factores que explican su comportamiento.</a:t>
            </a:r>
          </a:p>
        </p:txBody>
      </p:sp>
    </p:spTree>
    <p:extLst>
      <p:ext uri="{BB962C8B-B14F-4D97-AF65-F5344CB8AC3E}">
        <p14:creationId xmlns:p14="http://schemas.microsoft.com/office/powerpoint/2010/main" val="37999536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uadroTexto 6"/>
          <p:cNvSpPr txBox="1"/>
          <p:nvPr/>
        </p:nvSpPr>
        <p:spPr>
          <a:xfrm>
            <a:off x="1168400" y="1280418"/>
            <a:ext cx="10172700" cy="1938992"/>
          </a:xfrm>
          <a:prstGeom prst="rect">
            <a:avLst/>
          </a:prstGeom>
          <a:solidFill>
            <a:srgbClr val="002060"/>
          </a:solidFill>
        </p:spPr>
        <p:txBody>
          <a:bodyPr wrap="square" rtlCol="0">
            <a:spAutoFit/>
          </a:bodyPr>
          <a:lstStyle/>
          <a:p>
            <a:r>
              <a:rPr lang="es-BO" sz="2400" dirty="0" smtClean="0">
                <a:solidFill>
                  <a:schemeClr val="tx1">
                    <a:lumMod val="85000"/>
                  </a:schemeClr>
                </a:solidFill>
              </a:rPr>
              <a:t>Los modelos matemáticos causales son:</a:t>
            </a:r>
          </a:p>
          <a:p>
            <a:endParaRPr lang="es-BO" sz="2400" dirty="0" smtClean="0">
              <a:solidFill>
                <a:schemeClr val="tx1">
                  <a:lumMod val="85000"/>
                </a:schemeClr>
              </a:solidFill>
            </a:endParaRPr>
          </a:p>
          <a:p>
            <a:pPr marL="342900" indent="-342900">
              <a:buFont typeface="Arial" panose="020B0604020202020204" pitchFamily="34" charset="0"/>
              <a:buChar char="•"/>
            </a:pPr>
            <a:r>
              <a:rPr lang="es-BO" sz="2400" dirty="0" smtClean="0">
                <a:solidFill>
                  <a:schemeClr val="tx1">
                    <a:lumMod val="85000"/>
                  </a:schemeClr>
                </a:solidFill>
              </a:rPr>
              <a:t>Modelo </a:t>
            </a:r>
            <a:r>
              <a:rPr lang="es-BO" sz="2400" dirty="0">
                <a:solidFill>
                  <a:schemeClr val="tx1">
                    <a:lumMod val="85000"/>
                  </a:schemeClr>
                </a:solidFill>
              </a:rPr>
              <a:t>de regresión.</a:t>
            </a:r>
          </a:p>
          <a:p>
            <a:pPr marL="342900" indent="-342900">
              <a:buFont typeface="Arial" panose="020B0604020202020204" pitchFamily="34" charset="0"/>
              <a:buChar char="•"/>
            </a:pPr>
            <a:r>
              <a:rPr lang="es-BO" sz="2400" dirty="0">
                <a:solidFill>
                  <a:schemeClr val="tx1">
                    <a:lumMod val="85000"/>
                  </a:schemeClr>
                </a:solidFill>
              </a:rPr>
              <a:t>Modelo </a:t>
            </a:r>
            <a:r>
              <a:rPr lang="es-BO" sz="2400" dirty="0" smtClean="0">
                <a:solidFill>
                  <a:schemeClr val="tx1">
                    <a:lumMod val="85000"/>
                  </a:schemeClr>
                </a:solidFill>
              </a:rPr>
              <a:t>econométrico.</a:t>
            </a:r>
            <a:endParaRPr lang="es-BO" sz="2400" dirty="0">
              <a:solidFill>
                <a:schemeClr val="tx1">
                  <a:lumMod val="85000"/>
                </a:schemeClr>
              </a:solidFill>
            </a:endParaRPr>
          </a:p>
          <a:p>
            <a:pPr marL="342900" indent="-342900">
              <a:buFont typeface="Arial" panose="020B0604020202020204" pitchFamily="34" charset="0"/>
              <a:buChar char="•"/>
            </a:pPr>
            <a:r>
              <a:rPr lang="es-BO" sz="2400" dirty="0">
                <a:solidFill>
                  <a:schemeClr val="tx1">
                    <a:lumMod val="85000"/>
                  </a:schemeClr>
                </a:solidFill>
              </a:rPr>
              <a:t>Método de encuestas de intenciones de compra</a:t>
            </a:r>
            <a:r>
              <a:rPr lang="es-BO" sz="2400" dirty="0" smtClean="0">
                <a:solidFill>
                  <a:schemeClr val="tx1">
                    <a:lumMod val="85000"/>
                  </a:schemeClr>
                </a:solidFill>
              </a:rPr>
              <a:t>.</a:t>
            </a:r>
            <a:endParaRPr lang="es-BO" sz="2400" dirty="0">
              <a:solidFill>
                <a:schemeClr val="tx1">
                  <a:lumMod val="85000"/>
                </a:schemeClr>
              </a:solidFill>
            </a:endParaRPr>
          </a:p>
        </p:txBody>
      </p:sp>
      <p:sp>
        <p:nvSpPr>
          <p:cNvPr id="4" name="CuadroTexto 3"/>
          <p:cNvSpPr txBox="1"/>
          <p:nvPr/>
        </p:nvSpPr>
        <p:spPr>
          <a:xfrm>
            <a:off x="152400" y="203200"/>
            <a:ext cx="8369300" cy="1077218"/>
          </a:xfrm>
          <a:prstGeom prst="rect">
            <a:avLst/>
          </a:prstGeom>
          <a:noFill/>
        </p:spPr>
        <p:txBody>
          <a:bodyPr wrap="square" rtlCol="0">
            <a:spAutoFit/>
          </a:bodyPr>
          <a:lstStyle/>
          <a:p>
            <a:r>
              <a:rPr lang="es-BO" sz="3200" dirty="0" smtClean="0">
                <a:solidFill>
                  <a:srgbClr val="FF0000"/>
                </a:solidFill>
              </a:rPr>
              <a:t>5 Técnicas de proyección del mercado.</a:t>
            </a:r>
          </a:p>
          <a:p>
            <a:r>
              <a:rPr lang="es-BO" sz="3200" dirty="0" smtClean="0">
                <a:solidFill>
                  <a:srgbClr val="FF0000"/>
                </a:solidFill>
              </a:rPr>
              <a:t>Métodos de proyección.</a:t>
            </a:r>
            <a:endParaRPr lang="es-BO" sz="3200" dirty="0">
              <a:solidFill>
                <a:srgbClr val="FF0000"/>
              </a:solidFill>
            </a:endParaRPr>
          </a:p>
        </p:txBody>
      </p:sp>
      <p:pic>
        <p:nvPicPr>
          <p:cNvPr id="3" name="Imagen 2"/>
          <p:cNvPicPr>
            <a:picLocks noChangeAspect="1"/>
          </p:cNvPicPr>
          <p:nvPr/>
        </p:nvPicPr>
        <p:blipFill>
          <a:blip r:embed="rId2"/>
          <a:stretch>
            <a:fillRect/>
          </a:stretch>
        </p:blipFill>
        <p:spPr>
          <a:xfrm>
            <a:off x="1139392" y="4296628"/>
            <a:ext cx="2532785" cy="1671638"/>
          </a:xfrm>
          <a:prstGeom prst="rect">
            <a:avLst/>
          </a:prstGeom>
        </p:spPr>
      </p:pic>
      <p:pic>
        <p:nvPicPr>
          <p:cNvPr id="5" name="Imagen 4"/>
          <p:cNvPicPr>
            <a:picLocks noChangeAspect="1"/>
          </p:cNvPicPr>
          <p:nvPr/>
        </p:nvPicPr>
        <p:blipFill>
          <a:blip r:embed="rId3"/>
          <a:stretch>
            <a:fillRect/>
          </a:stretch>
        </p:blipFill>
        <p:spPr>
          <a:xfrm>
            <a:off x="5016500" y="4060032"/>
            <a:ext cx="2794000" cy="2095500"/>
          </a:xfrm>
          <a:prstGeom prst="rect">
            <a:avLst/>
          </a:prstGeom>
        </p:spPr>
      </p:pic>
      <p:pic>
        <p:nvPicPr>
          <p:cNvPr id="6" name="Imagen 5"/>
          <p:cNvPicPr>
            <a:picLocks noChangeAspect="1"/>
          </p:cNvPicPr>
          <p:nvPr/>
        </p:nvPicPr>
        <p:blipFill>
          <a:blip r:embed="rId4"/>
          <a:stretch>
            <a:fillRect/>
          </a:stretch>
        </p:blipFill>
        <p:spPr>
          <a:xfrm>
            <a:off x="9049615" y="4491038"/>
            <a:ext cx="2762250" cy="1657350"/>
          </a:xfrm>
          <a:prstGeom prst="rect">
            <a:avLst/>
          </a:prstGeom>
        </p:spPr>
      </p:pic>
    </p:spTree>
    <p:extLst>
      <p:ext uri="{BB962C8B-B14F-4D97-AF65-F5344CB8AC3E}">
        <p14:creationId xmlns:p14="http://schemas.microsoft.com/office/powerpoint/2010/main" val="32605946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uadroTexto 6"/>
          <p:cNvSpPr txBox="1"/>
          <p:nvPr/>
        </p:nvSpPr>
        <p:spPr>
          <a:xfrm>
            <a:off x="1181100" y="2273300"/>
            <a:ext cx="10172700" cy="2308324"/>
          </a:xfrm>
          <a:prstGeom prst="rect">
            <a:avLst/>
          </a:prstGeom>
          <a:solidFill>
            <a:srgbClr val="002060"/>
          </a:solidFill>
        </p:spPr>
        <p:txBody>
          <a:bodyPr wrap="square" rtlCol="0">
            <a:spAutoFit/>
          </a:bodyPr>
          <a:lstStyle/>
          <a:p>
            <a:r>
              <a:rPr lang="es-BO" sz="2400" dirty="0" smtClean="0">
                <a:solidFill>
                  <a:srgbClr val="FFC000"/>
                </a:solidFill>
              </a:rPr>
              <a:t>Series de tiempo.</a:t>
            </a:r>
          </a:p>
          <a:p>
            <a:r>
              <a:rPr lang="es-BO" sz="2400" dirty="0" smtClean="0">
                <a:solidFill>
                  <a:schemeClr val="tx1">
                    <a:lumMod val="85000"/>
                  </a:schemeClr>
                </a:solidFill>
              </a:rPr>
              <a:t>Estos </a:t>
            </a:r>
            <a:r>
              <a:rPr lang="es-BO" sz="2400" dirty="0">
                <a:solidFill>
                  <a:schemeClr val="tx1">
                    <a:lumMod val="85000"/>
                  </a:schemeClr>
                </a:solidFill>
              </a:rPr>
              <a:t>instrumentos de investigación son usados cuando el comportamiento que asumirá el mercado puede explicarse en gran medida por lo que sucedió en el pasado; sin embargo, para elaborar pronósticos es necesario contar con la información histórica adecuada, </a:t>
            </a:r>
            <a:r>
              <a:rPr lang="es-BO" sz="2400" dirty="0" err="1" smtClean="0">
                <a:solidFill>
                  <a:schemeClr val="tx1">
                    <a:lumMod val="85000"/>
                  </a:schemeClr>
                </a:solidFill>
              </a:rPr>
              <a:t>conﬁable</a:t>
            </a:r>
            <a:r>
              <a:rPr lang="es-BO" sz="2400" dirty="0" smtClean="0">
                <a:solidFill>
                  <a:schemeClr val="tx1">
                    <a:lumMod val="85000"/>
                  </a:schemeClr>
                </a:solidFill>
              </a:rPr>
              <a:t> </a:t>
            </a:r>
            <a:r>
              <a:rPr lang="es-BO" sz="2400" dirty="0">
                <a:solidFill>
                  <a:schemeClr val="tx1">
                    <a:lumMod val="85000"/>
                  </a:schemeClr>
                </a:solidFill>
              </a:rPr>
              <a:t>y completa.</a:t>
            </a:r>
          </a:p>
        </p:txBody>
      </p:sp>
      <p:sp>
        <p:nvSpPr>
          <p:cNvPr id="4" name="CuadroTexto 3"/>
          <p:cNvSpPr txBox="1"/>
          <p:nvPr/>
        </p:nvSpPr>
        <p:spPr>
          <a:xfrm>
            <a:off x="152400" y="203200"/>
            <a:ext cx="8369300" cy="1077218"/>
          </a:xfrm>
          <a:prstGeom prst="rect">
            <a:avLst/>
          </a:prstGeom>
          <a:noFill/>
        </p:spPr>
        <p:txBody>
          <a:bodyPr wrap="square" rtlCol="0">
            <a:spAutoFit/>
          </a:bodyPr>
          <a:lstStyle/>
          <a:p>
            <a:r>
              <a:rPr lang="es-BO" sz="3200" dirty="0" smtClean="0">
                <a:solidFill>
                  <a:srgbClr val="FF0000"/>
                </a:solidFill>
              </a:rPr>
              <a:t>5 Técnicas de proyección del mercado.</a:t>
            </a:r>
          </a:p>
          <a:p>
            <a:r>
              <a:rPr lang="es-BO" sz="3200" dirty="0" smtClean="0">
                <a:solidFill>
                  <a:srgbClr val="FF0000"/>
                </a:solidFill>
              </a:rPr>
              <a:t>Métodos de proyección.</a:t>
            </a:r>
            <a:endParaRPr lang="es-BO" sz="3200" dirty="0">
              <a:solidFill>
                <a:srgbClr val="FF0000"/>
              </a:solidFill>
            </a:endParaRPr>
          </a:p>
        </p:txBody>
      </p:sp>
    </p:spTree>
    <p:extLst>
      <p:ext uri="{BB962C8B-B14F-4D97-AF65-F5344CB8AC3E}">
        <p14:creationId xmlns:p14="http://schemas.microsoft.com/office/powerpoint/2010/main" val="31221690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uadroTexto 6"/>
          <p:cNvSpPr txBox="1"/>
          <p:nvPr/>
        </p:nvSpPr>
        <p:spPr>
          <a:xfrm>
            <a:off x="1181100" y="2273300"/>
            <a:ext cx="10172700" cy="830997"/>
          </a:xfrm>
          <a:prstGeom prst="rect">
            <a:avLst/>
          </a:prstGeom>
          <a:solidFill>
            <a:srgbClr val="002060"/>
          </a:solidFill>
        </p:spPr>
        <p:txBody>
          <a:bodyPr wrap="square" rtlCol="0">
            <a:spAutoFit/>
          </a:bodyPr>
          <a:lstStyle/>
          <a:p>
            <a:r>
              <a:rPr lang="es-BO" sz="2400" dirty="0" smtClean="0">
                <a:solidFill>
                  <a:schemeClr val="tx1">
                    <a:lumMod val="85000"/>
                  </a:schemeClr>
                </a:solidFill>
              </a:rPr>
              <a:t>A manera de ejemplo:</a:t>
            </a:r>
          </a:p>
          <a:p>
            <a:r>
              <a:rPr lang="es-BO" sz="2400" dirty="0" smtClean="0">
                <a:solidFill>
                  <a:schemeClr val="tx1">
                    <a:lumMod val="85000"/>
                  </a:schemeClr>
                </a:solidFill>
              </a:rPr>
              <a:t>Pronosticar el numero de días que lloverá en noviembre del 2021.</a:t>
            </a:r>
            <a:endParaRPr lang="es-BO" sz="2400" dirty="0">
              <a:solidFill>
                <a:schemeClr val="tx1">
                  <a:lumMod val="85000"/>
                </a:schemeClr>
              </a:solidFill>
            </a:endParaRPr>
          </a:p>
        </p:txBody>
      </p:sp>
      <p:sp>
        <p:nvSpPr>
          <p:cNvPr id="4" name="CuadroTexto 3"/>
          <p:cNvSpPr txBox="1"/>
          <p:nvPr/>
        </p:nvSpPr>
        <p:spPr>
          <a:xfrm>
            <a:off x="152400" y="203200"/>
            <a:ext cx="8369300" cy="1077218"/>
          </a:xfrm>
          <a:prstGeom prst="rect">
            <a:avLst/>
          </a:prstGeom>
          <a:noFill/>
        </p:spPr>
        <p:txBody>
          <a:bodyPr wrap="square" rtlCol="0">
            <a:spAutoFit/>
          </a:bodyPr>
          <a:lstStyle/>
          <a:p>
            <a:r>
              <a:rPr lang="es-BO" sz="3200" dirty="0" smtClean="0">
                <a:solidFill>
                  <a:srgbClr val="FF0000"/>
                </a:solidFill>
              </a:rPr>
              <a:t>5 Técnicas de proyección del mercado.</a:t>
            </a:r>
          </a:p>
          <a:p>
            <a:r>
              <a:rPr lang="es-BO" sz="3200" dirty="0" smtClean="0">
                <a:solidFill>
                  <a:srgbClr val="FF0000"/>
                </a:solidFill>
              </a:rPr>
              <a:t>Métodos de proyección.</a:t>
            </a:r>
            <a:endParaRPr lang="es-BO" sz="3200" dirty="0">
              <a:solidFill>
                <a:srgbClr val="FF0000"/>
              </a:solidFill>
            </a:endParaRPr>
          </a:p>
        </p:txBody>
      </p:sp>
      <p:graphicFrame>
        <p:nvGraphicFramePr>
          <p:cNvPr id="2" name="Tabla 1"/>
          <p:cNvGraphicFramePr>
            <a:graphicFrameLocks noGrp="1"/>
          </p:cNvGraphicFramePr>
          <p:nvPr>
            <p:extLst>
              <p:ext uri="{D42A27DB-BD31-4B8C-83A1-F6EECF244321}">
                <p14:modId xmlns:p14="http://schemas.microsoft.com/office/powerpoint/2010/main" val="1145207266"/>
              </p:ext>
            </p:extLst>
          </p:nvPr>
        </p:nvGraphicFramePr>
        <p:xfrm>
          <a:off x="2542118" y="3726339"/>
          <a:ext cx="7450663" cy="741680"/>
        </p:xfrm>
        <a:graphic>
          <a:graphicData uri="http://schemas.openxmlformats.org/drawingml/2006/table">
            <a:tbl>
              <a:tblPr firstRow="1" bandRow="1">
                <a:tableStyleId>{5C22544A-7EE6-4342-B048-85BDC9FD1C3A}</a:tableStyleId>
              </a:tblPr>
              <a:tblGrid>
                <a:gridCol w="698500">
                  <a:extLst>
                    <a:ext uri="{9D8B030D-6E8A-4147-A177-3AD203B41FA5}">
                      <a16:colId xmlns:a16="http://schemas.microsoft.com/office/drawing/2014/main" val="3420402671"/>
                    </a:ext>
                  </a:extLst>
                </a:gridCol>
                <a:gridCol w="656166">
                  <a:extLst>
                    <a:ext uri="{9D8B030D-6E8A-4147-A177-3AD203B41FA5}">
                      <a16:colId xmlns:a16="http://schemas.microsoft.com/office/drawing/2014/main" val="1056525169"/>
                    </a:ext>
                  </a:extLst>
                </a:gridCol>
                <a:gridCol w="677333">
                  <a:extLst>
                    <a:ext uri="{9D8B030D-6E8A-4147-A177-3AD203B41FA5}">
                      <a16:colId xmlns:a16="http://schemas.microsoft.com/office/drawing/2014/main" val="3317547747"/>
                    </a:ext>
                  </a:extLst>
                </a:gridCol>
                <a:gridCol w="677333">
                  <a:extLst>
                    <a:ext uri="{9D8B030D-6E8A-4147-A177-3AD203B41FA5}">
                      <a16:colId xmlns:a16="http://schemas.microsoft.com/office/drawing/2014/main" val="987250366"/>
                    </a:ext>
                  </a:extLst>
                </a:gridCol>
                <a:gridCol w="677333">
                  <a:extLst>
                    <a:ext uri="{9D8B030D-6E8A-4147-A177-3AD203B41FA5}">
                      <a16:colId xmlns:a16="http://schemas.microsoft.com/office/drawing/2014/main" val="2811122468"/>
                    </a:ext>
                  </a:extLst>
                </a:gridCol>
                <a:gridCol w="677333">
                  <a:extLst>
                    <a:ext uri="{9D8B030D-6E8A-4147-A177-3AD203B41FA5}">
                      <a16:colId xmlns:a16="http://schemas.microsoft.com/office/drawing/2014/main" val="903516024"/>
                    </a:ext>
                  </a:extLst>
                </a:gridCol>
                <a:gridCol w="677333">
                  <a:extLst>
                    <a:ext uri="{9D8B030D-6E8A-4147-A177-3AD203B41FA5}">
                      <a16:colId xmlns:a16="http://schemas.microsoft.com/office/drawing/2014/main" val="2535644872"/>
                    </a:ext>
                  </a:extLst>
                </a:gridCol>
                <a:gridCol w="677333">
                  <a:extLst>
                    <a:ext uri="{9D8B030D-6E8A-4147-A177-3AD203B41FA5}">
                      <a16:colId xmlns:a16="http://schemas.microsoft.com/office/drawing/2014/main" val="4007648347"/>
                    </a:ext>
                  </a:extLst>
                </a:gridCol>
                <a:gridCol w="677333">
                  <a:extLst>
                    <a:ext uri="{9D8B030D-6E8A-4147-A177-3AD203B41FA5}">
                      <a16:colId xmlns:a16="http://schemas.microsoft.com/office/drawing/2014/main" val="1443315833"/>
                    </a:ext>
                  </a:extLst>
                </a:gridCol>
                <a:gridCol w="677333">
                  <a:extLst>
                    <a:ext uri="{9D8B030D-6E8A-4147-A177-3AD203B41FA5}">
                      <a16:colId xmlns:a16="http://schemas.microsoft.com/office/drawing/2014/main" val="1398708919"/>
                    </a:ext>
                  </a:extLst>
                </a:gridCol>
                <a:gridCol w="677333">
                  <a:extLst>
                    <a:ext uri="{9D8B030D-6E8A-4147-A177-3AD203B41FA5}">
                      <a16:colId xmlns:a16="http://schemas.microsoft.com/office/drawing/2014/main" val="3842317305"/>
                    </a:ext>
                  </a:extLst>
                </a:gridCol>
              </a:tblGrid>
              <a:tr h="370840">
                <a:tc>
                  <a:txBody>
                    <a:bodyPr/>
                    <a:lstStyle/>
                    <a:p>
                      <a:r>
                        <a:rPr lang="es-BO" dirty="0" smtClean="0"/>
                        <a:t>Año</a:t>
                      </a:r>
                      <a:endParaRPr lang="es-BO" dirty="0"/>
                    </a:p>
                  </a:txBody>
                  <a:tcPr/>
                </a:tc>
                <a:tc>
                  <a:txBody>
                    <a:bodyPr/>
                    <a:lstStyle/>
                    <a:p>
                      <a:r>
                        <a:rPr lang="es-BO" dirty="0" smtClean="0"/>
                        <a:t>Ene</a:t>
                      </a:r>
                      <a:endParaRPr lang="es-BO" dirty="0"/>
                    </a:p>
                  </a:txBody>
                  <a:tcPr/>
                </a:tc>
                <a:tc>
                  <a:txBody>
                    <a:bodyPr/>
                    <a:lstStyle/>
                    <a:p>
                      <a:r>
                        <a:rPr lang="es-BO" dirty="0" smtClean="0"/>
                        <a:t>Feb</a:t>
                      </a:r>
                      <a:endParaRPr lang="es-BO" dirty="0"/>
                    </a:p>
                  </a:txBody>
                  <a:tcPr/>
                </a:tc>
                <a:tc>
                  <a:txBody>
                    <a:bodyPr/>
                    <a:lstStyle/>
                    <a:p>
                      <a:r>
                        <a:rPr lang="es-BO" dirty="0" smtClean="0"/>
                        <a:t>Mar</a:t>
                      </a:r>
                      <a:endParaRPr lang="es-BO" dirty="0"/>
                    </a:p>
                  </a:txBody>
                  <a:tcPr/>
                </a:tc>
                <a:tc>
                  <a:txBody>
                    <a:bodyPr/>
                    <a:lstStyle/>
                    <a:p>
                      <a:r>
                        <a:rPr lang="es-BO" dirty="0" smtClean="0"/>
                        <a:t>Abr</a:t>
                      </a:r>
                      <a:endParaRPr lang="es-BO" dirty="0"/>
                    </a:p>
                  </a:txBody>
                  <a:tcPr/>
                </a:tc>
                <a:tc>
                  <a:txBody>
                    <a:bodyPr/>
                    <a:lstStyle/>
                    <a:p>
                      <a:r>
                        <a:rPr lang="es-BO" dirty="0" err="1" smtClean="0"/>
                        <a:t>May</a:t>
                      </a:r>
                      <a:endParaRPr lang="es-BO" dirty="0"/>
                    </a:p>
                  </a:txBody>
                  <a:tcPr/>
                </a:tc>
                <a:tc>
                  <a:txBody>
                    <a:bodyPr/>
                    <a:lstStyle/>
                    <a:p>
                      <a:r>
                        <a:rPr lang="es-BO" dirty="0" smtClean="0"/>
                        <a:t>Jun</a:t>
                      </a:r>
                      <a:endParaRPr lang="es-BO" dirty="0"/>
                    </a:p>
                  </a:txBody>
                  <a:tcPr/>
                </a:tc>
                <a:tc>
                  <a:txBody>
                    <a:bodyPr/>
                    <a:lstStyle/>
                    <a:p>
                      <a:r>
                        <a:rPr lang="es-BO" dirty="0" smtClean="0"/>
                        <a:t>Jul</a:t>
                      </a:r>
                      <a:endParaRPr lang="es-BO" dirty="0"/>
                    </a:p>
                  </a:txBody>
                  <a:tcPr/>
                </a:tc>
                <a:tc>
                  <a:txBody>
                    <a:bodyPr/>
                    <a:lstStyle/>
                    <a:p>
                      <a:r>
                        <a:rPr lang="es-BO" dirty="0" err="1" smtClean="0"/>
                        <a:t>Ago</a:t>
                      </a:r>
                      <a:endParaRPr lang="es-BO" dirty="0"/>
                    </a:p>
                  </a:txBody>
                  <a:tcPr/>
                </a:tc>
                <a:tc>
                  <a:txBody>
                    <a:bodyPr/>
                    <a:lstStyle/>
                    <a:p>
                      <a:r>
                        <a:rPr lang="es-BO" dirty="0" err="1" smtClean="0"/>
                        <a:t>Sep</a:t>
                      </a:r>
                      <a:endParaRPr lang="es-BO" dirty="0"/>
                    </a:p>
                  </a:txBody>
                  <a:tcPr/>
                </a:tc>
                <a:tc>
                  <a:txBody>
                    <a:bodyPr/>
                    <a:lstStyle/>
                    <a:p>
                      <a:r>
                        <a:rPr lang="es-BO" dirty="0" smtClean="0"/>
                        <a:t>Oct</a:t>
                      </a:r>
                      <a:endParaRPr lang="es-BO" dirty="0"/>
                    </a:p>
                  </a:txBody>
                  <a:tcPr/>
                </a:tc>
                <a:extLst>
                  <a:ext uri="{0D108BD9-81ED-4DB2-BD59-A6C34878D82A}">
                    <a16:rowId xmlns:a16="http://schemas.microsoft.com/office/drawing/2014/main" val="2234931124"/>
                  </a:ext>
                </a:extLst>
              </a:tr>
              <a:tr h="370840">
                <a:tc>
                  <a:txBody>
                    <a:bodyPr/>
                    <a:lstStyle/>
                    <a:p>
                      <a:r>
                        <a:rPr lang="es-BO" dirty="0" smtClean="0"/>
                        <a:t>2021</a:t>
                      </a:r>
                      <a:endParaRPr lang="es-BO" dirty="0"/>
                    </a:p>
                  </a:txBody>
                  <a:tcPr/>
                </a:tc>
                <a:tc>
                  <a:txBody>
                    <a:bodyPr/>
                    <a:lstStyle/>
                    <a:p>
                      <a:r>
                        <a:rPr lang="es-BO" dirty="0" smtClean="0"/>
                        <a:t>7</a:t>
                      </a:r>
                      <a:endParaRPr lang="es-BO" dirty="0"/>
                    </a:p>
                  </a:txBody>
                  <a:tcPr/>
                </a:tc>
                <a:tc>
                  <a:txBody>
                    <a:bodyPr/>
                    <a:lstStyle/>
                    <a:p>
                      <a:r>
                        <a:rPr lang="es-BO" dirty="0" smtClean="0"/>
                        <a:t>13</a:t>
                      </a:r>
                      <a:endParaRPr lang="es-BO" dirty="0"/>
                    </a:p>
                  </a:txBody>
                  <a:tcPr/>
                </a:tc>
                <a:tc>
                  <a:txBody>
                    <a:bodyPr/>
                    <a:lstStyle/>
                    <a:p>
                      <a:r>
                        <a:rPr lang="es-BO" dirty="0" smtClean="0"/>
                        <a:t>8</a:t>
                      </a:r>
                      <a:endParaRPr lang="es-BO" dirty="0"/>
                    </a:p>
                  </a:txBody>
                  <a:tcPr/>
                </a:tc>
                <a:tc>
                  <a:txBody>
                    <a:bodyPr/>
                    <a:lstStyle/>
                    <a:p>
                      <a:r>
                        <a:rPr lang="es-BO" dirty="0" smtClean="0"/>
                        <a:t>5</a:t>
                      </a:r>
                      <a:endParaRPr lang="es-BO" dirty="0"/>
                    </a:p>
                  </a:txBody>
                  <a:tcPr/>
                </a:tc>
                <a:tc>
                  <a:txBody>
                    <a:bodyPr/>
                    <a:lstStyle/>
                    <a:p>
                      <a:r>
                        <a:rPr lang="es-BO" dirty="0" smtClean="0"/>
                        <a:t>6</a:t>
                      </a:r>
                      <a:endParaRPr lang="es-BO" dirty="0"/>
                    </a:p>
                  </a:txBody>
                  <a:tcPr/>
                </a:tc>
                <a:tc>
                  <a:txBody>
                    <a:bodyPr/>
                    <a:lstStyle/>
                    <a:p>
                      <a:r>
                        <a:rPr lang="es-BO" dirty="0" smtClean="0"/>
                        <a:t>2</a:t>
                      </a:r>
                      <a:endParaRPr lang="es-BO" dirty="0"/>
                    </a:p>
                  </a:txBody>
                  <a:tcPr/>
                </a:tc>
                <a:tc>
                  <a:txBody>
                    <a:bodyPr/>
                    <a:lstStyle/>
                    <a:p>
                      <a:r>
                        <a:rPr lang="es-BO" dirty="0" smtClean="0"/>
                        <a:t>9</a:t>
                      </a:r>
                      <a:endParaRPr lang="es-BO" dirty="0"/>
                    </a:p>
                  </a:txBody>
                  <a:tcPr/>
                </a:tc>
                <a:tc>
                  <a:txBody>
                    <a:bodyPr/>
                    <a:lstStyle/>
                    <a:p>
                      <a:r>
                        <a:rPr lang="es-BO" dirty="0" smtClean="0"/>
                        <a:t>9</a:t>
                      </a:r>
                      <a:endParaRPr lang="es-BO" dirty="0"/>
                    </a:p>
                  </a:txBody>
                  <a:tcPr/>
                </a:tc>
                <a:tc>
                  <a:txBody>
                    <a:bodyPr/>
                    <a:lstStyle/>
                    <a:p>
                      <a:r>
                        <a:rPr lang="es-BO" dirty="0" smtClean="0"/>
                        <a:t>18</a:t>
                      </a:r>
                      <a:endParaRPr lang="es-BO" dirty="0"/>
                    </a:p>
                  </a:txBody>
                  <a:tcPr/>
                </a:tc>
                <a:tc>
                  <a:txBody>
                    <a:bodyPr/>
                    <a:lstStyle/>
                    <a:p>
                      <a:r>
                        <a:rPr lang="es-BO" dirty="0" smtClean="0"/>
                        <a:t>23</a:t>
                      </a:r>
                      <a:endParaRPr lang="es-BO" dirty="0"/>
                    </a:p>
                  </a:txBody>
                  <a:tcPr/>
                </a:tc>
                <a:extLst>
                  <a:ext uri="{0D108BD9-81ED-4DB2-BD59-A6C34878D82A}">
                    <a16:rowId xmlns:a16="http://schemas.microsoft.com/office/drawing/2014/main" val="1405108886"/>
                  </a:ext>
                </a:extLst>
              </a:tr>
            </a:tbl>
          </a:graphicData>
        </a:graphic>
      </p:graphicFrame>
    </p:spTree>
    <p:extLst>
      <p:ext uri="{BB962C8B-B14F-4D97-AF65-F5344CB8AC3E}">
        <p14:creationId xmlns:p14="http://schemas.microsoft.com/office/powerpoint/2010/main" val="14500689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p:cNvSpPr txBox="1"/>
          <p:nvPr/>
        </p:nvSpPr>
        <p:spPr>
          <a:xfrm>
            <a:off x="152400" y="203200"/>
            <a:ext cx="8369300" cy="1077218"/>
          </a:xfrm>
          <a:prstGeom prst="rect">
            <a:avLst/>
          </a:prstGeom>
          <a:noFill/>
        </p:spPr>
        <p:txBody>
          <a:bodyPr wrap="square" rtlCol="0">
            <a:spAutoFit/>
          </a:bodyPr>
          <a:lstStyle/>
          <a:p>
            <a:r>
              <a:rPr lang="es-BO" sz="3200" dirty="0" smtClean="0">
                <a:solidFill>
                  <a:srgbClr val="FF0000"/>
                </a:solidFill>
              </a:rPr>
              <a:t>5 Técnicas de proyección del mercado.</a:t>
            </a:r>
          </a:p>
          <a:p>
            <a:r>
              <a:rPr lang="es-BO" sz="3200" dirty="0" smtClean="0">
                <a:solidFill>
                  <a:srgbClr val="FF0000"/>
                </a:solidFill>
              </a:rPr>
              <a:t>Métodos de proyección.</a:t>
            </a:r>
            <a:endParaRPr lang="es-BO" sz="3200" dirty="0">
              <a:solidFill>
                <a:srgbClr val="FF0000"/>
              </a:solidFill>
            </a:endParaRPr>
          </a:p>
        </p:txBody>
      </p:sp>
      <p:sp>
        <p:nvSpPr>
          <p:cNvPr id="5" name="CuadroTexto 4"/>
          <p:cNvSpPr txBox="1"/>
          <p:nvPr/>
        </p:nvSpPr>
        <p:spPr>
          <a:xfrm>
            <a:off x="1384300" y="2247900"/>
            <a:ext cx="10172700" cy="2677656"/>
          </a:xfrm>
          <a:prstGeom prst="rect">
            <a:avLst/>
          </a:prstGeom>
          <a:solidFill>
            <a:srgbClr val="002060"/>
          </a:solidFill>
        </p:spPr>
        <p:txBody>
          <a:bodyPr wrap="square" rtlCol="0">
            <a:spAutoFit/>
          </a:bodyPr>
          <a:lstStyle/>
          <a:p>
            <a:r>
              <a:rPr lang="es-BO" sz="2400" dirty="0">
                <a:solidFill>
                  <a:schemeClr val="tx1">
                    <a:lumMod val="85000"/>
                  </a:schemeClr>
                </a:solidFill>
              </a:rPr>
              <a:t>El registro diario y ordenado de los datos del precio del dólar </a:t>
            </a:r>
            <a:r>
              <a:rPr lang="es-BO" sz="2400" dirty="0" smtClean="0">
                <a:solidFill>
                  <a:schemeClr val="tx1">
                    <a:lumMod val="85000"/>
                  </a:schemeClr>
                </a:solidFill>
              </a:rPr>
              <a:t>($</a:t>
            </a:r>
            <a:r>
              <a:rPr lang="es-BO" sz="2400" dirty="0" err="1" smtClean="0">
                <a:solidFill>
                  <a:schemeClr val="tx1">
                    <a:lumMod val="85000"/>
                  </a:schemeClr>
                </a:solidFill>
              </a:rPr>
              <a:t>us</a:t>
            </a:r>
            <a:r>
              <a:rPr lang="es-BO" sz="2400" dirty="0" smtClean="0">
                <a:solidFill>
                  <a:schemeClr val="tx1">
                    <a:lumMod val="85000"/>
                  </a:schemeClr>
                </a:solidFill>
              </a:rPr>
              <a:t>) en bolivianos (Bs) </a:t>
            </a:r>
            <a:r>
              <a:rPr lang="es-BO" sz="2400" dirty="0">
                <a:solidFill>
                  <a:schemeClr val="tx1">
                    <a:lumMod val="85000"/>
                  </a:schemeClr>
                </a:solidFill>
              </a:rPr>
              <a:t>es una observación del tipo series de tiempo. Esto se debe a que en las observaciones se ordenan dependiendo de la fecha que se va registrando. En otras palabras, las series de tiempo se pueden definir como una colección de datos que pertenecen a diferentes periodos de tiempo, es decir, se van registrando a medida que se producen, en un orden </a:t>
            </a:r>
            <a:r>
              <a:rPr lang="es-BO" sz="2400" dirty="0" smtClean="0">
                <a:solidFill>
                  <a:schemeClr val="tx1">
                    <a:lumMod val="85000"/>
                  </a:schemeClr>
                </a:solidFill>
              </a:rPr>
              <a:t>cronológico.</a:t>
            </a:r>
            <a:endParaRPr lang="es-BO" sz="2400" dirty="0">
              <a:solidFill>
                <a:schemeClr val="tx1">
                  <a:lumMod val="85000"/>
                </a:schemeClr>
              </a:solidFill>
            </a:endParaRPr>
          </a:p>
        </p:txBody>
      </p:sp>
    </p:spTree>
    <p:extLst>
      <p:ext uri="{BB962C8B-B14F-4D97-AF65-F5344CB8AC3E}">
        <p14:creationId xmlns:p14="http://schemas.microsoft.com/office/powerpoint/2010/main" val="1540578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p:cNvSpPr txBox="1"/>
          <p:nvPr/>
        </p:nvSpPr>
        <p:spPr>
          <a:xfrm>
            <a:off x="152400" y="203200"/>
            <a:ext cx="8369300" cy="1077218"/>
          </a:xfrm>
          <a:prstGeom prst="rect">
            <a:avLst/>
          </a:prstGeom>
          <a:noFill/>
        </p:spPr>
        <p:txBody>
          <a:bodyPr wrap="square" rtlCol="0">
            <a:spAutoFit/>
          </a:bodyPr>
          <a:lstStyle/>
          <a:p>
            <a:r>
              <a:rPr lang="es-BO" sz="3200" dirty="0" smtClean="0">
                <a:solidFill>
                  <a:srgbClr val="FF0000"/>
                </a:solidFill>
              </a:rPr>
              <a:t>5 Técnicas de proyección del mercado.</a:t>
            </a:r>
          </a:p>
          <a:p>
            <a:r>
              <a:rPr lang="es-BO" sz="3200" dirty="0" smtClean="0">
                <a:solidFill>
                  <a:srgbClr val="FF0000"/>
                </a:solidFill>
              </a:rPr>
              <a:t>Métodos de proyección.</a:t>
            </a:r>
            <a:endParaRPr lang="es-BO" sz="3200" dirty="0">
              <a:solidFill>
                <a:srgbClr val="FF0000"/>
              </a:solidFill>
            </a:endParaRPr>
          </a:p>
        </p:txBody>
      </p:sp>
      <p:sp>
        <p:nvSpPr>
          <p:cNvPr id="5" name="CuadroTexto 4"/>
          <p:cNvSpPr txBox="1"/>
          <p:nvPr/>
        </p:nvSpPr>
        <p:spPr>
          <a:xfrm>
            <a:off x="1143000" y="2628900"/>
            <a:ext cx="10172700" cy="1200329"/>
          </a:xfrm>
          <a:prstGeom prst="rect">
            <a:avLst/>
          </a:prstGeom>
          <a:solidFill>
            <a:srgbClr val="002060"/>
          </a:solidFill>
        </p:spPr>
        <p:txBody>
          <a:bodyPr wrap="square" rtlCol="0">
            <a:spAutoFit/>
          </a:bodyPr>
          <a:lstStyle/>
          <a:p>
            <a:r>
              <a:rPr lang="es-BO" sz="2400" dirty="0">
                <a:solidFill>
                  <a:schemeClr val="tx1">
                    <a:lumMod val="85000"/>
                  </a:schemeClr>
                </a:solidFill>
              </a:rPr>
              <a:t>De la definición anterior es claro que una serie de tiempo se compone de información histórica o pasada, información utilizada como base para realizar pronósticos.</a:t>
            </a:r>
          </a:p>
        </p:txBody>
      </p:sp>
    </p:spTree>
    <p:extLst>
      <p:ext uri="{BB962C8B-B14F-4D97-AF65-F5344CB8AC3E}">
        <p14:creationId xmlns:p14="http://schemas.microsoft.com/office/powerpoint/2010/main" val="21463942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p:cNvSpPr txBox="1"/>
          <p:nvPr/>
        </p:nvSpPr>
        <p:spPr>
          <a:xfrm>
            <a:off x="152400" y="203200"/>
            <a:ext cx="8369300" cy="1077218"/>
          </a:xfrm>
          <a:prstGeom prst="rect">
            <a:avLst/>
          </a:prstGeom>
          <a:noFill/>
        </p:spPr>
        <p:txBody>
          <a:bodyPr wrap="square" rtlCol="0">
            <a:spAutoFit/>
          </a:bodyPr>
          <a:lstStyle/>
          <a:p>
            <a:r>
              <a:rPr lang="es-BO" sz="3200" dirty="0" smtClean="0">
                <a:solidFill>
                  <a:srgbClr val="FF0000"/>
                </a:solidFill>
              </a:rPr>
              <a:t>5 Técnicas de proyección del mercado.</a:t>
            </a:r>
          </a:p>
          <a:p>
            <a:r>
              <a:rPr lang="es-BO" sz="3200" dirty="0" smtClean="0">
                <a:solidFill>
                  <a:srgbClr val="FF0000"/>
                </a:solidFill>
              </a:rPr>
              <a:t>Métodos de proyección.</a:t>
            </a:r>
            <a:endParaRPr lang="es-BO" sz="3200" dirty="0">
              <a:solidFill>
                <a:srgbClr val="FF0000"/>
              </a:solidFill>
            </a:endParaRPr>
          </a:p>
        </p:txBody>
      </p:sp>
      <p:pic>
        <p:nvPicPr>
          <p:cNvPr id="3" name="Imagen 2"/>
          <p:cNvPicPr>
            <a:picLocks noChangeAspect="1"/>
          </p:cNvPicPr>
          <p:nvPr/>
        </p:nvPicPr>
        <p:blipFill>
          <a:blip r:embed="rId2"/>
          <a:stretch>
            <a:fillRect/>
          </a:stretch>
        </p:blipFill>
        <p:spPr>
          <a:xfrm>
            <a:off x="946759" y="1796629"/>
            <a:ext cx="10515986" cy="3956471"/>
          </a:xfrm>
          <a:prstGeom prst="rect">
            <a:avLst/>
          </a:prstGeom>
        </p:spPr>
      </p:pic>
    </p:spTree>
    <p:extLst>
      <p:ext uri="{BB962C8B-B14F-4D97-AF65-F5344CB8AC3E}">
        <p14:creationId xmlns:p14="http://schemas.microsoft.com/office/powerpoint/2010/main" val="2239737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p:cNvSpPr txBox="1"/>
          <p:nvPr/>
        </p:nvSpPr>
        <p:spPr>
          <a:xfrm>
            <a:off x="152400" y="203200"/>
            <a:ext cx="8369300" cy="1077218"/>
          </a:xfrm>
          <a:prstGeom prst="rect">
            <a:avLst/>
          </a:prstGeom>
          <a:noFill/>
        </p:spPr>
        <p:txBody>
          <a:bodyPr wrap="square" rtlCol="0">
            <a:spAutoFit/>
          </a:bodyPr>
          <a:lstStyle/>
          <a:p>
            <a:r>
              <a:rPr lang="es-BO" sz="3200" dirty="0" smtClean="0">
                <a:solidFill>
                  <a:srgbClr val="FF0000"/>
                </a:solidFill>
              </a:rPr>
              <a:t>5 Técnicas de proyección del mercado.</a:t>
            </a:r>
          </a:p>
          <a:p>
            <a:r>
              <a:rPr lang="es-BO" sz="3200" dirty="0" smtClean="0">
                <a:solidFill>
                  <a:srgbClr val="FF0000"/>
                </a:solidFill>
              </a:rPr>
              <a:t>Métodos de proyección.</a:t>
            </a:r>
            <a:endParaRPr lang="es-BO" sz="3200" dirty="0">
              <a:solidFill>
                <a:srgbClr val="FF0000"/>
              </a:solidFill>
            </a:endParaRPr>
          </a:p>
        </p:txBody>
      </p:sp>
      <mc:AlternateContent xmlns:mc="http://schemas.openxmlformats.org/markup-compatibility/2006" xmlns:a14="http://schemas.microsoft.com/office/drawing/2010/main">
        <mc:Choice Requires="a14">
          <p:sp>
            <p:nvSpPr>
              <p:cNvPr id="5" name="CuadroTexto 4"/>
              <p:cNvSpPr txBox="1"/>
              <p:nvPr/>
            </p:nvSpPr>
            <p:spPr>
              <a:xfrm>
                <a:off x="646612" y="2628900"/>
                <a:ext cx="11188338" cy="2308324"/>
              </a:xfrm>
              <a:prstGeom prst="rect">
                <a:avLst/>
              </a:prstGeom>
              <a:solidFill>
                <a:srgbClr val="002060"/>
              </a:solidFill>
            </p:spPr>
            <p:txBody>
              <a:bodyPr wrap="square" rtlCol="0">
                <a:spAutoFit/>
              </a:bodyPr>
              <a:lstStyle/>
              <a:p>
                <a:r>
                  <a:rPr lang="es-BO" sz="2400" dirty="0" smtClean="0">
                    <a:solidFill>
                      <a:schemeClr val="tx1">
                        <a:lumMod val="85000"/>
                      </a:schemeClr>
                    </a:solidFill>
                  </a:rPr>
                  <a:t>Formalmente la describimos de la siguiente manera:</a:t>
                </a:r>
              </a:p>
              <a:p>
                <a:pPr/>
                <a14:m>
                  <m:oMathPara xmlns:m="http://schemas.openxmlformats.org/officeDocument/2006/math">
                    <m:oMathParaPr>
                      <m:jc m:val="centerGroup"/>
                    </m:oMathParaPr>
                    <m:oMath xmlns:m="http://schemas.openxmlformats.org/officeDocument/2006/math">
                      <m:sSub>
                        <m:sSubPr>
                          <m:ctrlPr>
                            <a:rPr lang="es-BO" sz="2400" i="1" smtClean="0">
                              <a:solidFill>
                                <a:schemeClr val="tx1">
                                  <a:lumMod val="85000"/>
                                </a:schemeClr>
                              </a:solidFill>
                              <a:latin typeface="Cambria Math" panose="02040503050406030204" pitchFamily="18" charset="0"/>
                            </a:rPr>
                          </m:ctrlPr>
                        </m:sSubPr>
                        <m:e>
                          <m:r>
                            <a:rPr lang="es-BO" sz="2400" b="0" i="1" smtClean="0">
                              <a:solidFill>
                                <a:schemeClr val="tx1">
                                  <a:lumMod val="85000"/>
                                </a:schemeClr>
                              </a:solidFill>
                              <a:latin typeface="Cambria Math" panose="02040503050406030204" pitchFamily="18" charset="0"/>
                            </a:rPr>
                            <m:t>𝑋</m:t>
                          </m:r>
                        </m:e>
                        <m:sub>
                          <m:r>
                            <a:rPr lang="es-BO" sz="2400" b="0" i="1" smtClean="0">
                              <a:solidFill>
                                <a:schemeClr val="tx1">
                                  <a:lumMod val="85000"/>
                                </a:schemeClr>
                              </a:solidFill>
                              <a:latin typeface="Cambria Math" panose="02040503050406030204" pitchFamily="18" charset="0"/>
                            </a:rPr>
                            <m:t>𝑖</m:t>
                          </m:r>
                        </m:sub>
                      </m:sSub>
                      <m:r>
                        <a:rPr lang="es-BO" sz="2400" b="0" i="1" smtClean="0">
                          <a:solidFill>
                            <a:schemeClr val="tx1">
                              <a:lumMod val="85000"/>
                            </a:schemeClr>
                          </a:solidFill>
                          <a:latin typeface="Cambria Math" panose="02040503050406030204" pitchFamily="18" charset="0"/>
                        </a:rPr>
                        <m:t>:</m:t>
                      </m:r>
                      <m:r>
                        <a:rPr lang="es-BO" sz="2400" b="0" i="1" smtClean="0">
                          <a:solidFill>
                            <a:schemeClr val="tx1">
                              <a:lumMod val="85000"/>
                            </a:schemeClr>
                          </a:solidFill>
                          <a:latin typeface="Cambria Math" panose="02040503050406030204" pitchFamily="18" charset="0"/>
                        </a:rPr>
                        <m:t>𝑉𝑎𝑟𝑖𝑎𝑏𝑙𝑒</m:t>
                      </m:r>
                      <m:r>
                        <a:rPr lang="es-BO" sz="2400" b="0" i="1" smtClean="0">
                          <a:solidFill>
                            <a:schemeClr val="tx1">
                              <a:lumMod val="85000"/>
                            </a:schemeClr>
                          </a:solidFill>
                          <a:latin typeface="Cambria Math" panose="02040503050406030204" pitchFamily="18" charset="0"/>
                        </a:rPr>
                        <m:t> </m:t>
                      </m:r>
                      <m:r>
                        <a:rPr lang="es-BO" sz="2400" b="0" i="1" smtClean="0">
                          <a:solidFill>
                            <a:schemeClr val="tx1">
                              <a:lumMod val="85000"/>
                            </a:schemeClr>
                          </a:solidFill>
                          <a:latin typeface="Cambria Math" panose="02040503050406030204" pitchFamily="18" charset="0"/>
                        </a:rPr>
                        <m:t>𝑎𝑙𝑒𝑎𝑡𝑟𝑜𝑟𝑖𝑎</m:t>
                      </m:r>
                      <m:r>
                        <a:rPr lang="es-BO" sz="2400" b="0" i="1" smtClean="0">
                          <a:solidFill>
                            <a:schemeClr val="tx1">
                              <a:lumMod val="85000"/>
                            </a:schemeClr>
                          </a:solidFill>
                          <a:latin typeface="Cambria Math" panose="02040503050406030204" pitchFamily="18" charset="0"/>
                        </a:rPr>
                        <m:t> </m:t>
                      </m:r>
                      <m:r>
                        <a:rPr lang="es-BO" sz="2400" b="0" i="1" smtClean="0">
                          <a:solidFill>
                            <a:schemeClr val="tx1">
                              <a:lumMod val="85000"/>
                            </a:schemeClr>
                          </a:solidFill>
                          <a:latin typeface="Cambria Math" panose="02040503050406030204" pitchFamily="18" charset="0"/>
                        </a:rPr>
                        <m:t>𝑑𝑒</m:t>
                      </m:r>
                      <m:r>
                        <a:rPr lang="es-BO" sz="2400" b="0" i="1" smtClean="0">
                          <a:solidFill>
                            <a:schemeClr val="tx1">
                              <a:lumMod val="85000"/>
                            </a:schemeClr>
                          </a:solidFill>
                          <a:latin typeface="Cambria Math" panose="02040503050406030204" pitchFamily="18" charset="0"/>
                        </a:rPr>
                        <m:t> </m:t>
                      </m:r>
                      <m:r>
                        <a:rPr lang="es-BO" sz="2400" b="0" i="1" smtClean="0">
                          <a:solidFill>
                            <a:schemeClr val="tx1">
                              <a:lumMod val="85000"/>
                            </a:schemeClr>
                          </a:solidFill>
                          <a:latin typeface="Cambria Math" panose="02040503050406030204" pitchFamily="18" charset="0"/>
                        </a:rPr>
                        <m:t>𝑖𝑛𝑡𝑒𝑟𝑒𝑠</m:t>
                      </m:r>
                      <m:r>
                        <a:rPr lang="es-BO" sz="2400" b="0" i="1" smtClean="0">
                          <a:solidFill>
                            <a:schemeClr val="tx1">
                              <a:lumMod val="85000"/>
                            </a:schemeClr>
                          </a:solidFill>
                          <a:latin typeface="Cambria Math" panose="02040503050406030204" pitchFamily="18" charset="0"/>
                        </a:rPr>
                        <m:t> </m:t>
                      </m:r>
                      <m:r>
                        <a:rPr lang="es-BO" sz="2400" b="0" i="1" smtClean="0">
                          <a:solidFill>
                            <a:schemeClr val="tx1">
                              <a:lumMod val="85000"/>
                            </a:schemeClr>
                          </a:solidFill>
                          <a:latin typeface="Cambria Math" panose="02040503050406030204" pitchFamily="18" charset="0"/>
                        </a:rPr>
                        <m:t>𝑒𝑛</m:t>
                      </m:r>
                      <m:r>
                        <a:rPr lang="es-BO" sz="2400" b="0" i="1" smtClean="0">
                          <a:solidFill>
                            <a:schemeClr val="tx1">
                              <a:lumMod val="85000"/>
                            </a:schemeClr>
                          </a:solidFill>
                          <a:latin typeface="Cambria Math" panose="02040503050406030204" pitchFamily="18" charset="0"/>
                        </a:rPr>
                        <m:t> </m:t>
                      </m:r>
                      <m:r>
                        <a:rPr lang="es-BO" sz="2400" b="0" i="1" smtClean="0">
                          <a:solidFill>
                            <a:schemeClr val="tx1">
                              <a:lumMod val="85000"/>
                            </a:schemeClr>
                          </a:solidFill>
                          <a:latin typeface="Cambria Math" panose="02040503050406030204" pitchFamily="18" charset="0"/>
                        </a:rPr>
                        <m:t>𝑒𝑙</m:t>
                      </m:r>
                      <m:r>
                        <a:rPr lang="es-BO" sz="2400" b="0" i="1" smtClean="0">
                          <a:solidFill>
                            <a:schemeClr val="tx1">
                              <a:lumMod val="85000"/>
                            </a:schemeClr>
                          </a:solidFill>
                          <a:latin typeface="Cambria Math" panose="02040503050406030204" pitchFamily="18" charset="0"/>
                        </a:rPr>
                        <m:t> </m:t>
                      </m:r>
                      <m:r>
                        <a:rPr lang="es-BO" sz="2400" b="0" i="1" smtClean="0">
                          <a:solidFill>
                            <a:schemeClr val="tx1">
                              <a:lumMod val="85000"/>
                            </a:schemeClr>
                          </a:solidFill>
                          <a:latin typeface="Cambria Math" panose="02040503050406030204" pitchFamily="18" charset="0"/>
                        </a:rPr>
                        <m:t>𝑡𝑖𝑒𝑚𝑝𝑜</m:t>
                      </m:r>
                      <m:r>
                        <a:rPr lang="es-BO" sz="2400" b="0" i="1" smtClean="0">
                          <a:solidFill>
                            <a:schemeClr val="tx1">
                              <a:lumMod val="85000"/>
                            </a:schemeClr>
                          </a:solidFill>
                          <a:latin typeface="Cambria Math" panose="02040503050406030204" pitchFamily="18" charset="0"/>
                        </a:rPr>
                        <m:t> </m:t>
                      </m:r>
                      <m:r>
                        <a:rPr lang="es-BO" sz="2400" b="0" i="1" smtClean="0">
                          <a:solidFill>
                            <a:schemeClr val="tx1">
                              <a:lumMod val="85000"/>
                            </a:schemeClr>
                          </a:solidFill>
                          <a:latin typeface="Cambria Math" panose="02040503050406030204" pitchFamily="18" charset="0"/>
                        </a:rPr>
                        <m:t>𝑖</m:t>
                      </m:r>
                      <m:r>
                        <a:rPr lang="es-BO" sz="2400" b="0" i="1" smtClean="0">
                          <a:solidFill>
                            <a:schemeClr val="tx1">
                              <a:lumMod val="85000"/>
                            </a:schemeClr>
                          </a:solidFill>
                          <a:latin typeface="Cambria Math" panose="02040503050406030204" pitchFamily="18" charset="0"/>
                        </a:rPr>
                        <m:t>.</m:t>
                      </m:r>
                    </m:oMath>
                  </m:oMathPara>
                </a14:m>
                <a:endParaRPr lang="es-BO" sz="2400" b="0" dirty="0" smtClean="0">
                  <a:solidFill>
                    <a:schemeClr val="tx1">
                      <a:lumMod val="85000"/>
                    </a:schemeClr>
                  </a:solidFill>
                </a:endParaRPr>
              </a:p>
              <a:p>
                <a:pPr/>
                <a14:m>
                  <m:oMathPara xmlns:m="http://schemas.openxmlformats.org/officeDocument/2006/math">
                    <m:oMathParaPr>
                      <m:jc m:val="centerGroup"/>
                    </m:oMathParaPr>
                    <m:oMath xmlns:m="http://schemas.openxmlformats.org/officeDocument/2006/math">
                      <m:r>
                        <a:rPr lang="es-BO" sz="2400" b="0" i="1" smtClean="0">
                          <a:solidFill>
                            <a:schemeClr val="tx1">
                              <a:lumMod val="85000"/>
                            </a:schemeClr>
                          </a:solidFill>
                          <a:latin typeface="Cambria Math" panose="02040503050406030204" pitchFamily="18" charset="0"/>
                        </a:rPr>
                        <m:t>𝑖</m:t>
                      </m:r>
                      <m:r>
                        <a:rPr lang="es-BO" sz="2400" b="0" i="1" smtClean="0">
                          <a:solidFill>
                            <a:schemeClr val="tx1">
                              <a:lumMod val="85000"/>
                            </a:schemeClr>
                          </a:solidFill>
                          <a:latin typeface="Cambria Math" panose="02040503050406030204" pitchFamily="18" charset="0"/>
                        </a:rPr>
                        <m:t>:1,2,3, ……</m:t>
                      </m:r>
                      <m:r>
                        <a:rPr lang="es-BO" sz="2400" b="0" i="1" smtClean="0">
                          <a:solidFill>
                            <a:schemeClr val="tx1">
                              <a:lumMod val="85000"/>
                            </a:schemeClr>
                          </a:solidFill>
                          <a:latin typeface="Cambria Math" panose="02040503050406030204" pitchFamily="18" charset="0"/>
                        </a:rPr>
                        <m:t>𝑡</m:t>
                      </m:r>
                      <m:r>
                        <a:rPr lang="es-BO" sz="2400" b="0" i="1" smtClean="0">
                          <a:solidFill>
                            <a:schemeClr val="tx1">
                              <a:lumMod val="85000"/>
                            </a:schemeClr>
                          </a:solidFill>
                          <a:latin typeface="Cambria Math" panose="02040503050406030204" pitchFamily="18" charset="0"/>
                        </a:rPr>
                        <m:t>:</m:t>
                      </m:r>
                      <m:r>
                        <a:rPr lang="es-BO" sz="2400" b="0" i="1" smtClean="0">
                          <a:solidFill>
                            <a:schemeClr val="tx1">
                              <a:lumMod val="85000"/>
                            </a:schemeClr>
                          </a:solidFill>
                          <a:latin typeface="Cambria Math" panose="02040503050406030204" pitchFamily="18" charset="0"/>
                        </a:rPr>
                        <m:t>𝑂𝑏𝑠𝑒𝑟𝑣𝑎𝑐𝑖𝑜𝑛𝑒𝑠</m:t>
                      </m:r>
                      <m:r>
                        <a:rPr lang="es-BO" sz="2400" b="0" i="1" smtClean="0">
                          <a:solidFill>
                            <a:schemeClr val="tx1">
                              <a:lumMod val="85000"/>
                            </a:schemeClr>
                          </a:solidFill>
                          <a:latin typeface="Cambria Math" panose="02040503050406030204" pitchFamily="18" charset="0"/>
                        </a:rPr>
                        <m:t> </m:t>
                      </m:r>
                      <m:r>
                        <a:rPr lang="es-BO" sz="2400" b="0" i="1" smtClean="0">
                          <a:solidFill>
                            <a:schemeClr val="tx1">
                              <a:lumMod val="85000"/>
                            </a:schemeClr>
                          </a:solidFill>
                          <a:latin typeface="Cambria Math" panose="02040503050406030204" pitchFamily="18" charset="0"/>
                        </a:rPr>
                        <m:t>𝑡𝑜𝑚𝑎𝑑𝑎𝑠</m:t>
                      </m:r>
                      <m:r>
                        <a:rPr lang="es-BO" sz="2400" b="0" i="1" smtClean="0">
                          <a:solidFill>
                            <a:schemeClr val="tx1">
                              <a:lumMod val="85000"/>
                            </a:schemeClr>
                          </a:solidFill>
                          <a:latin typeface="Cambria Math" panose="02040503050406030204" pitchFamily="18" charset="0"/>
                        </a:rPr>
                        <m:t> </m:t>
                      </m:r>
                      <m:r>
                        <a:rPr lang="es-BO" sz="2400" b="0" i="1" smtClean="0">
                          <a:solidFill>
                            <a:schemeClr val="tx1">
                              <a:lumMod val="85000"/>
                            </a:schemeClr>
                          </a:solidFill>
                          <a:latin typeface="Cambria Math" panose="02040503050406030204" pitchFamily="18" charset="0"/>
                        </a:rPr>
                        <m:t>𝑒𝑛</m:t>
                      </m:r>
                      <m:r>
                        <a:rPr lang="es-BO" sz="2400" b="0" i="1" smtClean="0">
                          <a:solidFill>
                            <a:schemeClr val="tx1">
                              <a:lumMod val="85000"/>
                            </a:schemeClr>
                          </a:solidFill>
                          <a:latin typeface="Cambria Math" panose="02040503050406030204" pitchFamily="18" charset="0"/>
                        </a:rPr>
                        <m:t> </m:t>
                      </m:r>
                      <m:r>
                        <a:rPr lang="es-BO" sz="2400" b="0" i="1" smtClean="0">
                          <a:solidFill>
                            <a:schemeClr val="tx1">
                              <a:lumMod val="85000"/>
                            </a:schemeClr>
                          </a:solidFill>
                          <a:latin typeface="Cambria Math" panose="02040503050406030204" pitchFamily="18" charset="0"/>
                        </a:rPr>
                        <m:t>𝑙𝑜𝑠</m:t>
                      </m:r>
                      <m:r>
                        <a:rPr lang="es-BO" sz="2400" b="0" i="1" smtClean="0">
                          <a:solidFill>
                            <a:schemeClr val="tx1">
                              <a:lumMod val="85000"/>
                            </a:schemeClr>
                          </a:solidFill>
                          <a:latin typeface="Cambria Math" panose="02040503050406030204" pitchFamily="18" charset="0"/>
                        </a:rPr>
                        <m:t> </m:t>
                      </m:r>
                      <m:r>
                        <a:rPr lang="es-BO" sz="2400" b="0" i="1" smtClean="0">
                          <a:solidFill>
                            <a:schemeClr val="tx1">
                              <a:lumMod val="85000"/>
                            </a:schemeClr>
                          </a:solidFill>
                          <a:latin typeface="Cambria Math" panose="02040503050406030204" pitchFamily="18" charset="0"/>
                        </a:rPr>
                        <m:t>𝑝𝑒𝑟𝑖𝑜𝑑𝑜𝑠</m:t>
                      </m:r>
                      <m:r>
                        <a:rPr lang="es-BO" sz="2400" b="0" i="1" smtClean="0">
                          <a:solidFill>
                            <a:schemeClr val="tx1">
                              <a:lumMod val="85000"/>
                            </a:schemeClr>
                          </a:solidFill>
                          <a:latin typeface="Cambria Math" panose="02040503050406030204" pitchFamily="18" charset="0"/>
                        </a:rPr>
                        <m:t> </m:t>
                      </m:r>
                      <m:r>
                        <a:rPr lang="es-BO" sz="2400" b="0" i="1" smtClean="0">
                          <a:solidFill>
                            <a:schemeClr val="tx1">
                              <a:lumMod val="85000"/>
                            </a:schemeClr>
                          </a:solidFill>
                          <a:latin typeface="Cambria Math" panose="02040503050406030204" pitchFamily="18" charset="0"/>
                        </a:rPr>
                        <m:t>𝑑𝑒</m:t>
                      </m:r>
                      <m:r>
                        <a:rPr lang="es-BO" sz="2400" b="0" i="1" smtClean="0">
                          <a:solidFill>
                            <a:schemeClr val="tx1">
                              <a:lumMod val="85000"/>
                            </a:schemeClr>
                          </a:solidFill>
                          <a:latin typeface="Cambria Math" panose="02040503050406030204" pitchFamily="18" charset="0"/>
                        </a:rPr>
                        <m:t> </m:t>
                      </m:r>
                      <m:r>
                        <a:rPr lang="es-BO" sz="2400" b="0" i="1" smtClean="0">
                          <a:solidFill>
                            <a:schemeClr val="tx1">
                              <a:lumMod val="85000"/>
                            </a:schemeClr>
                          </a:solidFill>
                          <a:latin typeface="Cambria Math" panose="02040503050406030204" pitchFamily="18" charset="0"/>
                        </a:rPr>
                        <m:t>𝑡𝑖𝑒𝑚𝑝𝑜</m:t>
                      </m:r>
                    </m:oMath>
                  </m:oMathPara>
                </a14:m>
                <a:endParaRPr lang="es-BO" sz="2400" b="0" i="1" dirty="0" smtClean="0">
                  <a:solidFill>
                    <a:schemeClr val="tx1">
                      <a:lumMod val="85000"/>
                    </a:schemeClr>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s-BO" sz="2400" b="0" i="1" smtClean="0">
                          <a:solidFill>
                            <a:schemeClr val="tx1">
                              <a:lumMod val="85000"/>
                            </a:schemeClr>
                          </a:solidFill>
                          <a:latin typeface="Cambria Math" panose="02040503050406030204" pitchFamily="18" charset="0"/>
                        </a:rPr>
                        <m:t> 1,2,3, …</m:t>
                      </m:r>
                      <m:r>
                        <a:rPr lang="es-BO" sz="2400" b="0" i="1" smtClean="0">
                          <a:solidFill>
                            <a:schemeClr val="tx1">
                              <a:lumMod val="85000"/>
                            </a:schemeClr>
                          </a:solidFill>
                          <a:latin typeface="Cambria Math" panose="02040503050406030204" pitchFamily="18" charset="0"/>
                        </a:rPr>
                        <m:t>𝑡</m:t>
                      </m:r>
                      <m:r>
                        <a:rPr lang="es-BO" sz="2400" b="0" i="1" smtClean="0">
                          <a:solidFill>
                            <a:schemeClr val="tx1">
                              <a:lumMod val="85000"/>
                            </a:schemeClr>
                          </a:solidFill>
                          <a:latin typeface="Cambria Math" panose="02040503050406030204" pitchFamily="18" charset="0"/>
                        </a:rPr>
                        <m:t>, </m:t>
                      </m:r>
                      <m:r>
                        <a:rPr lang="es-BO" sz="2400" b="0" i="1" smtClean="0">
                          <a:solidFill>
                            <a:schemeClr val="tx1">
                              <a:lumMod val="85000"/>
                            </a:schemeClr>
                          </a:solidFill>
                          <a:latin typeface="Cambria Math" panose="02040503050406030204" pitchFamily="18" charset="0"/>
                        </a:rPr>
                        <m:t>𝑠𝑖𝑒𝑛𝑑𝑜</m:t>
                      </m:r>
                      <m:r>
                        <a:rPr lang="es-BO" sz="2400" b="0" i="1" smtClean="0">
                          <a:solidFill>
                            <a:schemeClr val="tx1">
                              <a:lumMod val="85000"/>
                            </a:schemeClr>
                          </a:solidFill>
                          <a:latin typeface="Cambria Math" panose="02040503050406030204" pitchFamily="18" charset="0"/>
                        </a:rPr>
                        <m:t> </m:t>
                      </m:r>
                      <m:r>
                        <a:rPr lang="es-BO" sz="2400" b="0" i="1" smtClean="0">
                          <a:solidFill>
                            <a:schemeClr val="tx1">
                              <a:lumMod val="85000"/>
                            </a:schemeClr>
                          </a:solidFill>
                          <a:latin typeface="Cambria Math" panose="02040503050406030204" pitchFamily="18" charset="0"/>
                        </a:rPr>
                        <m:t>𝑡</m:t>
                      </m:r>
                      <m:r>
                        <a:rPr lang="es-BO" sz="2400" b="0" i="1" smtClean="0">
                          <a:solidFill>
                            <a:schemeClr val="tx1">
                              <a:lumMod val="85000"/>
                            </a:schemeClr>
                          </a:solidFill>
                          <a:latin typeface="Cambria Math" panose="02040503050406030204" pitchFamily="18" charset="0"/>
                        </a:rPr>
                        <m:t> </m:t>
                      </m:r>
                      <m:r>
                        <a:rPr lang="es-BO" sz="2400" b="0" i="1" smtClean="0">
                          <a:solidFill>
                            <a:schemeClr val="tx1">
                              <a:lumMod val="85000"/>
                            </a:schemeClr>
                          </a:solidFill>
                          <a:latin typeface="Cambria Math" panose="02040503050406030204" pitchFamily="18" charset="0"/>
                        </a:rPr>
                        <m:t>𝑒𝑙</m:t>
                      </m:r>
                      <m:r>
                        <a:rPr lang="es-BO" sz="2400" b="0" i="1" smtClean="0">
                          <a:solidFill>
                            <a:schemeClr val="tx1">
                              <a:lumMod val="85000"/>
                            </a:schemeClr>
                          </a:solidFill>
                          <a:latin typeface="Cambria Math" panose="02040503050406030204" pitchFamily="18" charset="0"/>
                        </a:rPr>
                        <m:t> </m:t>
                      </m:r>
                      <m:r>
                        <a:rPr lang="es-BO" sz="2400" b="0" i="1" smtClean="0">
                          <a:solidFill>
                            <a:schemeClr val="tx1">
                              <a:lumMod val="85000"/>
                            </a:schemeClr>
                          </a:solidFill>
                          <a:latin typeface="Cambria Math" panose="02040503050406030204" pitchFamily="18" charset="0"/>
                        </a:rPr>
                        <m:t>𝑡𝑖𝑒𝑚𝑝𝑜</m:t>
                      </m:r>
                      <m:r>
                        <a:rPr lang="es-BO" sz="2400" b="0" i="1" smtClean="0">
                          <a:solidFill>
                            <a:schemeClr val="tx1">
                              <a:lumMod val="85000"/>
                            </a:schemeClr>
                          </a:solidFill>
                          <a:latin typeface="Cambria Math" panose="02040503050406030204" pitchFamily="18" charset="0"/>
                        </a:rPr>
                        <m:t> </m:t>
                      </m:r>
                      <m:r>
                        <a:rPr lang="es-BO" sz="2400" b="0" i="1" smtClean="0">
                          <a:solidFill>
                            <a:schemeClr val="tx1">
                              <a:lumMod val="85000"/>
                            </a:schemeClr>
                          </a:solidFill>
                          <a:latin typeface="Cambria Math" panose="02040503050406030204" pitchFamily="18" charset="0"/>
                        </a:rPr>
                        <m:t>𝑎𝑐𝑡𝑢𝑎𝑙</m:t>
                      </m:r>
                      <m:r>
                        <a:rPr lang="es-BO" sz="2400" b="0" i="1" smtClean="0">
                          <a:solidFill>
                            <a:schemeClr val="tx1">
                              <a:lumMod val="85000"/>
                            </a:schemeClr>
                          </a:solidFill>
                          <a:latin typeface="Cambria Math" panose="02040503050406030204" pitchFamily="18" charset="0"/>
                        </a:rPr>
                        <m:t>.</m:t>
                      </m:r>
                    </m:oMath>
                  </m:oMathPara>
                </a14:m>
                <a:endParaRPr lang="es-BO" sz="2400" dirty="0" smtClean="0">
                  <a:solidFill>
                    <a:schemeClr val="tx1">
                      <a:lumMod val="85000"/>
                    </a:schemeClr>
                  </a:solidFill>
                </a:endParaRPr>
              </a:p>
              <a:p>
                <a:pPr/>
                <a14:m>
                  <m:oMathPara xmlns:m="http://schemas.openxmlformats.org/officeDocument/2006/math">
                    <m:oMathParaPr>
                      <m:jc m:val="centerGroup"/>
                    </m:oMathParaPr>
                    <m:oMath xmlns:m="http://schemas.openxmlformats.org/officeDocument/2006/math">
                      <m:d>
                        <m:dPr>
                          <m:begChr m:val="["/>
                          <m:endChr m:val="]"/>
                          <m:ctrlPr>
                            <a:rPr lang="es-BO" sz="2400" i="1" smtClean="0">
                              <a:solidFill>
                                <a:schemeClr val="tx1">
                                  <a:lumMod val="85000"/>
                                </a:schemeClr>
                              </a:solidFill>
                              <a:latin typeface="Cambria Math" panose="02040503050406030204" pitchFamily="18" charset="0"/>
                            </a:rPr>
                          </m:ctrlPr>
                        </m:dPr>
                        <m:e>
                          <m:sSub>
                            <m:sSubPr>
                              <m:ctrlPr>
                                <a:rPr lang="es-BO" sz="2400" i="1" smtClean="0">
                                  <a:solidFill>
                                    <a:schemeClr val="tx1">
                                      <a:lumMod val="85000"/>
                                    </a:schemeClr>
                                  </a:solidFill>
                                  <a:latin typeface="Cambria Math" panose="02040503050406030204" pitchFamily="18" charset="0"/>
                                </a:rPr>
                              </m:ctrlPr>
                            </m:sSubPr>
                            <m:e>
                              <m:r>
                                <a:rPr lang="es-BO" sz="2400" b="0" i="1" smtClean="0">
                                  <a:solidFill>
                                    <a:schemeClr val="tx1">
                                      <a:lumMod val="85000"/>
                                    </a:schemeClr>
                                  </a:solidFill>
                                  <a:latin typeface="Cambria Math" panose="02040503050406030204" pitchFamily="18" charset="0"/>
                                </a:rPr>
                                <m:t>𝑋</m:t>
                              </m:r>
                            </m:e>
                            <m:sub>
                              <m:r>
                                <a:rPr lang="es-BO" sz="2400" b="0" i="1" smtClean="0">
                                  <a:solidFill>
                                    <a:schemeClr val="tx1">
                                      <a:lumMod val="85000"/>
                                    </a:schemeClr>
                                  </a:solidFill>
                                  <a:latin typeface="Cambria Math" panose="02040503050406030204" pitchFamily="18" charset="0"/>
                                </a:rPr>
                                <m:t>1</m:t>
                              </m:r>
                            </m:sub>
                          </m:sSub>
                          <m:r>
                            <a:rPr lang="es-BO" sz="2400" b="0" i="1" smtClean="0">
                              <a:solidFill>
                                <a:schemeClr val="tx1">
                                  <a:lumMod val="85000"/>
                                </a:schemeClr>
                              </a:solidFill>
                              <a:latin typeface="Cambria Math" panose="02040503050406030204" pitchFamily="18" charset="0"/>
                            </a:rPr>
                            <m:t>= </m:t>
                          </m:r>
                          <m:sSub>
                            <m:sSubPr>
                              <m:ctrlPr>
                                <a:rPr lang="es-BO" sz="2400" b="0" i="1" smtClean="0">
                                  <a:solidFill>
                                    <a:schemeClr val="tx1">
                                      <a:lumMod val="85000"/>
                                    </a:schemeClr>
                                  </a:solidFill>
                                  <a:latin typeface="Cambria Math" panose="02040503050406030204" pitchFamily="18" charset="0"/>
                                </a:rPr>
                              </m:ctrlPr>
                            </m:sSubPr>
                            <m:e>
                              <m:r>
                                <a:rPr lang="es-BO" sz="2400" b="0" i="1" smtClean="0">
                                  <a:solidFill>
                                    <a:schemeClr val="tx1">
                                      <a:lumMod val="85000"/>
                                    </a:schemeClr>
                                  </a:solidFill>
                                  <a:latin typeface="Cambria Math" panose="02040503050406030204" pitchFamily="18" charset="0"/>
                                </a:rPr>
                                <m:t>𝑥</m:t>
                              </m:r>
                            </m:e>
                            <m:sub>
                              <m:r>
                                <a:rPr lang="es-BO" sz="2400" b="0" i="1" smtClean="0">
                                  <a:solidFill>
                                    <a:schemeClr val="tx1">
                                      <a:lumMod val="85000"/>
                                    </a:schemeClr>
                                  </a:solidFill>
                                  <a:latin typeface="Cambria Math" panose="02040503050406030204" pitchFamily="18" charset="0"/>
                                </a:rPr>
                                <m:t>1</m:t>
                              </m:r>
                            </m:sub>
                          </m:sSub>
                          <m:r>
                            <a:rPr lang="es-BO" sz="2400" b="0" i="1" smtClean="0">
                              <a:solidFill>
                                <a:schemeClr val="tx1">
                                  <a:lumMod val="85000"/>
                                </a:schemeClr>
                              </a:solidFill>
                              <a:latin typeface="Cambria Math" panose="02040503050406030204" pitchFamily="18" charset="0"/>
                            </a:rPr>
                            <m:t>,</m:t>
                          </m:r>
                          <m:sSub>
                            <m:sSubPr>
                              <m:ctrlPr>
                                <a:rPr lang="es-BO" sz="2400" i="1">
                                  <a:solidFill>
                                    <a:schemeClr val="tx1">
                                      <a:lumMod val="85000"/>
                                    </a:schemeClr>
                                  </a:solidFill>
                                  <a:latin typeface="Cambria Math" panose="02040503050406030204" pitchFamily="18" charset="0"/>
                                </a:rPr>
                              </m:ctrlPr>
                            </m:sSubPr>
                            <m:e>
                              <m:r>
                                <a:rPr lang="es-BO" sz="2400" i="1">
                                  <a:solidFill>
                                    <a:schemeClr val="tx1">
                                      <a:lumMod val="85000"/>
                                    </a:schemeClr>
                                  </a:solidFill>
                                  <a:latin typeface="Cambria Math" panose="02040503050406030204" pitchFamily="18" charset="0"/>
                                </a:rPr>
                                <m:t>𝑋</m:t>
                              </m:r>
                            </m:e>
                            <m:sub>
                              <m:r>
                                <a:rPr lang="es-BO" sz="2400" b="0" i="1" smtClean="0">
                                  <a:solidFill>
                                    <a:schemeClr val="tx1">
                                      <a:lumMod val="85000"/>
                                    </a:schemeClr>
                                  </a:solidFill>
                                  <a:latin typeface="Cambria Math" panose="02040503050406030204" pitchFamily="18" charset="0"/>
                                </a:rPr>
                                <m:t>2</m:t>
                              </m:r>
                            </m:sub>
                          </m:sSub>
                          <m:r>
                            <a:rPr lang="es-BO" sz="2400" i="1">
                              <a:solidFill>
                                <a:schemeClr val="tx1">
                                  <a:lumMod val="85000"/>
                                </a:schemeClr>
                              </a:solidFill>
                              <a:latin typeface="Cambria Math" panose="02040503050406030204" pitchFamily="18" charset="0"/>
                            </a:rPr>
                            <m:t>= </m:t>
                          </m:r>
                          <m:sSub>
                            <m:sSubPr>
                              <m:ctrlPr>
                                <a:rPr lang="es-BO" sz="2400" i="1">
                                  <a:solidFill>
                                    <a:schemeClr val="tx1">
                                      <a:lumMod val="85000"/>
                                    </a:schemeClr>
                                  </a:solidFill>
                                  <a:latin typeface="Cambria Math" panose="02040503050406030204" pitchFamily="18" charset="0"/>
                                </a:rPr>
                              </m:ctrlPr>
                            </m:sSubPr>
                            <m:e>
                              <m:r>
                                <a:rPr lang="es-BO" sz="2400" i="1">
                                  <a:solidFill>
                                    <a:schemeClr val="tx1">
                                      <a:lumMod val="85000"/>
                                    </a:schemeClr>
                                  </a:solidFill>
                                  <a:latin typeface="Cambria Math" panose="02040503050406030204" pitchFamily="18" charset="0"/>
                                </a:rPr>
                                <m:t>𝑥</m:t>
                              </m:r>
                            </m:e>
                            <m:sub>
                              <m:r>
                                <a:rPr lang="es-BO" sz="2400" b="0" i="1" smtClean="0">
                                  <a:solidFill>
                                    <a:schemeClr val="tx1">
                                      <a:lumMod val="85000"/>
                                    </a:schemeClr>
                                  </a:solidFill>
                                  <a:latin typeface="Cambria Math" panose="02040503050406030204" pitchFamily="18" charset="0"/>
                                </a:rPr>
                                <m:t>2</m:t>
                              </m:r>
                            </m:sub>
                          </m:sSub>
                          <m:r>
                            <a:rPr lang="es-BO" sz="2400" b="0" i="0" smtClean="0">
                              <a:solidFill>
                                <a:schemeClr val="tx1">
                                  <a:lumMod val="85000"/>
                                </a:schemeClr>
                              </a:solidFill>
                              <a:latin typeface="Cambria Math" panose="02040503050406030204" pitchFamily="18" charset="0"/>
                            </a:rPr>
                            <m:t>,</m:t>
                          </m:r>
                          <m:sSub>
                            <m:sSubPr>
                              <m:ctrlPr>
                                <a:rPr lang="es-BO" sz="2400" i="1">
                                  <a:solidFill>
                                    <a:schemeClr val="tx1">
                                      <a:lumMod val="85000"/>
                                    </a:schemeClr>
                                  </a:solidFill>
                                  <a:latin typeface="Cambria Math" panose="02040503050406030204" pitchFamily="18" charset="0"/>
                                </a:rPr>
                              </m:ctrlPr>
                            </m:sSubPr>
                            <m:e>
                              <m:r>
                                <a:rPr lang="es-BO" sz="2400" i="1">
                                  <a:solidFill>
                                    <a:schemeClr val="tx1">
                                      <a:lumMod val="85000"/>
                                    </a:schemeClr>
                                  </a:solidFill>
                                  <a:latin typeface="Cambria Math" panose="02040503050406030204" pitchFamily="18" charset="0"/>
                                </a:rPr>
                                <m:t>𝑋</m:t>
                              </m:r>
                            </m:e>
                            <m:sub>
                              <m:r>
                                <a:rPr lang="es-BO" sz="2400" b="0" i="1" smtClean="0">
                                  <a:solidFill>
                                    <a:schemeClr val="tx1">
                                      <a:lumMod val="85000"/>
                                    </a:schemeClr>
                                  </a:solidFill>
                                  <a:latin typeface="Cambria Math" panose="02040503050406030204" pitchFamily="18" charset="0"/>
                                </a:rPr>
                                <m:t>3</m:t>
                              </m:r>
                            </m:sub>
                          </m:sSub>
                          <m:r>
                            <a:rPr lang="es-BO" sz="2400" i="1">
                              <a:solidFill>
                                <a:schemeClr val="tx1">
                                  <a:lumMod val="85000"/>
                                </a:schemeClr>
                              </a:solidFill>
                              <a:latin typeface="Cambria Math" panose="02040503050406030204" pitchFamily="18" charset="0"/>
                            </a:rPr>
                            <m:t>= </m:t>
                          </m:r>
                          <m:sSub>
                            <m:sSubPr>
                              <m:ctrlPr>
                                <a:rPr lang="es-BO" sz="2400" i="1">
                                  <a:solidFill>
                                    <a:schemeClr val="tx1">
                                      <a:lumMod val="85000"/>
                                    </a:schemeClr>
                                  </a:solidFill>
                                  <a:latin typeface="Cambria Math" panose="02040503050406030204" pitchFamily="18" charset="0"/>
                                </a:rPr>
                              </m:ctrlPr>
                            </m:sSubPr>
                            <m:e>
                              <m:r>
                                <a:rPr lang="es-BO" sz="2400" i="1">
                                  <a:solidFill>
                                    <a:schemeClr val="tx1">
                                      <a:lumMod val="85000"/>
                                    </a:schemeClr>
                                  </a:solidFill>
                                  <a:latin typeface="Cambria Math" panose="02040503050406030204" pitchFamily="18" charset="0"/>
                                </a:rPr>
                                <m:t>𝑥</m:t>
                              </m:r>
                            </m:e>
                            <m:sub>
                              <m:r>
                                <a:rPr lang="es-BO" sz="2400" b="0" i="1" smtClean="0">
                                  <a:solidFill>
                                    <a:schemeClr val="tx1">
                                      <a:lumMod val="85000"/>
                                    </a:schemeClr>
                                  </a:solidFill>
                                  <a:latin typeface="Cambria Math" panose="02040503050406030204" pitchFamily="18" charset="0"/>
                                </a:rPr>
                                <m:t>3</m:t>
                              </m:r>
                            </m:sub>
                          </m:sSub>
                          <m:r>
                            <a:rPr lang="es-BO" sz="2400" b="0" i="1" smtClean="0">
                              <a:solidFill>
                                <a:schemeClr val="tx1">
                                  <a:lumMod val="85000"/>
                                </a:schemeClr>
                              </a:solidFill>
                              <a:latin typeface="Cambria Math" panose="02040503050406030204" pitchFamily="18" charset="0"/>
                            </a:rPr>
                            <m:t>, ……</m:t>
                          </m:r>
                          <m:sSub>
                            <m:sSubPr>
                              <m:ctrlPr>
                                <a:rPr lang="es-BO" sz="2400" i="1">
                                  <a:solidFill>
                                    <a:schemeClr val="tx1">
                                      <a:lumMod val="85000"/>
                                    </a:schemeClr>
                                  </a:solidFill>
                                  <a:latin typeface="Cambria Math" panose="02040503050406030204" pitchFamily="18" charset="0"/>
                                </a:rPr>
                              </m:ctrlPr>
                            </m:sSubPr>
                            <m:e>
                              <m:r>
                                <a:rPr lang="es-BO" sz="2400" i="1">
                                  <a:solidFill>
                                    <a:schemeClr val="tx1">
                                      <a:lumMod val="85000"/>
                                    </a:schemeClr>
                                  </a:solidFill>
                                  <a:latin typeface="Cambria Math" panose="02040503050406030204" pitchFamily="18" charset="0"/>
                                </a:rPr>
                                <m:t>𝑋</m:t>
                              </m:r>
                            </m:e>
                            <m:sub>
                              <m:r>
                                <a:rPr lang="es-BO" sz="2400" b="0" i="1" smtClean="0">
                                  <a:solidFill>
                                    <a:schemeClr val="tx1">
                                      <a:lumMod val="85000"/>
                                    </a:schemeClr>
                                  </a:solidFill>
                                  <a:latin typeface="Cambria Math" panose="02040503050406030204" pitchFamily="18" charset="0"/>
                                </a:rPr>
                                <m:t>𝑡</m:t>
                              </m:r>
                            </m:sub>
                          </m:sSub>
                          <m:r>
                            <a:rPr lang="es-BO" sz="2400" i="1">
                              <a:solidFill>
                                <a:schemeClr val="tx1">
                                  <a:lumMod val="85000"/>
                                </a:schemeClr>
                              </a:solidFill>
                              <a:latin typeface="Cambria Math" panose="02040503050406030204" pitchFamily="18" charset="0"/>
                            </a:rPr>
                            <m:t>= </m:t>
                          </m:r>
                          <m:sSub>
                            <m:sSubPr>
                              <m:ctrlPr>
                                <a:rPr lang="es-BO" sz="2400" i="1">
                                  <a:solidFill>
                                    <a:schemeClr val="tx1">
                                      <a:lumMod val="85000"/>
                                    </a:schemeClr>
                                  </a:solidFill>
                                  <a:latin typeface="Cambria Math" panose="02040503050406030204" pitchFamily="18" charset="0"/>
                                </a:rPr>
                              </m:ctrlPr>
                            </m:sSubPr>
                            <m:e>
                              <m:r>
                                <a:rPr lang="es-BO" sz="2400" i="1">
                                  <a:solidFill>
                                    <a:schemeClr val="tx1">
                                      <a:lumMod val="85000"/>
                                    </a:schemeClr>
                                  </a:solidFill>
                                  <a:latin typeface="Cambria Math" panose="02040503050406030204" pitchFamily="18" charset="0"/>
                                </a:rPr>
                                <m:t>𝑥</m:t>
                              </m:r>
                            </m:e>
                            <m:sub>
                              <m:r>
                                <a:rPr lang="es-BO" sz="2400" b="0" i="1" smtClean="0">
                                  <a:solidFill>
                                    <a:schemeClr val="tx1">
                                      <a:lumMod val="85000"/>
                                    </a:schemeClr>
                                  </a:solidFill>
                                  <a:latin typeface="Cambria Math" panose="02040503050406030204" pitchFamily="18" charset="0"/>
                                </a:rPr>
                                <m:t>𝑡</m:t>
                              </m:r>
                            </m:sub>
                          </m:sSub>
                        </m:e>
                      </m:d>
                      <m:r>
                        <a:rPr lang="es-BO" sz="2400" b="0" i="1" smtClean="0">
                          <a:solidFill>
                            <a:schemeClr val="tx1">
                              <a:lumMod val="85000"/>
                            </a:schemeClr>
                          </a:solidFill>
                          <a:latin typeface="Cambria Math" panose="02040503050406030204" pitchFamily="18" charset="0"/>
                        </a:rPr>
                        <m:t>:</m:t>
                      </m:r>
                      <m:r>
                        <a:rPr lang="es-BO" sz="2400" b="0" i="1" smtClean="0">
                          <a:solidFill>
                            <a:schemeClr val="tx1">
                              <a:lumMod val="85000"/>
                            </a:schemeClr>
                          </a:solidFill>
                          <a:latin typeface="Cambria Math" panose="02040503050406030204" pitchFamily="18" charset="0"/>
                        </a:rPr>
                        <m:t>𝑅𝑒𝑝𝑟𝑒𝑠𝑒𝑛𝑡𝑎</m:t>
                      </m:r>
                      <m:r>
                        <a:rPr lang="es-BO" sz="2400" b="0" i="1" smtClean="0">
                          <a:solidFill>
                            <a:schemeClr val="tx1">
                              <a:lumMod val="85000"/>
                            </a:schemeClr>
                          </a:solidFill>
                          <a:latin typeface="Cambria Math" panose="02040503050406030204" pitchFamily="18" charset="0"/>
                        </a:rPr>
                        <m:t> </m:t>
                      </m:r>
                      <m:r>
                        <a:rPr lang="es-BO" sz="2400" b="0" i="1" smtClean="0">
                          <a:solidFill>
                            <a:schemeClr val="tx1">
                              <a:lumMod val="85000"/>
                            </a:schemeClr>
                          </a:solidFill>
                          <a:latin typeface="Cambria Math" panose="02040503050406030204" pitchFamily="18" charset="0"/>
                        </a:rPr>
                        <m:t>𝑙𝑜𝑠</m:t>
                      </m:r>
                      <m:r>
                        <a:rPr lang="es-BO" sz="2400" b="0" i="1" smtClean="0">
                          <a:solidFill>
                            <a:schemeClr val="tx1">
                              <a:lumMod val="85000"/>
                            </a:schemeClr>
                          </a:solidFill>
                          <a:latin typeface="Cambria Math" panose="02040503050406030204" pitchFamily="18" charset="0"/>
                        </a:rPr>
                        <m:t> </m:t>
                      </m:r>
                      <m:r>
                        <a:rPr lang="es-BO" sz="2400" b="0" i="1" smtClean="0">
                          <a:solidFill>
                            <a:schemeClr val="tx1">
                              <a:lumMod val="85000"/>
                            </a:schemeClr>
                          </a:solidFill>
                          <a:latin typeface="Cambria Math" panose="02040503050406030204" pitchFamily="18" charset="0"/>
                        </a:rPr>
                        <m:t>𝑣𝑎𝑙𝑜𝑟𝑒𝑠</m:t>
                      </m:r>
                      <m:r>
                        <a:rPr lang="es-BO" sz="2400" b="0" i="1" smtClean="0">
                          <a:solidFill>
                            <a:schemeClr val="tx1">
                              <a:lumMod val="85000"/>
                            </a:schemeClr>
                          </a:solidFill>
                          <a:latin typeface="Cambria Math" panose="02040503050406030204" pitchFamily="18" charset="0"/>
                        </a:rPr>
                        <m:t> </m:t>
                      </m:r>
                      <m:r>
                        <a:rPr lang="es-BO" sz="2400" b="0" i="1" smtClean="0">
                          <a:solidFill>
                            <a:schemeClr val="tx1">
                              <a:lumMod val="85000"/>
                            </a:schemeClr>
                          </a:solidFill>
                          <a:latin typeface="Cambria Math" panose="02040503050406030204" pitchFamily="18" charset="0"/>
                        </a:rPr>
                        <m:t>𝑞𝑢𝑒</m:t>
                      </m:r>
                    </m:oMath>
                  </m:oMathPara>
                </a14:m>
                <a:endParaRPr lang="es-BO" sz="2400" b="0" i="1" dirty="0" smtClean="0">
                  <a:solidFill>
                    <a:schemeClr val="tx1">
                      <a:lumMod val="85000"/>
                    </a:schemeClr>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s-BO" sz="2400" b="0" i="1" smtClean="0">
                          <a:solidFill>
                            <a:schemeClr val="tx1">
                              <a:lumMod val="85000"/>
                            </a:schemeClr>
                          </a:solidFill>
                          <a:latin typeface="Cambria Math" panose="02040503050406030204" pitchFamily="18" charset="0"/>
                        </a:rPr>
                        <m:t>𝑡𝑜𝑚𝑎</m:t>
                      </m:r>
                      <m:r>
                        <a:rPr lang="es-BO" sz="2400" b="0" i="1" smtClean="0">
                          <a:solidFill>
                            <a:schemeClr val="tx1">
                              <a:lumMod val="85000"/>
                            </a:schemeClr>
                          </a:solidFill>
                          <a:latin typeface="Cambria Math" panose="02040503050406030204" pitchFamily="18" charset="0"/>
                        </a:rPr>
                        <m:t> </m:t>
                      </m:r>
                      <m:r>
                        <a:rPr lang="es-BO" sz="2400" b="0" i="1" smtClean="0">
                          <a:solidFill>
                            <a:schemeClr val="tx1">
                              <a:lumMod val="85000"/>
                            </a:schemeClr>
                          </a:solidFill>
                          <a:latin typeface="Cambria Math" panose="02040503050406030204" pitchFamily="18" charset="0"/>
                        </a:rPr>
                        <m:t>𝑙𝑎</m:t>
                      </m:r>
                      <m:r>
                        <a:rPr lang="es-BO" sz="2400" b="0" i="1" smtClean="0">
                          <a:solidFill>
                            <a:schemeClr val="tx1">
                              <a:lumMod val="85000"/>
                            </a:schemeClr>
                          </a:solidFill>
                          <a:latin typeface="Cambria Math" panose="02040503050406030204" pitchFamily="18" charset="0"/>
                        </a:rPr>
                        <m:t> </m:t>
                      </m:r>
                      <m:r>
                        <a:rPr lang="es-BO" sz="2400" b="0" i="1" smtClean="0">
                          <a:solidFill>
                            <a:schemeClr val="tx1">
                              <a:lumMod val="85000"/>
                            </a:schemeClr>
                          </a:solidFill>
                          <a:latin typeface="Cambria Math" panose="02040503050406030204" pitchFamily="18" charset="0"/>
                        </a:rPr>
                        <m:t>𝑠𝑒𝑟𝑖𝑒</m:t>
                      </m:r>
                      <m:r>
                        <a:rPr lang="es-BO" sz="2400" b="0" i="1" smtClean="0">
                          <a:solidFill>
                            <a:schemeClr val="tx1">
                              <a:lumMod val="85000"/>
                            </a:schemeClr>
                          </a:solidFill>
                          <a:latin typeface="Cambria Math" panose="02040503050406030204" pitchFamily="18" charset="0"/>
                        </a:rPr>
                        <m:t> </m:t>
                      </m:r>
                      <m:r>
                        <a:rPr lang="es-BO" sz="2400" b="0" i="1" smtClean="0">
                          <a:solidFill>
                            <a:schemeClr val="tx1">
                              <a:lumMod val="85000"/>
                            </a:schemeClr>
                          </a:solidFill>
                          <a:latin typeface="Cambria Math" panose="02040503050406030204" pitchFamily="18" charset="0"/>
                        </a:rPr>
                        <m:t>𝑑𝑒</m:t>
                      </m:r>
                      <m:r>
                        <a:rPr lang="es-BO" sz="2400" b="0" i="1" smtClean="0">
                          <a:solidFill>
                            <a:schemeClr val="tx1">
                              <a:lumMod val="85000"/>
                            </a:schemeClr>
                          </a:solidFill>
                          <a:latin typeface="Cambria Math" panose="02040503050406030204" pitchFamily="18" charset="0"/>
                        </a:rPr>
                        <m:t> </m:t>
                      </m:r>
                      <m:r>
                        <a:rPr lang="es-BO" sz="2400" b="0" i="1" smtClean="0">
                          <a:solidFill>
                            <a:schemeClr val="tx1">
                              <a:lumMod val="85000"/>
                            </a:schemeClr>
                          </a:solidFill>
                          <a:latin typeface="Cambria Math" panose="02040503050406030204" pitchFamily="18" charset="0"/>
                        </a:rPr>
                        <m:t>𝑡𝑖𝑒𝑚𝑝𝑜</m:t>
                      </m:r>
                      <m:r>
                        <a:rPr lang="es-BO" sz="2400" b="0" i="1" smtClean="0">
                          <a:solidFill>
                            <a:schemeClr val="tx1">
                              <a:lumMod val="85000"/>
                            </a:schemeClr>
                          </a:solidFill>
                          <a:latin typeface="Cambria Math" panose="02040503050406030204" pitchFamily="18" charset="0"/>
                        </a:rPr>
                        <m:t>.</m:t>
                      </m:r>
                    </m:oMath>
                  </m:oMathPara>
                </a14:m>
                <a:endParaRPr lang="es-BO" sz="2400" b="0" dirty="0" smtClean="0">
                  <a:solidFill>
                    <a:schemeClr val="tx1">
                      <a:lumMod val="85000"/>
                    </a:schemeClr>
                  </a:solidFill>
                </a:endParaRPr>
              </a:p>
            </p:txBody>
          </p:sp>
        </mc:Choice>
        <mc:Fallback xmlns="">
          <p:sp>
            <p:nvSpPr>
              <p:cNvPr id="5" name="CuadroTexto 4"/>
              <p:cNvSpPr txBox="1">
                <a:spLocks noRot="1" noChangeAspect="1" noMove="1" noResize="1" noEditPoints="1" noAdjustHandles="1" noChangeArrowheads="1" noChangeShapeType="1" noTextEdit="1"/>
              </p:cNvSpPr>
              <p:nvPr/>
            </p:nvSpPr>
            <p:spPr>
              <a:xfrm>
                <a:off x="646612" y="2628900"/>
                <a:ext cx="11188338" cy="2308324"/>
              </a:xfrm>
              <a:prstGeom prst="rect">
                <a:avLst/>
              </a:prstGeom>
              <a:blipFill>
                <a:blip r:embed="rId2"/>
                <a:stretch>
                  <a:fillRect l="-817" t="-2111" b="-3166"/>
                </a:stretch>
              </a:blipFill>
            </p:spPr>
            <p:txBody>
              <a:bodyPr/>
              <a:lstStyle/>
              <a:p>
                <a:r>
                  <a:rPr lang="es-BO">
                    <a:noFill/>
                  </a:rPr>
                  <a:t> </a:t>
                </a:r>
              </a:p>
            </p:txBody>
          </p:sp>
        </mc:Fallback>
      </mc:AlternateContent>
    </p:spTree>
    <p:extLst>
      <p:ext uri="{BB962C8B-B14F-4D97-AF65-F5344CB8AC3E}">
        <p14:creationId xmlns:p14="http://schemas.microsoft.com/office/powerpoint/2010/main" val="19411365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p:cNvSpPr txBox="1"/>
          <p:nvPr/>
        </p:nvSpPr>
        <p:spPr>
          <a:xfrm>
            <a:off x="152400" y="203200"/>
            <a:ext cx="8369300" cy="1077218"/>
          </a:xfrm>
          <a:prstGeom prst="rect">
            <a:avLst/>
          </a:prstGeom>
          <a:noFill/>
        </p:spPr>
        <p:txBody>
          <a:bodyPr wrap="square" rtlCol="0">
            <a:spAutoFit/>
          </a:bodyPr>
          <a:lstStyle/>
          <a:p>
            <a:r>
              <a:rPr lang="es-BO" sz="3200" dirty="0" smtClean="0">
                <a:solidFill>
                  <a:srgbClr val="FF0000"/>
                </a:solidFill>
              </a:rPr>
              <a:t>5 Técnicas de proyección del mercado.</a:t>
            </a:r>
          </a:p>
          <a:p>
            <a:r>
              <a:rPr lang="es-BO" sz="3200" dirty="0" smtClean="0">
                <a:solidFill>
                  <a:srgbClr val="FF0000"/>
                </a:solidFill>
              </a:rPr>
              <a:t>Métodos de proyección.</a:t>
            </a:r>
            <a:endParaRPr lang="es-BO" sz="3200" dirty="0">
              <a:solidFill>
                <a:srgbClr val="FF0000"/>
              </a:solidFill>
            </a:endParaRPr>
          </a:p>
        </p:txBody>
      </p:sp>
      <p:sp>
        <p:nvSpPr>
          <p:cNvPr id="5" name="CuadroTexto 4"/>
          <p:cNvSpPr txBox="1"/>
          <p:nvPr/>
        </p:nvSpPr>
        <p:spPr>
          <a:xfrm>
            <a:off x="751115" y="1527992"/>
            <a:ext cx="11188338" cy="1569660"/>
          </a:xfrm>
          <a:prstGeom prst="rect">
            <a:avLst/>
          </a:prstGeom>
          <a:solidFill>
            <a:srgbClr val="002060"/>
          </a:solidFill>
        </p:spPr>
        <p:txBody>
          <a:bodyPr wrap="square" rtlCol="0">
            <a:spAutoFit/>
          </a:bodyPr>
          <a:lstStyle/>
          <a:p>
            <a:r>
              <a:rPr lang="es-BO" sz="2400" dirty="0" smtClean="0">
                <a:solidFill>
                  <a:srgbClr val="FF0000"/>
                </a:solidFill>
              </a:rPr>
              <a:t>Patrones comunes en una serie </a:t>
            </a:r>
            <a:r>
              <a:rPr lang="es-BO" sz="2400" dirty="0">
                <a:solidFill>
                  <a:srgbClr val="FF0000"/>
                </a:solidFill>
              </a:rPr>
              <a:t>de tiempo.</a:t>
            </a:r>
            <a:r>
              <a:rPr lang="es-BO" sz="2400" dirty="0">
                <a:solidFill>
                  <a:schemeClr val="tx1">
                    <a:lumMod val="85000"/>
                  </a:schemeClr>
                </a:solidFill>
              </a:rPr>
              <a:t/>
            </a:r>
            <a:br>
              <a:rPr lang="es-BO" sz="2400" dirty="0">
                <a:solidFill>
                  <a:schemeClr val="tx1">
                    <a:lumMod val="85000"/>
                  </a:schemeClr>
                </a:solidFill>
              </a:rPr>
            </a:br>
            <a:r>
              <a:rPr lang="es-BO" sz="2400" dirty="0" smtClean="0">
                <a:solidFill>
                  <a:schemeClr val="tx1">
                    <a:lumMod val="85000"/>
                  </a:schemeClr>
                </a:solidFill>
              </a:rPr>
              <a:t>Patrón de Tendencia.</a:t>
            </a:r>
          </a:p>
          <a:p>
            <a:r>
              <a:rPr lang="es-BO" sz="2400" dirty="0" smtClean="0">
                <a:solidFill>
                  <a:schemeClr val="tx1">
                    <a:lumMod val="85000"/>
                  </a:schemeClr>
                </a:solidFill>
              </a:rPr>
              <a:t>En </a:t>
            </a:r>
            <a:r>
              <a:rPr lang="es-BO" sz="2400" dirty="0">
                <a:solidFill>
                  <a:schemeClr val="tx1">
                    <a:lumMod val="85000"/>
                  </a:schemeClr>
                </a:solidFill>
              </a:rPr>
              <a:t>la figura se observa una tendencia creciente donde el promedio es creciente y los valores giran en torno a dicho promedio</a:t>
            </a:r>
            <a:r>
              <a:rPr lang="es-BO" sz="2400" dirty="0" smtClean="0">
                <a:solidFill>
                  <a:schemeClr val="tx1">
                    <a:lumMod val="85000"/>
                  </a:schemeClr>
                </a:solidFill>
              </a:rPr>
              <a:t>.</a:t>
            </a:r>
            <a:endParaRPr lang="es-BO" sz="2400" dirty="0">
              <a:solidFill>
                <a:schemeClr val="tx1">
                  <a:lumMod val="85000"/>
                </a:schemeClr>
              </a:solidFill>
            </a:endParaRPr>
          </a:p>
        </p:txBody>
      </p:sp>
      <p:pic>
        <p:nvPicPr>
          <p:cNvPr id="2" name="Imagen 1"/>
          <p:cNvPicPr>
            <a:picLocks noChangeAspect="1"/>
          </p:cNvPicPr>
          <p:nvPr/>
        </p:nvPicPr>
        <p:blipFill>
          <a:blip r:embed="rId2"/>
          <a:stretch>
            <a:fillRect/>
          </a:stretch>
        </p:blipFill>
        <p:spPr>
          <a:xfrm>
            <a:off x="751115" y="3345226"/>
            <a:ext cx="5381569" cy="2843815"/>
          </a:xfrm>
          <a:prstGeom prst="rect">
            <a:avLst/>
          </a:prstGeom>
        </p:spPr>
      </p:pic>
      <p:pic>
        <p:nvPicPr>
          <p:cNvPr id="3" name="Imagen 2"/>
          <p:cNvPicPr>
            <a:picLocks noChangeAspect="1"/>
          </p:cNvPicPr>
          <p:nvPr/>
        </p:nvPicPr>
        <p:blipFill>
          <a:blip r:embed="rId3"/>
          <a:stretch>
            <a:fillRect/>
          </a:stretch>
        </p:blipFill>
        <p:spPr>
          <a:xfrm>
            <a:off x="6334941" y="3822174"/>
            <a:ext cx="5725707" cy="2172226"/>
          </a:xfrm>
          <a:prstGeom prst="rect">
            <a:avLst/>
          </a:prstGeom>
        </p:spPr>
      </p:pic>
    </p:spTree>
    <p:extLst>
      <p:ext uri="{BB962C8B-B14F-4D97-AF65-F5344CB8AC3E}">
        <p14:creationId xmlns:p14="http://schemas.microsoft.com/office/powerpoint/2010/main" val="31598297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p:cNvSpPr txBox="1"/>
          <p:nvPr/>
        </p:nvSpPr>
        <p:spPr>
          <a:xfrm>
            <a:off x="152400" y="203200"/>
            <a:ext cx="8369300" cy="1077218"/>
          </a:xfrm>
          <a:prstGeom prst="rect">
            <a:avLst/>
          </a:prstGeom>
          <a:noFill/>
        </p:spPr>
        <p:txBody>
          <a:bodyPr wrap="square" rtlCol="0">
            <a:spAutoFit/>
          </a:bodyPr>
          <a:lstStyle/>
          <a:p>
            <a:r>
              <a:rPr lang="es-BO" sz="3200" dirty="0" smtClean="0">
                <a:solidFill>
                  <a:srgbClr val="FF0000"/>
                </a:solidFill>
              </a:rPr>
              <a:t>5 Técnicas de proyección del mercado.</a:t>
            </a:r>
          </a:p>
          <a:p>
            <a:r>
              <a:rPr lang="es-BO" sz="3200" dirty="0" smtClean="0">
                <a:solidFill>
                  <a:srgbClr val="FF0000"/>
                </a:solidFill>
              </a:rPr>
              <a:t>Métodos de proyección.</a:t>
            </a:r>
            <a:endParaRPr lang="es-BO" sz="3200" dirty="0">
              <a:solidFill>
                <a:srgbClr val="FF0000"/>
              </a:solidFill>
            </a:endParaRPr>
          </a:p>
        </p:txBody>
      </p:sp>
      <p:sp>
        <p:nvSpPr>
          <p:cNvPr id="5" name="CuadroTexto 4"/>
          <p:cNvSpPr txBox="1"/>
          <p:nvPr/>
        </p:nvSpPr>
        <p:spPr>
          <a:xfrm>
            <a:off x="751115" y="1527992"/>
            <a:ext cx="11188338" cy="1200329"/>
          </a:xfrm>
          <a:prstGeom prst="rect">
            <a:avLst/>
          </a:prstGeom>
          <a:solidFill>
            <a:srgbClr val="002060"/>
          </a:solidFill>
        </p:spPr>
        <p:txBody>
          <a:bodyPr wrap="square" rtlCol="0">
            <a:spAutoFit/>
          </a:bodyPr>
          <a:lstStyle/>
          <a:p>
            <a:r>
              <a:rPr lang="es-BO" sz="2400" dirty="0" smtClean="0">
                <a:solidFill>
                  <a:schemeClr val="tx1">
                    <a:lumMod val="85000"/>
                  </a:schemeClr>
                </a:solidFill>
              </a:rPr>
              <a:t>Patrón Estacional.</a:t>
            </a:r>
          </a:p>
          <a:p>
            <a:r>
              <a:rPr lang="es-BO" sz="2400" dirty="0" smtClean="0">
                <a:solidFill>
                  <a:schemeClr val="tx1">
                    <a:lumMod val="85000"/>
                  </a:schemeClr>
                </a:solidFill>
              </a:rPr>
              <a:t>Valores </a:t>
            </a:r>
            <a:r>
              <a:rPr lang="es-BO" sz="2400" dirty="0">
                <a:solidFill>
                  <a:schemeClr val="tx1">
                    <a:lumMod val="85000"/>
                  </a:schemeClr>
                </a:solidFill>
              </a:rPr>
              <a:t>constantes que se incrementan notoriamente en periodos de tiempo específicos.</a:t>
            </a:r>
          </a:p>
        </p:txBody>
      </p:sp>
      <p:pic>
        <p:nvPicPr>
          <p:cNvPr id="3" name="Imagen 2"/>
          <p:cNvPicPr>
            <a:picLocks noChangeAspect="1"/>
          </p:cNvPicPr>
          <p:nvPr/>
        </p:nvPicPr>
        <p:blipFill rotWithShape="1">
          <a:blip r:embed="rId2"/>
          <a:srcRect l="8192" b="9682"/>
          <a:stretch/>
        </p:blipFill>
        <p:spPr>
          <a:xfrm>
            <a:off x="751115" y="2728321"/>
            <a:ext cx="5067300" cy="3981729"/>
          </a:xfrm>
          <a:prstGeom prst="rect">
            <a:avLst/>
          </a:prstGeom>
        </p:spPr>
      </p:pic>
      <p:pic>
        <p:nvPicPr>
          <p:cNvPr id="2" name="Imagen 1"/>
          <p:cNvPicPr>
            <a:picLocks noChangeAspect="1"/>
          </p:cNvPicPr>
          <p:nvPr/>
        </p:nvPicPr>
        <p:blipFill>
          <a:blip r:embed="rId3"/>
          <a:stretch>
            <a:fillRect/>
          </a:stretch>
        </p:blipFill>
        <p:spPr>
          <a:xfrm>
            <a:off x="7187027" y="3003013"/>
            <a:ext cx="3609145" cy="3432345"/>
          </a:xfrm>
          <a:prstGeom prst="rect">
            <a:avLst/>
          </a:prstGeom>
        </p:spPr>
      </p:pic>
    </p:spTree>
    <p:extLst>
      <p:ext uri="{BB962C8B-B14F-4D97-AF65-F5344CB8AC3E}">
        <p14:creationId xmlns:p14="http://schemas.microsoft.com/office/powerpoint/2010/main" val="38405688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p:cNvSpPr txBox="1"/>
          <p:nvPr/>
        </p:nvSpPr>
        <p:spPr>
          <a:xfrm>
            <a:off x="152400" y="203200"/>
            <a:ext cx="8369300" cy="1077218"/>
          </a:xfrm>
          <a:prstGeom prst="rect">
            <a:avLst/>
          </a:prstGeom>
          <a:noFill/>
        </p:spPr>
        <p:txBody>
          <a:bodyPr wrap="square" rtlCol="0">
            <a:spAutoFit/>
          </a:bodyPr>
          <a:lstStyle/>
          <a:p>
            <a:r>
              <a:rPr lang="es-BO" sz="3200" dirty="0" smtClean="0">
                <a:solidFill>
                  <a:srgbClr val="FF0000"/>
                </a:solidFill>
              </a:rPr>
              <a:t>5 Técnicas de proyección del mercado.</a:t>
            </a:r>
          </a:p>
          <a:p>
            <a:r>
              <a:rPr lang="es-BO" sz="3200" dirty="0" smtClean="0">
                <a:solidFill>
                  <a:srgbClr val="FF0000"/>
                </a:solidFill>
              </a:rPr>
              <a:t>Métodos de proyección.</a:t>
            </a:r>
            <a:endParaRPr lang="es-BO" sz="3200" dirty="0">
              <a:solidFill>
                <a:srgbClr val="FF0000"/>
              </a:solidFill>
            </a:endParaRPr>
          </a:p>
        </p:txBody>
      </p:sp>
      <p:sp>
        <p:nvSpPr>
          <p:cNvPr id="5" name="CuadroTexto 4"/>
          <p:cNvSpPr txBox="1"/>
          <p:nvPr/>
        </p:nvSpPr>
        <p:spPr>
          <a:xfrm>
            <a:off x="751115" y="1527992"/>
            <a:ext cx="11188338" cy="1200329"/>
          </a:xfrm>
          <a:prstGeom prst="rect">
            <a:avLst/>
          </a:prstGeom>
          <a:solidFill>
            <a:srgbClr val="002060"/>
          </a:solidFill>
        </p:spPr>
        <p:txBody>
          <a:bodyPr wrap="square" rtlCol="0">
            <a:spAutoFit/>
          </a:bodyPr>
          <a:lstStyle/>
          <a:p>
            <a:r>
              <a:rPr lang="es-BO" sz="2400" dirty="0" smtClean="0">
                <a:solidFill>
                  <a:schemeClr val="tx1">
                    <a:lumMod val="85000"/>
                  </a:schemeClr>
                </a:solidFill>
              </a:rPr>
              <a:t>Patrón Estacionario.</a:t>
            </a:r>
          </a:p>
          <a:p>
            <a:r>
              <a:rPr lang="es-BO" sz="2400" dirty="0" smtClean="0">
                <a:solidFill>
                  <a:schemeClr val="tx1">
                    <a:lumMod val="85000"/>
                  </a:schemeClr>
                </a:solidFill>
              </a:rPr>
              <a:t>El </a:t>
            </a:r>
            <a:r>
              <a:rPr lang="es-BO" sz="2400" dirty="0">
                <a:solidFill>
                  <a:schemeClr val="tx1">
                    <a:lumMod val="85000"/>
                  </a:schemeClr>
                </a:solidFill>
              </a:rPr>
              <a:t>promedio presenta un nivel constante y los valores se mueven aleatoriamente alrededor de dicho promedio.</a:t>
            </a:r>
          </a:p>
        </p:txBody>
      </p:sp>
      <p:pic>
        <p:nvPicPr>
          <p:cNvPr id="2" name="Imagen 1"/>
          <p:cNvPicPr>
            <a:picLocks noChangeAspect="1"/>
          </p:cNvPicPr>
          <p:nvPr/>
        </p:nvPicPr>
        <p:blipFill rotWithShape="1">
          <a:blip r:embed="rId2"/>
          <a:srcRect t="5555"/>
          <a:stretch/>
        </p:blipFill>
        <p:spPr>
          <a:xfrm>
            <a:off x="751115" y="3179094"/>
            <a:ext cx="6986360" cy="2866105"/>
          </a:xfrm>
          <a:prstGeom prst="rect">
            <a:avLst/>
          </a:prstGeom>
        </p:spPr>
      </p:pic>
      <p:pic>
        <p:nvPicPr>
          <p:cNvPr id="3" name="Imagen 2"/>
          <p:cNvPicPr>
            <a:picLocks noChangeAspect="1"/>
          </p:cNvPicPr>
          <p:nvPr/>
        </p:nvPicPr>
        <p:blipFill>
          <a:blip r:embed="rId3"/>
          <a:stretch>
            <a:fillRect/>
          </a:stretch>
        </p:blipFill>
        <p:spPr>
          <a:xfrm>
            <a:off x="8265836" y="4826000"/>
            <a:ext cx="3926164" cy="1920406"/>
          </a:xfrm>
          <a:prstGeom prst="rect">
            <a:avLst/>
          </a:prstGeom>
        </p:spPr>
      </p:pic>
    </p:spTree>
    <p:extLst>
      <p:ext uri="{BB962C8B-B14F-4D97-AF65-F5344CB8AC3E}">
        <p14:creationId xmlns:p14="http://schemas.microsoft.com/office/powerpoint/2010/main" val="20975639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p:cNvSpPr txBox="1"/>
          <p:nvPr/>
        </p:nvSpPr>
        <p:spPr>
          <a:xfrm>
            <a:off x="152400" y="203200"/>
            <a:ext cx="8369300" cy="1077218"/>
          </a:xfrm>
          <a:prstGeom prst="rect">
            <a:avLst/>
          </a:prstGeom>
          <a:noFill/>
        </p:spPr>
        <p:txBody>
          <a:bodyPr wrap="square" rtlCol="0">
            <a:spAutoFit/>
          </a:bodyPr>
          <a:lstStyle/>
          <a:p>
            <a:r>
              <a:rPr lang="es-BO" sz="3200" dirty="0" smtClean="0">
                <a:solidFill>
                  <a:srgbClr val="FF0000"/>
                </a:solidFill>
              </a:rPr>
              <a:t>5 Técnicas de proyección del mercado.</a:t>
            </a:r>
          </a:p>
          <a:p>
            <a:r>
              <a:rPr lang="es-BO" sz="3200" dirty="0" smtClean="0">
                <a:solidFill>
                  <a:srgbClr val="FF0000"/>
                </a:solidFill>
              </a:rPr>
              <a:t>Métodos de proyección.</a:t>
            </a:r>
            <a:endParaRPr lang="es-BO" sz="3200" dirty="0">
              <a:solidFill>
                <a:srgbClr val="FF0000"/>
              </a:solidFill>
            </a:endParaRPr>
          </a:p>
        </p:txBody>
      </p:sp>
      <p:sp>
        <p:nvSpPr>
          <p:cNvPr id="5" name="CuadroTexto 4"/>
          <p:cNvSpPr txBox="1"/>
          <p:nvPr/>
        </p:nvSpPr>
        <p:spPr>
          <a:xfrm>
            <a:off x="751115" y="1527992"/>
            <a:ext cx="11188338" cy="1200329"/>
          </a:xfrm>
          <a:prstGeom prst="rect">
            <a:avLst/>
          </a:prstGeom>
          <a:solidFill>
            <a:srgbClr val="002060"/>
          </a:solidFill>
        </p:spPr>
        <p:txBody>
          <a:bodyPr wrap="square" rtlCol="0">
            <a:spAutoFit/>
          </a:bodyPr>
          <a:lstStyle/>
          <a:p>
            <a:r>
              <a:rPr lang="es-BO" sz="2400" dirty="0" smtClean="0">
                <a:solidFill>
                  <a:schemeClr val="tx1">
                    <a:lumMod val="85000"/>
                  </a:schemeClr>
                </a:solidFill>
              </a:rPr>
              <a:t>Patrón Estacionalidad y tendencia.</a:t>
            </a:r>
          </a:p>
          <a:p>
            <a:r>
              <a:rPr lang="es-BO" sz="2400" dirty="0" smtClean="0">
                <a:solidFill>
                  <a:schemeClr val="tx1">
                    <a:lumMod val="85000"/>
                  </a:schemeClr>
                </a:solidFill>
              </a:rPr>
              <a:t>El </a:t>
            </a:r>
            <a:r>
              <a:rPr lang="es-BO" sz="2400" dirty="0">
                <a:solidFill>
                  <a:schemeClr val="tx1">
                    <a:lumMod val="85000"/>
                  </a:schemeClr>
                </a:solidFill>
              </a:rPr>
              <a:t>promedio presenta un nivel constante y los valores se mueven aleatoriamente alrededor de dicho promedio.</a:t>
            </a:r>
          </a:p>
        </p:txBody>
      </p:sp>
      <p:pic>
        <p:nvPicPr>
          <p:cNvPr id="7" name="Imagen 6"/>
          <p:cNvPicPr>
            <a:picLocks noChangeAspect="1"/>
          </p:cNvPicPr>
          <p:nvPr/>
        </p:nvPicPr>
        <p:blipFill>
          <a:blip r:embed="rId2"/>
          <a:stretch>
            <a:fillRect/>
          </a:stretch>
        </p:blipFill>
        <p:spPr>
          <a:xfrm>
            <a:off x="3771415" y="3371592"/>
            <a:ext cx="4420569" cy="2096016"/>
          </a:xfrm>
          <a:prstGeom prst="rect">
            <a:avLst/>
          </a:prstGeom>
          <a:solidFill>
            <a:srgbClr val="002060"/>
          </a:solidFill>
        </p:spPr>
      </p:pic>
    </p:spTree>
    <p:extLst>
      <p:ext uri="{BB962C8B-B14F-4D97-AF65-F5344CB8AC3E}">
        <p14:creationId xmlns:p14="http://schemas.microsoft.com/office/powerpoint/2010/main" val="278418114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p:cNvSpPr txBox="1"/>
          <p:nvPr/>
        </p:nvSpPr>
        <p:spPr>
          <a:xfrm>
            <a:off x="152400" y="203200"/>
            <a:ext cx="8369300" cy="1077218"/>
          </a:xfrm>
          <a:prstGeom prst="rect">
            <a:avLst/>
          </a:prstGeom>
          <a:noFill/>
        </p:spPr>
        <p:txBody>
          <a:bodyPr wrap="square" rtlCol="0">
            <a:spAutoFit/>
          </a:bodyPr>
          <a:lstStyle/>
          <a:p>
            <a:r>
              <a:rPr lang="es-BO" sz="3200" dirty="0" smtClean="0">
                <a:solidFill>
                  <a:srgbClr val="FF0000"/>
                </a:solidFill>
              </a:rPr>
              <a:t>5 Técnicas de proyección del mercado.</a:t>
            </a:r>
          </a:p>
          <a:p>
            <a:r>
              <a:rPr lang="es-BO" sz="3200" dirty="0" smtClean="0">
                <a:solidFill>
                  <a:srgbClr val="FF0000"/>
                </a:solidFill>
              </a:rPr>
              <a:t>Métodos de proyección.</a:t>
            </a:r>
            <a:endParaRPr lang="es-BO" sz="3200" dirty="0">
              <a:solidFill>
                <a:srgbClr val="FF0000"/>
              </a:solidFill>
            </a:endParaRPr>
          </a:p>
        </p:txBody>
      </p:sp>
      <p:sp>
        <p:nvSpPr>
          <p:cNvPr id="5" name="CuadroTexto 4"/>
          <p:cNvSpPr txBox="1"/>
          <p:nvPr/>
        </p:nvSpPr>
        <p:spPr>
          <a:xfrm>
            <a:off x="700315" y="2137592"/>
            <a:ext cx="11188338" cy="2308324"/>
          </a:xfrm>
          <a:prstGeom prst="rect">
            <a:avLst/>
          </a:prstGeom>
          <a:solidFill>
            <a:srgbClr val="002060"/>
          </a:solidFill>
        </p:spPr>
        <p:txBody>
          <a:bodyPr wrap="square" rtlCol="0">
            <a:spAutoFit/>
          </a:bodyPr>
          <a:lstStyle/>
          <a:p>
            <a:r>
              <a:rPr lang="es-BO" sz="2400" dirty="0" smtClean="0">
                <a:solidFill>
                  <a:schemeClr val="tx1">
                    <a:lumMod val="85000"/>
                  </a:schemeClr>
                </a:solidFill>
              </a:rPr>
              <a:t>Para la proyección de datos, utilizaremos el método de series de tiempo, para ello lo primero que debemos hacer es:</a:t>
            </a:r>
          </a:p>
          <a:p>
            <a:r>
              <a:rPr lang="es-BO" sz="2400" dirty="0" smtClean="0">
                <a:solidFill>
                  <a:schemeClr val="tx1">
                    <a:lumMod val="85000"/>
                  </a:schemeClr>
                </a:solidFill>
              </a:rPr>
              <a:t>1 Identificar el tipo de grafico, Estacionario, Tendencia, Estacional, Estacionario y tendencia.</a:t>
            </a:r>
          </a:p>
          <a:p>
            <a:r>
              <a:rPr lang="es-BO" sz="2400" dirty="0" smtClean="0">
                <a:solidFill>
                  <a:schemeClr val="tx1">
                    <a:lumMod val="85000"/>
                  </a:schemeClr>
                </a:solidFill>
              </a:rPr>
              <a:t>2 Una vez identificado, debemos seleccionar el tipo de técnica para el pronostico.</a:t>
            </a:r>
          </a:p>
        </p:txBody>
      </p:sp>
    </p:spTree>
    <p:extLst>
      <p:ext uri="{BB962C8B-B14F-4D97-AF65-F5344CB8AC3E}">
        <p14:creationId xmlns:p14="http://schemas.microsoft.com/office/powerpoint/2010/main" val="41119888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p:cNvSpPr txBox="1"/>
          <p:nvPr/>
        </p:nvSpPr>
        <p:spPr>
          <a:xfrm>
            <a:off x="152400" y="203200"/>
            <a:ext cx="8369300" cy="1077218"/>
          </a:xfrm>
          <a:prstGeom prst="rect">
            <a:avLst/>
          </a:prstGeom>
          <a:noFill/>
        </p:spPr>
        <p:txBody>
          <a:bodyPr wrap="square" rtlCol="0">
            <a:spAutoFit/>
          </a:bodyPr>
          <a:lstStyle/>
          <a:p>
            <a:r>
              <a:rPr lang="es-BO" sz="3200" dirty="0" smtClean="0">
                <a:solidFill>
                  <a:srgbClr val="FF0000"/>
                </a:solidFill>
              </a:rPr>
              <a:t>5 Técnicas de proyección del mercado.</a:t>
            </a:r>
          </a:p>
          <a:p>
            <a:r>
              <a:rPr lang="es-BO" sz="3200" dirty="0" smtClean="0">
                <a:solidFill>
                  <a:srgbClr val="FF0000"/>
                </a:solidFill>
              </a:rPr>
              <a:t>Métodos de proyección.</a:t>
            </a:r>
            <a:endParaRPr lang="es-BO" sz="3200" dirty="0">
              <a:solidFill>
                <a:srgbClr val="FF0000"/>
              </a:solidFill>
            </a:endParaRPr>
          </a:p>
        </p:txBody>
      </p:sp>
      <p:pic>
        <p:nvPicPr>
          <p:cNvPr id="8" name="Imagen 7"/>
          <p:cNvPicPr>
            <a:picLocks noChangeAspect="1"/>
          </p:cNvPicPr>
          <p:nvPr/>
        </p:nvPicPr>
        <p:blipFill>
          <a:blip r:embed="rId2"/>
          <a:stretch>
            <a:fillRect/>
          </a:stretch>
        </p:blipFill>
        <p:spPr>
          <a:xfrm>
            <a:off x="6679783" y="1280418"/>
            <a:ext cx="5512217" cy="1966078"/>
          </a:xfrm>
          <a:prstGeom prst="rect">
            <a:avLst/>
          </a:prstGeom>
        </p:spPr>
      </p:pic>
      <p:pic>
        <p:nvPicPr>
          <p:cNvPr id="9" name="Imagen 8"/>
          <p:cNvPicPr>
            <a:picLocks noChangeAspect="1"/>
          </p:cNvPicPr>
          <p:nvPr/>
        </p:nvPicPr>
        <p:blipFill>
          <a:blip r:embed="rId3"/>
          <a:stretch>
            <a:fillRect/>
          </a:stretch>
        </p:blipFill>
        <p:spPr>
          <a:xfrm>
            <a:off x="4618164" y="3504954"/>
            <a:ext cx="4818290" cy="2959345"/>
          </a:xfrm>
          <a:prstGeom prst="rect">
            <a:avLst/>
          </a:prstGeom>
        </p:spPr>
      </p:pic>
      <p:pic>
        <p:nvPicPr>
          <p:cNvPr id="10" name="Imagen 9"/>
          <p:cNvPicPr>
            <a:picLocks noChangeAspect="1"/>
          </p:cNvPicPr>
          <p:nvPr/>
        </p:nvPicPr>
        <p:blipFill>
          <a:blip r:embed="rId4"/>
          <a:stretch>
            <a:fillRect/>
          </a:stretch>
        </p:blipFill>
        <p:spPr>
          <a:xfrm>
            <a:off x="501298" y="1538876"/>
            <a:ext cx="4337402" cy="2845961"/>
          </a:xfrm>
          <a:prstGeom prst="rect">
            <a:avLst/>
          </a:prstGeom>
        </p:spPr>
      </p:pic>
    </p:spTree>
    <p:extLst>
      <p:ext uri="{BB962C8B-B14F-4D97-AF65-F5344CB8AC3E}">
        <p14:creationId xmlns:p14="http://schemas.microsoft.com/office/powerpoint/2010/main" val="270294242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p:cNvSpPr txBox="1"/>
          <p:nvPr/>
        </p:nvSpPr>
        <p:spPr>
          <a:xfrm>
            <a:off x="152400" y="203200"/>
            <a:ext cx="8369300" cy="1569660"/>
          </a:xfrm>
          <a:prstGeom prst="rect">
            <a:avLst/>
          </a:prstGeom>
          <a:noFill/>
        </p:spPr>
        <p:txBody>
          <a:bodyPr wrap="square" rtlCol="0">
            <a:spAutoFit/>
          </a:bodyPr>
          <a:lstStyle/>
          <a:p>
            <a:r>
              <a:rPr lang="es-BO" sz="3200" dirty="0" smtClean="0">
                <a:solidFill>
                  <a:srgbClr val="FF0000"/>
                </a:solidFill>
              </a:rPr>
              <a:t>5 Técnicas de proyección del mercado.</a:t>
            </a:r>
          </a:p>
          <a:p>
            <a:r>
              <a:rPr lang="es-BO" sz="3200" dirty="0" smtClean="0">
                <a:solidFill>
                  <a:srgbClr val="FF0000"/>
                </a:solidFill>
              </a:rPr>
              <a:t>Promedios móviles simples</a:t>
            </a:r>
          </a:p>
          <a:p>
            <a:endParaRPr lang="es-BO" sz="3200" dirty="0">
              <a:solidFill>
                <a:srgbClr val="FF0000"/>
              </a:solidFill>
            </a:endParaRPr>
          </a:p>
        </p:txBody>
      </p:sp>
      <p:pic>
        <p:nvPicPr>
          <p:cNvPr id="10" name="Imagen 9"/>
          <p:cNvPicPr>
            <a:picLocks noChangeAspect="1"/>
          </p:cNvPicPr>
          <p:nvPr/>
        </p:nvPicPr>
        <p:blipFill>
          <a:blip r:embed="rId2"/>
          <a:stretch>
            <a:fillRect/>
          </a:stretch>
        </p:blipFill>
        <p:spPr>
          <a:xfrm>
            <a:off x="7702198" y="3799476"/>
            <a:ext cx="4337402" cy="2845961"/>
          </a:xfrm>
          <a:prstGeom prst="rect">
            <a:avLst/>
          </a:prstGeom>
        </p:spPr>
      </p:pic>
      <mc:AlternateContent xmlns:mc="http://schemas.openxmlformats.org/markup-compatibility/2006" xmlns:a14="http://schemas.microsoft.com/office/drawing/2010/main">
        <mc:Choice Requires="a14">
          <p:sp>
            <p:nvSpPr>
              <p:cNvPr id="3" name="CuadroTexto 2"/>
              <p:cNvSpPr txBox="1"/>
              <p:nvPr/>
            </p:nvSpPr>
            <p:spPr>
              <a:xfrm>
                <a:off x="689151" y="1820216"/>
                <a:ext cx="7295798" cy="1979260"/>
              </a:xfrm>
              <a:prstGeom prst="rect">
                <a:avLst/>
              </a:prstGeom>
              <a:solidFill>
                <a:srgbClr val="0070C0"/>
              </a:solidFill>
            </p:spPr>
            <p:txBody>
              <a:bodyPr wrap="square" rtlCol="0">
                <a:spAutoFit/>
              </a:bodyPr>
              <a:lstStyle/>
              <a:p>
                <a:r>
                  <a:rPr lang="es-BO" dirty="0" smtClean="0"/>
                  <a:t>Promedio aritmético de las N observaciones mas recientes:</a:t>
                </a:r>
              </a:p>
              <a:p>
                <a:endParaRPr lang="es-BO" dirty="0"/>
              </a:p>
              <a:p>
                <a:pPr/>
                <a14:m>
                  <m:oMathPara xmlns:m="http://schemas.openxmlformats.org/officeDocument/2006/math">
                    <m:oMathParaPr>
                      <m:jc m:val="centerGroup"/>
                    </m:oMathParaPr>
                    <m:oMath xmlns:m="http://schemas.openxmlformats.org/officeDocument/2006/math">
                      <m:sSub>
                        <m:sSubPr>
                          <m:ctrlPr>
                            <a:rPr lang="es-BO" i="1" smtClean="0">
                              <a:latin typeface="Cambria Math" panose="02040503050406030204" pitchFamily="18" charset="0"/>
                            </a:rPr>
                          </m:ctrlPr>
                        </m:sSubPr>
                        <m:e>
                          <m:r>
                            <a:rPr lang="es-BO" b="0" i="1" smtClean="0">
                              <a:latin typeface="Cambria Math" panose="02040503050406030204" pitchFamily="18" charset="0"/>
                            </a:rPr>
                            <m:t>𝑆</m:t>
                          </m:r>
                        </m:e>
                        <m:sub>
                          <m:r>
                            <a:rPr lang="es-BO" b="0" i="1" smtClean="0">
                              <a:latin typeface="Cambria Math" panose="02040503050406030204" pitchFamily="18" charset="0"/>
                            </a:rPr>
                            <m:t>𝑡</m:t>
                          </m:r>
                        </m:sub>
                      </m:sSub>
                      <m:r>
                        <a:rPr lang="es-BO" b="0" i="1" smtClean="0">
                          <a:latin typeface="Cambria Math" panose="02040503050406030204" pitchFamily="18" charset="0"/>
                        </a:rPr>
                        <m:t>= </m:t>
                      </m:r>
                      <m:f>
                        <m:fPr>
                          <m:ctrlPr>
                            <a:rPr lang="es-BO" b="0" i="1" smtClean="0">
                              <a:latin typeface="Cambria Math" panose="02040503050406030204" pitchFamily="18" charset="0"/>
                            </a:rPr>
                          </m:ctrlPr>
                        </m:fPr>
                        <m:num>
                          <m:r>
                            <a:rPr lang="es-BO" b="0" i="1" smtClean="0">
                              <a:latin typeface="Cambria Math" panose="02040503050406030204" pitchFamily="18" charset="0"/>
                            </a:rPr>
                            <m:t>1</m:t>
                          </m:r>
                        </m:num>
                        <m:den>
                          <m:r>
                            <a:rPr lang="es-BO" b="0" i="1" smtClean="0">
                              <a:latin typeface="Cambria Math" panose="02040503050406030204" pitchFamily="18" charset="0"/>
                            </a:rPr>
                            <m:t>𝑁</m:t>
                          </m:r>
                        </m:den>
                      </m:f>
                      <m:nary>
                        <m:naryPr>
                          <m:chr m:val="∑"/>
                          <m:ctrlPr>
                            <a:rPr lang="es-BO" b="0" i="1" smtClean="0">
                              <a:latin typeface="Cambria Math" panose="02040503050406030204" pitchFamily="18" charset="0"/>
                            </a:rPr>
                          </m:ctrlPr>
                        </m:naryPr>
                        <m:sub>
                          <m:r>
                            <m:rPr>
                              <m:brk m:alnAt="23"/>
                            </m:rPr>
                            <a:rPr lang="es-BO" b="0" i="1" smtClean="0">
                              <a:latin typeface="Cambria Math" panose="02040503050406030204" pitchFamily="18" charset="0"/>
                            </a:rPr>
                            <m:t>𝑖</m:t>
                          </m:r>
                          <m:r>
                            <a:rPr lang="es-BO" b="0" i="1" smtClean="0">
                              <a:latin typeface="Cambria Math" panose="02040503050406030204" pitchFamily="18" charset="0"/>
                            </a:rPr>
                            <m:t>=</m:t>
                          </m:r>
                          <m:r>
                            <a:rPr lang="es-BO" b="0" i="1" smtClean="0">
                              <a:latin typeface="Cambria Math" panose="02040503050406030204" pitchFamily="18" charset="0"/>
                            </a:rPr>
                            <m:t>𝑡</m:t>
                          </m:r>
                        </m:sub>
                        <m:sup>
                          <m:r>
                            <a:rPr lang="es-BO" b="0" i="1" smtClean="0">
                              <a:latin typeface="Cambria Math" panose="02040503050406030204" pitchFamily="18" charset="0"/>
                            </a:rPr>
                            <m:t>𝑡</m:t>
                          </m:r>
                          <m:r>
                            <a:rPr lang="es-BO" b="0" i="1" smtClean="0">
                              <a:latin typeface="Cambria Math" panose="02040503050406030204" pitchFamily="18" charset="0"/>
                            </a:rPr>
                            <m:t>=</m:t>
                          </m:r>
                          <m:r>
                            <a:rPr lang="es-BO" b="0" i="1" smtClean="0">
                              <a:latin typeface="Cambria Math" panose="02040503050406030204" pitchFamily="18" charset="0"/>
                            </a:rPr>
                            <m:t>𝑁</m:t>
                          </m:r>
                          <m:r>
                            <a:rPr lang="es-BO" b="0" i="1" smtClean="0">
                              <a:latin typeface="Cambria Math" panose="02040503050406030204" pitchFamily="18" charset="0"/>
                            </a:rPr>
                            <m:t>+1</m:t>
                          </m:r>
                        </m:sup>
                        <m:e>
                          <m:sSub>
                            <m:sSubPr>
                              <m:ctrlPr>
                                <a:rPr lang="es-BO" b="0" i="1" smtClean="0">
                                  <a:latin typeface="Cambria Math" panose="02040503050406030204" pitchFamily="18" charset="0"/>
                                </a:rPr>
                              </m:ctrlPr>
                            </m:sSubPr>
                            <m:e>
                              <m:r>
                                <a:rPr lang="es-BO" b="0" i="1" smtClean="0">
                                  <a:latin typeface="Cambria Math" panose="02040503050406030204" pitchFamily="18" charset="0"/>
                                </a:rPr>
                                <m:t>𝐷</m:t>
                              </m:r>
                            </m:e>
                            <m:sub>
                              <m:r>
                                <a:rPr lang="es-BO" b="0" i="1" smtClean="0">
                                  <a:latin typeface="Cambria Math" panose="02040503050406030204" pitchFamily="18" charset="0"/>
                                </a:rPr>
                                <m:t>𝑖</m:t>
                              </m:r>
                            </m:sub>
                          </m:sSub>
                        </m:e>
                      </m:nary>
                      <m:r>
                        <a:rPr lang="es-BO" b="0" i="0" smtClean="0">
                          <a:latin typeface="Cambria Math" panose="02040503050406030204" pitchFamily="18" charset="0"/>
                        </a:rPr>
                        <m:t>                                        </m:t>
                      </m:r>
                      <m:sSub>
                        <m:sSubPr>
                          <m:ctrlPr>
                            <a:rPr lang="es-BO" b="0" i="1" smtClean="0">
                              <a:latin typeface="Cambria Math" panose="02040503050406030204" pitchFamily="18" charset="0"/>
                            </a:rPr>
                          </m:ctrlPr>
                        </m:sSubPr>
                        <m:e>
                          <m:r>
                            <a:rPr lang="es-BO" b="0" i="1" smtClean="0">
                              <a:latin typeface="Cambria Math" panose="02040503050406030204" pitchFamily="18" charset="0"/>
                            </a:rPr>
                            <m:t>𝐹</m:t>
                          </m:r>
                        </m:e>
                        <m:sub>
                          <m:r>
                            <a:rPr lang="es-BO" b="0" i="1" smtClean="0">
                              <a:latin typeface="Cambria Math" panose="02040503050406030204" pitchFamily="18" charset="0"/>
                            </a:rPr>
                            <m:t>𝑡</m:t>
                          </m:r>
                          <m:r>
                            <a:rPr lang="es-BO" b="0" i="1" smtClean="0">
                              <a:latin typeface="Cambria Math" panose="02040503050406030204" pitchFamily="18" charset="0"/>
                            </a:rPr>
                            <m:t>+1</m:t>
                          </m:r>
                        </m:sub>
                      </m:sSub>
                      <m:r>
                        <a:rPr lang="es-BO" b="0" i="1" smtClean="0">
                          <a:latin typeface="Cambria Math" panose="02040503050406030204" pitchFamily="18" charset="0"/>
                        </a:rPr>
                        <m:t>=</m:t>
                      </m:r>
                      <m:sSub>
                        <m:sSubPr>
                          <m:ctrlPr>
                            <a:rPr lang="es-BO" b="0" i="1" smtClean="0">
                              <a:latin typeface="Cambria Math" panose="02040503050406030204" pitchFamily="18" charset="0"/>
                            </a:rPr>
                          </m:ctrlPr>
                        </m:sSubPr>
                        <m:e>
                          <m:r>
                            <a:rPr lang="es-BO" b="0" i="1" smtClean="0">
                              <a:latin typeface="Cambria Math" panose="02040503050406030204" pitchFamily="18" charset="0"/>
                            </a:rPr>
                            <m:t>𝑆</m:t>
                          </m:r>
                        </m:e>
                        <m:sub>
                          <m:r>
                            <a:rPr lang="es-BO" b="0" i="1" smtClean="0">
                              <a:latin typeface="Cambria Math" panose="02040503050406030204" pitchFamily="18" charset="0"/>
                            </a:rPr>
                            <m:t>𝑡</m:t>
                          </m:r>
                        </m:sub>
                      </m:sSub>
                    </m:oMath>
                  </m:oMathPara>
                </a14:m>
                <a:endParaRPr lang="es-BO" dirty="0" smtClean="0"/>
              </a:p>
              <a:p>
                <a:endParaRPr lang="es-BO" dirty="0"/>
              </a:p>
              <a:p>
                <a:endParaRPr lang="es-BO" dirty="0"/>
              </a:p>
            </p:txBody>
          </p:sp>
        </mc:Choice>
        <mc:Fallback xmlns="">
          <p:sp>
            <p:nvSpPr>
              <p:cNvPr id="3" name="CuadroTexto 2"/>
              <p:cNvSpPr txBox="1">
                <a:spLocks noRot="1" noChangeAspect="1" noMove="1" noResize="1" noEditPoints="1" noAdjustHandles="1" noChangeArrowheads="1" noChangeShapeType="1" noTextEdit="1"/>
              </p:cNvSpPr>
              <p:nvPr/>
            </p:nvSpPr>
            <p:spPr>
              <a:xfrm>
                <a:off x="689151" y="1820216"/>
                <a:ext cx="7295798" cy="1979260"/>
              </a:xfrm>
              <a:prstGeom prst="rect">
                <a:avLst/>
              </a:prstGeom>
              <a:blipFill>
                <a:blip r:embed="rId3"/>
                <a:stretch>
                  <a:fillRect l="-668" t="-1852"/>
                </a:stretch>
              </a:blipFill>
            </p:spPr>
            <p:txBody>
              <a:bodyPr/>
              <a:lstStyle/>
              <a:p>
                <a:r>
                  <a:rPr lang="es-BO">
                    <a:noFill/>
                  </a:rPr>
                  <a:t> </a:t>
                </a:r>
              </a:p>
            </p:txBody>
          </p:sp>
        </mc:Fallback>
      </mc:AlternateContent>
    </p:spTree>
    <p:extLst>
      <p:ext uri="{BB962C8B-B14F-4D97-AF65-F5344CB8AC3E}">
        <p14:creationId xmlns:p14="http://schemas.microsoft.com/office/powerpoint/2010/main" val="62609684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p:cNvSpPr txBox="1"/>
          <p:nvPr/>
        </p:nvSpPr>
        <p:spPr>
          <a:xfrm>
            <a:off x="152400" y="203200"/>
            <a:ext cx="8369300" cy="1569660"/>
          </a:xfrm>
          <a:prstGeom prst="rect">
            <a:avLst/>
          </a:prstGeom>
          <a:noFill/>
        </p:spPr>
        <p:txBody>
          <a:bodyPr wrap="square" rtlCol="0">
            <a:spAutoFit/>
          </a:bodyPr>
          <a:lstStyle/>
          <a:p>
            <a:r>
              <a:rPr lang="es-BO" sz="3200" dirty="0" smtClean="0">
                <a:solidFill>
                  <a:srgbClr val="FF0000"/>
                </a:solidFill>
              </a:rPr>
              <a:t>5 Técnicas de proyección del mercado.</a:t>
            </a:r>
          </a:p>
          <a:p>
            <a:r>
              <a:rPr lang="es-BO" sz="3200" dirty="0" smtClean="0">
                <a:solidFill>
                  <a:srgbClr val="FF0000"/>
                </a:solidFill>
              </a:rPr>
              <a:t>Promedios móviles simples</a:t>
            </a:r>
          </a:p>
          <a:p>
            <a:endParaRPr lang="es-BO" sz="3200" dirty="0">
              <a:solidFill>
                <a:srgbClr val="FF0000"/>
              </a:solidFill>
            </a:endParaRPr>
          </a:p>
        </p:txBody>
      </p:sp>
      <p:pic>
        <p:nvPicPr>
          <p:cNvPr id="10" name="Imagen 9"/>
          <p:cNvPicPr>
            <a:picLocks noChangeAspect="1"/>
          </p:cNvPicPr>
          <p:nvPr/>
        </p:nvPicPr>
        <p:blipFill>
          <a:blip r:embed="rId2"/>
          <a:stretch>
            <a:fillRect/>
          </a:stretch>
        </p:blipFill>
        <p:spPr>
          <a:xfrm>
            <a:off x="7702198" y="3799476"/>
            <a:ext cx="4337402" cy="2845961"/>
          </a:xfrm>
          <a:prstGeom prst="rect">
            <a:avLst/>
          </a:prstGeom>
        </p:spPr>
      </p:pic>
      <p:graphicFrame>
        <p:nvGraphicFramePr>
          <p:cNvPr id="2" name="Tabla 1"/>
          <p:cNvGraphicFramePr>
            <a:graphicFrameLocks noGrp="1"/>
          </p:cNvGraphicFramePr>
          <p:nvPr>
            <p:extLst>
              <p:ext uri="{D42A27DB-BD31-4B8C-83A1-F6EECF244321}">
                <p14:modId xmlns:p14="http://schemas.microsoft.com/office/powerpoint/2010/main" val="2670832529"/>
              </p:ext>
            </p:extLst>
          </p:nvPr>
        </p:nvGraphicFramePr>
        <p:xfrm>
          <a:off x="3378200" y="1772860"/>
          <a:ext cx="1917700" cy="3708400"/>
        </p:xfrm>
        <a:graphic>
          <a:graphicData uri="http://schemas.openxmlformats.org/drawingml/2006/table">
            <a:tbl>
              <a:tblPr firstRow="1" bandRow="1">
                <a:tableStyleId>{5C22544A-7EE6-4342-B048-85BDC9FD1C3A}</a:tableStyleId>
              </a:tblPr>
              <a:tblGrid>
                <a:gridCol w="958850">
                  <a:extLst>
                    <a:ext uri="{9D8B030D-6E8A-4147-A177-3AD203B41FA5}">
                      <a16:colId xmlns:a16="http://schemas.microsoft.com/office/drawing/2014/main" val="3973705893"/>
                    </a:ext>
                  </a:extLst>
                </a:gridCol>
                <a:gridCol w="958850">
                  <a:extLst>
                    <a:ext uri="{9D8B030D-6E8A-4147-A177-3AD203B41FA5}">
                      <a16:colId xmlns:a16="http://schemas.microsoft.com/office/drawing/2014/main" val="2401221782"/>
                    </a:ext>
                  </a:extLst>
                </a:gridCol>
              </a:tblGrid>
              <a:tr h="370840">
                <a:tc>
                  <a:txBody>
                    <a:bodyPr/>
                    <a:lstStyle/>
                    <a:p>
                      <a:r>
                        <a:rPr lang="es-BO" dirty="0" smtClean="0">
                          <a:latin typeface="Arial" panose="020B0604020202020204" pitchFamily="34" charset="0"/>
                          <a:cs typeface="Arial" panose="020B0604020202020204" pitchFamily="34" charset="0"/>
                        </a:rPr>
                        <a:t>t</a:t>
                      </a:r>
                      <a:endParaRPr lang="es-BO" dirty="0">
                        <a:latin typeface="Arial" panose="020B0604020202020204" pitchFamily="34" charset="0"/>
                        <a:cs typeface="Arial" panose="020B0604020202020204" pitchFamily="34" charset="0"/>
                      </a:endParaRPr>
                    </a:p>
                  </a:txBody>
                  <a:tcPr/>
                </a:tc>
                <a:tc>
                  <a:txBody>
                    <a:bodyPr/>
                    <a:lstStyle/>
                    <a:p>
                      <a:r>
                        <a:rPr lang="es-BO" dirty="0" err="1" smtClean="0">
                          <a:latin typeface="Arial" panose="020B0604020202020204" pitchFamily="34" charset="0"/>
                          <a:cs typeface="Arial" panose="020B0604020202020204" pitchFamily="34" charset="0"/>
                        </a:rPr>
                        <a:t>Dt</a:t>
                      </a:r>
                      <a:endParaRPr lang="es-BO"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588568018"/>
                  </a:ext>
                </a:extLst>
              </a:tr>
              <a:tr h="370840">
                <a:tc>
                  <a:txBody>
                    <a:bodyPr/>
                    <a:lstStyle/>
                    <a:p>
                      <a:r>
                        <a:rPr lang="es-BO" dirty="0" smtClean="0"/>
                        <a:t>1</a:t>
                      </a:r>
                      <a:endParaRPr lang="es-BO" dirty="0"/>
                    </a:p>
                  </a:txBody>
                  <a:tcPr/>
                </a:tc>
                <a:tc>
                  <a:txBody>
                    <a:bodyPr/>
                    <a:lstStyle/>
                    <a:p>
                      <a:r>
                        <a:rPr lang="es-BO" dirty="0" smtClean="0"/>
                        <a:t>15</a:t>
                      </a:r>
                      <a:endParaRPr lang="es-BO" dirty="0"/>
                    </a:p>
                  </a:txBody>
                  <a:tcPr/>
                </a:tc>
                <a:extLst>
                  <a:ext uri="{0D108BD9-81ED-4DB2-BD59-A6C34878D82A}">
                    <a16:rowId xmlns:a16="http://schemas.microsoft.com/office/drawing/2014/main" val="556910679"/>
                  </a:ext>
                </a:extLst>
              </a:tr>
              <a:tr h="370840">
                <a:tc>
                  <a:txBody>
                    <a:bodyPr/>
                    <a:lstStyle/>
                    <a:p>
                      <a:r>
                        <a:rPr lang="es-BO" dirty="0" smtClean="0"/>
                        <a:t>2</a:t>
                      </a:r>
                      <a:endParaRPr lang="es-BO" dirty="0"/>
                    </a:p>
                  </a:txBody>
                  <a:tcPr/>
                </a:tc>
                <a:tc>
                  <a:txBody>
                    <a:bodyPr/>
                    <a:lstStyle/>
                    <a:p>
                      <a:r>
                        <a:rPr lang="es-BO" dirty="0" smtClean="0"/>
                        <a:t>21</a:t>
                      </a:r>
                      <a:endParaRPr lang="es-BO" dirty="0"/>
                    </a:p>
                  </a:txBody>
                  <a:tcPr/>
                </a:tc>
                <a:extLst>
                  <a:ext uri="{0D108BD9-81ED-4DB2-BD59-A6C34878D82A}">
                    <a16:rowId xmlns:a16="http://schemas.microsoft.com/office/drawing/2014/main" val="230793534"/>
                  </a:ext>
                </a:extLst>
              </a:tr>
              <a:tr h="370840">
                <a:tc>
                  <a:txBody>
                    <a:bodyPr/>
                    <a:lstStyle/>
                    <a:p>
                      <a:r>
                        <a:rPr lang="es-BO" dirty="0" smtClean="0"/>
                        <a:t>3</a:t>
                      </a:r>
                      <a:endParaRPr lang="es-BO" dirty="0"/>
                    </a:p>
                  </a:txBody>
                  <a:tcPr/>
                </a:tc>
                <a:tc>
                  <a:txBody>
                    <a:bodyPr/>
                    <a:lstStyle/>
                    <a:p>
                      <a:r>
                        <a:rPr lang="es-BO" dirty="0" smtClean="0"/>
                        <a:t>21</a:t>
                      </a:r>
                      <a:endParaRPr lang="es-BO" dirty="0"/>
                    </a:p>
                  </a:txBody>
                  <a:tcPr/>
                </a:tc>
                <a:extLst>
                  <a:ext uri="{0D108BD9-81ED-4DB2-BD59-A6C34878D82A}">
                    <a16:rowId xmlns:a16="http://schemas.microsoft.com/office/drawing/2014/main" val="2388419778"/>
                  </a:ext>
                </a:extLst>
              </a:tr>
              <a:tr h="370840">
                <a:tc>
                  <a:txBody>
                    <a:bodyPr/>
                    <a:lstStyle/>
                    <a:p>
                      <a:r>
                        <a:rPr lang="es-BO" dirty="0" smtClean="0"/>
                        <a:t>4</a:t>
                      </a:r>
                      <a:endParaRPr lang="es-BO" dirty="0"/>
                    </a:p>
                  </a:txBody>
                  <a:tcPr/>
                </a:tc>
                <a:tc>
                  <a:txBody>
                    <a:bodyPr/>
                    <a:lstStyle/>
                    <a:p>
                      <a:r>
                        <a:rPr lang="es-BO" dirty="0" smtClean="0"/>
                        <a:t>20</a:t>
                      </a:r>
                      <a:endParaRPr lang="es-BO" dirty="0"/>
                    </a:p>
                  </a:txBody>
                  <a:tcPr/>
                </a:tc>
                <a:extLst>
                  <a:ext uri="{0D108BD9-81ED-4DB2-BD59-A6C34878D82A}">
                    <a16:rowId xmlns:a16="http://schemas.microsoft.com/office/drawing/2014/main" val="182567512"/>
                  </a:ext>
                </a:extLst>
              </a:tr>
              <a:tr h="370840">
                <a:tc>
                  <a:txBody>
                    <a:bodyPr/>
                    <a:lstStyle/>
                    <a:p>
                      <a:r>
                        <a:rPr lang="es-BO" dirty="0" smtClean="0"/>
                        <a:t>5</a:t>
                      </a:r>
                      <a:endParaRPr lang="es-BO" dirty="0"/>
                    </a:p>
                  </a:txBody>
                  <a:tcPr/>
                </a:tc>
                <a:tc>
                  <a:txBody>
                    <a:bodyPr/>
                    <a:lstStyle/>
                    <a:p>
                      <a:r>
                        <a:rPr lang="es-BO" dirty="0" smtClean="0"/>
                        <a:t>22</a:t>
                      </a:r>
                      <a:endParaRPr lang="es-BO" dirty="0"/>
                    </a:p>
                  </a:txBody>
                  <a:tcPr/>
                </a:tc>
                <a:extLst>
                  <a:ext uri="{0D108BD9-81ED-4DB2-BD59-A6C34878D82A}">
                    <a16:rowId xmlns:a16="http://schemas.microsoft.com/office/drawing/2014/main" val="1428514671"/>
                  </a:ext>
                </a:extLst>
              </a:tr>
              <a:tr h="370840">
                <a:tc>
                  <a:txBody>
                    <a:bodyPr/>
                    <a:lstStyle/>
                    <a:p>
                      <a:r>
                        <a:rPr lang="es-BO" dirty="0" smtClean="0"/>
                        <a:t>6</a:t>
                      </a:r>
                      <a:endParaRPr lang="es-BO" dirty="0"/>
                    </a:p>
                  </a:txBody>
                  <a:tcPr/>
                </a:tc>
                <a:tc>
                  <a:txBody>
                    <a:bodyPr/>
                    <a:lstStyle/>
                    <a:p>
                      <a:r>
                        <a:rPr lang="es-BO" dirty="0" smtClean="0"/>
                        <a:t>16</a:t>
                      </a:r>
                      <a:endParaRPr lang="es-BO" dirty="0"/>
                    </a:p>
                  </a:txBody>
                  <a:tcPr/>
                </a:tc>
                <a:extLst>
                  <a:ext uri="{0D108BD9-81ED-4DB2-BD59-A6C34878D82A}">
                    <a16:rowId xmlns:a16="http://schemas.microsoft.com/office/drawing/2014/main" val="227728784"/>
                  </a:ext>
                </a:extLst>
              </a:tr>
              <a:tr h="370840">
                <a:tc>
                  <a:txBody>
                    <a:bodyPr/>
                    <a:lstStyle/>
                    <a:p>
                      <a:r>
                        <a:rPr lang="es-BO" dirty="0" smtClean="0"/>
                        <a:t>7</a:t>
                      </a:r>
                      <a:endParaRPr lang="es-BO" dirty="0"/>
                    </a:p>
                  </a:txBody>
                  <a:tcPr/>
                </a:tc>
                <a:tc>
                  <a:txBody>
                    <a:bodyPr/>
                    <a:lstStyle/>
                    <a:p>
                      <a:r>
                        <a:rPr lang="es-BO" dirty="0" smtClean="0"/>
                        <a:t>20</a:t>
                      </a:r>
                      <a:endParaRPr lang="es-BO" dirty="0"/>
                    </a:p>
                  </a:txBody>
                  <a:tcPr/>
                </a:tc>
                <a:extLst>
                  <a:ext uri="{0D108BD9-81ED-4DB2-BD59-A6C34878D82A}">
                    <a16:rowId xmlns:a16="http://schemas.microsoft.com/office/drawing/2014/main" val="3783982002"/>
                  </a:ext>
                </a:extLst>
              </a:tr>
              <a:tr h="370840">
                <a:tc>
                  <a:txBody>
                    <a:bodyPr/>
                    <a:lstStyle/>
                    <a:p>
                      <a:r>
                        <a:rPr lang="es-BO" dirty="0" smtClean="0"/>
                        <a:t>8</a:t>
                      </a:r>
                      <a:endParaRPr lang="es-BO" dirty="0"/>
                    </a:p>
                  </a:txBody>
                  <a:tcPr/>
                </a:tc>
                <a:tc>
                  <a:txBody>
                    <a:bodyPr/>
                    <a:lstStyle/>
                    <a:p>
                      <a:r>
                        <a:rPr lang="es-BO" dirty="0" smtClean="0"/>
                        <a:t>15</a:t>
                      </a:r>
                      <a:endParaRPr lang="es-BO" dirty="0"/>
                    </a:p>
                  </a:txBody>
                  <a:tcPr/>
                </a:tc>
                <a:extLst>
                  <a:ext uri="{0D108BD9-81ED-4DB2-BD59-A6C34878D82A}">
                    <a16:rowId xmlns:a16="http://schemas.microsoft.com/office/drawing/2014/main" val="2512344930"/>
                  </a:ext>
                </a:extLst>
              </a:tr>
              <a:tr h="370840">
                <a:tc>
                  <a:txBody>
                    <a:bodyPr/>
                    <a:lstStyle/>
                    <a:p>
                      <a:r>
                        <a:rPr lang="es-BO" dirty="0" smtClean="0"/>
                        <a:t>9</a:t>
                      </a:r>
                      <a:endParaRPr lang="es-BO" dirty="0"/>
                    </a:p>
                  </a:txBody>
                  <a:tcPr/>
                </a:tc>
                <a:tc>
                  <a:txBody>
                    <a:bodyPr/>
                    <a:lstStyle/>
                    <a:p>
                      <a:r>
                        <a:rPr lang="es-BO" dirty="0" smtClean="0"/>
                        <a:t>17</a:t>
                      </a:r>
                      <a:endParaRPr lang="es-BO" dirty="0"/>
                    </a:p>
                  </a:txBody>
                  <a:tcPr/>
                </a:tc>
                <a:extLst>
                  <a:ext uri="{0D108BD9-81ED-4DB2-BD59-A6C34878D82A}">
                    <a16:rowId xmlns:a16="http://schemas.microsoft.com/office/drawing/2014/main" val="472605199"/>
                  </a:ext>
                </a:extLst>
              </a:tr>
            </a:tbl>
          </a:graphicData>
        </a:graphic>
      </p:graphicFrame>
    </p:spTree>
    <p:extLst>
      <p:ext uri="{BB962C8B-B14F-4D97-AF65-F5344CB8AC3E}">
        <p14:creationId xmlns:p14="http://schemas.microsoft.com/office/powerpoint/2010/main" val="357371626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p:cNvSpPr txBox="1"/>
          <p:nvPr/>
        </p:nvSpPr>
        <p:spPr>
          <a:xfrm>
            <a:off x="152400" y="203200"/>
            <a:ext cx="8369300" cy="1569660"/>
          </a:xfrm>
          <a:prstGeom prst="rect">
            <a:avLst/>
          </a:prstGeom>
          <a:noFill/>
        </p:spPr>
        <p:txBody>
          <a:bodyPr wrap="square" rtlCol="0">
            <a:spAutoFit/>
          </a:bodyPr>
          <a:lstStyle/>
          <a:p>
            <a:r>
              <a:rPr lang="es-BO" sz="3200" dirty="0" smtClean="0">
                <a:solidFill>
                  <a:srgbClr val="FF0000"/>
                </a:solidFill>
              </a:rPr>
              <a:t>5 Técnicas de proyección del mercado.</a:t>
            </a:r>
          </a:p>
          <a:p>
            <a:r>
              <a:rPr lang="es-BO" sz="3200" dirty="0" smtClean="0">
                <a:solidFill>
                  <a:srgbClr val="FF0000"/>
                </a:solidFill>
              </a:rPr>
              <a:t>Suavización exponencial simple.</a:t>
            </a:r>
          </a:p>
          <a:p>
            <a:endParaRPr lang="es-BO" sz="3200" dirty="0">
              <a:solidFill>
                <a:srgbClr val="FF0000"/>
              </a:solidFill>
            </a:endParaRPr>
          </a:p>
        </p:txBody>
      </p:sp>
      <p:pic>
        <p:nvPicPr>
          <p:cNvPr id="10" name="Imagen 9"/>
          <p:cNvPicPr>
            <a:picLocks noChangeAspect="1"/>
          </p:cNvPicPr>
          <p:nvPr/>
        </p:nvPicPr>
        <p:blipFill>
          <a:blip r:embed="rId2"/>
          <a:stretch>
            <a:fillRect/>
          </a:stretch>
        </p:blipFill>
        <p:spPr>
          <a:xfrm>
            <a:off x="7549798" y="4012039"/>
            <a:ext cx="4337402" cy="2845961"/>
          </a:xfrm>
          <a:prstGeom prst="rect">
            <a:avLst/>
          </a:prstGeom>
        </p:spPr>
      </p:pic>
      <p:sp>
        <p:nvSpPr>
          <p:cNvPr id="2" name="CuadroTexto 1"/>
          <p:cNvSpPr txBox="1"/>
          <p:nvPr/>
        </p:nvSpPr>
        <p:spPr>
          <a:xfrm>
            <a:off x="241300" y="1320800"/>
            <a:ext cx="7581900" cy="369332"/>
          </a:xfrm>
          <a:prstGeom prst="rect">
            <a:avLst/>
          </a:prstGeom>
          <a:solidFill>
            <a:schemeClr val="accent4">
              <a:lumMod val="60000"/>
              <a:lumOff val="40000"/>
            </a:schemeClr>
          </a:solidFill>
        </p:spPr>
        <p:txBody>
          <a:bodyPr wrap="square" rtlCol="0">
            <a:spAutoFit/>
          </a:bodyPr>
          <a:lstStyle/>
          <a:p>
            <a:r>
              <a:rPr lang="es-BO" dirty="0"/>
              <a:t>Es el método más popular para las series de tiempo </a:t>
            </a:r>
            <a:r>
              <a:rPr lang="es-BO" dirty="0" smtClean="0"/>
              <a:t>estacionarias.</a:t>
            </a:r>
            <a:endParaRPr lang="es-BO" dirty="0"/>
          </a:p>
        </p:txBody>
      </p:sp>
      <mc:AlternateContent xmlns:mc="http://schemas.openxmlformats.org/markup-compatibility/2006" xmlns:a14="http://schemas.microsoft.com/office/drawing/2010/main">
        <mc:Choice Requires="a14">
          <p:sp>
            <p:nvSpPr>
              <p:cNvPr id="3" name="CuadroTexto 2"/>
              <p:cNvSpPr txBox="1"/>
              <p:nvPr/>
            </p:nvSpPr>
            <p:spPr>
              <a:xfrm>
                <a:off x="2438400" y="2161462"/>
                <a:ext cx="6419498" cy="70788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s-BO" sz="4000" i="1" smtClean="0">
                              <a:latin typeface="Cambria Math" panose="02040503050406030204" pitchFamily="18" charset="0"/>
                            </a:rPr>
                          </m:ctrlPr>
                        </m:sSubPr>
                        <m:e>
                          <m:r>
                            <a:rPr lang="es-BO" sz="4000" b="0" i="1" smtClean="0">
                              <a:latin typeface="Cambria Math" panose="02040503050406030204" pitchFamily="18" charset="0"/>
                            </a:rPr>
                            <m:t>𝐹</m:t>
                          </m:r>
                        </m:e>
                        <m:sub>
                          <m:r>
                            <a:rPr lang="es-BO" sz="4000" b="0" i="1" smtClean="0">
                              <a:latin typeface="Cambria Math" panose="02040503050406030204" pitchFamily="18" charset="0"/>
                            </a:rPr>
                            <m:t>𝑡</m:t>
                          </m:r>
                        </m:sub>
                      </m:sSub>
                      <m:r>
                        <a:rPr lang="es-BO" sz="4000" b="0" i="1" smtClean="0">
                          <a:latin typeface="Cambria Math" panose="02040503050406030204" pitchFamily="18" charset="0"/>
                        </a:rPr>
                        <m:t>= </m:t>
                      </m:r>
                      <m:r>
                        <a:rPr lang="es-BO" sz="4000" b="0" i="1" smtClean="0">
                          <a:latin typeface="Cambria Math" panose="02040503050406030204" pitchFamily="18" charset="0"/>
                          <a:ea typeface="Cambria Math" panose="02040503050406030204" pitchFamily="18" charset="0"/>
                        </a:rPr>
                        <m:t>𝛼</m:t>
                      </m:r>
                      <m:sSub>
                        <m:sSubPr>
                          <m:ctrlPr>
                            <a:rPr lang="es-BO" sz="4000" b="0" i="1" smtClean="0">
                              <a:latin typeface="Cambria Math" panose="02040503050406030204" pitchFamily="18" charset="0"/>
                              <a:ea typeface="Cambria Math" panose="02040503050406030204" pitchFamily="18" charset="0"/>
                            </a:rPr>
                          </m:ctrlPr>
                        </m:sSubPr>
                        <m:e>
                          <m:r>
                            <a:rPr lang="es-BO" sz="4000" b="0" i="1" smtClean="0">
                              <a:latin typeface="Cambria Math" panose="02040503050406030204" pitchFamily="18" charset="0"/>
                              <a:ea typeface="Cambria Math" panose="02040503050406030204" pitchFamily="18" charset="0"/>
                            </a:rPr>
                            <m:t>𝐷</m:t>
                          </m:r>
                        </m:e>
                        <m:sub>
                          <m:r>
                            <a:rPr lang="es-BO" sz="4000" b="0" i="1" smtClean="0">
                              <a:latin typeface="Cambria Math" panose="02040503050406030204" pitchFamily="18" charset="0"/>
                              <a:ea typeface="Cambria Math" panose="02040503050406030204" pitchFamily="18" charset="0"/>
                            </a:rPr>
                            <m:t>𝑡</m:t>
                          </m:r>
                          <m:r>
                            <a:rPr lang="es-BO" sz="4000" b="0" i="1" smtClean="0">
                              <a:latin typeface="Cambria Math" panose="02040503050406030204" pitchFamily="18" charset="0"/>
                              <a:ea typeface="Cambria Math" panose="02040503050406030204" pitchFamily="18" charset="0"/>
                            </a:rPr>
                            <m:t>−1</m:t>
                          </m:r>
                        </m:sub>
                      </m:sSub>
                      <m:r>
                        <a:rPr lang="es-BO" sz="4000" b="0" i="1" smtClean="0">
                          <a:latin typeface="Cambria Math" panose="02040503050406030204" pitchFamily="18" charset="0"/>
                          <a:ea typeface="Cambria Math" panose="02040503050406030204" pitchFamily="18" charset="0"/>
                        </a:rPr>
                        <m:t>+(1−</m:t>
                      </m:r>
                      <m:r>
                        <a:rPr lang="es-BO" sz="4000" b="0" i="1" smtClean="0">
                          <a:latin typeface="Cambria Math" panose="02040503050406030204" pitchFamily="18" charset="0"/>
                          <a:ea typeface="Cambria Math" panose="02040503050406030204" pitchFamily="18" charset="0"/>
                        </a:rPr>
                        <m:t>𝛼</m:t>
                      </m:r>
                      <m:r>
                        <a:rPr lang="es-BO" sz="4000" b="0" i="1" smtClean="0">
                          <a:latin typeface="Cambria Math" panose="02040503050406030204" pitchFamily="18" charset="0"/>
                          <a:ea typeface="Cambria Math" panose="02040503050406030204" pitchFamily="18" charset="0"/>
                        </a:rPr>
                        <m:t>)</m:t>
                      </m:r>
                      <m:sSub>
                        <m:sSubPr>
                          <m:ctrlPr>
                            <a:rPr lang="es-BO" sz="4000" b="0" i="1" smtClean="0">
                              <a:latin typeface="Cambria Math" panose="02040503050406030204" pitchFamily="18" charset="0"/>
                              <a:ea typeface="Cambria Math" panose="02040503050406030204" pitchFamily="18" charset="0"/>
                            </a:rPr>
                          </m:ctrlPr>
                        </m:sSubPr>
                        <m:e>
                          <m:r>
                            <a:rPr lang="es-BO" sz="4000" b="0" i="1" smtClean="0">
                              <a:latin typeface="Cambria Math" panose="02040503050406030204" pitchFamily="18" charset="0"/>
                              <a:ea typeface="Cambria Math" panose="02040503050406030204" pitchFamily="18" charset="0"/>
                            </a:rPr>
                            <m:t>𝐹</m:t>
                          </m:r>
                        </m:e>
                        <m:sub>
                          <m:r>
                            <a:rPr lang="es-BO" sz="4000" b="0" i="1" smtClean="0">
                              <a:latin typeface="Cambria Math" panose="02040503050406030204" pitchFamily="18" charset="0"/>
                              <a:ea typeface="Cambria Math" panose="02040503050406030204" pitchFamily="18" charset="0"/>
                            </a:rPr>
                            <m:t>𝑡</m:t>
                          </m:r>
                          <m:r>
                            <a:rPr lang="es-BO" sz="4000" b="0" i="1" smtClean="0">
                              <a:latin typeface="Cambria Math" panose="02040503050406030204" pitchFamily="18" charset="0"/>
                              <a:ea typeface="Cambria Math" panose="02040503050406030204" pitchFamily="18" charset="0"/>
                            </a:rPr>
                            <m:t>−1</m:t>
                          </m:r>
                        </m:sub>
                      </m:sSub>
                    </m:oMath>
                  </m:oMathPara>
                </a14:m>
                <a:endParaRPr lang="es-BO" sz="4000" dirty="0"/>
              </a:p>
            </p:txBody>
          </p:sp>
        </mc:Choice>
        <mc:Fallback xmlns="">
          <p:sp>
            <p:nvSpPr>
              <p:cNvPr id="3" name="CuadroTexto 2"/>
              <p:cNvSpPr txBox="1">
                <a:spLocks noRot="1" noChangeAspect="1" noMove="1" noResize="1" noEditPoints="1" noAdjustHandles="1" noChangeArrowheads="1" noChangeShapeType="1" noTextEdit="1"/>
              </p:cNvSpPr>
              <p:nvPr/>
            </p:nvSpPr>
            <p:spPr>
              <a:xfrm>
                <a:off x="2438400" y="2161462"/>
                <a:ext cx="6419498" cy="707886"/>
              </a:xfrm>
              <a:prstGeom prst="rect">
                <a:avLst/>
              </a:prstGeom>
              <a:blipFill>
                <a:blip r:embed="rId3"/>
                <a:stretch>
                  <a:fillRect/>
                </a:stretch>
              </a:blipFill>
            </p:spPr>
            <p:txBody>
              <a:bodyPr/>
              <a:lstStyle/>
              <a:p>
                <a:r>
                  <a:rPr lang="es-BO">
                    <a:noFill/>
                  </a:rPr>
                  <a:t> </a:t>
                </a:r>
              </a:p>
            </p:txBody>
          </p:sp>
        </mc:Fallback>
      </mc:AlternateContent>
      <p:sp>
        <p:nvSpPr>
          <p:cNvPr id="6" name="CuadroTexto 5"/>
          <p:cNvSpPr txBox="1"/>
          <p:nvPr/>
        </p:nvSpPr>
        <p:spPr>
          <a:xfrm>
            <a:off x="374298" y="3540709"/>
            <a:ext cx="7175500" cy="2677656"/>
          </a:xfrm>
          <a:prstGeom prst="rect">
            <a:avLst/>
          </a:prstGeom>
          <a:solidFill>
            <a:schemeClr val="accent6">
              <a:lumMod val="75000"/>
            </a:schemeClr>
          </a:solidFill>
        </p:spPr>
        <p:txBody>
          <a:bodyPr wrap="square" rtlCol="0">
            <a:spAutoFit/>
          </a:bodyPr>
          <a:lstStyle/>
          <a:p>
            <a:r>
              <a:rPr lang="es-BO" sz="2400" dirty="0"/>
              <a:t>𝛼: es la constante de </a:t>
            </a:r>
            <a:r>
              <a:rPr lang="es-BO" sz="2400" dirty="0" err="1"/>
              <a:t>suavizamiento</a:t>
            </a:r>
            <a:r>
              <a:rPr lang="es-BO" sz="2400" dirty="0"/>
              <a:t> que determina la ponderación relativa puesta en la observación de demanda actual.</a:t>
            </a:r>
          </a:p>
          <a:p>
            <a:r>
              <a:rPr lang="es-BO" sz="2400" dirty="0"/>
              <a:t>1- 𝛼 : peso asignado a las observaciones pasadas de la demanda</a:t>
            </a:r>
            <a:r>
              <a:rPr lang="es-BO" sz="2400" dirty="0" smtClean="0"/>
              <a:t>.</a:t>
            </a:r>
          </a:p>
          <a:p>
            <a:r>
              <a:rPr lang="es-BO" sz="2400" dirty="0"/>
              <a:t>El valor de </a:t>
            </a:r>
            <a:r>
              <a:rPr lang="es-BO" sz="2400" dirty="0" smtClean="0"/>
              <a:t>𝛼 siempre debe ser mayor a 0 y menor a 1.</a:t>
            </a:r>
            <a:endParaRPr lang="es-BO" sz="2400" dirty="0"/>
          </a:p>
        </p:txBody>
      </p:sp>
    </p:spTree>
    <p:extLst>
      <p:ext uri="{BB962C8B-B14F-4D97-AF65-F5344CB8AC3E}">
        <p14:creationId xmlns:p14="http://schemas.microsoft.com/office/powerpoint/2010/main" val="184781894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p:cNvSpPr txBox="1"/>
          <p:nvPr/>
        </p:nvSpPr>
        <p:spPr>
          <a:xfrm>
            <a:off x="152400" y="203200"/>
            <a:ext cx="8369300" cy="1569660"/>
          </a:xfrm>
          <a:prstGeom prst="rect">
            <a:avLst/>
          </a:prstGeom>
          <a:noFill/>
        </p:spPr>
        <p:txBody>
          <a:bodyPr wrap="square" rtlCol="0">
            <a:spAutoFit/>
          </a:bodyPr>
          <a:lstStyle/>
          <a:p>
            <a:r>
              <a:rPr lang="es-BO" sz="3200" dirty="0" smtClean="0">
                <a:solidFill>
                  <a:srgbClr val="FF0000"/>
                </a:solidFill>
              </a:rPr>
              <a:t>5 Técnicas de proyección del mercado.</a:t>
            </a:r>
          </a:p>
          <a:p>
            <a:r>
              <a:rPr lang="es-BO" sz="3200" dirty="0" smtClean="0">
                <a:solidFill>
                  <a:srgbClr val="FF0000"/>
                </a:solidFill>
              </a:rPr>
              <a:t>Suavización exponencial simple.</a:t>
            </a:r>
          </a:p>
          <a:p>
            <a:endParaRPr lang="es-BO" sz="3200" dirty="0">
              <a:solidFill>
                <a:srgbClr val="FF0000"/>
              </a:solidFill>
            </a:endParaRPr>
          </a:p>
        </p:txBody>
      </p:sp>
      <p:pic>
        <p:nvPicPr>
          <p:cNvPr id="10" name="Imagen 9"/>
          <p:cNvPicPr>
            <a:picLocks noChangeAspect="1"/>
          </p:cNvPicPr>
          <p:nvPr/>
        </p:nvPicPr>
        <p:blipFill>
          <a:blip r:embed="rId2"/>
          <a:stretch>
            <a:fillRect/>
          </a:stretch>
        </p:blipFill>
        <p:spPr>
          <a:xfrm>
            <a:off x="7549798" y="4012039"/>
            <a:ext cx="4337402" cy="2845961"/>
          </a:xfrm>
          <a:prstGeom prst="rect">
            <a:avLst/>
          </a:prstGeom>
        </p:spPr>
      </p:pic>
      <p:sp>
        <p:nvSpPr>
          <p:cNvPr id="2" name="CuadroTexto 1"/>
          <p:cNvSpPr txBox="1"/>
          <p:nvPr/>
        </p:nvSpPr>
        <p:spPr>
          <a:xfrm>
            <a:off x="241300" y="1320800"/>
            <a:ext cx="6616700" cy="3785652"/>
          </a:xfrm>
          <a:prstGeom prst="rect">
            <a:avLst/>
          </a:prstGeom>
          <a:solidFill>
            <a:schemeClr val="tx2">
              <a:lumMod val="50000"/>
            </a:schemeClr>
          </a:solidFill>
        </p:spPr>
        <p:txBody>
          <a:bodyPr wrap="square" rtlCol="0">
            <a:spAutoFit/>
          </a:bodyPr>
          <a:lstStyle/>
          <a:p>
            <a:r>
              <a:rPr lang="es-BO" sz="2400" dirty="0" smtClean="0"/>
              <a:t>Algunos </a:t>
            </a:r>
            <a:r>
              <a:rPr lang="es-BO" sz="2400" dirty="0"/>
              <a:t>aspectos importantes que se deben tener en cuenta cuando se aplica cualquiera de los dos métodos antes mencionados, son los siguientes:</a:t>
            </a:r>
          </a:p>
          <a:p>
            <a:pPr marL="342900" indent="-342900">
              <a:buFont typeface="Arial" panose="020B0604020202020204" pitchFamily="34" charset="0"/>
              <a:buChar char="•"/>
            </a:pPr>
            <a:r>
              <a:rPr lang="es-BO" sz="2400" dirty="0" smtClean="0">
                <a:solidFill>
                  <a:srgbClr val="FFC000"/>
                </a:solidFill>
              </a:rPr>
              <a:t>Aplica </a:t>
            </a:r>
            <a:r>
              <a:rPr lang="es-BO" sz="2400" dirty="0">
                <a:solidFill>
                  <a:srgbClr val="FFC000"/>
                </a:solidFill>
              </a:rPr>
              <a:t>un conjunto de ponderaciones decrecientes a todos los datos pasados.</a:t>
            </a:r>
          </a:p>
          <a:p>
            <a:pPr marL="342900" indent="-342900">
              <a:buFont typeface="Arial" panose="020B0604020202020204" pitchFamily="34" charset="0"/>
              <a:buChar char="•"/>
            </a:pPr>
            <a:r>
              <a:rPr lang="es-BO" sz="2400" dirty="0" smtClean="0">
                <a:solidFill>
                  <a:schemeClr val="accent3">
                    <a:lumMod val="60000"/>
                    <a:lumOff val="40000"/>
                  </a:schemeClr>
                </a:solidFill>
              </a:rPr>
              <a:t>La </a:t>
            </a:r>
            <a:r>
              <a:rPr lang="es-BO" sz="2400" dirty="0">
                <a:solidFill>
                  <a:schemeClr val="accent3">
                    <a:lumMod val="60000"/>
                    <a:lumOff val="40000"/>
                  </a:schemeClr>
                </a:solidFill>
              </a:rPr>
              <a:t>constante de </a:t>
            </a:r>
            <a:r>
              <a:rPr lang="es-BO" sz="2400" dirty="0" err="1">
                <a:solidFill>
                  <a:schemeClr val="accent3">
                    <a:lumMod val="60000"/>
                    <a:lumOff val="40000"/>
                  </a:schemeClr>
                </a:solidFill>
              </a:rPr>
              <a:t>suavizamiento</a:t>
            </a:r>
            <a:r>
              <a:rPr lang="es-BO" sz="2400" dirty="0">
                <a:solidFill>
                  <a:schemeClr val="accent3">
                    <a:lumMod val="60000"/>
                    <a:lumOff val="40000"/>
                  </a:schemeClr>
                </a:solidFill>
              </a:rPr>
              <a:t> juega el mismo papel que el N en los promedios móviles (N pequeño a grande asigna mayor peso a los datos actuales</a:t>
            </a:r>
            <a:r>
              <a:rPr lang="es-BO" sz="2400" dirty="0" smtClean="0">
                <a:solidFill>
                  <a:schemeClr val="accent3">
                    <a:lumMod val="60000"/>
                    <a:lumOff val="40000"/>
                  </a:schemeClr>
                </a:solidFill>
              </a:rPr>
              <a:t>).</a:t>
            </a:r>
            <a:endParaRPr lang="es-BO" sz="2400" dirty="0">
              <a:solidFill>
                <a:schemeClr val="accent3">
                  <a:lumMod val="60000"/>
                  <a:lumOff val="40000"/>
                </a:schemeClr>
              </a:solidFill>
            </a:endParaRPr>
          </a:p>
        </p:txBody>
      </p:sp>
    </p:spTree>
    <p:extLst>
      <p:ext uri="{BB962C8B-B14F-4D97-AF65-F5344CB8AC3E}">
        <p14:creationId xmlns:p14="http://schemas.microsoft.com/office/powerpoint/2010/main" val="56372925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p:cNvSpPr txBox="1"/>
          <p:nvPr/>
        </p:nvSpPr>
        <p:spPr>
          <a:xfrm>
            <a:off x="152400" y="203200"/>
            <a:ext cx="8369300" cy="1569660"/>
          </a:xfrm>
          <a:prstGeom prst="rect">
            <a:avLst/>
          </a:prstGeom>
          <a:noFill/>
        </p:spPr>
        <p:txBody>
          <a:bodyPr wrap="square" rtlCol="0">
            <a:spAutoFit/>
          </a:bodyPr>
          <a:lstStyle/>
          <a:p>
            <a:r>
              <a:rPr lang="es-BO" sz="3200" dirty="0" smtClean="0">
                <a:solidFill>
                  <a:srgbClr val="FF0000"/>
                </a:solidFill>
              </a:rPr>
              <a:t>5 Técnicas de proyección del mercado.</a:t>
            </a:r>
          </a:p>
          <a:p>
            <a:r>
              <a:rPr lang="es-BO" sz="3200" dirty="0" smtClean="0">
                <a:solidFill>
                  <a:srgbClr val="FF0000"/>
                </a:solidFill>
              </a:rPr>
              <a:t>Suavización exponencial simple.</a:t>
            </a:r>
          </a:p>
          <a:p>
            <a:endParaRPr lang="es-BO" sz="3200" dirty="0">
              <a:solidFill>
                <a:srgbClr val="FF0000"/>
              </a:solidFill>
            </a:endParaRPr>
          </a:p>
        </p:txBody>
      </p:sp>
      <p:pic>
        <p:nvPicPr>
          <p:cNvPr id="10" name="Imagen 9"/>
          <p:cNvPicPr>
            <a:picLocks noChangeAspect="1"/>
          </p:cNvPicPr>
          <p:nvPr/>
        </p:nvPicPr>
        <p:blipFill>
          <a:blip r:embed="rId2"/>
          <a:stretch>
            <a:fillRect/>
          </a:stretch>
        </p:blipFill>
        <p:spPr>
          <a:xfrm>
            <a:off x="7549798" y="4012039"/>
            <a:ext cx="4337402" cy="2845961"/>
          </a:xfrm>
          <a:prstGeom prst="rect">
            <a:avLst/>
          </a:prstGeom>
        </p:spPr>
      </p:pic>
      <p:sp>
        <p:nvSpPr>
          <p:cNvPr id="2" name="CuadroTexto 1"/>
          <p:cNvSpPr txBox="1"/>
          <p:nvPr/>
        </p:nvSpPr>
        <p:spPr>
          <a:xfrm>
            <a:off x="241300" y="1320800"/>
            <a:ext cx="6858000" cy="3847207"/>
          </a:xfrm>
          <a:prstGeom prst="rect">
            <a:avLst/>
          </a:prstGeom>
          <a:solidFill>
            <a:schemeClr val="tx2">
              <a:lumMod val="50000"/>
            </a:schemeClr>
          </a:solidFill>
        </p:spPr>
        <p:txBody>
          <a:bodyPr wrap="square" rtlCol="0">
            <a:spAutoFit/>
          </a:bodyPr>
          <a:lstStyle/>
          <a:p>
            <a:pPr marL="342900" indent="-342900">
              <a:buFont typeface="Arial" panose="020B0604020202020204" pitchFamily="34" charset="0"/>
              <a:buChar char="•"/>
            </a:pPr>
            <a:r>
              <a:rPr lang="es-BO" sz="2400" dirty="0">
                <a:solidFill>
                  <a:srgbClr val="FFFF00"/>
                </a:solidFill>
              </a:rPr>
              <a:t>Si 𝛼 grande, se da mayor ponderación a la observación actual, lo que da como resultado pronósticos que reaccionan rápidamente a los patrones de demanda, pero presentan mayor variación de periodo a periodo</a:t>
            </a:r>
            <a:r>
              <a:rPr lang="es-BO" sz="2400" dirty="0" smtClean="0">
                <a:solidFill>
                  <a:srgbClr val="FFFF00"/>
                </a:solidFill>
              </a:rPr>
              <a:t>.</a:t>
            </a:r>
          </a:p>
          <a:p>
            <a:pPr marL="342900" indent="-342900">
              <a:buFont typeface="Arial" panose="020B0604020202020204" pitchFamily="34" charset="0"/>
              <a:buChar char="•"/>
            </a:pPr>
            <a:r>
              <a:rPr lang="es-BO" sz="2400" dirty="0" smtClean="0">
                <a:solidFill>
                  <a:srgbClr val="002060"/>
                </a:solidFill>
              </a:rPr>
              <a:t>SI </a:t>
            </a:r>
            <a:r>
              <a:rPr lang="es-BO" sz="2400" dirty="0"/>
              <a:t>𝛼</a:t>
            </a:r>
            <a:r>
              <a:rPr lang="es-BO" sz="2400" dirty="0" smtClean="0">
                <a:solidFill>
                  <a:srgbClr val="002060"/>
                </a:solidFill>
              </a:rPr>
              <a:t> </a:t>
            </a:r>
            <a:r>
              <a:rPr lang="es-BO" sz="2400" dirty="0">
                <a:solidFill>
                  <a:srgbClr val="002060"/>
                </a:solidFill>
              </a:rPr>
              <a:t>pequeño, los pronósticos son más estables</a:t>
            </a:r>
            <a:r>
              <a:rPr lang="es-BO" sz="2400" dirty="0" smtClean="0">
                <a:solidFill>
                  <a:srgbClr val="002060"/>
                </a:solidFill>
              </a:rPr>
              <a:t>.</a:t>
            </a:r>
          </a:p>
          <a:p>
            <a:pPr marL="342900" indent="-342900">
              <a:buFont typeface="Arial" panose="020B0604020202020204" pitchFamily="34" charset="0"/>
              <a:buChar char="•"/>
            </a:pPr>
            <a:r>
              <a:rPr lang="es-BO" sz="2400" dirty="0" smtClean="0">
                <a:solidFill>
                  <a:srgbClr val="C00000"/>
                </a:solidFill>
              </a:rPr>
              <a:t>El </a:t>
            </a:r>
            <a:r>
              <a:rPr lang="es-BO" sz="2400" dirty="0">
                <a:solidFill>
                  <a:srgbClr val="C00000"/>
                </a:solidFill>
              </a:rPr>
              <a:t>mejor valor de 𝛼 será aquél que me minimice los errores.</a:t>
            </a:r>
          </a:p>
        </p:txBody>
      </p:sp>
    </p:spTree>
    <p:extLst>
      <p:ext uri="{BB962C8B-B14F-4D97-AF65-F5344CB8AC3E}">
        <p14:creationId xmlns:p14="http://schemas.microsoft.com/office/powerpoint/2010/main" val="374571040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p:cNvSpPr txBox="1"/>
          <p:nvPr/>
        </p:nvSpPr>
        <p:spPr>
          <a:xfrm>
            <a:off x="152400" y="203200"/>
            <a:ext cx="8369300" cy="1569660"/>
          </a:xfrm>
          <a:prstGeom prst="rect">
            <a:avLst/>
          </a:prstGeom>
          <a:noFill/>
        </p:spPr>
        <p:txBody>
          <a:bodyPr wrap="square" rtlCol="0">
            <a:spAutoFit/>
          </a:bodyPr>
          <a:lstStyle/>
          <a:p>
            <a:r>
              <a:rPr lang="es-BO" sz="3200" dirty="0" smtClean="0">
                <a:solidFill>
                  <a:srgbClr val="FF0000"/>
                </a:solidFill>
              </a:rPr>
              <a:t>5 Técnicas de proyección del mercado.</a:t>
            </a:r>
          </a:p>
          <a:p>
            <a:r>
              <a:rPr lang="es-BO" sz="3200" dirty="0" smtClean="0">
                <a:solidFill>
                  <a:srgbClr val="FF0000"/>
                </a:solidFill>
              </a:rPr>
              <a:t>Suavización exponencial simple.</a:t>
            </a:r>
          </a:p>
          <a:p>
            <a:endParaRPr lang="es-BO" sz="3200" dirty="0">
              <a:solidFill>
                <a:srgbClr val="FF0000"/>
              </a:solidFill>
            </a:endParaRPr>
          </a:p>
        </p:txBody>
      </p:sp>
      <p:pic>
        <p:nvPicPr>
          <p:cNvPr id="10" name="Imagen 9"/>
          <p:cNvPicPr>
            <a:picLocks noChangeAspect="1"/>
          </p:cNvPicPr>
          <p:nvPr/>
        </p:nvPicPr>
        <p:blipFill>
          <a:blip r:embed="rId2"/>
          <a:stretch>
            <a:fillRect/>
          </a:stretch>
        </p:blipFill>
        <p:spPr>
          <a:xfrm>
            <a:off x="7435498" y="3478639"/>
            <a:ext cx="4337402" cy="2845961"/>
          </a:xfrm>
          <a:prstGeom prst="rect">
            <a:avLst/>
          </a:prstGeom>
        </p:spPr>
      </p:pic>
      <p:graphicFrame>
        <p:nvGraphicFramePr>
          <p:cNvPr id="6" name="Tabla 5"/>
          <p:cNvGraphicFramePr>
            <a:graphicFrameLocks noGrp="1"/>
          </p:cNvGraphicFramePr>
          <p:nvPr>
            <p:extLst>
              <p:ext uri="{D42A27DB-BD31-4B8C-83A1-F6EECF244321}">
                <p14:modId xmlns:p14="http://schemas.microsoft.com/office/powerpoint/2010/main" val="249750491"/>
              </p:ext>
            </p:extLst>
          </p:nvPr>
        </p:nvGraphicFramePr>
        <p:xfrm>
          <a:off x="3289300" y="1937960"/>
          <a:ext cx="1917700" cy="3708400"/>
        </p:xfrm>
        <a:graphic>
          <a:graphicData uri="http://schemas.openxmlformats.org/drawingml/2006/table">
            <a:tbl>
              <a:tblPr firstRow="1" bandRow="1">
                <a:tableStyleId>{5C22544A-7EE6-4342-B048-85BDC9FD1C3A}</a:tableStyleId>
              </a:tblPr>
              <a:tblGrid>
                <a:gridCol w="958850">
                  <a:extLst>
                    <a:ext uri="{9D8B030D-6E8A-4147-A177-3AD203B41FA5}">
                      <a16:colId xmlns:a16="http://schemas.microsoft.com/office/drawing/2014/main" val="3973705893"/>
                    </a:ext>
                  </a:extLst>
                </a:gridCol>
                <a:gridCol w="958850">
                  <a:extLst>
                    <a:ext uri="{9D8B030D-6E8A-4147-A177-3AD203B41FA5}">
                      <a16:colId xmlns:a16="http://schemas.microsoft.com/office/drawing/2014/main" val="2401221782"/>
                    </a:ext>
                  </a:extLst>
                </a:gridCol>
              </a:tblGrid>
              <a:tr h="370840">
                <a:tc>
                  <a:txBody>
                    <a:bodyPr/>
                    <a:lstStyle/>
                    <a:p>
                      <a:r>
                        <a:rPr lang="es-BO" dirty="0" smtClean="0">
                          <a:latin typeface="Arial" panose="020B0604020202020204" pitchFamily="34" charset="0"/>
                          <a:cs typeface="Arial" panose="020B0604020202020204" pitchFamily="34" charset="0"/>
                        </a:rPr>
                        <a:t>t</a:t>
                      </a:r>
                      <a:endParaRPr lang="es-BO" dirty="0">
                        <a:latin typeface="Arial" panose="020B0604020202020204" pitchFamily="34" charset="0"/>
                        <a:cs typeface="Arial" panose="020B0604020202020204" pitchFamily="34" charset="0"/>
                      </a:endParaRPr>
                    </a:p>
                  </a:txBody>
                  <a:tcPr>
                    <a:solidFill>
                      <a:schemeClr val="accent3">
                        <a:lumMod val="60000"/>
                        <a:lumOff val="40000"/>
                      </a:schemeClr>
                    </a:solidFill>
                  </a:tcPr>
                </a:tc>
                <a:tc>
                  <a:txBody>
                    <a:bodyPr/>
                    <a:lstStyle/>
                    <a:p>
                      <a:r>
                        <a:rPr lang="es-BO" dirty="0" err="1" smtClean="0">
                          <a:latin typeface="Arial" panose="020B0604020202020204" pitchFamily="34" charset="0"/>
                          <a:cs typeface="Arial" panose="020B0604020202020204" pitchFamily="34" charset="0"/>
                        </a:rPr>
                        <a:t>Dt</a:t>
                      </a:r>
                      <a:endParaRPr lang="es-BO" dirty="0">
                        <a:latin typeface="Arial" panose="020B0604020202020204" pitchFamily="34" charset="0"/>
                        <a:cs typeface="Arial" panose="020B0604020202020204" pitchFamily="34" charset="0"/>
                      </a:endParaRPr>
                    </a:p>
                  </a:txBody>
                  <a:tcPr>
                    <a:solidFill>
                      <a:schemeClr val="accent3">
                        <a:lumMod val="60000"/>
                        <a:lumOff val="40000"/>
                      </a:schemeClr>
                    </a:solidFill>
                  </a:tcPr>
                </a:tc>
                <a:extLst>
                  <a:ext uri="{0D108BD9-81ED-4DB2-BD59-A6C34878D82A}">
                    <a16:rowId xmlns:a16="http://schemas.microsoft.com/office/drawing/2014/main" val="1588568018"/>
                  </a:ext>
                </a:extLst>
              </a:tr>
              <a:tr h="370840">
                <a:tc>
                  <a:txBody>
                    <a:bodyPr/>
                    <a:lstStyle/>
                    <a:p>
                      <a:r>
                        <a:rPr lang="es-BO" dirty="0" smtClean="0"/>
                        <a:t>1</a:t>
                      </a:r>
                      <a:endParaRPr lang="es-BO" dirty="0"/>
                    </a:p>
                  </a:txBody>
                  <a:tcPr>
                    <a:solidFill>
                      <a:schemeClr val="accent3">
                        <a:lumMod val="60000"/>
                        <a:lumOff val="40000"/>
                      </a:schemeClr>
                    </a:solidFill>
                  </a:tcPr>
                </a:tc>
                <a:tc>
                  <a:txBody>
                    <a:bodyPr/>
                    <a:lstStyle/>
                    <a:p>
                      <a:r>
                        <a:rPr lang="es-BO" dirty="0" smtClean="0"/>
                        <a:t>15</a:t>
                      </a:r>
                      <a:endParaRPr lang="es-BO" dirty="0"/>
                    </a:p>
                  </a:txBody>
                  <a:tcPr>
                    <a:solidFill>
                      <a:schemeClr val="accent3">
                        <a:lumMod val="60000"/>
                        <a:lumOff val="40000"/>
                      </a:schemeClr>
                    </a:solidFill>
                  </a:tcPr>
                </a:tc>
                <a:extLst>
                  <a:ext uri="{0D108BD9-81ED-4DB2-BD59-A6C34878D82A}">
                    <a16:rowId xmlns:a16="http://schemas.microsoft.com/office/drawing/2014/main" val="556910679"/>
                  </a:ext>
                </a:extLst>
              </a:tr>
              <a:tr h="370840">
                <a:tc>
                  <a:txBody>
                    <a:bodyPr/>
                    <a:lstStyle/>
                    <a:p>
                      <a:r>
                        <a:rPr lang="es-BO" dirty="0" smtClean="0"/>
                        <a:t>2</a:t>
                      </a:r>
                      <a:endParaRPr lang="es-BO" dirty="0"/>
                    </a:p>
                  </a:txBody>
                  <a:tcPr>
                    <a:solidFill>
                      <a:schemeClr val="accent3">
                        <a:lumMod val="60000"/>
                        <a:lumOff val="40000"/>
                      </a:schemeClr>
                    </a:solidFill>
                  </a:tcPr>
                </a:tc>
                <a:tc>
                  <a:txBody>
                    <a:bodyPr/>
                    <a:lstStyle/>
                    <a:p>
                      <a:r>
                        <a:rPr lang="es-BO" dirty="0" smtClean="0"/>
                        <a:t>21</a:t>
                      </a:r>
                      <a:endParaRPr lang="es-BO" dirty="0"/>
                    </a:p>
                  </a:txBody>
                  <a:tcPr>
                    <a:solidFill>
                      <a:schemeClr val="accent3">
                        <a:lumMod val="60000"/>
                        <a:lumOff val="40000"/>
                      </a:schemeClr>
                    </a:solidFill>
                  </a:tcPr>
                </a:tc>
                <a:extLst>
                  <a:ext uri="{0D108BD9-81ED-4DB2-BD59-A6C34878D82A}">
                    <a16:rowId xmlns:a16="http://schemas.microsoft.com/office/drawing/2014/main" val="230793534"/>
                  </a:ext>
                </a:extLst>
              </a:tr>
              <a:tr h="370840">
                <a:tc>
                  <a:txBody>
                    <a:bodyPr/>
                    <a:lstStyle/>
                    <a:p>
                      <a:r>
                        <a:rPr lang="es-BO" dirty="0" smtClean="0"/>
                        <a:t>3</a:t>
                      </a:r>
                      <a:endParaRPr lang="es-BO" dirty="0"/>
                    </a:p>
                  </a:txBody>
                  <a:tcPr>
                    <a:solidFill>
                      <a:schemeClr val="accent3">
                        <a:lumMod val="60000"/>
                        <a:lumOff val="40000"/>
                      </a:schemeClr>
                    </a:solidFill>
                  </a:tcPr>
                </a:tc>
                <a:tc>
                  <a:txBody>
                    <a:bodyPr/>
                    <a:lstStyle/>
                    <a:p>
                      <a:r>
                        <a:rPr lang="es-BO" dirty="0" smtClean="0"/>
                        <a:t>21</a:t>
                      </a:r>
                      <a:endParaRPr lang="es-BO" dirty="0"/>
                    </a:p>
                  </a:txBody>
                  <a:tcPr>
                    <a:solidFill>
                      <a:schemeClr val="accent3">
                        <a:lumMod val="60000"/>
                        <a:lumOff val="40000"/>
                      </a:schemeClr>
                    </a:solidFill>
                  </a:tcPr>
                </a:tc>
                <a:extLst>
                  <a:ext uri="{0D108BD9-81ED-4DB2-BD59-A6C34878D82A}">
                    <a16:rowId xmlns:a16="http://schemas.microsoft.com/office/drawing/2014/main" val="2388419778"/>
                  </a:ext>
                </a:extLst>
              </a:tr>
              <a:tr h="370840">
                <a:tc>
                  <a:txBody>
                    <a:bodyPr/>
                    <a:lstStyle/>
                    <a:p>
                      <a:r>
                        <a:rPr lang="es-BO" dirty="0" smtClean="0"/>
                        <a:t>4</a:t>
                      </a:r>
                      <a:endParaRPr lang="es-BO" dirty="0"/>
                    </a:p>
                  </a:txBody>
                  <a:tcPr>
                    <a:solidFill>
                      <a:schemeClr val="accent3">
                        <a:lumMod val="60000"/>
                        <a:lumOff val="40000"/>
                      </a:schemeClr>
                    </a:solidFill>
                  </a:tcPr>
                </a:tc>
                <a:tc>
                  <a:txBody>
                    <a:bodyPr/>
                    <a:lstStyle/>
                    <a:p>
                      <a:r>
                        <a:rPr lang="es-BO" dirty="0" smtClean="0"/>
                        <a:t>20</a:t>
                      </a:r>
                      <a:endParaRPr lang="es-BO" dirty="0"/>
                    </a:p>
                  </a:txBody>
                  <a:tcPr>
                    <a:solidFill>
                      <a:schemeClr val="accent3">
                        <a:lumMod val="60000"/>
                        <a:lumOff val="40000"/>
                      </a:schemeClr>
                    </a:solidFill>
                  </a:tcPr>
                </a:tc>
                <a:extLst>
                  <a:ext uri="{0D108BD9-81ED-4DB2-BD59-A6C34878D82A}">
                    <a16:rowId xmlns:a16="http://schemas.microsoft.com/office/drawing/2014/main" val="182567512"/>
                  </a:ext>
                </a:extLst>
              </a:tr>
              <a:tr h="370840">
                <a:tc>
                  <a:txBody>
                    <a:bodyPr/>
                    <a:lstStyle/>
                    <a:p>
                      <a:r>
                        <a:rPr lang="es-BO" dirty="0" smtClean="0"/>
                        <a:t>5</a:t>
                      </a:r>
                      <a:endParaRPr lang="es-BO" dirty="0"/>
                    </a:p>
                  </a:txBody>
                  <a:tcPr>
                    <a:solidFill>
                      <a:schemeClr val="accent3">
                        <a:lumMod val="60000"/>
                        <a:lumOff val="40000"/>
                      </a:schemeClr>
                    </a:solidFill>
                  </a:tcPr>
                </a:tc>
                <a:tc>
                  <a:txBody>
                    <a:bodyPr/>
                    <a:lstStyle/>
                    <a:p>
                      <a:r>
                        <a:rPr lang="es-BO" dirty="0" smtClean="0"/>
                        <a:t>22</a:t>
                      </a:r>
                      <a:endParaRPr lang="es-BO" dirty="0"/>
                    </a:p>
                  </a:txBody>
                  <a:tcPr>
                    <a:solidFill>
                      <a:schemeClr val="accent3">
                        <a:lumMod val="60000"/>
                        <a:lumOff val="40000"/>
                      </a:schemeClr>
                    </a:solidFill>
                  </a:tcPr>
                </a:tc>
                <a:extLst>
                  <a:ext uri="{0D108BD9-81ED-4DB2-BD59-A6C34878D82A}">
                    <a16:rowId xmlns:a16="http://schemas.microsoft.com/office/drawing/2014/main" val="1428514671"/>
                  </a:ext>
                </a:extLst>
              </a:tr>
              <a:tr h="370840">
                <a:tc>
                  <a:txBody>
                    <a:bodyPr/>
                    <a:lstStyle/>
                    <a:p>
                      <a:r>
                        <a:rPr lang="es-BO" dirty="0" smtClean="0"/>
                        <a:t>6</a:t>
                      </a:r>
                      <a:endParaRPr lang="es-BO" dirty="0"/>
                    </a:p>
                  </a:txBody>
                  <a:tcPr>
                    <a:solidFill>
                      <a:schemeClr val="accent3">
                        <a:lumMod val="60000"/>
                        <a:lumOff val="40000"/>
                      </a:schemeClr>
                    </a:solidFill>
                  </a:tcPr>
                </a:tc>
                <a:tc>
                  <a:txBody>
                    <a:bodyPr/>
                    <a:lstStyle/>
                    <a:p>
                      <a:r>
                        <a:rPr lang="es-BO" dirty="0" smtClean="0"/>
                        <a:t>16</a:t>
                      </a:r>
                      <a:endParaRPr lang="es-BO" dirty="0"/>
                    </a:p>
                  </a:txBody>
                  <a:tcPr>
                    <a:solidFill>
                      <a:schemeClr val="accent3">
                        <a:lumMod val="60000"/>
                        <a:lumOff val="40000"/>
                      </a:schemeClr>
                    </a:solidFill>
                  </a:tcPr>
                </a:tc>
                <a:extLst>
                  <a:ext uri="{0D108BD9-81ED-4DB2-BD59-A6C34878D82A}">
                    <a16:rowId xmlns:a16="http://schemas.microsoft.com/office/drawing/2014/main" val="227728784"/>
                  </a:ext>
                </a:extLst>
              </a:tr>
              <a:tr h="370840">
                <a:tc>
                  <a:txBody>
                    <a:bodyPr/>
                    <a:lstStyle/>
                    <a:p>
                      <a:r>
                        <a:rPr lang="es-BO" dirty="0" smtClean="0"/>
                        <a:t>7</a:t>
                      </a:r>
                      <a:endParaRPr lang="es-BO" dirty="0"/>
                    </a:p>
                  </a:txBody>
                  <a:tcPr>
                    <a:solidFill>
                      <a:schemeClr val="accent3">
                        <a:lumMod val="60000"/>
                        <a:lumOff val="40000"/>
                      </a:schemeClr>
                    </a:solidFill>
                  </a:tcPr>
                </a:tc>
                <a:tc>
                  <a:txBody>
                    <a:bodyPr/>
                    <a:lstStyle/>
                    <a:p>
                      <a:r>
                        <a:rPr lang="es-BO" dirty="0" smtClean="0"/>
                        <a:t>20</a:t>
                      </a:r>
                      <a:endParaRPr lang="es-BO" dirty="0"/>
                    </a:p>
                  </a:txBody>
                  <a:tcPr>
                    <a:solidFill>
                      <a:schemeClr val="accent3">
                        <a:lumMod val="60000"/>
                        <a:lumOff val="40000"/>
                      </a:schemeClr>
                    </a:solidFill>
                  </a:tcPr>
                </a:tc>
                <a:extLst>
                  <a:ext uri="{0D108BD9-81ED-4DB2-BD59-A6C34878D82A}">
                    <a16:rowId xmlns:a16="http://schemas.microsoft.com/office/drawing/2014/main" val="3783982002"/>
                  </a:ext>
                </a:extLst>
              </a:tr>
              <a:tr h="370840">
                <a:tc>
                  <a:txBody>
                    <a:bodyPr/>
                    <a:lstStyle/>
                    <a:p>
                      <a:r>
                        <a:rPr lang="es-BO" dirty="0" smtClean="0"/>
                        <a:t>8</a:t>
                      </a:r>
                      <a:endParaRPr lang="es-BO" dirty="0"/>
                    </a:p>
                  </a:txBody>
                  <a:tcPr>
                    <a:solidFill>
                      <a:schemeClr val="accent3">
                        <a:lumMod val="60000"/>
                        <a:lumOff val="40000"/>
                      </a:schemeClr>
                    </a:solidFill>
                  </a:tcPr>
                </a:tc>
                <a:tc>
                  <a:txBody>
                    <a:bodyPr/>
                    <a:lstStyle/>
                    <a:p>
                      <a:r>
                        <a:rPr lang="es-BO" dirty="0" smtClean="0"/>
                        <a:t>15</a:t>
                      </a:r>
                      <a:endParaRPr lang="es-BO" dirty="0"/>
                    </a:p>
                  </a:txBody>
                  <a:tcPr>
                    <a:solidFill>
                      <a:schemeClr val="accent3">
                        <a:lumMod val="60000"/>
                        <a:lumOff val="40000"/>
                      </a:schemeClr>
                    </a:solidFill>
                  </a:tcPr>
                </a:tc>
                <a:extLst>
                  <a:ext uri="{0D108BD9-81ED-4DB2-BD59-A6C34878D82A}">
                    <a16:rowId xmlns:a16="http://schemas.microsoft.com/office/drawing/2014/main" val="2512344930"/>
                  </a:ext>
                </a:extLst>
              </a:tr>
              <a:tr h="370840">
                <a:tc>
                  <a:txBody>
                    <a:bodyPr/>
                    <a:lstStyle/>
                    <a:p>
                      <a:r>
                        <a:rPr lang="es-BO" dirty="0" smtClean="0"/>
                        <a:t>9</a:t>
                      </a:r>
                      <a:endParaRPr lang="es-BO" dirty="0"/>
                    </a:p>
                  </a:txBody>
                  <a:tcPr>
                    <a:solidFill>
                      <a:schemeClr val="accent3">
                        <a:lumMod val="60000"/>
                        <a:lumOff val="40000"/>
                      </a:schemeClr>
                    </a:solidFill>
                  </a:tcPr>
                </a:tc>
                <a:tc>
                  <a:txBody>
                    <a:bodyPr/>
                    <a:lstStyle/>
                    <a:p>
                      <a:r>
                        <a:rPr lang="es-BO" dirty="0" smtClean="0"/>
                        <a:t>17</a:t>
                      </a:r>
                      <a:endParaRPr lang="es-BO" dirty="0"/>
                    </a:p>
                  </a:txBody>
                  <a:tcPr>
                    <a:solidFill>
                      <a:schemeClr val="accent3">
                        <a:lumMod val="60000"/>
                        <a:lumOff val="40000"/>
                      </a:schemeClr>
                    </a:solidFill>
                  </a:tcPr>
                </a:tc>
                <a:extLst>
                  <a:ext uri="{0D108BD9-81ED-4DB2-BD59-A6C34878D82A}">
                    <a16:rowId xmlns:a16="http://schemas.microsoft.com/office/drawing/2014/main" val="472605199"/>
                  </a:ext>
                </a:extLst>
              </a:tr>
            </a:tbl>
          </a:graphicData>
        </a:graphic>
      </p:graphicFrame>
    </p:spTree>
    <p:extLst>
      <p:ext uri="{BB962C8B-B14F-4D97-AF65-F5344CB8AC3E}">
        <p14:creationId xmlns:p14="http://schemas.microsoft.com/office/powerpoint/2010/main" val="268304884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p:cNvSpPr txBox="1"/>
          <p:nvPr/>
        </p:nvSpPr>
        <p:spPr>
          <a:xfrm>
            <a:off x="152400" y="203200"/>
            <a:ext cx="8369300" cy="1569660"/>
          </a:xfrm>
          <a:prstGeom prst="rect">
            <a:avLst/>
          </a:prstGeom>
          <a:noFill/>
        </p:spPr>
        <p:txBody>
          <a:bodyPr wrap="square" rtlCol="0">
            <a:spAutoFit/>
          </a:bodyPr>
          <a:lstStyle/>
          <a:p>
            <a:r>
              <a:rPr lang="es-BO" sz="3200" dirty="0" smtClean="0">
                <a:solidFill>
                  <a:srgbClr val="FF0000"/>
                </a:solidFill>
              </a:rPr>
              <a:t>5 Técnicas de proyección del mercado.</a:t>
            </a:r>
          </a:p>
          <a:p>
            <a:r>
              <a:rPr lang="es-BO" sz="3200" dirty="0" smtClean="0">
                <a:solidFill>
                  <a:srgbClr val="FF0000"/>
                </a:solidFill>
              </a:rPr>
              <a:t>Regresión lineal simple.</a:t>
            </a:r>
          </a:p>
          <a:p>
            <a:endParaRPr lang="es-BO" sz="3200" dirty="0">
              <a:solidFill>
                <a:srgbClr val="FF0000"/>
              </a:solidFill>
            </a:endParaRPr>
          </a:p>
        </p:txBody>
      </p:sp>
      <p:pic>
        <p:nvPicPr>
          <p:cNvPr id="9" name="Imagen 8"/>
          <p:cNvPicPr>
            <a:picLocks noChangeAspect="1"/>
          </p:cNvPicPr>
          <p:nvPr/>
        </p:nvPicPr>
        <p:blipFill>
          <a:blip r:embed="rId2"/>
          <a:stretch>
            <a:fillRect/>
          </a:stretch>
        </p:blipFill>
        <p:spPr>
          <a:xfrm>
            <a:off x="7145110" y="3784354"/>
            <a:ext cx="4818290" cy="2959345"/>
          </a:xfrm>
          <a:prstGeom prst="rect">
            <a:avLst/>
          </a:prstGeom>
        </p:spPr>
      </p:pic>
      <p:sp>
        <p:nvSpPr>
          <p:cNvPr id="3" name="CuadroTexto 2"/>
          <p:cNvSpPr txBox="1"/>
          <p:nvPr/>
        </p:nvSpPr>
        <p:spPr>
          <a:xfrm>
            <a:off x="254000" y="2006600"/>
            <a:ext cx="6337300" cy="3416320"/>
          </a:xfrm>
          <a:prstGeom prst="rect">
            <a:avLst/>
          </a:prstGeom>
          <a:noFill/>
          <a:ln>
            <a:solidFill>
              <a:srgbClr val="002060"/>
            </a:solidFill>
          </a:ln>
        </p:spPr>
        <p:txBody>
          <a:bodyPr wrap="square" rtlCol="0">
            <a:spAutoFit/>
          </a:bodyPr>
          <a:lstStyle/>
          <a:p>
            <a:r>
              <a:rPr lang="es-BO" sz="2400" dirty="0"/>
              <a:t>Existe una relación entre la variable X (independiente) y la variable Y (dependiente) que puede representarse mediante una línea recta.</a:t>
            </a:r>
          </a:p>
          <a:p>
            <a:pPr algn="ctr"/>
            <a:r>
              <a:rPr lang="es-BO" sz="2400" dirty="0" smtClean="0"/>
              <a:t>Y= </a:t>
            </a:r>
            <a:r>
              <a:rPr lang="es-BO" sz="2400" dirty="0"/>
              <a:t>mx + b</a:t>
            </a:r>
          </a:p>
          <a:p>
            <a:r>
              <a:rPr lang="es-BO" sz="2400" dirty="0"/>
              <a:t>Los valores de </a:t>
            </a:r>
            <a:r>
              <a:rPr lang="es-BO" sz="2400" dirty="0" smtClean="0"/>
              <a:t>b </a:t>
            </a:r>
            <a:r>
              <a:rPr lang="es-BO" sz="2400" dirty="0"/>
              <a:t>y </a:t>
            </a:r>
            <a:r>
              <a:rPr lang="es-BO" sz="2400" dirty="0" smtClean="0"/>
              <a:t>m </a:t>
            </a:r>
            <a:r>
              <a:rPr lang="es-BO" sz="2400" dirty="0"/>
              <a:t>se eligen de manera que se minimice la suma de las distancias cuadráticas, entre la línea de regresión y los puntos de datos.</a:t>
            </a:r>
          </a:p>
        </p:txBody>
      </p:sp>
    </p:spTree>
    <p:extLst>
      <p:ext uri="{BB962C8B-B14F-4D97-AF65-F5344CB8AC3E}">
        <p14:creationId xmlns:p14="http://schemas.microsoft.com/office/powerpoint/2010/main" val="357366748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p:cNvSpPr txBox="1"/>
          <p:nvPr/>
        </p:nvSpPr>
        <p:spPr>
          <a:xfrm>
            <a:off x="152400" y="203200"/>
            <a:ext cx="8369300" cy="1569660"/>
          </a:xfrm>
          <a:prstGeom prst="rect">
            <a:avLst/>
          </a:prstGeom>
          <a:noFill/>
        </p:spPr>
        <p:txBody>
          <a:bodyPr wrap="square" rtlCol="0">
            <a:spAutoFit/>
          </a:bodyPr>
          <a:lstStyle/>
          <a:p>
            <a:r>
              <a:rPr lang="es-BO" sz="3200" dirty="0" smtClean="0">
                <a:solidFill>
                  <a:srgbClr val="FF0000"/>
                </a:solidFill>
              </a:rPr>
              <a:t>5 Técnicas de proyección del mercado.</a:t>
            </a:r>
          </a:p>
          <a:p>
            <a:r>
              <a:rPr lang="es-BO" sz="3200" dirty="0" smtClean="0">
                <a:solidFill>
                  <a:srgbClr val="FF0000"/>
                </a:solidFill>
              </a:rPr>
              <a:t>Regresión lineal simple.</a:t>
            </a:r>
          </a:p>
          <a:p>
            <a:endParaRPr lang="es-BO" sz="3200" dirty="0">
              <a:solidFill>
                <a:srgbClr val="FF0000"/>
              </a:solidFill>
            </a:endParaRPr>
          </a:p>
        </p:txBody>
      </p:sp>
      <p:pic>
        <p:nvPicPr>
          <p:cNvPr id="9" name="Imagen 8"/>
          <p:cNvPicPr>
            <a:picLocks noChangeAspect="1"/>
          </p:cNvPicPr>
          <p:nvPr/>
        </p:nvPicPr>
        <p:blipFill>
          <a:blip r:embed="rId2"/>
          <a:stretch>
            <a:fillRect/>
          </a:stretch>
        </p:blipFill>
        <p:spPr>
          <a:xfrm>
            <a:off x="7373710" y="1622098"/>
            <a:ext cx="4818290" cy="2959345"/>
          </a:xfrm>
          <a:prstGeom prst="rect">
            <a:avLst/>
          </a:prstGeom>
        </p:spPr>
      </p:pic>
      <p:sp>
        <p:nvSpPr>
          <p:cNvPr id="3" name="CuadroTexto 2"/>
          <p:cNvSpPr txBox="1"/>
          <p:nvPr/>
        </p:nvSpPr>
        <p:spPr>
          <a:xfrm>
            <a:off x="279400" y="1532111"/>
            <a:ext cx="7239000" cy="830997"/>
          </a:xfrm>
          <a:prstGeom prst="rect">
            <a:avLst/>
          </a:prstGeom>
          <a:noFill/>
          <a:ln>
            <a:solidFill>
              <a:srgbClr val="002060"/>
            </a:solidFill>
          </a:ln>
        </p:spPr>
        <p:txBody>
          <a:bodyPr wrap="square" rtlCol="0">
            <a:spAutoFit/>
          </a:bodyPr>
          <a:lstStyle/>
          <a:p>
            <a:r>
              <a:rPr lang="es-BO" sz="2400" dirty="0" smtClean="0"/>
              <a:t>Los valores de b y m se calculan a través de las siguientes ecuaciones:</a:t>
            </a:r>
            <a:endParaRPr lang="es-BO" sz="2400" dirty="0"/>
          </a:p>
        </p:txBody>
      </p:sp>
      <mc:AlternateContent xmlns:mc="http://schemas.openxmlformats.org/markup-compatibility/2006" xmlns:a14="http://schemas.microsoft.com/office/drawing/2010/main">
        <mc:Choice Requires="a14">
          <p:sp>
            <p:nvSpPr>
              <p:cNvPr id="5" name="CuadroTexto 4"/>
              <p:cNvSpPr txBox="1"/>
              <p:nvPr/>
            </p:nvSpPr>
            <p:spPr>
              <a:xfrm>
                <a:off x="1374095" y="2766246"/>
                <a:ext cx="5252810" cy="1038746"/>
              </a:xfrm>
              <a:prstGeom prst="rect">
                <a:avLst/>
              </a:prstGeom>
              <a:solidFill>
                <a:schemeClr val="bg2">
                  <a:lumMod val="75000"/>
                </a:schemeClr>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s-BO" sz="2800" b="0" i="1" smtClean="0">
                          <a:latin typeface="Cambria Math" panose="02040503050406030204" pitchFamily="18" charset="0"/>
                        </a:rPr>
                        <m:t>𝑚</m:t>
                      </m:r>
                      <m:r>
                        <a:rPr lang="es-BO" sz="2800" b="0" i="1" smtClean="0">
                          <a:latin typeface="Cambria Math" panose="02040503050406030204" pitchFamily="18" charset="0"/>
                        </a:rPr>
                        <m:t>=</m:t>
                      </m:r>
                      <m:f>
                        <m:fPr>
                          <m:ctrlPr>
                            <a:rPr lang="es-BO" sz="2800" b="0" i="1" smtClean="0">
                              <a:latin typeface="Cambria Math" panose="02040503050406030204" pitchFamily="18" charset="0"/>
                            </a:rPr>
                          </m:ctrlPr>
                        </m:fPr>
                        <m:num>
                          <m:r>
                            <a:rPr lang="es-BO" sz="2800" b="0" i="1" smtClean="0">
                              <a:latin typeface="Cambria Math" panose="02040503050406030204" pitchFamily="18" charset="0"/>
                            </a:rPr>
                            <m:t>𝑛</m:t>
                          </m:r>
                          <m:nary>
                            <m:naryPr>
                              <m:chr m:val="∑"/>
                              <m:subHide m:val="on"/>
                              <m:supHide m:val="on"/>
                              <m:ctrlPr>
                                <a:rPr lang="es-BO" sz="2800" b="0" i="1" smtClean="0">
                                  <a:latin typeface="Cambria Math" panose="02040503050406030204" pitchFamily="18" charset="0"/>
                                </a:rPr>
                              </m:ctrlPr>
                            </m:naryPr>
                            <m:sub/>
                            <m:sup/>
                            <m:e>
                              <m:sSub>
                                <m:sSubPr>
                                  <m:ctrlPr>
                                    <a:rPr lang="es-BO" sz="2800" b="0" i="1" smtClean="0">
                                      <a:latin typeface="Cambria Math" panose="02040503050406030204" pitchFamily="18" charset="0"/>
                                    </a:rPr>
                                  </m:ctrlPr>
                                </m:sSubPr>
                                <m:e>
                                  <m:r>
                                    <a:rPr lang="es-BO" sz="2800" b="0" i="1" smtClean="0">
                                      <a:latin typeface="Cambria Math" panose="02040503050406030204" pitchFamily="18" charset="0"/>
                                    </a:rPr>
                                    <m:t>𝑥</m:t>
                                  </m:r>
                                </m:e>
                                <m:sub>
                                  <m:r>
                                    <a:rPr lang="es-BO" sz="2800" b="0" i="1" smtClean="0">
                                      <a:latin typeface="Cambria Math" panose="02040503050406030204" pitchFamily="18" charset="0"/>
                                    </a:rPr>
                                    <m:t>𝑖</m:t>
                                  </m:r>
                                </m:sub>
                              </m:sSub>
                            </m:e>
                          </m:nary>
                          <m:sSub>
                            <m:sSubPr>
                              <m:ctrlPr>
                                <a:rPr lang="es-BO" sz="2800" b="0" i="1" smtClean="0">
                                  <a:latin typeface="Cambria Math" panose="02040503050406030204" pitchFamily="18" charset="0"/>
                                </a:rPr>
                              </m:ctrlPr>
                            </m:sSubPr>
                            <m:e>
                              <m:r>
                                <a:rPr lang="es-BO" sz="2800" b="0" i="1" smtClean="0">
                                  <a:latin typeface="Cambria Math" panose="02040503050406030204" pitchFamily="18" charset="0"/>
                                </a:rPr>
                                <m:t>𝑦</m:t>
                              </m:r>
                            </m:e>
                            <m:sub>
                              <m:r>
                                <a:rPr lang="es-BO" sz="2800" b="0" i="1" smtClean="0">
                                  <a:latin typeface="Cambria Math" panose="02040503050406030204" pitchFamily="18" charset="0"/>
                                </a:rPr>
                                <m:t>𝑖</m:t>
                              </m:r>
                            </m:sub>
                          </m:sSub>
                          <m:r>
                            <a:rPr lang="es-BO" sz="2800" b="0" i="1" smtClean="0">
                              <a:latin typeface="Cambria Math" panose="02040503050406030204" pitchFamily="18" charset="0"/>
                            </a:rPr>
                            <m:t>−</m:t>
                          </m:r>
                          <m:nary>
                            <m:naryPr>
                              <m:chr m:val="∑"/>
                              <m:subHide m:val="on"/>
                              <m:supHide m:val="on"/>
                              <m:ctrlPr>
                                <a:rPr lang="es-BO" sz="2800" b="0" i="1" smtClean="0">
                                  <a:latin typeface="Cambria Math" panose="02040503050406030204" pitchFamily="18" charset="0"/>
                                </a:rPr>
                              </m:ctrlPr>
                            </m:naryPr>
                            <m:sub/>
                            <m:sup/>
                            <m:e>
                              <m:sSub>
                                <m:sSubPr>
                                  <m:ctrlPr>
                                    <a:rPr lang="es-BO" sz="2800" b="0" i="1" smtClean="0">
                                      <a:latin typeface="Cambria Math" panose="02040503050406030204" pitchFamily="18" charset="0"/>
                                    </a:rPr>
                                  </m:ctrlPr>
                                </m:sSubPr>
                                <m:e>
                                  <m:r>
                                    <a:rPr lang="es-BO" sz="2800" b="0" i="1" smtClean="0">
                                      <a:latin typeface="Cambria Math" panose="02040503050406030204" pitchFamily="18" charset="0"/>
                                    </a:rPr>
                                    <m:t>𝑥</m:t>
                                  </m:r>
                                </m:e>
                                <m:sub>
                                  <m:r>
                                    <a:rPr lang="es-BO" sz="2800" b="0" i="1" smtClean="0">
                                      <a:latin typeface="Cambria Math" panose="02040503050406030204" pitchFamily="18" charset="0"/>
                                    </a:rPr>
                                    <m:t>𝑖</m:t>
                                  </m:r>
                                </m:sub>
                              </m:sSub>
                              <m:r>
                                <a:rPr lang="es-BO" sz="2800" b="0" i="1" smtClean="0">
                                  <a:latin typeface="Cambria Math" panose="02040503050406030204" pitchFamily="18" charset="0"/>
                                </a:rPr>
                                <m:t>∗</m:t>
                              </m:r>
                              <m:nary>
                                <m:naryPr>
                                  <m:chr m:val="∑"/>
                                  <m:subHide m:val="on"/>
                                  <m:supHide m:val="on"/>
                                  <m:ctrlPr>
                                    <a:rPr lang="es-BO" sz="2800" b="0" i="1" smtClean="0">
                                      <a:latin typeface="Cambria Math" panose="02040503050406030204" pitchFamily="18" charset="0"/>
                                    </a:rPr>
                                  </m:ctrlPr>
                                </m:naryPr>
                                <m:sub/>
                                <m:sup/>
                                <m:e>
                                  <m:sSub>
                                    <m:sSubPr>
                                      <m:ctrlPr>
                                        <a:rPr lang="es-BO" sz="2800" b="0" i="1" smtClean="0">
                                          <a:latin typeface="Cambria Math" panose="02040503050406030204" pitchFamily="18" charset="0"/>
                                        </a:rPr>
                                      </m:ctrlPr>
                                    </m:sSubPr>
                                    <m:e>
                                      <m:r>
                                        <a:rPr lang="es-BO" sz="2800" b="0" i="1" smtClean="0">
                                          <a:latin typeface="Cambria Math" panose="02040503050406030204" pitchFamily="18" charset="0"/>
                                        </a:rPr>
                                        <m:t>𝑦</m:t>
                                      </m:r>
                                    </m:e>
                                    <m:sub>
                                      <m:r>
                                        <a:rPr lang="es-BO" sz="2800" b="0" i="1" smtClean="0">
                                          <a:latin typeface="Cambria Math" panose="02040503050406030204" pitchFamily="18" charset="0"/>
                                        </a:rPr>
                                        <m:t>𝑖</m:t>
                                      </m:r>
                                    </m:sub>
                                  </m:sSub>
                                </m:e>
                              </m:nary>
                            </m:e>
                          </m:nary>
                        </m:num>
                        <m:den>
                          <m:r>
                            <a:rPr lang="es-BO" sz="2800" b="0" i="1" smtClean="0">
                              <a:latin typeface="Cambria Math" panose="02040503050406030204" pitchFamily="18" charset="0"/>
                            </a:rPr>
                            <m:t>𝑛</m:t>
                          </m:r>
                          <m:nary>
                            <m:naryPr>
                              <m:chr m:val="∑"/>
                              <m:subHide m:val="on"/>
                              <m:supHide m:val="on"/>
                              <m:ctrlPr>
                                <a:rPr lang="es-BO" sz="2800" b="0" i="1" smtClean="0">
                                  <a:latin typeface="Cambria Math" panose="02040503050406030204" pitchFamily="18" charset="0"/>
                                </a:rPr>
                              </m:ctrlPr>
                            </m:naryPr>
                            <m:sub/>
                            <m:sup/>
                            <m:e>
                              <m:sSubSup>
                                <m:sSubSupPr>
                                  <m:ctrlPr>
                                    <a:rPr lang="es-BO" sz="2800" b="0" i="1" smtClean="0">
                                      <a:latin typeface="Cambria Math" panose="02040503050406030204" pitchFamily="18" charset="0"/>
                                    </a:rPr>
                                  </m:ctrlPr>
                                </m:sSubSupPr>
                                <m:e>
                                  <m:r>
                                    <a:rPr lang="es-BO" sz="2800" b="0" i="1" smtClean="0">
                                      <a:latin typeface="Cambria Math" panose="02040503050406030204" pitchFamily="18" charset="0"/>
                                    </a:rPr>
                                    <m:t>𝑥</m:t>
                                  </m:r>
                                </m:e>
                                <m:sub>
                                  <m:r>
                                    <a:rPr lang="es-BO" sz="2800" b="0" i="1" smtClean="0">
                                      <a:latin typeface="Cambria Math" panose="02040503050406030204" pitchFamily="18" charset="0"/>
                                    </a:rPr>
                                    <m:t>𝑖</m:t>
                                  </m:r>
                                </m:sub>
                                <m:sup>
                                  <m:r>
                                    <a:rPr lang="es-BO" sz="2800" b="0" i="1" smtClean="0">
                                      <a:latin typeface="Cambria Math" panose="02040503050406030204" pitchFamily="18" charset="0"/>
                                    </a:rPr>
                                    <m:t>2</m:t>
                                  </m:r>
                                </m:sup>
                              </m:sSubSup>
                              <m:r>
                                <a:rPr lang="es-BO" sz="2800" b="0" i="1" smtClean="0">
                                  <a:latin typeface="Cambria Math" panose="02040503050406030204" pitchFamily="18" charset="0"/>
                                </a:rPr>
                                <m:t>−</m:t>
                              </m:r>
                              <m:sSup>
                                <m:sSupPr>
                                  <m:ctrlPr>
                                    <a:rPr lang="es-BO" sz="2800" b="0" i="1" smtClean="0">
                                      <a:latin typeface="Cambria Math" panose="02040503050406030204" pitchFamily="18" charset="0"/>
                                    </a:rPr>
                                  </m:ctrlPr>
                                </m:sSupPr>
                                <m:e>
                                  <m:r>
                                    <a:rPr lang="es-BO" sz="2800" b="0" i="1" smtClean="0">
                                      <a:latin typeface="Cambria Math" panose="02040503050406030204" pitchFamily="18" charset="0"/>
                                    </a:rPr>
                                    <m:t>(</m:t>
                                  </m:r>
                                  <m:nary>
                                    <m:naryPr>
                                      <m:chr m:val="∑"/>
                                      <m:subHide m:val="on"/>
                                      <m:supHide m:val="on"/>
                                      <m:ctrlPr>
                                        <a:rPr lang="es-BO" sz="2800" i="1">
                                          <a:latin typeface="Cambria Math" panose="02040503050406030204" pitchFamily="18" charset="0"/>
                                        </a:rPr>
                                      </m:ctrlPr>
                                    </m:naryPr>
                                    <m:sub/>
                                    <m:sup/>
                                    <m:e>
                                      <m:sSub>
                                        <m:sSubPr>
                                          <m:ctrlPr>
                                            <a:rPr lang="es-BO" sz="2800" i="1">
                                              <a:latin typeface="Cambria Math" panose="02040503050406030204" pitchFamily="18" charset="0"/>
                                            </a:rPr>
                                          </m:ctrlPr>
                                        </m:sSubPr>
                                        <m:e>
                                          <m:r>
                                            <a:rPr lang="es-BO" sz="2800" i="1">
                                              <a:latin typeface="Cambria Math" panose="02040503050406030204" pitchFamily="18" charset="0"/>
                                            </a:rPr>
                                            <m:t>𝑥</m:t>
                                          </m:r>
                                        </m:e>
                                        <m:sub>
                                          <m:r>
                                            <a:rPr lang="es-BO" sz="2800" i="1">
                                              <a:latin typeface="Cambria Math" panose="02040503050406030204" pitchFamily="18" charset="0"/>
                                            </a:rPr>
                                            <m:t>𝑖</m:t>
                                          </m:r>
                                        </m:sub>
                                      </m:sSub>
                                    </m:e>
                                  </m:nary>
                                  <m:r>
                                    <a:rPr lang="es-BO" sz="2800" b="0" i="1" smtClean="0">
                                      <a:latin typeface="Cambria Math" panose="02040503050406030204" pitchFamily="18" charset="0"/>
                                    </a:rPr>
                                    <m:t>)</m:t>
                                  </m:r>
                                </m:e>
                                <m:sup>
                                  <m:r>
                                    <a:rPr lang="es-BO" sz="2800" b="0" i="1" smtClean="0">
                                      <a:latin typeface="Cambria Math" panose="02040503050406030204" pitchFamily="18" charset="0"/>
                                    </a:rPr>
                                    <m:t>2</m:t>
                                  </m:r>
                                </m:sup>
                              </m:sSup>
                              <m:r>
                                <a:rPr lang="es-BO" sz="2800" b="0" i="1" smtClean="0">
                                  <a:latin typeface="Cambria Math" panose="02040503050406030204" pitchFamily="18" charset="0"/>
                                </a:rPr>
                                <m:t> </m:t>
                              </m:r>
                            </m:e>
                          </m:nary>
                        </m:den>
                      </m:f>
                    </m:oMath>
                  </m:oMathPara>
                </a14:m>
                <a:endParaRPr lang="es-BO" sz="2800" dirty="0"/>
              </a:p>
            </p:txBody>
          </p:sp>
        </mc:Choice>
        <mc:Fallback xmlns="">
          <p:sp>
            <p:nvSpPr>
              <p:cNvPr id="5" name="CuadroTexto 4"/>
              <p:cNvSpPr txBox="1">
                <a:spLocks noRot="1" noChangeAspect="1" noMove="1" noResize="1" noEditPoints="1" noAdjustHandles="1" noChangeArrowheads="1" noChangeShapeType="1" noTextEdit="1"/>
              </p:cNvSpPr>
              <p:nvPr/>
            </p:nvSpPr>
            <p:spPr>
              <a:xfrm>
                <a:off x="1374095" y="2766246"/>
                <a:ext cx="5252810" cy="1038746"/>
              </a:xfrm>
              <a:prstGeom prst="rect">
                <a:avLst/>
              </a:prstGeom>
              <a:blipFill>
                <a:blip r:embed="rId3"/>
                <a:stretch>
                  <a:fillRect/>
                </a:stretch>
              </a:blipFill>
            </p:spPr>
            <p:txBody>
              <a:bodyPr/>
              <a:lstStyle/>
              <a:p>
                <a:r>
                  <a:rPr lang="es-BO">
                    <a:noFill/>
                  </a:rPr>
                  <a:t> </a:t>
                </a:r>
              </a:p>
            </p:txBody>
          </p:sp>
        </mc:Fallback>
      </mc:AlternateContent>
      <mc:AlternateContent xmlns:mc="http://schemas.openxmlformats.org/markup-compatibility/2006" xmlns:a14="http://schemas.microsoft.com/office/drawing/2010/main">
        <mc:Choice Requires="a14">
          <p:sp>
            <p:nvSpPr>
              <p:cNvPr id="6" name="CuadroTexto 5"/>
              <p:cNvSpPr txBox="1"/>
              <p:nvPr/>
            </p:nvSpPr>
            <p:spPr>
              <a:xfrm>
                <a:off x="2006600" y="4208130"/>
                <a:ext cx="3784600" cy="584775"/>
              </a:xfrm>
              <a:prstGeom prst="rect">
                <a:avLst/>
              </a:prstGeom>
              <a:solidFill>
                <a:schemeClr val="bg2">
                  <a:lumMod val="75000"/>
                </a:schemeClr>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s-BO" sz="3200" b="0" i="1" smtClean="0">
                          <a:latin typeface="Cambria Math" panose="02040503050406030204" pitchFamily="18" charset="0"/>
                        </a:rPr>
                        <m:t>𝑏</m:t>
                      </m:r>
                      <m:r>
                        <a:rPr lang="es-BO" sz="3200" b="0" i="1" smtClean="0">
                          <a:latin typeface="Cambria Math" panose="02040503050406030204" pitchFamily="18" charset="0"/>
                        </a:rPr>
                        <m:t>=</m:t>
                      </m:r>
                      <m:acc>
                        <m:accPr>
                          <m:chr m:val="̅"/>
                          <m:ctrlPr>
                            <a:rPr lang="es-BO" sz="3200" b="0" i="1" smtClean="0">
                              <a:latin typeface="Cambria Math" panose="02040503050406030204" pitchFamily="18" charset="0"/>
                            </a:rPr>
                          </m:ctrlPr>
                        </m:accPr>
                        <m:e>
                          <m:r>
                            <a:rPr lang="es-BO" sz="3200" b="0" i="1" smtClean="0">
                              <a:latin typeface="Cambria Math" panose="02040503050406030204" pitchFamily="18" charset="0"/>
                            </a:rPr>
                            <m:t>𝑦</m:t>
                          </m:r>
                          <m:r>
                            <a:rPr lang="es-BO" sz="3200" b="0" i="1" smtClean="0">
                              <a:latin typeface="Cambria Math" panose="02040503050406030204" pitchFamily="18" charset="0"/>
                            </a:rPr>
                            <m:t> </m:t>
                          </m:r>
                        </m:e>
                      </m:acc>
                      <m:r>
                        <a:rPr lang="es-BO" sz="3200" b="0" i="1" smtClean="0">
                          <a:latin typeface="Cambria Math" panose="02040503050406030204" pitchFamily="18" charset="0"/>
                        </a:rPr>
                        <m:t>−</m:t>
                      </m:r>
                      <m:r>
                        <a:rPr lang="es-BO" sz="3200" b="0" i="1" smtClean="0">
                          <a:latin typeface="Cambria Math" panose="02040503050406030204" pitchFamily="18" charset="0"/>
                        </a:rPr>
                        <m:t>𝑚</m:t>
                      </m:r>
                      <m:r>
                        <a:rPr lang="es-BO" sz="3200" b="0" i="1" smtClean="0">
                          <a:latin typeface="Cambria Math" panose="02040503050406030204" pitchFamily="18" charset="0"/>
                        </a:rPr>
                        <m:t>∗</m:t>
                      </m:r>
                      <m:acc>
                        <m:accPr>
                          <m:chr m:val="̅"/>
                          <m:ctrlPr>
                            <a:rPr lang="es-BO" sz="3200" b="0" i="1" smtClean="0">
                              <a:latin typeface="Cambria Math" panose="02040503050406030204" pitchFamily="18" charset="0"/>
                            </a:rPr>
                          </m:ctrlPr>
                        </m:accPr>
                        <m:e>
                          <m:r>
                            <a:rPr lang="es-BO" sz="3200" b="0" i="1" smtClean="0">
                              <a:latin typeface="Cambria Math" panose="02040503050406030204" pitchFamily="18" charset="0"/>
                            </a:rPr>
                            <m:t>𝑥</m:t>
                          </m:r>
                        </m:e>
                      </m:acc>
                    </m:oMath>
                  </m:oMathPara>
                </a14:m>
                <a:endParaRPr lang="es-BO" sz="3200" dirty="0"/>
              </a:p>
            </p:txBody>
          </p:sp>
        </mc:Choice>
        <mc:Fallback xmlns="">
          <p:sp>
            <p:nvSpPr>
              <p:cNvPr id="6" name="CuadroTexto 5"/>
              <p:cNvSpPr txBox="1">
                <a:spLocks noRot="1" noChangeAspect="1" noMove="1" noResize="1" noEditPoints="1" noAdjustHandles="1" noChangeArrowheads="1" noChangeShapeType="1" noTextEdit="1"/>
              </p:cNvSpPr>
              <p:nvPr/>
            </p:nvSpPr>
            <p:spPr>
              <a:xfrm>
                <a:off x="2006600" y="4208130"/>
                <a:ext cx="3784600" cy="584775"/>
              </a:xfrm>
              <a:prstGeom prst="rect">
                <a:avLst/>
              </a:prstGeom>
              <a:blipFill>
                <a:blip r:embed="rId4"/>
                <a:stretch>
                  <a:fillRect/>
                </a:stretch>
              </a:blipFill>
            </p:spPr>
            <p:txBody>
              <a:bodyPr/>
              <a:lstStyle/>
              <a:p>
                <a:r>
                  <a:rPr lang="es-BO">
                    <a:noFill/>
                  </a:rPr>
                  <a:t> </a:t>
                </a:r>
              </a:p>
            </p:txBody>
          </p:sp>
        </mc:Fallback>
      </mc:AlternateContent>
      <p:sp>
        <p:nvSpPr>
          <p:cNvPr id="7" name="CuadroTexto 6"/>
          <p:cNvSpPr txBox="1"/>
          <p:nvPr/>
        </p:nvSpPr>
        <p:spPr>
          <a:xfrm>
            <a:off x="825500" y="4984581"/>
            <a:ext cx="10833100" cy="1815882"/>
          </a:xfrm>
          <a:prstGeom prst="rect">
            <a:avLst/>
          </a:prstGeom>
          <a:solidFill>
            <a:schemeClr val="bg2">
              <a:lumMod val="75000"/>
            </a:schemeClr>
          </a:solidFill>
        </p:spPr>
        <p:txBody>
          <a:bodyPr wrap="square" rtlCol="0">
            <a:spAutoFit/>
          </a:bodyPr>
          <a:lstStyle/>
          <a:p>
            <a:r>
              <a:rPr lang="es-BO" sz="2800" dirty="0"/>
              <a:t>Una buena forma de determinar si la regresión es adecuada, es a través del coeficiente de correlación, el cual mide el grado de dependencia entre los dos conjuntos de datos dados.</a:t>
            </a:r>
          </a:p>
        </p:txBody>
      </p:sp>
    </p:spTree>
    <p:extLst>
      <p:ext uri="{BB962C8B-B14F-4D97-AF65-F5344CB8AC3E}">
        <p14:creationId xmlns:p14="http://schemas.microsoft.com/office/powerpoint/2010/main" val="309538149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p:cNvSpPr txBox="1"/>
          <p:nvPr/>
        </p:nvSpPr>
        <p:spPr>
          <a:xfrm>
            <a:off x="152400" y="203200"/>
            <a:ext cx="8369300" cy="1569660"/>
          </a:xfrm>
          <a:prstGeom prst="rect">
            <a:avLst/>
          </a:prstGeom>
          <a:noFill/>
        </p:spPr>
        <p:txBody>
          <a:bodyPr wrap="square" rtlCol="0">
            <a:spAutoFit/>
          </a:bodyPr>
          <a:lstStyle/>
          <a:p>
            <a:r>
              <a:rPr lang="es-BO" sz="3200" dirty="0" smtClean="0">
                <a:solidFill>
                  <a:srgbClr val="FF0000"/>
                </a:solidFill>
              </a:rPr>
              <a:t>5 Técnicas de proyección del mercado.</a:t>
            </a:r>
          </a:p>
          <a:p>
            <a:r>
              <a:rPr lang="es-BO" sz="3200" dirty="0" smtClean="0">
                <a:solidFill>
                  <a:srgbClr val="FF0000"/>
                </a:solidFill>
              </a:rPr>
              <a:t>Regresión lineal simple.</a:t>
            </a:r>
          </a:p>
          <a:p>
            <a:endParaRPr lang="es-BO" sz="3200" dirty="0">
              <a:solidFill>
                <a:srgbClr val="FF0000"/>
              </a:solidFill>
            </a:endParaRPr>
          </a:p>
        </p:txBody>
      </p:sp>
      <p:pic>
        <p:nvPicPr>
          <p:cNvPr id="9" name="Imagen 8"/>
          <p:cNvPicPr>
            <a:picLocks noChangeAspect="1"/>
          </p:cNvPicPr>
          <p:nvPr/>
        </p:nvPicPr>
        <p:blipFill>
          <a:blip r:embed="rId2"/>
          <a:stretch>
            <a:fillRect/>
          </a:stretch>
        </p:blipFill>
        <p:spPr>
          <a:xfrm>
            <a:off x="7373710" y="1622098"/>
            <a:ext cx="4818290" cy="2959345"/>
          </a:xfrm>
          <a:prstGeom prst="rect">
            <a:avLst/>
          </a:prstGeom>
        </p:spPr>
      </p:pic>
      <p:sp>
        <p:nvSpPr>
          <p:cNvPr id="3" name="CuadroTexto 2"/>
          <p:cNvSpPr txBox="1"/>
          <p:nvPr/>
        </p:nvSpPr>
        <p:spPr>
          <a:xfrm>
            <a:off x="279400" y="1532111"/>
            <a:ext cx="7239000" cy="830997"/>
          </a:xfrm>
          <a:prstGeom prst="rect">
            <a:avLst/>
          </a:prstGeom>
          <a:noFill/>
          <a:ln>
            <a:solidFill>
              <a:srgbClr val="002060"/>
            </a:solidFill>
          </a:ln>
        </p:spPr>
        <p:txBody>
          <a:bodyPr wrap="square" rtlCol="0">
            <a:spAutoFit/>
          </a:bodyPr>
          <a:lstStyle/>
          <a:p>
            <a:r>
              <a:rPr lang="es-BO" sz="2400" dirty="0" smtClean="0"/>
              <a:t>Los valores de b y m se calculan a través de las siguientes ecuaciones:</a:t>
            </a:r>
            <a:endParaRPr lang="es-BO" sz="2400" dirty="0"/>
          </a:p>
        </p:txBody>
      </p:sp>
      <mc:AlternateContent xmlns:mc="http://schemas.openxmlformats.org/markup-compatibility/2006" xmlns:a14="http://schemas.microsoft.com/office/drawing/2010/main">
        <mc:Choice Requires="a14">
          <p:sp>
            <p:nvSpPr>
              <p:cNvPr id="5" name="CuadroTexto 4"/>
              <p:cNvSpPr txBox="1"/>
              <p:nvPr/>
            </p:nvSpPr>
            <p:spPr>
              <a:xfrm>
                <a:off x="1374095" y="2766246"/>
                <a:ext cx="5252810" cy="1038746"/>
              </a:xfrm>
              <a:prstGeom prst="rect">
                <a:avLst/>
              </a:prstGeom>
              <a:solidFill>
                <a:schemeClr val="bg2">
                  <a:lumMod val="75000"/>
                </a:schemeClr>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s-BO" sz="2800" b="0" i="1" smtClean="0">
                          <a:latin typeface="Cambria Math" panose="02040503050406030204" pitchFamily="18" charset="0"/>
                        </a:rPr>
                        <m:t>𝑚</m:t>
                      </m:r>
                      <m:r>
                        <a:rPr lang="es-BO" sz="2800" b="0" i="1" smtClean="0">
                          <a:latin typeface="Cambria Math" panose="02040503050406030204" pitchFamily="18" charset="0"/>
                        </a:rPr>
                        <m:t>=</m:t>
                      </m:r>
                      <m:f>
                        <m:fPr>
                          <m:ctrlPr>
                            <a:rPr lang="es-BO" sz="2800" b="0" i="1" smtClean="0">
                              <a:latin typeface="Cambria Math" panose="02040503050406030204" pitchFamily="18" charset="0"/>
                            </a:rPr>
                          </m:ctrlPr>
                        </m:fPr>
                        <m:num>
                          <m:r>
                            <a:rPr lang="es-BO" sz="2800" b="0" i="1" smtClean="0">
                              <a:latin typeface="Cambria Math" panose="02040503050406030204" pitchFamily="18" charset="0"/>
                            </a:rPr>
                            <m:t>𝑛</m:t>
                          </m:r>
                          <m:nary>
                            <m:naryPr>
                              <m:chr m:val="∑"/>
                              <m:subHide m:val="on"/>
                              <m:supHide m:val="on"/>
                              <m:ctrlPr>
                                <a:rPr lang="es-BO" sz="2800" b="0" i="1" smtClean="0">
                                  <a:latin typeface="Cambria Math" panose="02040503050406030204" pitchFamily="18" charset="0"/>
                                </a:rPr>
                              </m:ctrlPr>
                            </m:naryPr>
                            <m:sub/>
                            <m:sup/>
                            <m:e>
                              <m:sSub>
                                <m:sSubPr>
                                  <m:ctrlPr>
                                    <a:rPr lang="es-BO" sz="2800" b="0" i="1" smtClean="0">
                                      <a:latin typeface="Cambria Math" panose="02040503050406030204" pitchFamily="18" charset="0"/>
                                    </a:rPr>
                                  </m:ctrlPr>
                                </m:sSubPr>
                                <m:e>
                                  <m:r>
                                    <a:rPr lang="es-BO" sz="2800" b="0" i="1" smtClean="0">
                                      <a:latin typeface="Cambria Math" panose="02040503050406030204" pitchFamily="18" charset="0"/>
                                    </a:rPr>
                                    <m:t>𝑥</m:t>
                                  </m:r>
                                </m:e>
                                <m:sub>
                                  <m:r>
                                    <a:rPr lang="es-BO" sz="2800" b="0" i="1" smtClean="0">
                                      <a:latin typeface="Cambria Math" panose="02040503050406030204" pitchFamily="18" charset="0"/>
                                    </a:rPr>
                                    <m:t>𝑖</m:t>
                                  </m:r>
                                </m:sub>
                              </m:sSub>
                            </m:e>
                          </m:nary>
                          <m:sSub>
                            <m:sSubPr>
                              <m:ctrlPr>
                                <a:rPr lang="es-BO" sz="2800" b="0" i="1" smtClean="0">
                                  <a:latin typeface="Cambria Math" panose="02040503050406030204" pitchFamily="18" charset="0"/>
                                </a:rPr>
                              </m:ctrlPr>
                            </m:sSubPr>
                            <m:e>
                              <m:r>
                                <a:rPr lang="es-BO" sz="2800" b="0" i="1" smtClean="0">
                                  <a:latin typeface="Cambria Math" panose="02040503050406030204" pitchFamily="18" charset="0"/>
                                </a:rPr>
                                <m:t>𝑦</m:t>
                              </m:r>
                            </m:e>
                            <m:sub>
                              <m:r>
                                <a:rPr lang="es-BO" sz="2800" b="0" i="1" smtClean="0">
                                  <a:latin typeface="Cambria Math" panose="02040503050406030204" pitchFamily="18" charset="0"/>
                                </a:rPr>
                                <m:t>𝑖</m:t>
                              </m:r>
                            </m:sub>
                          </m:sSub>
                          <m:r>
                            <a:rPr lang="es-BO" sz="2800" b="0" i="1" smtClean="0">
                              <a:latin typeface="Cambria Math" panose="02040503050406030204" pitchFamily="18" charset="0"/>
                            </a:rPr>
                            <m:t>−</m:t>
                          </m:r>
                          <m:nary>
                            <m:naryPr>
                              <m:chr m:val="∑"/>
                              <m:subHide m:val="on"/>
                              <m:supHide m:val="on"/>
                              <m:ctrlPr>
                                <a:rPr lang="es-BO" sz="2800" b="0" i="1" smtClean="0">
                                  <a:latin typeface="Cambria Math" panose="02040503050406030204" pitchFamily="18" charset="0"/>
                                </a:rPr>
                              </m:ctrlPr>
                            </m:naryPr>
                            <m:sub/>
                            <m:sup/>
                            <m:e>
                              <m:sSub>
                                <m:sSubPr>
                                  <m:ctrlPr>
                                    <a:rPr lang="es-BO" sz="2800" b="0" i="1" smtClean="0">
                                      <a:latin typeface="Cambria Math" panose="02040503050406030204" pitchFamily="18" charset="0"/>
                                    </a:rPr>
                                  </m:ctrlPr>
                                </m:sSubPr>
                                <m:e>
                                  <m:r>
                                    <a:rPr lang="es-BO" sz="2800" b="0" i="1" smtClean="0">
                                      <a:latin typeface="Cambria Math" panose="02040503050406030204" pitchFamily="18" charset="0"/>
                                    </a:rPr>
                                    <m:t>𝑥</m:t>
                                  </m:r>
                                </m:e>
                                <m:sub>
                                  <m:r>
                                    <a:rPr lang="es-BO" sz="2800" b="0" i="1" smtClean="0">
                                      <a:latin typeface="Cambria Math" panose="02040503050406030204" pitchFamily="18" charset="0"/>
                                    </a:rPr>
                                    <m:t>𝑖</m:t>
                                  </m:r>
                                </m:sub>
                              </m:sSub>
                              <m:r>
                                <a:rPr lang="es-BO" sz="2800" b="0" i="1" smtClean="0">
                                  <a:latin typeface="Cambria Math" panose="02040503050406030204" pitchFamily="18" charset="0"/>
                                </a:rPr>
                                <m:t>∗</m:t>
                              </m:r>
                              <m:nary>
                                <m:naryPr>
                                  <m:chr m:val="∑"/>
                                  <m:subHide m:val="on"/>
                                  <m:supHide m:val="on"/>
                                  <m:ctrlPr>
                                    <a:rPr lang="es-BO" sz="2800" b="0" i="1" smtClean="0">
                                      <a:latin typeface="Cambria Math" panose="02040503050406030204" pitchFamily="18" charset="0"/>
                                    </a:rPr>
                                  </m:ctrlPr>
                                </m:naryPr>
                                <m:sub/>
                                <m:sup/>
                                <m:e>
                                  <m:sSub>
                                    <m:sSubPr>
                                      <m:ctrlPr>
                                        <a:rPr lang="es-BO" sz="2800" b="0" i="1" smtClean="0">
                                          <a:latin typeface="Cambria Math" panose="02040503050406030204" pitchFamily="18" charset="0"/>
                                        </a:rPr>
                                      </m:ctrlPr>
                                    </m:sSubPr>
                                    <m:e>
                                      <m:r>
                                        <a:rPr lang="es-BO" sz="2800" b="0" i="1" smtClean="0">
                                          <a:latin typeface="Cambria Math" panose="02040503050406030204" pitchFamily="18" charset="0"/>
                                        </a:rPr>
                                        <m:t>𝑦</m:t>
                                      </m:r>
                                    </m:e>
                                    <m:sub>
                                      <m:r>
                                        <a:rPr lang="es-BO" sz="2800" b="0" i="1" smtClean="0">
                                          <a:latin typeface="Cambria Math" panose="02040503050406030204" pitchFamily="18" charset="0"/>
                                        </a:rPr>
                                        <m:t>𝑖</m:t>
                                      </m:r>
                                    </m:sub>
                                  </m:sSub>
                                </m:e>
                              </m:nary>
                            </m:e>
                          </m:nary>
                        </m:num>
                        <m:den>
                          <m:r>
                            <a:rPr lang="es-BO" sz="2800" b="0" i="1" smtClean="0">
                              <a:latin typeface="Cambria Math" panose="02040503050406030204" pitchFamily="18" charset="0"/>
                            </a:rPr>
                            <m:t>𝑛</m:t>
                          </m:r>
                          <m:nary>
                            <m:naryPr>
                              <m:chr m:val="∑"/>
                              <m:subHide m:val="on"/>
                              <m:supHide m:val="on"/>
                              <m:ctrlPr>
                                <a:rPr lang="es-BO" sz="2800" b="0" i="1" smtClean="0">
                                  <a:latin typeface="Cambria Math" panose="02040503050406030204" pitchFamily="18" charset="0"/>
                                </a:rPr>
                              </m:ctrlPr>
                            </m:naryPr>
                            <m:sub/>
                            <m:sup/>
                            <m:e>
                              <m:sSubSup>
                                <m:sSubSupPr>
                                  <m:ctrlPr>
                                    <a:rPr lang="es-BO" sz="2800" b="0" i="1" smtClean="0">
                                      <a:latin typeface="Cambria Math" panose="02040503050406030204" pitchFamily="18" charset="0"/>
                                    </a:rPr>
                                  </m:ctrlPr>
                                </m:sSubSupPr>
                                <m:e>
                                  <m:r>
                                    <a:rPr lang="es-BO" sz="2800" b="0" i="1" smtClean="0">
                                      <a:latin typeface="Cambria Math" panose="02040503050406030204" pitchFamily="18" charset="0"/>
                                    </a:rPr>
                                    <m:t>𝑥</m:t>
                                  </m:r>
                                </m:e>
                                <m:sub>
                                  <m:r>
                                    <a:rPr lang="es-BO" sz="2800" b="0" i="1" smtClean="0">
                                      <a:latin typeface="Cambria Math" panose="02040503050406030204" pitchFamily="18" charset="0"/>
                                    </a:rPr>
                                    <m:t>𝑖</m:t>
                                  </m:r>
                                </m:sub>
                                <m:sup>
                                  <m:r>
                                    <a:rPr lang="es-BO" sz="2800" b="0" i="1" smtClean="0">
                                      <a:latin typeface="Cambria Math" panose="02040503050406030204" pitchFamily="18" charset="0"/>
                                    </a:rPr>
                                    <m:t>2</m:t>
                                  </m:r>
                                </m:sup>
                              </m:sSubSup>
                              <m:r>
                                <a:rPr lang="es-BO" sz="2800" b="0" i="1" smtClean="0">
                                  <a:latin typeface="Cambria Math" panose="02040503050406030204" pitchFamily="18" charset="0"/>
                                </a:rPr>
                                <m:t>−</m:t>
                              </m:r>
                              <m:sSup>
                                <m:sSupPr>
                                  <m:ctrlPr>
                                    <a:rPr lang="es-BO" sz="2800" b="0" i="1" smtClean="0">
                                      <a:latin typeface="Cambria Math" panose="02040503050406030204" pitchFamily="18" charset="0"/>
                                    </a:rPr>
                                  </m:ctrlPr>
                                </m:sSupPr>
                                <m:e>
                                  <m:r>
                                    <a:rPr lang="es-BO" sz="2800" b="0" i="1" smtClean="0">
                                      <a:latin typeface="Cambria Math" panose="02040503050406030204" pitchFamily="18" charset="0"/>
                                    </a:rPr>
                                    <m:t>(</m:t>
                                  </m:r>
                                  <m:nary>
                                    <m:naryPr>
                                      <m:chr m:val="∑"/>
                                      <m:subHide m:val="on"/>
                                      <m:supHide m:val="on"/>
                                      <m:ctrlPr>
                                        <a:rPr lang="es-BO" sz="2800" i="1">
                                          <a:latin typeface="Cambria Math" panose="02040503050406030204" pitchFamily="18" charset="0"/>
                                        </a:rPr>
                                      </m:ctrlPr>
                                    </m:naryPr>
                                    <m:sub/>
                                    <m:sup/>
                                    <m:e>
                                      <m:sSub>
                                        <m:sSubPr>
                                          <m:ctrlPr>
                                            <a:rPr lang="es-BO" sz="2800" i="1">
                                              <a:latin typeface="Cambria Math" panose="02040503050406030204" pitchFamily="18" charset="0"/>
                                            </a:rPr>
                                          </m:ctrlPr>
                                        </m:sSubPr>
                                        <m:e>
                                          <m:r>
                                            <a:rPr lang="es-BO" sz="2800" i="1">
                                              <a:latin typeface="Cambria Math" panose="02040503050406030204" pitchFamily="18" charset="0"/>
                                            </a:rPr>
                                            <m:t>𝑥</m:t>
                                          </m:r>
                                        </m:e>
                                        <m:sub>
                                          <m:r>
                                            <a:rPr lang="es-BO" sz="2800" i="1">
                                              <a:latin typeface="Cambria Math" panose="02040503050406030204" pitchFamily="18" charset="0"/>
                                            </a:rPr>
                                            <m:t>𝑖</m:t>
                                          </m:r>
                                        </m:sub>
                                      </m:sSub>
                                    </m:e>
                                  </m:nary>
                                  <m:r>
                                    <a:rPr lang="es-BO" sz="2800" b="0" i="1" smtClean="0">
                                      <a:latin typeface="Cambria Math" panose="02040503050406030204" pitchFamily="18" charset="0"/>
                                    </a:rPr>
                                    <m:t>)</m:t>
                                  </m:r>
                                </m:e>
                                <m:sup>
                                  <m:r>
                                    <a:rPr lang="es-BO" sz="2800" b="0" i="1" smtClean="0">
                                      <a:latin typeface="Cambria Math" panose="02040503050406030204" pitchFamily="18" charset="0"/>
                                    </a:rPr>
                                    <m:t>2</m:t>
                                  </m:r>
                                </m:sup>
                              </m:sSup>
                              <m:r>
                                <a:rPr lang="es-BO" sz="2800" b="0" i="1" smtClean="0">
                                  <a:latin typeface="Cambria Math" panose="02040503050406030204" pitchFamily="18" charset="0"/>
                                </a:rPr>
                                <m:t> </m:t>
                              </m:r>
                            </m:e>
                          </m:nary>
                        </m:den>
                      </m:f>
                    </m:oMath>
                  </m:oMathPara>
                </a14:m>
                <a:endParaRPr lang="es-BO" sz="2800" dirty="0"/>
              </a:p>
            </p:txBody>
          </p:sp>
        </mc:Choice>
        <mc:Fallback xmlns="">
          <p:sp>
            <p:nvSpPr>
              <p:cNvPr id="5" name="CuadroTexto 4"/>
              <p:cNvSpPr txBox="1">
                <a:spLocks noRot="1" noChangeAspect="1" noMove="1" noResize="1" noEditPoints="1" noAdjustHandles="1" noChangeArrowheads="1" noChangeShapeType="1" noTextEdit="1"/>
              </p:cNvSpPr>
              <p:nvPr/>
            </p:nvSpPr>
            <p:spPr>
              <a:xfrm>
                <a:off x="1374095" y="2766246"/>
                <a:ext cx="5252810" cy="1038746"/>
              </a:xfrm>
              <a:prstGeom prst="rect">
                <a:avLst/>
              </a:prstGeom>
              <a:blipFill>
                <a:blip r:embed="rId3"/>
                <a:stretch>
                  <a:fillRect/>
                </a:stretch>
              </a:blipFill>
            </p:spPr>
            <p:txBody>
              <a:bodyPr/>
              <a:lstStyle/>
              <a:p>
                <a:r>
                  <a:rPr lang="es-BO">
                    <a:noFill/>
                  </a:rPr>
                  <a:t> </a:t>
                </a:r>
              </a:p>
            </p:txBody>
          </p:sp>
        </mc:Fallback>
      </mc:AlternateContent>
      <mc:AlternateContent xmlns:mc="http://schemas.openxmlformats.org/markup-compatibility/2006" xmlns:a14="http://schemas.microsoft.com/office/drawing/2010/main">
        <mc:Choice Requires="a14">
          <p:sp>
            <p:nvSpPr>
              <p:cNvPr id="6" name="CuadroTexto 5"/>
              <p:cNvSpPr txBox="1"/>
              <p:nvPr/>
            </p:nvSpPr>
            <p:spPr>
              <a:xfrm>
                <a:off x="2006600" y="4208130"/>
                <a:ext cx="3784600" cy="584775"/>
              </a:xfrm>
              <a:prstGeom prst="rect">
                <a:avLst/>
              </a:prstGeom>
              <a:solidFill>
                <a:schemeClr val="bg2">
                  <a:lumMod val="75000"/>
                </a:schemeClr>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s-BO" sz="3200" b="0" i="1" smtClean="0">
                          <a:latin typeface="Cambria Math" panose="02040503050406030204" pitchFamily="18" charset="0"/>
                        </a:rPr>
                        <m:t>𝑏</m:t>
                      </m:r>
                      <m:r>
                        <a:rPr lang="es-BO" sz="3200" b="0" i="1" smtClean="0">
                          <a:latin typeface="Cambria Math" panose="02040503050406030204" pitchFamily="18" charset="0"/>
                        </a:rPr>
                        <m:t>=</m:t>
                      </m:r>
                      <m:acc>
                        <m:accPr>
                          <m:chr m:val="̅"/>
                          <m:ctrlPr>
                            <a:rPr lang="es-BO" sz="3200" b="0" i="1" smtClean="0">
                              <a:latin typeface="Cambria Math" panose="02040503050406030204" pitchFamily="18" charset="0"/>
                            </a:rPr>
                          </m:ctrlPr>
                        </m:accPr>
                        <m:e>
                          <m:r>
                            <a:rPr lang="es-BO" sz="3200" b="0" i="1" smtClean="0">
                              <a:latin typeface="Cambria Math" panose="02040503050406030204" pitchFamily="18" charset="0"/>
                            </a:rPr>
                            <m:t>𝑦</m:t>
                          </m:r>
                          <m:r>
                            <a:rPr lang="es-BO" sz="3200" b="0" i="1" smtClean="0">
                              <a:latin typeface="Cambria Math" panose="02040503050406030204" pitchFamily="18" charset="0"/>
                            </a:rPr>
                            <m:t> </m:t>
                          </m:r>
                        </m:e>
                      </m:acc>
                      <m:r>
                        <a:rPr lang="es-BO" sz="3200" b="0" i="1" smtClean="0">
                          <a:latin typeface="Cambria Math" panose="02040503050406030204" pitchFamily="18" charset="0"/>
                        </a:rPr>
                        <m:t>−</m:t>
                      </m:r>
                      <m:r>
                        <a:rPr lang="es-BO" sz="3200" b="0" i="1" smtClean="0">
                          <a:latin typeface="Cambria Math" panose="02040503050406030204" pitchFamily="18" charset="0"/>
                        </a:rPr>
                        <m:t>𝑚</m:t>
                      </m:r>
                      <m:r>
                        <a:rPr lang="es-BO" sz="3200" b="0" i="1" smtClean="0">
                          <a:latin typeface="Cambria Math" panose="02040503050406030204" pitchFamily="18" charset="0"/>
                        </a:rPr>
                        <m:t>∗</m:t>
                      </m:r>
                      <m:acc>
                        <m:accPr>
                          <m:chr m:val="̅"/>
                          <m:ctrlPr>
                            <a:rPr lang="es-BO" sz="3200" b="0" i="1" smtClean="0">
                              <a:latin typeface="Cambria Math" panose="02040503050406030204" pitchFamily="18" charset="0"/>
                            </a:rPr>
                          </m:ctrlPr>
                        </m:accPr>
                        <m:e>
                          <m:r>
                            <a:rPr lang="es-BO" sz="3200" b="0" i="1" smtClean="0">
                              <a:latin typeface="Cambria Math" panose="02040503050406030204" pitchFamily="18" charset="0"/>
                            </a:rPr>
                            <m:t>𝑥</m:t>
                          </m:r>
                        </m:e>
                      </m:acc>
                    </m:oMath>
                  </m:oMathPara>
                </a14:m>
                <a:endParaRPr lang="es-BO" sz="3200" dirty="0"/>
              </a:p>
            </p:txBody>
          </p:sp>
        </mc:Choice>
        <mc:Fallback xmlns="">
          <p:sp>
            <p:nvSpPr>
              <p:cNvPr id="6" name="CuadroTexto 5"/>
              <p:cNvSpPr txBox="1">
                <a:spLocks noRot="1" noChangeAspect="1" noMove="1" noResize="1" noEditPoints="1" noAdjustHandles="1" noChangeArrowheads="1" noChangeShapeType="1" noTextEdit="1"/>
              </p:cNvSpPr>
              <p:nvPr/>
            </p:nvSpPr>
            <p:spPr>
              <a:xfrm>
                <a:off x="2006600" y="4208130"/>
                <a:ext cx="3784600" cy="584775"/>
              </a:xfrm>
              <a:prstGeom prst="rect">
                <a:avLst/>
              </a:prstGeom>
              <a:blipFill>
                <a:blip r:embed="rId4"/>
                <a:stretch>
                  <a:fillRect/>
                </a:stretch>
              </a:blipFill>
            </p:spPr>
            <p:txBody>
              <a:bodyPr/>
              <a:lstStyle/>
              <a:p>
                <a:r>
                  <a:rPr lang="es-BO">
                    <a:noFill/>
                  </a:rPr>
                  <a:t> </a:t>
                </a:r>
              </a:p>
            </p:txBody>
          </p:sp>
        </mc:Fallback>
      </mc:AlternateContent>
      <p:sp>
        <p:nvSpPr>
          <p:cNvPr id="7" name="CuadroTexto 6"/>
          <p:cNvSpPr txBox="1"/>
          <p:nvPr/>
        </p:nvSpPr>
        <p:spPr>
          <a:xfrm>
            <a:off x="825500" y="4984581"/>
            <a:ext cx="10833100" cy="1815882"/>
          </a:xfrm>
          <a:prstGeom prst="rect">
            <a:avLst/>
          </a:prstGeom>
          <a:solidFill>
            <a:schemeClr val="bg2">
              <a:lumMod val="75000"/>
            </a:schemeClr>
          </a:solidFill>
        </p:spPr>
        <p:txBody>
          <a:bodyPr wrap="square" rtlCol="0">
            <a:spAutoFit/>
          </a:bodyPr>
          <a:lstStyle/>
          <a:p>
            <a:r>
              <a:rPr lang="es-BO" sz="2800" dirty="0"/>
              <a:t>Una buena forma de determinar si la regresión es adecuada, es a través del coeficiente de correlación, el cual mide el grado de dependencia entre los dos conjuntos de datos dados.</a:t>
            </a:r>
          </a:p>
        </p:txBody>
      </p:sp>
    </p:spTree>
    <p:extLst>
      <p:ext uri="{BB962C8B-B14F-4D97-AF65-F5344CB8AC3E}">
        <p14:creationId xmlns:p14="http://schemas.microsoft.com/office/powerpoint/2010/main" val="331578297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p:cNvSpPr txBox="1"/>
          <p:nvPr/>
        </p:nvSpPr>
        <p:spPr>
          <a:xfrm>
            <a:off x="152400" y="203200"/>
            <a:ext cx="8369300" cy="1569660"/>
          </a:xfrm>
          <a:prstGeom prst="rect">
            <a:avLst/>
          </a:prstGeom>
          <a:noFill/>
        </p:spPr>
        <p:txBody>
          <a:bodyPr wrap="square" rtlCol="0">
            <a:spAutoFit/>
          </a:bodyPr>
          <a:lstStyle/>
          <a:p>
            <a:r>
              <a:rPr lang="es-BO" sz="3200" dirty="0" smtClean="0">
                <a:solidFill>
                  <a:srgbClr val="FF0000"/>
                </a:solidFill>
              </a:rPr>
              <a:t>5 Técnicas de proyección del mercado.</a:t>
            </a:r>
          </a:p>
          <a:p>
            <a:r>
              <a:rPr lang="es-BO" sz="3200" dirty="0" smtClean="0">
                <a:solidFill>
                  <a:srgbClr val="FF0000"/>
                </a:solidFill>
              </a:rPr>
              <a:t>Regresión lineal simple.</a:t>
            </a:r>
          </a:p>
          <a:p>
            <a:endParaRPr lang="es-BO" sz="3200" dirty="0">
              <a:solidFill>
                <a:srgbClr val="FF0000"/>
              </a:solidFill>
            </a:endParaRPr>
          </a:p>
        </p:txBody>
      </p:sp>
      <p:pic>
        <p:nvPicPr>
          <p:cNvPr id="9" name="Imagen 8"/>
          <p:cNvPicPr>
            <a:picLocks noChangeAspect="1"/>
          </p:cNvPicPr>
          <p:nvPr/>
        </p:nvPicPr>
        <p:blipFill>
          <a:blip r:embed="rId2"/>
          <a:stretch>
            <a:fillRect/>
          </a:stretch>
        </p:blipFill>
        <p:spPr>
          <a:xfrm>
            <a:off x="6637110" y="2157686"/>
            <a:ext cx="4818290" cy="2959345"/>
          </a:xfrm>
          <a:prstGeom prst="rect">
            <a:avLst/>
          </a:prstGeom>
        </p:spPr>
      </p:pic>
      <p:graphicFrame>
        <p:nvGraphicFramePr>
          <p:cNvPr id="2" name="Tabla 1"/>
          <p:cNvGraphicFramePr>
            <a:graphicFrameLocks noGrp="1"/>
          </p:cNvGraphicFramePr>
          <p:nvPr>
            <p:extLst>
              <p:ext uri="{D42A27DB-BD31-4B8C-83A1-F6EECF244321}">
                <p14:modId xmlns:p14="http://schemas.microsoft.com/office/powerpoint/2010/main" val="2523343159"/>
              </p:ext>
            </p:extLst>
          </p:nvPr>
        </p:nvGraphicFramePr>
        <p:xfrm>
          <a:off x="2587511" y="1940719"/>
          <a:ext cx="2505189" cy="3393280"/>
        </p:xfrm>
        <a:graphic>
          <a:graphicData uri="http://schemas.openxmlformats.org/drawingml/2006/table">
            <a:tbl>
              <a:tblPr>
                <a:tableStyleId>{638B1855-1B75-4FBE-930C-398BA8C253C6}</a:tableStyleId>
              </a:tblPr>
              <a:tblGrid>
                <a:gridCol w="1260589">
                  <a:extLst>
                    <a:ext uri="{9D8B030D-6E8A-4147-A177-3AD203B41FA5}">
                      <a16:colId xmlns:a16="http://schemas.microsoft.com/office/drawing/2014/main" val="163734697"/>
                    </a:ext>
                  </a:extLst>
                </a:gridCol>
                <a:gridCol w="1244600">
                  <a:extLst>
                    <a:ext uri="{9D8B030D-6E8A-4147-A177-3AD203B41FA5}">
                      <a16:colId xmlns:a16="http://schemas.microsoft.com/office/drawing/2014/main" val="1871608324"/>
                    </a:ext>
                  </a:extLst>
                </a:gridCol>
              </a:tblGrid>
              <a:tr h="308480">
                <a:tc>
                  <a:txBody>
                    <a:bodyPr/>
                    <a:lstStyle/>
                    <a:p>
                      <a:pPr algn="l" fontAlgn="b"/>
                      <a:r>
                        <a:rPr lang="es-BO" sz="1800" u="none" strike="noStrike" dirty="0">
                          <a:effectLst/>
                        </a:rPr>
                        <a:t>t</a:t>
                      </a:r>
                      <a:endParaRPr lang="es-BO" sz="18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r>
                        <a:rPr lang="es-BO" sz="1800" u="none" strike="noStrike">
                          <a:effectLst/>
                        </a:rPr>
                        <a:t>Dt</a:t>
                      </a:r>
                      <a:endParaRPr lang="es-BO" sz="18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1743645161"/>
                  </a:ext>
                </a:extLst>
              </a:tr>
              <a:tr h="308480">
                <a:tc>
                  <a:txBody>
                    <a:bodyPr/>
                    <a:lstStyle/>
                    <a:p>
                      <a:pPr algn="r" fontAlgn="b"/>
                      <a:r>
                        <a:rPr lang="es-BO" sz="1800" u="none" strike="noStrike" dirty="0">
                          <a:effectLst/>
                        </a:rPr>
                        <a:t>1</a:t>
                      </a:r>
                      <a:endParaRPr lang="es-BO" sz="18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s-BO" sz="1800" u="none" strike="noStrike">
                          <a:effectLst/>
                        </a:rPr>
                        <a:t>23</a:t>
                      </a:r>
                      <a:endParaRPr lang="es-BO" sz="18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3442814149"/>
                  </a:ext>
                </a:extLst>
              </a:tr>
              <a:tr h="308480">
                <a:tc>
                  <a:txBody>
                    <a:bodyPr/>
                    <a:lstStyle/>
                    <a:p>
                      <a:pPr algn="r" fontAlgn="b"/>
                      <a:r>
                        <a:rPr lang="es-BO" sz="1800" u="none" strike="noStrike" dirty="0">
                          <a:effectLst/>
                        </a:rPr>
                        <a:t>2</a:t>
                      </a:r>
                      <a:endParaRPr lang="es-BO" sz="18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s-BO" sz="1800" u="none" strike="noStrike">
                          <a:effectLst/>
                        </a:rPr>
                        <a:t>24</a:t>
                      </a:r>
                      <a:endParaRPr lang="es-BO" sz="18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3095694781"/>
                  </a:ext>
                </a:extLst>
              </a:tr>
              <a:tr h="308480">
                <a:tc>
                  <a:txBody>
                    <a:bodyPr/>
                    <a:lstStyle/>
                    <a:p>
                      <a:pPr algn="r" fontAlgn="b"/>
                      <a:r>
                        <a:rPr lang="es-BO" sz="1800" u="none" strike="noStrike" dirty="0">
                          <a:effectLst/>
                        </a:rPr>
                        <a:t>3</a:t>
                      </a:r>
                      <a:endParaRPr lang="es-BO" sz="18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s-BO" sz="1800" u="none" strike="noStrike" dirty="0">
                          <a:effectLst/>
                        </a:rPr>
                        <a:t>27</a:t>
                      </a:r>
                      <a:endParaRPr lang="es-BO" sz="18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1699803367"/>
                  </a:ext>
                </a:extLst>
              </a:tr>
              <a:tr h="308480">
                <a:tc>
                  <a:txBody>
                    <a:bodyPr/>
                    <a:lstStyle/>
                    <a:p>
                      <a:pPr algn="r" fontAlgn="b"/>
                      <a:r>
                        <a:rPr lang="es-BO" sz="1800" u="none" strike="noStrike">
                          <a:effectLst/>
                        </a:rPr>
                        <a:t>4</a:t>
                      </a:r>
                      <a:endParaRPr lang="es-BO" sz="18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s-BO" sz="1800" u="none" strike="noStrike" dirty="0">
                          <a:effectLst/>
                        </a:rPr>
                        <a:t>30</a:t>
                      </a:r>
                      <a:endParaRPr lang="es-BO" sz="18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2360944185"/>
                  </a:ext>
                </a:extLst>
              </a:tr>
              <a:tr h="308480">
                <a:tc>
                  <a:txBody>
                    <a:bodyPr/>
                    <a:lstStyle/>
                    <a:p>
                      <a:pPr algn="r" fontAlgn="b"/>
                      <a:r>
                        <a:rPr lang="es-BO" sz="1800" u="none" strike="noStrike">
                          <a:effectLst/>
                        </a:rPr>
                        <a:t>5</a:t>
                      </a:r>
                      <a:endParaRPr lang="es-BO" sz="18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s-BO" sz="1800" u="none" strike="noStrike" dirty="0">
                          <a:effectLst/>
                        </a:rPr>
                        <a:t>31</a:t>
                      </a:r>
                      <a:endParaRPr lang="es-BO" sz="18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1510506312"/>
                  </a:ext>
                </a:extLst>
              </a:tr>
              <a:tr h="308480">
                <a:tc>
                  <a:txBody>
                    <a:bodyPr/>
                    <a:lstStyle/>
                    <a:p>
                      <a:pPr algn="r" fontAlgn="b"/>
                      <a:r>
                        <a:rPr lang="es-BO" sz="1800" u="none" strike="noStrike">
                          <a:effectLst/>
                        </a:rPr>
                        <a:t>6</a:t>
                      </a:r>
                      <a:endParaRPr lang="es-BO" sz="18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s-BO" sz="1800" u="none" strike="noStrike" dirty="0">
                          <a:effectLst/>
                        </a:rPr>
                        <a:t>38</a:t>
                      </a:r>
                      <a:endParaRPr lang="es-BO" sz="18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3824970985"/>
                  </a:ext>
                </a:extLst>
              </a:tr>
              <a:tr h="308480">
                <a:tc>
                  <a:txBody>
                    <a:bodyPr/>
                    <a:lstStyle/>
                    <a:p>
                      <a:pPr algn="r" fontAlgn="b"/>
                      <a:r>
                        <a:rPr lang="es-BO" sz="1800" u="none" strike="noStrike">
                          <a:effectLst/>
                        </a:rPr>
                        <a:t>7</a:t>
                      </a:r>
                      <a:endParaRPr lang="es-BO" sz="18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s-BO" sz="1800" u="none" strike="noStrike" dirty="0">
                          <a:effectLst/>
                        </a:rPr>
                        <a:t>35</a:t>
                      </a:r>
                      <a:endParaRPr lang="es-BO" sz="18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4808067"/>
                  </a:ext>
                </a:extLst>
              </a:tr>
              <a:tr h="308480">
                <a:tc>
                  <a:txBody>
                    <a:bodyPr/>
                    <a:lstStyle/>
                    <a:p>
                      <a:pPr algn="r" fontAlgn="b"/>
                      <a:r>
                        <a:rPr lang="es-BO" sz="1800" u="none" strike="noStrike">
                          <a:effectLst/>
                        </a:rPr>
                        <a:t>8</a:t>
                      </a:r>
                      <a:endParaRPr lang="es-BO" sz="18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s-BO" sz="1800" u="none" strike="noStrike" dirty="0">
                          <a:effectLst/>
                        </a:rPr>
                        <a:t>41</a:t>
                      </a:r>
                      <a:endParaRPr lang="es-BO" sz="18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2982077331"/>
                  </a:ext>
                </a:extLst>
              </a:tr>
              <a:tr h="308480">
                <a:tc>
                  <a:txBody>
                    <a:bodyPr/>
                    <a:lstStyle/>
                    <a:p>
                      <a:pPr algn="r" fontAlgn="b"/>
                      <a:r>
                        <a:rPr lang="es-BO" sz="1800" u="none" strike="noStrike">
                          <a:effectLst/>
                        </a:rPr>
                        <a:t>9</a:t>
                      </a:r>
                      <a:endParaRPr lang="es-BO" sz="18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s-BO" sz="1800" u="none" strike="noStrike" dirty="0">
                          <a:effectLst/>
                        </a:rPr>
                        <a:t>43</a:t>
                      </a:r>
                      <a:endParaRPr lang="es-BO" sz="18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245405247"/>
                  </a:ext>
                </a:extLst>
              </a:tr>
              <a:tr h="308480">
                <a:tc>
                  <a:txBody>
                    <a:bodyPr/>
                    <a:lstStyle/>
                    <a:p>
                      <a:pPr algn="r" fontAlgn="b"/>
                      <a:r>
                        <a:rPr lang="es-BO" sz="1800" u="none" strike="noStrike">
                          <a:effectLst/>
                        </a:rPr>
                        <a:t>10</a:t>
                      </a:r>
                      <a:endParaRPr lang="es-BO" sz="18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s-BO" sz="1800" u="none" strike="noStrike" dirty="0">
                          <a:effectLst/>
                        </a:rPr>
                        <a:t>48</a:t>
                      </a:r>
                      <a:endParaRPr lang="es-BO" sz="18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1599548830"/>
                  </a:ext>
                </a:extLst>
              </a:tr>
            </a:tbl>
          </a:graphicData>
        </a:graphic>
      </p:graphicFrame>
    </p:spTree>
    <p:extLst>
      <p:ext uri="{BB962C8B-B14F-4D97-AF65-F5344CB8AC3E}">
        <p14:creationId xmlns:p14="http://schemas.microsoft.com/office/powerpoint/2010/main" val="39894781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p:cNvSpPr txBox="1"/>
          <p:nvPr/>
        </p:nvSpPr>
        <p:spPr>
          <a:xfrm>
            <a:off x="152400" y="203200"/>
            <a:ext cx="8369300" cy="1569660"/>
          </a:xfrm>
          <a:prstGeom prst="rect">
            <a:avLst/>
          </a:prstGeom>
          <a:noFill/>
        </p:spPr>
        <p:txBody>
          <a:bodyPr wrap="square" rtlCol="0">
            <a:spAutoFit/>
          </a:bodyPr>
          <a:lstStyle/>
          <a:p>
            <a:r>
              <a:rPr lang="es-BO" sz="3200" dirty="0" smtClean="0">
                <a:solidFill>
                  <a:srgbClr val="FF0000"/>
                </a:solidFill>
              </a:rPr>
              <a:t>5 Técnicas de proyección del mercado.</a:t>
            </a:r>
          </a:p>
          <a:p>
            <a:r>
              <a:rPr lang="es-BO" sz="3200" dirty="0" smtClean="0">
                <a:solidFill>
                  <a:srgbClr val="FF0000"/>
                </a:solidFill>
              </a:rPr>
              <a:t>Suavización exponencial doble.</a:t>
            </a:r>
          </a:p>
          <a:p>
            <a:endParaRPr lang="es-BO" sz="3200" dirty="0">
              <a:solidFill>
                <a:srgbClr val="FF0000"/>
              </a:solidFill>
            </a:endParaRPr>
          </a:p>
        </p:txBody>
      </p:sp>
      <p:pic>
        <p:nvPicPr>
          <p:cNvPr id="9" name="Imagen 8"/>
          <p:cNvPicPr>
            <a:picLocks noChangeAspect="1"/>
          </p:cNvPicPr>
          <p:nvPr/>
        </p:nvPicPr>
        <p:blipFill>
          <a:blip r:embed="rId2"/>
          <a:stretch>
            <a:fillRect/>
          </a:stretch>
        </p:blipFill>
        <p:spPr>
          <a:xfrm>
            <a:off x="7373710" y="3784354"/>
            <a:ext cx="4818290" cy="2959345"/>
          </a:xfrm>
          <a:prstGeom prst="rect">
            <a:avLst/>
          </a:prstGeom>
        </p:spPr>
      </p:pic>
      <mc:AlternateContent xmlns:mc="http://schemas.openxmlformats.org/markup-compatibility/2006" xmlns:a14="http://schemas.microsoft.com/office/drawing/2010/main">
        <mc:Choice Requires="a14">
          <p:sp>
            <p:nvSpPr>
              <p:cNvPr id="2" name="CuadroTexto 1"/>
              <p:cNvSpPr txBox="1"/>
              <p:nvPr/>
            </p:nvSpPr>
            <p:spPr>
              <a:xfrm>
                <a:off x="816655" y="2171700"/>
                <a:ext cx="8966200" cy="2246769"/>
              </a:xfrm>
              <a:prstGeom prst="rect">
                <a:avLst/>
              </a:prstGeom>
              <a:solidFill>
                <a:schemeClr val="accent2">
                  <a:lumMod val="75000"/>
                </a:schemeClr>
              </a:solidFill>
            </p:spPr>
            <p:txBody>
              <a:bodyPr wrap="square" rtlCol="0">
                <a:spAutoFit/>
              </a:bodyPr>
              <a:lstStyle/>
              <a:p>
                <a:r>
                  <a:rPr lang="es-BO" sz="2800" dirty="0" smtClean="0">
                    <a:latin typeface="Arial" panose="020B0604020202020204" pitchFamily="34" charset="0"/>
                    <a:cs typeface="Arial" panose="020B0604020202020204" pitchFamily="34" charset="0"/>
                  </a:rPr>
                  <a:t>Requiere de la especificación de dos constantes de </a:t>
                </a:r>
                <a:r>
                  <a:rPr lang="es-BO" sz="2800" dirty="0" err="1">
                    <a:latin typeface="Arial" panose="020B0604020202020204" pitchFamily="34" charset="0"/>
                    <a:cs typeface="Arial" panose="020B0604020202020204" pitchFamily="34" charset="0"/>
                  </a:rPr>
                  <a:t>suavizamiento</a:t>
                </a:r>
                <a:r>
                  <a:rPr lang="es-BO" sz="2800" dirty="0">
                    <a:latin typeface="Arial" panose="020B0604020202020204" pitchFamily="34" charset="0"/>
                    <a:cs typeface="Arial" panose="020B0604020202020204" pitchFamily="34" charset="0"/>
                  </a:rPr>
                  <a:t>:</a:t>
                </a:r>
              </a:p>
              <a:p>
                <a14:m>
                  <m:oMath xmlns:m="http://schemas.openxmlformats.org/officeDocument/2006/math">
                    <m:r>
                      <a:rPr lang="es-BO" sz="2800" i="1" dirty="0" smtClean="0">
                        <a:latin typeface="Cambria Math" panose="02040503050406030204" pitchFamily="18" charset="0"/>
                        <a:ea typeface="Cambria Math" panose="02040503050406030204" pitchFamily="18" charset="0"/>
                      </a:rPr>
                      <m:t>𝛼</m:t>
                    </m:r>
                  </m:oMath>
                </a14:m>
                <a:r>
                  <a:rPr lang="es-BO" sz="2800" dirty="0">
                    <a:latin typeface="Arial" panose="020B0604020202020204" pitchFamily="34" charset="0"/>
                    <a:cs typeface="Arial" panose="020B0604020202020204" pitchFamily="34" charset="0"/>
                  </a:rPr>
                  <a:t>: que suaviza el valor de la serie (promedio-estacionario</a:t>
                </a:r>
                <a:r>
                  <a:rPr lang="es-BO" sz="2800" dirty="0" smtClean="0">
                    <a:latin typeface="Arial" panose="020B0604020202020204" pitchFamily="34" charset="0"/>
                    <a:cs typeface="Arial" panose="020B0604020202020204" pitchFamily="34" charset="0"/>
                  </a:rPr>
                  <a:t>).</a:t>
                </a:r>
                <a:endParaRPr lang="es-BO" sz="2800" dirty="0">
                  <a:latin typeface="Arial" panose="020B0604020202020204" pitchFamily="34" charset="0"/>
                  <a:cs typeface="Arial" panose="020B0604020202020204" pitchFamily="34" charset="0"/>
                </a:endParaRPr>
              </a:p>
              <a:p>
                <a14:m>
                  <m:oMath xmlns:m="http://schemas.openxmlformats.org/officeDocument/2006/math">
                    <m:r>
                      <a:rPr lang="es-BO" sz="2800" i="1" dirty="0" smtClean="0">
                        <a:latin typeface="Cambria Math" panose="02040503050406030204" pitchFamily="18" charset="0"/>
                        <a:ea typeface="Cambria Math" panose="02040503050406030204" pitchFamily="18" charset="0"/>
                      </a:rPr>
                      <m:t>𝛽</m:t>
                    </m:r>
                  </m:oMath>
                </a14:m>
                <a:r>
                  <a:rPr lang="es-BO" sz="2800" dirty="0">
                    <a:latin typeface="Arial" panose="020B0604020202020204" pitchFamily="34" charset="0"/>
                    <a:cs typeface="Arial" panose="020B0604020202020204" pitchFamily="34" charset="0"/>
                  </a:rPr>
                  <a:t>: que suaviza la tendencia (pendiente de los </a:t>
                </a:r>
                <a:r>
                  <a:rPr lang="es-BO" sz="2800" dirty="0" smtClean="0">
                    <a:latin typeface="Arial" panose="020B0604020202020204" pitchFamily="34" charset="0"/>
                    <a:cs typeface="Arial" panose="020B0604020202020204" pitchFamily="34" charset="0"/>
                  </a:rPr>
                  <a:t>datos).</a:t>
                </a:r>
                <a:endParaRPr lang="es-BO" sz="2800" dirty="0">
                  <a:latin typeface="Arial" panose="020B0604020202020204" pitchFamily="34" charset="0"/>
                  <a:cs typeface="Arial" panose="020B0604020202020204" pitchFamily="34" charset="0"/>
                </a:endParaRPr>
              </a:p>
            </p:txBody>
          </p:sp>
        </mc:Choice>
        <mc:Fallback xmlns="">
          <p:sp>
            <p:nvSpPr>
              <p:cNvPr id="2" name="CuadroTexto 1"/>
              <p:cNvSpPr txBox="1">
                <a:spLocks noRot="1" noChangeAspect="1" noMove="1" noResize="1" noEditPoints="1" noAdjustHandles="1" noChangeArrowheads="1" noChangeShapeType="1" noTextEdit="1"/>
              </p:cNvSpPr>
              <p:nvPr/>
            </p:nvSpPr>
            <p:spPr>
              <a:xfrm>
                <a:off x="816655" y="2171700"/>
                <a:ext cx="8966200" cy="2246769"/>
              </a:xfrm>
              <a:prstGeom prst="rect">
                <a:avLst/>
              </a:prstGeom>
              <a:blipFill>
                <a:blip r:embed="rId3"/>
                <a:stretch>
                  <a:fillRect l="-1428" t="-2710" b="-6504"/>
                </a:stretch>
              </a:blipFill>
            </p:spPr>
            <p:txBody>
              <a:bodyPr/>
              <a:lstStyle/>
              <a:p>
                <a:r>
                  <a:rPr lang="es-BO">
                    <a:noFill/>
                  </a:rPr>
                  <a:t> </a:t>
                </a:r>
              </a:p>
            </p:txBody>
          </p:sp>
        </mc:Fallback>
      </mc:AlternateContent>
    </p:spTree>
    <p:extLst>
      <p:ext uri="{BB962C8B-B14F-4D97-AF65-F5344CB8AC3E}">
        <p14:creationId xmlns:p14="http://schemas.microsoft.com/office/powerpoint/2010/main" val="19837449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p:cNvSpPr txBox="1"/>
          <p:nvPr/>
        </p:nvSpPr>
        <p:spPr>
          <a:xfrm>
            <a:off x="152400" y="203200"/>
            <a:ext cx="8369300" cy="1569660"/>
          </a:xfrm>
          <a:prstGeom prst="rect">
            <a:avLst/>
          </a:prstGeom>
          <a:noFill/>
        </p:spPr>
        <p:txBody>
          <a:bodyPr wrap="square" rtlCol="0">
            <a:spAutoFit/>
          </a:bodyPr>
          <a:lstStyle/>
          <a:p>
            <a:r>
              <a:rPr lang="es-BO" sz="3200" dirty="0" smtClean="0">
                <a:solidFill>
                  <a:srgbClr val="FF0000"/>
                </a:solidFill>
              </a:rPr>
              <a:t>5 Técnicas de proyección del mercado.</a:t>
            </a:r>
          </a:p>
          <a:p>
            <a:r>
              <a:rPr lang="es-BO" sz="3200" dirty="0" smtClean="0">
                <a:solidFill>
                  <a:srgbClr val="FF0000"/>
                </a:solidFill>
              </a:rPr>
              <a:t>Suavización exponencial doble.</a:t>
            </a:r>
          </a:p>
          <a:p>
            <a:endParaRPr lang="es-BO" sz="3200" dirty="0">
              <a:solidFill>
                <a:srgbClr val="FF0000"/>
              </a:solidFill>
            </a:endParaRPr>
          </a:p>
        </p:txBody>
      </p:sp>
      <p:pic>
        <p:nvPicPr>
          <p:cNvPr id="9" name="Imagen 8"/>
          <p:cNvPicPr>
            <a:picLocks noChangeAspect="1"/>
          </p:cNvPicPr>
          <p:nvPr/>
        </p:nvPicPr>
        <p:blipFill>
          <a:blip r:embed="rId2"/>
          <a:stretch>
            <a:fillRect/>
          </a:stretch>
        </p:blipFill>
        <p:spPr>
          <a:xfrm>
            <a:off x="6777164" y="3314454"/>
            <a:ext cx="4818290" cy="2959345"/>
          </a:xfrm>
          <a:prstGeom prst="rect">
            <a:avLst/>
          </a:prstGeom>
        </p:spPr>
      </p:pic>
      <mc:AlternateContent xmlns:mc="http://schemas.openxmlformats.org/markup-compatibility/2006" xmlns:a14="http://schemas.microsoft.com/office/drawing/2010/main">
        <mc:Choice Requires="a14">
          <p:sp>
            <p:nvSpPr>
              <p:cNvPr id="2" name="CuadroTexto 1"/>
              <p:cNvSpPr txBox="1"/>
              <p:nvPr/>
            </p:nvSpPr>
            <p:spPr>
              <a:xfrm>
                <a:off x="812800" y="1892300"/>
                <a:ext cx="7886700" cy="2246769"/>
              </a:xfrm>
              <a:prstGeom prst="rect">
                <a:avLst/>
              </a:prstGeom>
              <a:solidFill>
                <a:schemeClr val="bg2">
                  <a:lumMod val="75000"/>
                </a:schemeClr>
              </a:solidFill>
            </p:spPr>
            <p:txBody>
              <a:bodyPr wrap="square" rtlCol="0">
                <a:spAutoFit/>
              </a:bodyPr>
              <a:lstStyle/>
              <a:p>
                <a:r>
                  <a:rPr lang="es-BO" sz="2800" dirty="0" smtClean="0">
                    <a:latin typeface="Arial" panose="020B0604020202020204" pitchFamily="34" charset="0"/>
                    <a:cs typeface="Arial" panose="020B0604020202020204" pitchFamily="34" charset="0"/>
                  </a:rPr>
                  <a:t>Las </a:t>
                </a:r>
                <a:r>
                  <a:rPr lang="es-BO" sz="2800" dirty="0">
                    <a:latin typeface="Arial" panose="020B0604020202020204" pitchFamily="34" charset="0"/>
                    <a:cs typeface="Arial" panose="020B0604020202020204" pitchFamily="34" charset="0"/>
                  </a:rPr>
                  <a:t>constantes de </a:t>
                </a:r>
                <a:r>
                  <a:rPr lang="es-BO" sz="2800" dirty="0" err="1">
                    <a:latin typeface="Arial" panose="020B0604020202020204" pitchFamily="34" charset="0"/>
                    <a:cs typeface="Arial" panose="020B0604020202020204" pitchFamily="34" charset="0"/>
                  </a:rPr>
                  <a:t>suavizamiento</a:t>
                </a:r>
                <a:r>
                  <a:rPr lang="es-BO" sz="2800" dirty="0">
                    <a:latin typeface="Arial" panose="020B0604020202020204" pitchFamily="34" charset="0"/>
                    <a:cs typeface="Arial" panose="020B0604020202020204" pitchFamily="34" charset="0"/>
                  </a:rPr>
                  <a:t> pueden ser las mismas; sin embargo, en la mayoría de las aplicaciones se da mayor estabilidad al estimado de la pendiente que al de la constante, es </a:t>
                </a:r>
                <a:r>
                  <a:rPr lang="es-BO" sz="2800" dirty="0" smtClean="0">
                    <a:latin typeface="Arial" panose="020B0604020202020204" pitchFamily="34" charset="0"/>
                    <a:cs typeface="Arial" panose="020B0604020202020204" pitchFamily="34" charset="0"/>
                  </a:rPr>
                  <a:t>decir</a:t>
                </a:r>
                <a14:m>
                  <m:oMath xmlns:m="http://schemas.openxmlformats.org/officeDocument/2006/math">
                    <m:r>
                      <a:rPr lang="es-BO" sz="2800" b="0" i="0" dirty="0" smtClean="0">
                        <a:latin typeface="Cambria Math" panose="02040503050406030204" pitchFamily="18" charset="0"/>
                        <a:ea typeface="Cambria Math" panose="02040503050406030204" pitchFamily="18" charset="0"/>
                      </a:rPr>
                      <m:t> </m:t>
                    </m:r>
                    <m:r>
                      <a:rPr lang="es-BO" sz="2800" i="1" dirty="0">
                        <a:latin typeface="Cambria Math" panose="02040503050406030204" pitchFamily="18" charset="0"/>
                        <a:ea typeface="Cambria Math" panose="02040503050406030204" pitchFamily="18" charset="0"/>
                      </a:rPr>
                      <m:t>𝛽</m:t>
                    </m:r>
                    <m:r>
                      <a:rPr lang="es-BO" sz="2800" i="1" dirty="0" smtClean="0">
                        <a:latin typeface="Cambria Math" panose="02040503050406030204" pitchFamily="18" charset="0"/>
                        <a:ea typeface="Cambria Math" panose="02040503050406030204" pitchFamily="18" charset="0"/>
                      </a:rPr>
                      <m:t>≤</m:t>
                    </m:r>
                    <m:r>
                      <a:rPr lang="es-BO" sz="2800" b="0" i="1" dirty="0" smtClean="0">
                        <a:latin typeface="Cambria Math" panose="02040503050406030204" pitchFamily="18" charset="0"/>
                        <a:ea typeface="Cambria Math" panose="02040503050406030204" pitchFamily="18" charset="0"/>
                      </a:rPr>
                      <m:t> </m:t>
                    </m:r>
                    <m:r>
                      <a:rPr lang="es-BO" sz="2800" i="1" dirty="0">
                        <a:latin typeface="Cambria Math" panose="02040503050406030204" pitchFamily="18" charset="0"/>
                        <a:ea typeface="Cambria Math" panose="02040503050406030204" pitchFamily="18" charset="0"/>
                      </a:rPr>
                      <m:t>𝛼</m:t>
                    </m:r>
                    <m:r>
                      <a:rPr lang="es-BO" sz="2800" b="0" i="0" dirty="0" smtClean="0">
                        <a:latin typeface="Cambria Math" panose="02040503050406030204" pitchFamily="18" charset="0"/>
                        <a:ea typeface="Cambria Math" panose="02040503050406030204" pitchFamily="18" charset="0"/>
                      </a:rPr>
                      <m:t>.</m:t>
                    </m:r>
                  </m:oMath>
                </a14:m>
                <a:endParaRPr lang="es-BO" sz="2800" b="0" dirty="0" smtClean="0">
                  <a:latin typeface="Arial" panose="020B0604020202020204" pitchFamily="34" charset="0"/>
                  <a:ea typeface="Cambria Math" panose="02040503050406030204" pitchFamily="18" charset="0"/>
                  <a:cs typeface="Arial" panose="020B0604020202020204" pitchFamily="34" charset="0"/>
                </a:endParaRPr>
              </a:p>
            </p:txBody>
          </p:sp>
        </mc:Choice>
        <mc:Fallback xmlns="">
          <p:sp>
            <p:nvSpPr>
              <p:cNvPr id="2" name="CuadroTexto 1"/>
              <p:cNvSpPr txBox="1">
                <a:spLocks noRot="1" noChangeAspect="1" noMove="1" noResize="1" noEditPoints="1" noAdjustHandles="1" noChangeArrowheads="1" noChangeShapeType="1" noTextEdit="1"/>
              </p:cNvSpPr>
              <p:nvPr/>
            </p:nvSpPr>
            <p:spPr>
              <a:xfrm>
                <a:off x="812800" y="1892300"/>
                <a:ext cx="7886700" cy="2246769"/>
              </a:xfrm>
              <a:prstGeom prst="rect">
                <a:avLst/>
              </a:prstGeom>
              <a:blipFill>
                <a:blip r:embed="rId3"/>
                <a:stretch>
                  <a:fillRect l="-1546" t="-2710" r="-2396" b="-6504"/>
                </a:stretch>
              </a:blipFill>
            </p:spPr>
            <p:txBody>
              <a:bodyPr/>
              <a:lstStyle/>
              <a:p>
                <a:r>
                  <a:rPr lang="es-BO">
                    <a:noFill/>
                  </a:rPr>
                  <a:t> </a:t>
                </a:r>
              </a:p>
            </p:txBody>
          </p:sp>
        </mc:Fallback>
      </mc:AlternateContent>
    </p:spTree>
    <p:extLst>
      <p:ext uri="{BB962C8B-B14F-4D97-AF65-F5344CB8AC3E}">
        <p14:creationId xmlns:p14="http://schemas.microsoft.com/office/powerpoint/2010/main" val="72019185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p:cNvSpPr txBox="1"/>
          <p:nvPr/>
        </p:nvSpPr>
        <p:spPr>
          <a:xfrm>
            <a:off x="152400" y="203200"/>
            <a:ext cx="8369300" cy="1569660"/>
          </a:xfrm>
          <a:prstGeom prst="rect">
            <a:avLst/>
          </a:prstGeom>
          <a:noFill/>
        </p:spPr>
        <p:txBody>
          <a:bodyPr wrap="square" rtlCol="0">
            <a:spAutoFit/>
          </a:bodyPr>
          <a:lstStyle/>
          <a:p>
            <a:r>
              <a:rPr lang="es-BO" sz="3200" dirty="0" smtClean="0">
                <a:solidFill>
                  <a:srgbClr val="FF0000"/>
                </a:solidFill>
              </a:rPr>
              <a:t>5 Técnicas de proyección del mercado.</a:t>
            </a:r>
          </a:p>
          <a:p>
            <a:r>
              <a:rPr lang="es-BO" sz="3200" dirty="0" smtClean="0">
                <a:solidFill>
                  <a:srgbClr val="FF0000"/>
                </a:solidFill>
              </a:rPr>
              <a:t>Suavización exponencial doble.</a:t>
            </a:r>
          </a:p>
          <a:p>
            <a:endParaRPr lang="es-BO" sz="3200" dirty="0">
              <a:solidFill>
                <a:srgbClr val="FF0000"/>
              </a:solidFill>
            </a:endParaRPr>
          </a:p>
        </p:txBody>
      </p:sp>
      <p:pic>
        <p:nvPicPr>
          <p:cNvPr id="9" name="Imagen 8"/>
          <p:cNvPicPr>
            <a:picLocks noChangeAspect="1"/>
          </p:cNvPicPr>
          <p:nvPr/>
        </p:nvPicPr>
        <p:blipFill>
          <a:blip r:embed="rId2"/>
          <a:stretch>
            <a:fillRect/>
          </a:stretch>
        </p:blipFill>
        <p:spPr>
          <a:xfrm>
            <a:off x="6777164" y="3314454"/>
            <a:ext cx="4818290" cy="2959345"/>
          </a:xfrm>
          <a:prstGeom prst="rect">
            <a:avLst/>
          </a:prstGeom>
        </p:spPr>
      </p:pic>
      <p:sp>
        <p:nvSpPr>
          <p:cNvPr id="2" name="CuadroTexto 1"/>
          <p:cNvSpPr txBox="1"/>
          <p:nvPr/>
        </p:nvSpPr>
        <p:spPr>
          <a:xfrm>
            <a:off x="863600" y="2044700"/>
            <a:ext cx="7188200" cy="1938992"/>
          </a:xfrm>
          <a:prstGeom prst="rect">
            <a:avLst/>
          </a:prstGeom>
          <a:solidFill>
            <a:srgbClr val="7030A0"/>
          </a:solidFill>
        </p:spPr>
        <p:txBody>
          <a:bodyPr wrap="square" rtlCol="0">
            <a:spAutoFit/>
          </a:bodyPr>
          <a:lstStyle/>
          <a:p>
            <a:r>
              <a:rPr lang="es-BO" sz="2400" dirty="0" smtClean="0">
                <a:latin typeface="Arial" panose="020B0604020202020204" pitchFamily="34" charset="0"/>
                <a:cs typeface="Arial" panose="020B0604020202020204" pitchFamily="34" charset="0"/>
              </a:rPr>
              <a:t>Por </a:t>
            </a:r>
            <a:r>
              <a:rPr lang="es-BO" sz="2400" dirty="0">
                <a:latin typeface="Arial" panose="020B0604020202020204" pitchFamily="34" charset="0"/>
                <a:cs typeface="Arial" panose="020B0604020202020204" pitchFamily="34" charset="0"/>
              </a:rPr>
              <a:t>otra parte, deben utilizarse dos parámetros para la estimación del pronóstico, estos son</a:t>
            </a:r>
            <a:r>
              <a:rPr lang="es-BO" sz="2400" dirty="0" smtClean="0">
                <a:latin typeface="Arial" panose="020B0604020202020204" pitchFamily="34" charset="0"/>
                <a:cs typeface="Arial" panose="020B0604020202020204" pitchFamily="34" charset="0"/>
              </a:rPr>
              <a:t>:</a:t>
            </a:r>
          </a:p>
          <a:p>
            <a:endParaRPr lang="es-BO" sz="2400" dirty="0">
              <a:latin typeface="Arial" panose="020B0604020202020204" pitchFamily="34" charset="0"/>
              <a:cs typeface="Arial" panose="020B0604020202020204" pitchFamily="34" charset="0"/>
            </a:endParaRPr>
          </a:p>
          <a:p>
            <a:r>
              <a:rPr lang="es-BO" sz="2400" dirty="0">
                <a:latin typeface="Arial" panose="020B0604020202020204" pitchFamily="34" charset="0"/>
                <a:cs typeface="Arial" panose="020B0604020202020204" pitchFamily="34" charset="0"/>
              </a:rPr>
              <a:t>So= </a:t>
            </a:r>
            <a:r>
              <a:rPr lang="es-BO" sz="2400" dirty="0" smtClean="0">
                <a:latin typeface="Arial" panose="020B0604020202020204" pitchFamily="34" charset="0"/>
                <a:cs typeface="Arial" panose="020B0604020202020204" pitchFamily="34" charset="0"/>
              </a:rPr>
              <a:t>corte </a:t>
            </a:r>
            <a:r>
              <a:rPr lang="es-BO" sz="2400" dirty="0">
                <a:latin typeface="Arial" panose="020B0604020202020204" pitchFamily="34" charset="0"/>
                <a:cs typeface="Arial" panose="020B0604020202020204" pitchFamily="34" charset="0"/>
              </a:rPr>
              <a:t>de la recta de regresión (b</a:t>
            </a:r>
            <a:r>
              <a:rPr lang="es-BO" sz="2400" dirty="0" smtClean="0">
                <a:latin typeface="Arial" panose="020B0604020202020204" pitchFamily="34" charset="0"/>
                <a:cs typeface="Arial" panose="020B0604020202020204" pitchFamily="34" charset="0"/>
              </a:rPr>
              <a:t>).</a:t>
            </a:r>
            <a:endParaRPr lang="es-BO" sz="2400" dirty="0">
              <a:latin typeface="Arial" panose="020B0604020202020204" pitchFamily="34" charset="0"/>
              <a:cs typeface="Arial" panose="020B0604020202020204" pitchFamily="34" charset="0"/>
            </a:endParaRPr>
          </a:p>
          <a:p>
            <a:r>
              <a:rPr lang="es-BO" sz="2400" dirty="0" err="1">
                <a:latin typeface="Arial" panose="020B0604020202020204" pitchFamily="34" charset="0"/>
                <a:cs typeface="Arial" panose="020B0604020202020204" pitchFamily="34" charset="0"/>
              </a:rPr>
              <a:t>Go</a:t>
            </a:r>
            <a:r>
              <a:rPr lang="es-BO" sz="2400" dirty="0">
                <a:latin typeface="Arial" panose="020B0604020202020204" pitchFamily="34" charset="0"/>
                <a:cs typeface="Arial" panose="020B0604020202020204" pitchFamily="34" charset="0"/>
              </a:rPr>
              <a:t>= pendiente de la recta de regresión (m</a:t>
            </a:r>
            <a:r>
              <a:rPr lang="es-BO" sz="2400" dirty="0" smtClean="0">
                <a:latin typeface="Arial" panose="020B0604020202020204" pitchFamily="34" charset="0"/>
                <a:cs typeface="Arial" panose="020B0604020202020204" pitchFamily="34" charset="0"/>
              </a:rPr>
              <a:t>).</a:t>
            </a:r>
            <a:endParaRPr lang="es-BO"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0687102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p:cNvSpPr txBox="1"/>
          <p:nvPr/>
        </p:nvSpPr>
        <p:spPr>
          <a:xfrm>
            <a:off x="152400" y="203200"/>
            <a:ext cx="8369300" cy="1569660"/>
          </a:xfrm>
          <a:prstGeom prst="rect">
            <a:avLst/>
          </a:prstGeom>
          <a:noFill/>
        </p:spPr>
        <p:txBody>
          <a:bodyPr wrap="square" rtlCol="0">
            <a:spAutoFit/>
          </a:bodyPr>
          <a:lstStyle/>
          <a:p>
            <a:r>
              <a:rPr lang="es-BO" sz="3200" dirty="0" smtClean="0">
                <a:solidFill>
                  <a:srgbClr val="FF0000"/>
                </a:solidFill>
              </a:rPr>
              <a:t>5 Técnicas de proyección del mercado.</a:t>
            </a:r>
          </a:p>
          <a:p>
            <a:r>
              <a:rPr lang="es-BO" sz="3200" dirty="0" smtClean="0">
                <a:solidFill>
                  <a:srgbClr val="FF0000"/>
                </a:solidFill>
              </a:rPr>
              <a:t>Suavización exponencial doble.</a:t>
            </a:r>
          </a:p>
          <a:p>
            <a:endParaRPr lang="es-BO" sz="3200" dirty="0">
              <a:solidFill>
                <a:srgbClr val="FF0000"/>
              </a:solidFill>
            </a:endParaRPr>
          </a:p>
        </p:txBody>
      </p:sp>
      <p:pic>
        <p:nvPicPr>
          <p:cNvPr id="9" name="Imagen 8"/>
          <p:cNvPicPr>
            <a:picLocks noChangeAspect="1"/>
          </p:cNvPicPr>
          <p:nvPr/>
        </p:nvPicPr>
        <p:blipFill>
          <a:blip r:embed="rId2"/>
          <a:stretch>
            <a:fillRect/>
          </a:stretch>
        </p:blipFill>
        <p:spPr>
          <a:xfrm>
            <a:off x="6777164" y="3314454"/>
            <a:ext cx="4818290" cy="2959345"/>
          </a:xfrm>
          <a:prstGeom prst="rect">
            <a:avLst/>
          </a:prstGeom>
        </p:spPr>
      </p:pic>
      <p:sp>
        <p:nvSpPr>
          <p:cNvPr id="2" name="CuadroTexto 1"/>
          <p:cNvSpPr txBox="1"/>
          <p:nvPr/>
        </p:nvSpPr>
        <p:spPr>
          <a:xfrm>
            <a:off x="558800" y="1447800"/>
            <a:ext cx="7188200" cy="830997"/>
          </a:xfrm>
          <a:prstGeom prst="rect">
            <a:avLst/>
          </a:prstGeom>
          <a:solidFill>
            <a:srgbClr val="7030A0"/>
          </a:solidFill>
        </p:spPr>
        <p:txBody>
          <a:bodyPr wrap="square" rtlCol="0">
            <a:spAutoFit/>
          </a:bodyPr>
          <a:lstStyle/>
          <a:p>
            <a:r>
              <a:rPr lang="es-BO" sz="2400" dirty="0" smtClean="0">
                <a:latin typeface="Arial" panose="020B0604020202020204" pitchFamily="34" charset="0"/>
                <a:cs typeface="Arial" panose="020B0604020202020204" pitchFamily="34" charset="0"/>
              </a:rPr>
              <a:t>Para general la regresión, se deben emplear las siguientes ecuaciones:</a:t>
            </a:r>
            <a:endParaRPr lang="es-BO" sz="2400"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5" name="CuadroTexto 4"/>
              <p:cNvSpPr txBox="1"/>
              <p:nvPr/>
            </p:nvSpPr>
            <p:spPr>
              <a:xfrm>
                <a:off x="539750" y="2953636"/>
                <a:ext cx="5853590" cy="492443"/>
              </a:xfrm>
              <a:prstGeom prst="rect">
                <a:avLst/>
              </a:prstGeom>
              <a:solidFill>
                <a:srgbClr val="C00000"/>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BO" sz="3200" i="1" smtClean="0">
                              <a:latin typeface="Cambria Math" panose="02040503050406030204" pitchFamily="18" charset="0"/>
                            </a:rPr>
                          </m:ctrlPr>
                        </m:sSubPr>
                        <m:e>
                          <m:r>
                            <a:rPr lang="es-BO" sz="3200" b="0" i="1" smtClean="0">
                              <a:latin typeface="Cambria Math" panose="02040503050406030204" pitchFamily="18" charset="0"/>
                            </a:rPr>
                            <m:t>𝑆</m:t>
                          </m:r>
                        </m:e>
                        <m:sub>
                          <m:r>
                            <a:rPr lang="es-BO" sz="3200" b="0" i="1" smtClean="0">
                              <a:latin typeface="Cambria Math" panose="02040503050406030204" pitchFamily="18" charset="0"/>
                            </a:rPr>
                            <m:t>𝑡</m:t>
                          </m:r>
                        </m:sub>
                      </m:sSub>
                      <m:r>
                        <a:rPr lang="es-BO" sz="3200" b="0" i="1" smtClean="0">
                          <a:latin typeface="Cambria Math" panose="02040503050406030204" pitchFamily="18" charset="0"/>
                        </a:rPr>
                        <m:t>=</m:t>
                      </m:r>
                      <m:r>
                        <a:rPr lang="es-BO" sz="3200" b="0" i="1" smtClean="0">
                          <a:latin typeface="Cambria Math" panose="02040503050406030204" pitchFamily="18" charset="0"/>
                          <a:ea typeface="Cambria Math" panose="02040503050406030204" pitchFamily="18" charset="0"/>
                        </a:rPr>
                        <m:t>𝛼</m:t>
                      </m:r>
                      <m:sSub>
                        <m:sSubPr>
                          <m:ctrlPr>
                            <a:rPr lang="es-BO" sz="3200" b="0" i="1" smtClean="0">
                              <a:latin typeface="Cambria Math" panose="02040503050406030204" pitchFamily="18" charset="0"/>
                              <a:ea typeface="Cambria Math" panose="02040503050406030204" pitchFamily="18" charset="0"/>
                            </a:rPr>
                          </m:ctrlPr>
                        </m:sSubPr>
                        <m:e>
                          <m:r>
                            <a:rPr lang="es-BO" sz="3200" b="0" i="1" smtClean="0">
                              <a:latin typeface="Cambria Math" panose="02040503050406030204" pitchFamily="18" charset="0"/>
                              <a:ea typeface="Cambria Math" panose="02040503050406030204" pitchFamily="18" charset="0"/>
                            </a:rPr>
                            <m:t>𝐷</m:t>
                          </m:r>
                        </m:e>
                        <m:sub>
                          <m:r>
                            <a:rPr lang="es-BO" sz="3200" b="0" i="1" smtClean="0">
                              <a:latin typeface="Cambria Math" panose="02040503050406030204" pitchFamily="18" charset="0"/>
                              <a:ea typeface="Cambria Math" panose="02040503050406030204" pitchFamily="18" charset="0"/>
                            </a:rPr>
                            <m:t>𝑡</m:t>
                          </m:r>
                        </m:sub>
                      </m:sSub>
                      <m:r>
                        <a:rPr lang="es-BO" sz="3200" b="0" i="1" smtClean="0">
                          <a:latin typeface="Cambria Math" panose="02040503050406030204" pitchFamily="18" charset="0"/>
                          <a:ea typeface="Cambria Math" panose="02040503050406030204" pitchFamily="18" charset="0"/>
                        </a:rPr>
                        <m:t>+(1−</m:t>
                      </m:r>
                      <m:r>
                        <a:rPr lang="es-BO" sz="3200" b="0" i="1" smtClean="0">
                          <a:latin typeface="Cambria Math" panose="02040503050406030204" pitchFamily="18" charset="0"/>
                          <a:ea typeface="Cambria Math" panose="02040503050406030204" pitchFamily="18" charset="0"/>
                        </a:rPr>
                        <m:t>𝛼</m:t>
                      </m:r>
                      <m:r>
                        <a:rPr lang="es-BO" sz="3200" b="0" i="1" smtClean="0">
                          <a:latin typeface="Cambria Math" panose="02040503050406030204" pitchFamily="18" charset="0"/>
                          <a:ea typeface="Cambria Math" panose="02040503050406030204" pitchFamily="18" charset="0"/>
                        </a:rPr>
                        <m:t>)(</m:t>
                      </m:r>
                      <m:sSub>
                        <m:sSubPr>
                          <m:ctrlPr>
                            <a:rPr lang="es-BO" sz="3200" b="0" i="1" smtClean="0">
                              <a:latin typeface="Cambria Math" panose="02040503050406030204" pitchFamily="18" charset="0"/>
                              <a:ea typeface="Cambria Math" panose="02040503050406030204" pitchFamily="18" charset="0"/>
                            </a:rPr>
                          </m:ctrlPr>
                        </m:sSubPr>
                        <m:e>
                          <m:r>
                            <a:rPr lang="es-BO" sz="3200" b="0" i="1" smtClean="0">
                              <a:latin typeface="Cambria Math" panose="02040503050406030204" pitchFamily="18" charset="0"/>
                              <a:ea typeface="Cambria Math" panose="02040503050406030204" pitchFamily="18" charset="0"/>
                            </a:rPr>
                            <m:t>𝑆</m:t>
                          </m:r>
                        </m:e>
                        <m:sub>
                          <m:r>
                            <a:rPr lang="es-BO" sz="3200" b="0" i="1" smtClean="0">
                              <a:latin typeface="Cambria Math" panose="02040503050406030204" pitchFamily="18" charset="0"/>
                              <a:ea typeface="Cambria Math" panose="02040503050406030204" pitchFamily="18" charset="0"/>
                            </a:rPr>
                            <m:t>𝑡</m:t>
                          </m:r>
                          <m:r>
                            <a:rPr lang="es-BO" sz="3200" b="0" i="1" smtClean="0">
                              <a:latin typeface="Cambria Math" panose="02040503050406030204" pitchFamily="18" charset="0"/>
                              <a:ea typeface="Cambria Math" panose="02040503050406030204" pitchFamily="18" charset="0"/>
                            </a:rPr>
                            <m:t>−1</m:t>
                          </m:r>
                        </m:sub>
                      </m:sSub>
                      <m:r>
                        <a:rPr lang="es-BO" sz="3200" b="0" i="1" smtClean="0">
                          <a:latin typeface="Cambria Math" panose="02040503050406030204" pitchFamily="18" charset="0"/>
                          <a:ea typeface="Cambria Math" panose="02040503050406030204" pitchFamily="18" charset="0"/>
                        </a:rPr>
                        <m:t>+</m:t>
                      </m:r>
                      <m:sSub>
                        <m:sSubPr>
                          <m:ctrlPr>
                            <a:rPr lang="es-BO" sz="3200" b="0" i="1" smtClean="0">
                              <a:latin typeface="Cambria Math" panose="02040503050406030204" pitchFamily="18" charset="0"/>
                              <a:ea typeface="Cambria Math" panose="02040503050406030204" pitchFamily="18" charset="0"/>
                            </a:rPr>
                          </m:ctrlPr>
                        </m:sSubPr>
                        <m:e>
                          <m:r>
                            <a:rPr lang="es-BO" sz="3200" b="0" i="1" smtClean="0">
                              <a:latin typeface="Cambria Math" panose="02040503050406030204" pitchFamily="18" charset="0"/>
                              <a:ea typeface="Cambria Math" panose="02040503050406030204" pitchFamily="18" charset="0"/>
                            </a:rPr>
                            <m:t>𝐺</m:t>
                          </m:r>
                        </m:e>
                        <m:sub>
                          <m:r>
                            <a:rPr lang="es-BO" sz="3200" b="0" i="1" smtClean="0">
                              <a:latin typeface="Cambria Math" panose="02040503050406030204" pitchFamily="18" charset="0"/>
                              <a:ea typeface="Cambria Math" panose="02040503050406030204" pitchFamily="18" charset="0"/>
                            </a:rPr>
                            <m:t>𝑡</m:t>
                          </m:r>
                          <m:r>
                            <a:rPr lang="es-BO" sz="3200" b="0" i="1" smtClean="0">
                              <a:latin typeface="Cambria Math" panose="02040503050406030204" pitchFamily="18" charset="0"/>
                              <a:ea typeface="Cambria Math" panose="02040503050406030204" pitchFamily="18" charset="0"/>
                            </a:rPr>
                            <m:t>−1</m:t>
                          </m:r>
                        </m:sub>
                      </m:sSub>
                      <m:r>
                        <a:rPr lang="es-BO" sz="3200" b="0" i="1" smtClean="0">
                          <a:latin typeface="Cambria Math" panose="02040503050406030204" pitchFamily="18" charset="0"/>
                          <a:ea typeface="Cambria Math" panose="02040503050406030204" pitchFamily="18" charset="0"/>
                        </a:rPr>
                        <m:t>)</m:t>
                      </m:r>
                    </m:oMath>
                  </m:oMathPara>
                </a14:m>
                <a:endParaRPr lang="es-BO" sz="3200" dirty="0">
                  <a:latin typeface="Arial" panose="020B0604020202020204" pitchFamily="34" charset="0"/>
                  <a:cs typeface="Arial" panose="020B0604020202020204" pitchFamily="34" charset="0"/>
                </a:endParaRPr>
              </a:p>
            </p:txBody>
          </p:sp>
        </mc:Choice>
        <mc:Fallback xmlns="">
          <p:sp>
            <p:nvSpPr>
              <p:cNvPr id="5" name="CuadroTexto 4"/>
              <p:cNvSpPr txBox="1">
                <a:spLocks noRot="1" noChangeAspect="1" noMove="1" noResize="1" noEditPoints="1" noAdjustHandles="1" noChangeArrowheads="1" noChangeShapeType="1" noTextEdit="1"/>
              </p:cNvSpPr>
              <p:nvPr/>
            </p:nvSpPr>
            <p:spPr>
              <a:xfrm>
                <a:off x="539750" y="2953636"/>
                <a:ext cx="5853590" cy="492443"/>
              </a:xfrm>
              <a:prstGeom prst="rect">
                <a:avLst/>
              </a:prstGeom>
              <a:blipFill>
                <a:blip r:embed="rId3"/>
                <a:stretch>
                  <a:fillRect/>
                </a:stretch>
              </a:blipFill>
            </p:spPr>
            <p:txBody>
              <a:bodyPr/>
              <a:lstStyle/>
              <a:p>
                <a:r>
                  <a:rPr lang="es-BO">
                    <a:noFill/>
                  </a:rPr>
                  <a:t> </a:t>
                </a:r>
              </a:p>
            </p:txBody>
          </p:sp>
        </mc:Fallback>
      </mc:AlternateContent>
      <mc:AlternateContent xmlns:mc="http://schemas.openxmlformats.org/markup-compatibility/2006" xmlns:a14="http://schemas.microsoft.com/office/drawing/2010/main">
        <mc:Choice Requires="a14">
          <p:sp>
            <p:nvSpPr>
              <p:cNvPr id="6" name="CuadroTexto 5"/>
              <p:cNvSpPr txBox="1"/>
              <p:nvPr/>
            </p:nvSpPr>
            <p:spPr>
              <a:xfrm>
                <a:off x="558800" y="3723211"/>
                <a:ext cx="5843972" cy="492443"/>
              </a:xfrm>
              <a:prstGeom prst="rect">
                <a:avLst/>
              </a:prstGeom>
              <a:solidFill>
                <a:srgbClr val="C00000"/>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BO" sz="3200" i="1" smtClean="0">
                              <a:latin typeface="Cambria Math" panose="02040503050406030204" pitchFamily="18" charset="0"/>
                            </a:rPr>
                          </m:ctrlPr>
                        </m:sSubPr>
                        <m:e>
                          <m:r>
                            <a:rPr lang="es-BO" sz="3200" b="0" i="1" smtClean="0">
                              <a:latin typeface="Cambria Math" panose="02040503050406030204" pitchFamily="18" charset="0"/>
                            </a:rPr>
                            <m:t>𝐺</m:t>
                          </m:r>
                        </m:e>
                        <m:sub>
                          <m:r>
                            <a:rPr lang="es-BO" sz="3200" b="0" i="1" smtClean="0">
                              <a:latin typeface="Cambria Math" panose="02040503050406030204" pitchFamily="18" charset="0"/>
                            </a:rPr>
                            <m:t>𝑡</m:t>
                          </m:r>
                        </m:sub>
                      </m:sSub>
                      <m:r>
                        <a:rPr lang="es-BO" sz="3200" b="0" i="1" smtClean="0">
                          <a:latin typeface="Cambria Math" panose="02040503050406030204" pitchFamily="18" charset="0"/>
                        </a:rPr>
                        <m:t>=</m:t>
                      </m:r>
                      <m:r>
                        <a:rPr lang="es-BO" sz="3200" b="0" i="1" smtClean="0">
                          <a:latin typeface="Cambria Math" panose="02040503050406030204" pitchFamily="18" charset="0"/>
                          <a:ea typeface="Cambria Math" panose="02040503050406030204" pitchFamily="18" charset="0"/>
                        </a:rPr>
                        <m:t>𝛽</m:t>
                      </m:r>
                      <m:d>
                        <m:dPr>
                          <m:ctrlPr>
                            <a:rPr lang="es-BO" sz="3200" b="0" i="1" smtClean="0">
                              <a:latin typeface="Cambria Math" panose="02040503050406030204" pitchFamily="18" charset="0"/>
                              <a:ea typeface="Cambria Math" panose="02040503050406030204" pitchFamily="18" charset="0"/>
                            </a:rPr>
                          </m:ctrlPr>
                        </m:dPr>
                        <m:e>
                          <m:sSub>
                            <m:sSubPr>
                              <m:ctrlPr>
                                <a:rPr lang="es-BO" sz="3200" b="0" i="1" smtClean="0">
                                  <a:latin typeface="Cambria Math" panose="02040503050406030204" pitchFamily="18" charset="0"/>
                                  <a:ea typeface="Cambria Math" panose="02040503050406030204" pitchFamily="18" charset="0"/>
                                </a:rPr>
                              </m:ctrlPr>
                            </m:sSubPr>
                            <m:e>
                              <m:r>
                                <a:rPr lang="es-BO" sz="3200" b="0" i="1" smtClean="0">
                                  <a:latin typeface="Cambria Math" panose="02040503050406030204" pitchFamily="18" charset="0"/>
                                  <a:ea typeface="Cambria Math" panose="02040503050406030204" pitchFamily="18" charset="0"/>
                                </a:rPr>
                                <m:t>𝑆</m:t>
                              </m:r>
                            </m:e>
                            <m:sub>
                              <m:r>
                                <a:rPr lang="es-BO" sz="3200" b="0" i="1" smtClean="0">
                                  <a:latin typeface="Cambria Math" panose="02040503050406030204" pitchFamily="18" charset="0"/>
                                  <a:ea typeface="Cambria Math" panose="02040503050406030204" pitchFamily="18" charset="0"/>
                                </a:rPr>
                                <m:t>𝑡</m:t>
                              </m:r>
                            </m:sub>
                          </m:sSub>
                          <m:r>
                            <a:rPr lang="es-BO" sz="3200" b="0" i="1" smtClean="0">
                              <a:latin typeface="Cambria Math" panose="02040503050406030204" pitchFamily="18" charset="0"/>
                              <a:ea typeface="Cambria Math" panose="02040503050406030204" pitchFamily="18" charset="0"/>
                            </a:rPr>
                            <m:t>−</m:t>
                          </m:r>
                          <m:sSub>
                            <m:sSubPr>
                              <m:ctrlPr>
                                <a:rPr lang="es-BO" sz="3200" b="0" i="1" smtClean="0">
                                  <a:latin typeface="Cambria Math" panose="02040503050406030204" pitchFamily="18" charset="0"/>
                                  <a:ea typeface="Cambria Math" panose="02040503050406030204" pitchFamily="18" charset="0"/>
                                </a:rPr>
                              </m:ctrlPr>
                            </m:sSubPr>
                            <m:e>
                              <m:r>
                                <a:rPr lang="es-BO" sz="3200" b="0" i="1" smtClean="0">
                                  <a:latin typeface="Cambria Math" panose="02040503050406030204" pitchFamily="18" charset="0"/>
                                  <a:ea typeface="Cambria Math" panose="02040503050406030204" pitchFamily="18" charset="0"/>
                                </a:rPr>
                                <m:t>𝑆</m:t>
                              </m:r>
                            </m:e>
                            <m:sub>
                              <m:r>
                                <a:rPr lang="es-BO" sz="3200" b="0" i="1" smtClean="0">
                                  <a:latin typeface="Cambria Math" panose="02040503050406030204" pitchFamily="18" charset="0"/>
                                  <a:ea typeface="Cambria Math" panose="02040503050406030204" pitchFamily="18" charset="0"/>
                                </a:rPr>
                                <m:t>𝑡</m:t>
                              </m:r>
                              <m:r>
                                <a:rPr lang="es-BO" sz="3200" b="0" i="1" smtClean="0">
                                  <a:latin typeface="Cambria Math" panose="02040503050406030204" pitchFamily="18" charset="0"/>
                                  <a:ea typeface="Cambria Math" panose="02040503050406030204" pitchFamily="18" charset="0"/>
                                </a:rPr>
                                <m:t>−1</m:t>
                              </m:r>
                            </m:sub>
                          </m:sSub>
                        </m:e>
                      </m:d>
                      <m:r>
                        <a:rPr lang="es-BO" sz="3200" b="0" i="1" smtClean="0">
                          <a:latin typeface="Cambria Math" panose="02040503050406030204" pitchFamily="18" charset="0"/>
                          <a:ea typeface="Cambria Math" panose="02040503050406030204" pitchFamily="18" charset="0"/>
                        </a:rPr>
                        <m:t>+(1−</m:t>
                      </m:r>
                      <m:r>
                        <a:rPr lang="es-BO" sz="3200" b="0" i="1" smtClean="0">
                          <a:latin typeface="Cambria Math" panose="02040503050406030204" pitchFamily="18" charset="0"/>
                          <a:ea typeface="Cambria Math" panose="02040503050406030204" pitchFamily="18" charset="0"/>
                        </a:rPr>
                        <m:t>𝛽</m:t>
                      </m:r>
                      <m:r>
                        <a:rPr lang="es-BO" sz="3200" b="0" i="1" smtClean="0">
                          <a:latin typeface="Cambria Math" panose="02040503050406030204" pitchFamily="18" charset="0"/>
                          <a:ea typeface="Cambria Math" panose="02040503050406030204" pitchFamily="18" charset="0"/>
                        </a:rPr>
                        <m:t>)</m:t>
                      </m:r>
                      <m:sSub>
                        <m:sSubPr>
                          <m:ctrlPr>
                            <a:rPr lang="es-BO" sz="3200" b="0" i="1" smtClean="0">
                              <a:latin typeface="Cambria Math" panose="02040503050406030204" pitchFamily="18" charset="0"/>
                              <a:ea typeface="Cambria Math" panose="02040503050406030204" pitchFamily="18" charset="0"/>
                            </a:rPr>
                          </m:ctrlPr>
                        </m:sSubPr>
                        <m:e>
                          <m:r>
                            <a:rPr lang="es-BO" sz="3200" b="0" i="1" smtClean="0">
                              <a:latin typeface="Cambria Math" panose="02040503050406030204" pitchFamily="18" charset="0"/>
                              <a:ea typeface="Cambria Math" panose="02040503050406030204" pitchFamily="18" charset="0"/>
                            </a:rPr>
                            <m:t>𝐺</m:t>
                          </m:r>
                        </m:e>
                        <m:sub>
                          <m:r>
                            <a:rPr lang="es-BO" sz="3200" b="0" i="1" smtClean="0">
                              <a:latin typeface="Cambria Math" panose="02040503050406030204" pitchFamily="18" charset="0"/>
                              <a:ea typeface="Cambria Math" panose="02040503050406030204" pitchFamily="18" charset="0"/>
                            </a:rPr>
                            <m:t>𝑡</m:t>
                          </m:r>
                          <m:r>
                            <a:rPr lang="es-BO" sz="3200" b="0" i="1" smtClean="0">
                              <a:latin typeface="Cambria Math" panose="02040503050406030204" pitchFamily="18" charset="0"/>
                              <a:ea typeface="Cambria Math" panose="02040503050406030204" pitchFamily="18" charset="0"/>
                            </a:rPr>
                            <m:t>−1</m:t>
                          </m:r>
                        </m:sub>
                      </m:sSub>
                    </m:oMath>
                  </m:oMathPara>
                </a14:m>
                <a:endParaRPr lang="es-BO" sz="3200" dirty="0">
                  <a:latin typeface="Arial" panose="020B0604020202020204" pitchFamily="34" charset="0"/>
                  <a:cs typeface="Arial" panose="020B0604020202020204" pitchFamily="34" charset="0"/>
                </a:endParaRPr>
              </a:p>
            </p:txBody>
          </p:sp>
        </mc:Choice>
        <mc:Fallback xmlns="">
          <p:sp>
            <p:nvSpPr>
              <p:cNvPr id="6" name="CuadroTexto 5"/>
              <p:cNvSpPr txBox="1">
                <a:spLocks noRot="1" noChangeAspect="1" noMove="1" noResize="1" noEditPoints="1" noAdjustHandles="1" noChangeArrowheads="1" noChangeShapeType="1" noTextEdit="1"/>
              </p:cNvSpPr>
              <p:nvPr/>
            </p:nvSpPr>
            <p:spPr>
              <a:xfrm>
                <a:off x="558800" y="3723211"/>
                <a:ext cx="5843972" cy="492443"/>
              </a:xfrm>
              <a:prstGeom prst="rect">
                <a:avLst/>
              </a:prstGeom>
              <a:blipFill>
                <a:blip r:embed="rId4"/>
                <a:stretch>
                  <a:fillRect/>
                </a:stretch>
              </a:blipFill>
            </p:spPr>
            <p:txBody>
              <a:bodyPr/>
              <a:lstStyle/>
              <a:p>
                <a:r>
                  <a:rPr lang="es-BO">
                    <a:noFill/>
                  </a:rPr>
                  <a:t> </a:t>
                </a:r>
              </a:p>
            </p:txBody>
          </p:sp>
        </mc:Fallback>
      </mc:AlternateContent>
      <mc:AlternateContent xmlns:mc="http://schemas.openxmlformats.org/markup-compatibility/2006" xmlns:a14="http://schemas.microsoft.com/office/drawing/2010/main">
        <mc:Choice Requires="a14">
          <p:sp>
            <p:nvSpPr>
              <p:cNvPr id="7" name="CuadroTexto 6"/>
              <p:cNvSpPr txBox="1"/>
              <p:nvPr/>
            </p:nvSpPr>
            <p:spPr>
              <a:xfrm>
                <a:off x="1674017" y="4517127"/>
                <a:ext cx="3188309" cy="553998"/>
              </a:xfrm>
              <a:prstGeom prst="rect">
                <a:avLst/>
              </a:prstGeom>
              <a:solidFill>
                <a:srgbClr val="C00000"/>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BO" sz="3600" i="1" smtClean="0">
                              <a:latin typeface="Cambria Math" panose="02040503050406030204" pitchFamily="18" charset="0"/>
                            </a:rPr>
                          </m:ctrlPr>
                        </m:sSubPr>
                        <m:e>
                          <m:r>
                            <a:rPr lang="es-BO" sz="3600" b="0" i="1" smtClean="0">
                              <a:latin typeface="Cambria Math" panose="02040503050406030204" pitchFamily="18" charset="0"/>
                            </a:rPr>
                            <m:t>𝐹</m:t>
                          </m:r>
                        </m:e>
                        <m:sub>
                          <m:r>
                            <a:rPr lang="es-BO" sz="3600" b="0" i="1" smtClean="0">
                              <a:latin typeface="Cambria Math" panose="02040503050406030204" pitchFamily="18" charset="0"/>
                            </a:rPr>
                            <m:t>𝑡</m:t>
                          </m:r>
                          <m:r>
                            <a:rPr lang="es-BO" sz="3600" b="0" i="1" smtClean="0">
                              <a:latin typeface="Cambria Math" panose="02040503050406030204" pitchFamily="18" charset="0"/>
                            </a:rPr>
                            <m:t>+</m:t>
                          </m:r>
                          <m:r>
                            <a:rPr lang="es-BO" sz="3600" b="0" i="1" smtClean="0">
                              <a:latin typeface="Cambria Math" panose="02040503050406030204" pitchFamily="18" charset="0"/>
                              <a:ea typeface="Cambria Math" panose="02040503050406030204" pitchFamily="18" charset="0"/>
                            </a:rPr>
                            <m:t>𝜏</m:t>
                          </m:r>
                        </m:sub>
                      </m:sSub>
                      <m:r>
                        <a:rPr lang="es-BO" sz="3600" b="0" i="1" smtClean="0">
                          <a:latin typeface="Cambria Math" panose="02040503050406030204" pitchFamily="18" charset="0"/>
                        </a:rPr>
                        <m:t>=</m:t>
                      </m:r>
                      <m:sSub>
                        <m:sSubPr>
                          <m:ctrlPr>
                            <a:rPr lang="es-BO" sz="3600" b="0" i="1" smtClean="0">
                              <a:latin typeface="Cambria Math" panose="02040503050406030204" pitchFamily="18" charset="0"/>
                            </a:rPr>
                          </m:ctrlPr>
                        </m:sSubPr>
                        <m:e>
                          <m:r>
                            <a:rPr lang="es-BO" sz="3600" b="0" i="1" smtClean="0">
                              <a:latin typeface="Cambria Math" panose="02040503050406030204" pitchFamily="18" charset="0"/>
                            </a:rPr>
                            <m:t>𝑆</m:t>
                          </m:r>
                        </m:e>
                        <m:sub>
                          <m:r>
                            <a:rPr lang="es-BO" sz="3600" b="0" i="1" smtClean="0">
                              <a:latin typeface="Cambria Math" panose="02040503050406030204" pitchFamily="18" charset="0"/>
                            </a:rPr>
                            <m:t>𝑡</m:t>
                          </m:r>
                        </m:sub>
                      </m:sSub>
                      <m:r>
                        <a:rPr lang="es-BO" sz="3600" b="0" i="1" smtClean="0">
                          <a:latin typeface="Cambria Math" panose="02040503050406030204" pitchFamily="18" charset="0"/>
                        </a:rPr>
                        <m:t>+</m:t>
                      </m:r>
                      <m:r>
                        <a:rPr lang="es-BO" sz="3600" b="0" i="1" smtClean="0">
                          <a:latin typeface="Cambria Math" panose="02040503050406030204" pitchFamily="18" charset="0"/>
                          <a:ea typeface="Cambria Math" panose="02040503050406030204" pitchFamily="18" charset="0"/>
                        </a:rPr>
                        <m:t>𝜏</m:t>
                      </m:r>
                      <m:sSub>
                        <m:sSubPr>
                          <m:ctrlPr>
                            <a:rPr lang="es-BO" sz="3600" b="0" i="1" smtClean="0">
                              <a:latin typeface="Cambria Math" panose="02040503050406030204" pitchFamily="18" charset="0"/>
                              <a:ea typeface="Cambria Math" panose="02040503050406030204" pitchFamily="18" charset="0"/>
                            </a:rPr>
                          </m:ctrlPr>
                        </m:sSubPr>
                        <m:e>
                          <m:r>
                            <a:rPr lang="es-BO" sz="3600" b="0" i="1" smtClean="0">
                              <a:latin typeface="Cambria Math" panose="02040503050406030204" pitchFamily="18" charset="0"/>
                              <a:ea typeface="Cambria Math" panose="02040503050406030204" pitchFamily="18" charset="0"/>
                            </a:rPr>
                            <m:t>𝐺</m:t>
                          </m:r>
                        </m:e>
                        <m:sub>
                          <m:r>
                            <a:rPr lang="es-BO" sz="3600" b="0" i="1" smtClean="0">
                              <a:latin typeface="Cambria Math" panose="02040503050406030204" pitchFamily="18" charset="0"/>
                              <a:ea typeface="Cambria Math" panose="02040503050406030204" pitchFamily="18" charset="0"/>
                            </a:rPr>
                            <m:t>𝑡</m:t>
                          </m:r>
                        </m:sub>
                      </m:sSub>
                    </m:oMath>
                  </m:oMathPara>
                </a14:m>
                <a:endParaRPr lang="es-BO" sz="3600" dirty="0">
                  <a:latin typeface="Arial" panose="020B0604020202020204" pitchFamily="34" charset="0"/>
                  <a:cs typeface="Arial" panose="020B0604020202020204" pitchFamily="34" charset="0"/>
                </a:endParaRPr>
              </a:p>
            </p:txBody>
          </p:sp>
        </mc:Choice>
        <mc:Fallback xmlns="">
          <p:sp>
            <p:nvSpPr>
              <p:cNvPr id="7" name="CuadroTexto 6"/>
              <p:cNvSpPr txBox="1">
                <a:spLocks noRot="1" noChangeAspect="1" noMove="1" noResize="1" noEditPoints="1" noAdjustHandles="1" noChangeArrowheads="1" noChangeShapeType="1" noTextEdit="1"/>
              </p:cNvSpPr>
              <p:nvPr/>
            </p:nvSpPr>
            <p:spPr>
              <a:xfrm>
                <a:off x="1674017" y="4517127"/>
                <a:ext cx="3188309" cy="553998"/>
              </a:xfrm>
              <a:prstGeom prst="rect">
                <a:avLst/>
              </a:prstGeom>
              <a:blipFill>
                <a:blip r:embed="rId5"/>
                <a:stretch>
                  <a:fillRect/>
                </a:stretch>
              </a:blipFill>
            </p:spPr>
            <p:txBody>
              <a:bodyPr/>
              <a:lstStyle/>
              <a:p>
                <a:r>
                  <a:rPr lang="es-BO">
                    <a:noFill/>
                  </a:rPr>
                  <a:t> </a:t>
                </a:r>
              </a:p>
            </p:txBody>
          </p:sp>
        </mc:Fallback>
      </mc:AlternateContent>
    </p:spTree>
    <p:extLst>
      <p:ext uri="{BB962C8B-B14F-4D97-AF65-F5344CB8AC3E}">
        <p14:creationId xmlns:p14="http://schemas.microsoft.com/office/powerpoint/2010/main" val="312031154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p:cNvSpPr txBox="1"/>
          <p:nvPr/>
        </p:nvSpPr>
        <p:spPr>
          <a:xfrm>
            <a:off x="152400" y="203200"/>
            <a:ext cx="8369300" cy="1569660"/>
          </a:xfrm>
          <a:prstGeom prst="rect">
            <a:avLst/>
          </a:prstGeom>
          <a:noFill/>
        </p:spPr>
        <p:txBody>
          <a:bodyPr wrap="square" rtlCol="0">
            <a:spAutoFit/>
          </a:bodyPr>
          <a:lstStyle/>
          <a:p>
            <a:r>
              <a:rPr lang="es-BO" sz="3200" dirty="0" smtClean="0">
                <a:solidFill>
                  <a:srgbClr val="FF0000"/>
                </a:solidFill>
              </a:rPr>
              <a:t>5 Técnicas de proyección del mercado.</a:t>
            </a:r>
          </a:p>
          <a:p>
            <a:r>
              <a:rPr lang="es-BO" sz="3200" dirty="0" smtClean="0">
                <a:solidFill>
                  <a:srgbClr val="FF0000"/>
                </a:solidFill>
              </a:rPr>
              <a:t>Suavización exponencial doble.</a:t>
            </a:r>
          </a:p>
          <a:p>
            <a:endParaRPr lang="es-BO" sz="3200" dirty="0">
              <a:solidFill>
                <a:srgbClr val="FF0000"/>
              </a:solidFill>
            </a:endParaRPr>
          </a:p>
        </p:txBody>
      </p:sp>
      <p:pic>
        <p:nvPicPr>
          <p:cNvPr id="9" name="Imagen 8"/>
          <p:cNvPicPr>
            <a:picLocks noChangeAspect="1"/>
          </p:cNvPicPr>
          <p:nvPr/>
        </p:nvPicPr>
        <p:blipFill>
          <a:blip r:embed="rId2"/>
          <a:stretch>
            <a:fillRect/>
          </a:stretch>
        </p:blipFill>
        <p:spPr>
          <a:xfrm>
            <a:off x="6777164" y="3314454"/>
            <a:ext cx="4818290" cy="2959345"/>
          </a:xfrm>
          <a:prstGeom prst="rect">
            <a:avLst/>
          </a:prstGeom>
        </p:spPr>
      </p:pic>
      <p:graphicFrame>
        <p:nvGraphicFramePr>
          <p:cNvPr id="3" name="Tabla 2"/>
          <p:cNvGraphicFramePr>
            <a:graphicFrameLocks noGrp="1"/>
          </p:cNvGraphicFramePr>
          <p:nvPr>
            <p:extLst>
              <p:ext uri="{D42A27DB-BD31-4B8C-83A1-F6EECF244321}">
                <p14:modId xmlns:p14="http://schemas.microsoft.com/office/powerpoint/2010/main" val="3537587665"/>
              </p:ext>
            </p:extLst>
          </p:nvPr>
        </p:nvGraphicFramePr>
        <p:xfrm>
          <a:off x="3097213" y="1915319"/>
          <a:ext cx="1524000" cy="3457575"/>
        </p:xfrm>
        <a:graphic>
          <a:graphicData uri="http://schemas.openxmlformats.org/drawingml/2006/table">
            <a:tbl>
              <a:tblPr>
                <a:tableStyleId>{5C22544A-7EE6-4342-B048-85BDC9FD1C3A}</a:tableStyleId>
              </a:tblPr>
              <a:tblGrid>
                <a:gridCol w="762000">
                  <a:extLst>
                    <a:ext uri="{9D8B030D-6E8A-4147-A177-3AD203B41FA5}">
                      <a16:colId xmlns:a16="http://schemas.microsoft.com/office/drawing/2014/main" val="1434896973"/>
                    </a:ext>
                  </a:extLst>
                </a:gridCol>
                <a:gridCol w="762000">
                  <a:extLst>
                    <a:ext uri="{9D8B030D-6E8A-4147-A177-3AD203B41FA5}">
                      <a16:colId xmlns:a16="http://schemas.microsoft.com/office/drawing/2014/main" val="445026006"/>
                    </a:ext>
                  </a:extLst>
                </a:gridCol>
              </a:tblGrid>
              <a:tr h="190500">
                <a:tc>
                  <a:txBody>
                    <a:bodyPr/>
                    <a:lstStyle/>
                    <a:p>
                      <a:pPr algn="l" fontAlgn="b"/>
                      <a:r>
                        <a:rPr lang="es-BO" sz="2000" u="none" strike="noStrike">
                          <a:effectLst/>
                          <a:latin typeface="Arial" panose="020B0604020202020204" pitchFamily="34" charset="0"/>
                          <a:cs typeface="Arial" panose="020B0604020202020204" pitchFamily="34" charset="0"/>
                        </a:rPr>
                        <a:t>t</a:t>
                      </a:r>
                      <a:endParaRPr lang="es-BO" sz="20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solidFill>
                      <a:srgbClr val="92D050"/>
                    </a:solidFill>
                  </a:tcPr>
                </a:tc>
                <a:tc>
                  <a:txBody>
                    <a:bodyPr/>
                    <a:lstStyle/>
                    <a:p>
                      <a:pPr algn="l" fontAlgn="b"/>
                      <a:r>
                        <a:rPr lang="es-BO" sz="2000" u="none" strike="noStrike">
                          <a:effectLst/>
                          <a:latin typeface="Arial" panose="020B0604020202020204" pitchFamily="34" charset="0"/>
                          <a:cs typeface="Arial" panose="020B0604020202020204" pitchFamily="34" charset="0"/>
                        </a:rPr>
                        <a:t>Dt</a:t>
                      </a:r>
                      <a:endParaRPr lang="es-BO" sz="20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solidFill>
                      <a:srgbClr val="92D050"/>
                    </a:solidFill>
                  </a:tcPr>
                </a:tc>
                <a:extLst>
                  <a:ext uri="{0D108BD9-81ED-4DB2-BD59-A6C34878D82A}">
                    <a16:rowId xmlns:a16="http://schemas.microsoft.com/office/drawing/2014/main" val="2499891436"/>
                  </a:ext>
                </a:extLst>
              </a:tr>
              <a:tr h="190500">
                <a:tc>
                  <a:txBody>
                    <a:bodyPr/>
                    <a:lstStyle/>
                    <a:p>
                      <a:pPr algn="r" fontAlgn="b"/>
                      <a:r>
                        <a:rPr lang="es-BO" sz="2000" u="none" strike="noStrike">
                          <a:effectLst/>
                          <a:latin typeface="Arial" panose="020B0604020202020204" pitchFamily="34" charset="0"/>
                          <a:cs typeface="Arial" panose="020B0604020202020204" pitchFamily="34" charset="0"/>
                        </a:rPr>
                        <a:t>1</a:t>
                      </a:r>
                      <a:endParaRPr lang="es-BO" sz="20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solidFill>
                      <a:srgbClr val="92D050"/>
                    </a:solidFill>
                  </a:tcPr>
                </a:tc>
                <a:tc>
                  <a:txBody>
                    <a:bodyPr/>
                    <a:lstStyle/>
                    <a:p>
                      <a:pPr algn="r" fontAlgn="b"/>
                      <a:r>
                        <a:rPr lang="es-BO" sz="2000" u="none" strike="noStrike">
                          <a:effectLst/>
                          <a:latin typeface="Arial" panose="020B0604020202020204" pitchFamily="34" charset="0"/>
                          <a:cs typeface="Arial" panose="020B0604020202020204" pitchFamily="34" charset="0"/>
                        </a:rPr>
                        <a:t>23</a:t>
                      </a:r>
                      <a:endParaRPr lang="es-BO" sz="20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solidFill>
                      <a:srgbClr val="92D050"/>
                    </a:solidFill>
                  </a:tcPr>
                </a:tc>
                <a:extLst>
                  <a:ext uri="{0D108BD9-81ED-4DB2-BD59-A6C34878D82A}">
                    <a16:rowId xmlns:a16="http://schemas.microsoft.com/office/drawing/2014/main" val="2846223526"/>
                  </a:ext>
                </a:extLst>
              </a:tr>
              <a:tr h="190500">
                <a:tc>
                  <a:txBody>
                    <a:bodyPr/>
                    <a:lstStyle/>
                    <a:p>
                      <a:pPr algn="r" fontAlgn="b"/>
                      <a:r>
                        <a:rPr lang="es-BO" sz="2000" u="none" strike="noStrike">
                          <a:effectLst/>
                          <a:latin typeface="Arial" panose="020B0604020202020204" pitchFamily="34" charset="0"/>
                          <a:cs typeface="Arial" panose="020B0604020202020204" pitchFamily="34" charset="0"/>
                        </a:rPr>
                        <a:t>2</a:t>
                      </a:r>
                      <a:endParaRPr lang="es-BO" sz="20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solidFill>
                      <a:srgbClr val="92D050"/>
                    </a:solidFill>
                  </a:tcPr>
                </a:tc>
                <a:tc>
                  <a:txBody>
                    <a:bodyPr/>
                    <a:lstStyle/>
                    <a:p>
                      <a:pPr algn="r" fontAlgn="b"/>
                      <a:r>
                        <a:rPr lang="es-BO" sz="2000" u="none" strike="noStrike">
                          <a:effectLst/>
                          <a:latin typeface="Arial" panose="020B0604020202020204" pitchFamily="34" charset="0"/>
                          <a:cs typeface="Arial" panose="020B0604020202020204" pitchFamily="34" charset="0"/>
                        </a:rPr>
                        <a:t>24</a:t>
                      </a:r>
                      <a:endParaRPr lang="es-BO" sz="20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solidFill>
                      <a:srgbClr val="92D050"/>
                    </a:solidFill>
                  </a:tcPr>
                </a:tc>
                <a:extLst>
                  <a:ext uri="{0D108BD9-81ED-4DB2-BD59-A6C34878D82A}">
                    <a16:rowId xmlns:a16="http://schemas.microsoft.com/office/drawing/2014/main" val="3375364779"/>
                  </a:ext>
                </a:extLst>
              </a:tr>
              <a:tr h="190500">
                <a:tc>
                  <a:txBody>
                    <a:bodyPr/>
                    <a:lstStyle/>
                    <a:p>
                      <a:pPr algn="r" fontAlgn="b"/>
                      <a:r>
                        <a:rPr lang="es-BO" sz="2000" u="none" strike="noStrike">
                          <a:effectLst/>
                          <a:latin typeface="Arial" panose="020B0604020202020204" pitchFamily="34" charset="0"/>
                          <a:cs typeface="Arial" panose="020B0604020202020204" pitchFamily="34" charset="0"/>
                        </a:rPr>
                        <a:t>3</a:t>
                      </a:r>
                      <a:endParaRPr lang="es-BO" sz="20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solidFill>
                      <a:srgbClr val="92D050"/>
                    </a:solidFill>
                  </a:tcPr>
                </a:tc>
                <a:tc>
                  <a:txBody>
                    <a:bodyPr/>
                    <a:lstStyle/>
                    <a:p>
                      <a:pPr algn="r" fontAlgn="b"/>
                      <a:r>
                        <a:rPr lang="es-BO" sz="2000" u="none" strike="noStrike">
                          <a:effectLst/>
                          <a:latin typeface="Arial" panose="020B0604020202020204" pitchFamily="34" charset="0"/>
                          <a:cs typeface="Arial" panose="020B0604020202020204" pitchFamily="34" charset="0"/>
                        </a:rPr>
                        <a:t>27</a:t>
                      </a:r>
                      <a:endParaRPr lang="es-BO" sz="20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solidFill>
                      <a:srgbClr val="92D050"/>
                    </a:solidFill>
                  </a:tcPr>
                </a:tc>
                <a:extLst>
                  <a:ext uri="{0D108BD9-81ED-4DB2-BD59-A6C34878D82A}">
                    <a16:rowId xmlns:a16="http://schemas.microsoft.com/office/drawing/2014/main" val="4211744751"/>
                  </a:ext>
                </a:extLst>
              </a:tr>
              <a:tr h="190500">
                <a:tc>
                  <a:txBody>
                    <a:bodyPr/>
                    <a:lstStyle/>
                    <a:p>
                      <a:pPr algn="r" fontAlgn="b"/>
                      <a:r>
                        <a:rPr lang="es-BO" sz="2000" u="none" strike="noStrike">
                          <a:effectLst/>
                          <a:latin typeface="Arial" panose="020B0604020202020204" pitchFamily="34" charset="0"/>
                          <a:cs typeface="Arial" panose="020B0604020202020204" pitchFamily="34" charset="0"/>
                        </a:rPr>
                        <a:t>4</a:t>
                      </a:r>
                      <a:endParaRPr lang="es-BO" sz="20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solidFill>
                      <a:srgbClr val="92D050"/>
                    </a:solidFill>
                  </a:tcPr>
                </a:tc>
                <a:tc>
                  <a:txBody>
                    <a:bodyPr/>
                    <a:lstStyle/>
                    <a:p>
                      <a:pPr algn="r" fontAlgn="b"/>
                      <a:r>
                        <a:rPr lang="es-BO" sz="2000" u="none" strike="noStrike">
                          <a:effectLst/>
                          <a:latin typeface="Arial" panose="020B0604020202020204" pitchFamily="34" charset="0"/>
                          <a:cs typeface="Arial" panose="020B0604020202020204" pitchFamily="34" charset="0"/>
                        </a:rPr>
                        <a:t>30</a:t>
                      </a:r>
                      <a:endParaRPr lang="es-BO" sz="20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solidFill>
                      <a:srgbClr val="92D050"/>
                    </a:solidFill>
                  </a:tcPr>
                </a:tc>
                <a:extLst>
                  <a:ext uri="{0D108BD9-81ED-4DB2-BD59-A6C34878D82A}">
                    <a16:rowId xmlns:a16="http://schemas.microsoft.com/office/drawing/2014/main" val="1238697178"/>
                  </a:ext>
                </a:extLst>
              </a:tr>
              <a:tr h="190500">
                <a:tc>
                  <a:txBody>
                    <a:bodyPr/>
                    <a:lstStyle/>
                    <a:p>
                      <a:pPr algn="r" fontAlgn="b"/>
                      <a:r>
                        <a:rPr lang="es-BO" sz="2000" u="none" strike="noStrike">
                          <a:effectLst/>
                          <a:latin typeface="Arial" panose="020B0604020202020204" pitchFamily="34" charset="0"/>
                          <a:cs typeface="Arial" panose="020B0604020202020204" pitchFamily="34" charset="0"/>
                        </a:rPr>
                        <a:t>5</a:t>
                      </a:r>
                      <a:endParaRPr lang="es-BO" sz="20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solidFill>
                      <a:srgbClr val="92D050"/>
                    </a:solidFill>
                  </a:tcPr>
                </a:tc>
                <a:tc>
                  <a:txBody>
                    <a:bodyPr/>
                    <a:lstStyle/>
                    <a:p>
                      <a:pPr algn="r" fontAlgn="b"/>
                      <a:r>
                        <a:rPr lang="es-BO" sz="2000" u="none" strike="noStrike">
                          <a:effectLst/>
                          <a:latin typeface="Arial" panose="020B0604020202020204" pitchFamily="34" charset="0"/>
                          <a:cs typeface="Arial" panose="020B0604020202020204" pitchFamily="34" charset="0"/>
                        </a:rPr>
                        <a:t>31</a:t>
                      </a:r>
                      <a:endParaRPr lang="es-BO" sz="20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solidFill>
                      <a:srgbClr val="92D050"/>
                    </a:solidFill>
                  </a:tcPr>
                </a:tc>
                <a:extLst>
                  <a:ext uri="{0D108BD9-81ED-4DB2-BD59-A6C34878D82A}">
                    <a16:rowId xmlns:a16="http://schemas.microsoft.com/office/drawing/2014/main" val="1114134249"/>
                  </a:ext>
                </a:extLst>
              </a:tr>
              <a:tr h="190500">
                <a:tc>
                  <a:txBody>
                    <a:bodyPr/>
                    <a:lstStyle/>
                    <a:p>
                      <a:pPr algn="r" fontAlgn="b"/>
                      <a:r>
                        <a:rPr lang="es-BO" sz="2000" u="none" strike="noStrike">
                          <a:effectLst/>
                          <a:latin typeface="Arial" panose="020B0604020202020204" pitchFamily="34" charset="0"/>
                          <a:cs typeface="Arial" panose="020B0604020202020204" pitchFamily="34" charset="0"/>
                        </a:rPr>
                        <a:t>6</a:t>
                      </a:r>
                      <a:endParaRPr lang="es-BO" sz="20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solidFill>
                      <a:srgbClr val="92D050"/>
                    </a:solidFill>
                  </a:tcPr>
                </a:tc>
                <a:tc>
                  <a:txBody>
                    <a:bodyPr/>
                    <a:lstStyle/>
                    <a:p>
                      <a:pPr algn="r" fontAlgn="b"/>
                      <a:r>
                        <a:rPr lang="es-BO" sz="2000" u="none" strike="noStrike">
                          <a:effectLst/>
                          <a:latin typeface="Arial" panose="020B0604020202020204" pitchFamily="34" charset="0"/>
                          <a:cs typeface="Arial" panose="020B0604020202020204" pitchFamily="34" charset="0"/>
                        </a:rPr>
                        <a:t>38</a:t>
                      </a:r>
                      <a:endParaRPr lang="es-BO" sz="20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solidFill>
                      <a:srgbClr val="92D050"/>
                    </a:solidFill>
                  </a:tcPr>
                </a:tc>
                <a:extLst>
                  <a:ext uri="{0D108BD9-81ED-4DB2-BD59-A6C34878D82A}">
                    <a16:rowId xmlns:a16="http://schemas.microsoft.com/office/drawing/2014/main" val="967011552"/>
                  </a:ext>
                </a:extLst>
              </a:tr>
              <a:tr h="190500">
                <a:tc>
                  <a:txBody>
                    <a:bodyPr/>
                    <a:lstStyle/>
                    <a:p>
                      <a:pPr algn="r" fontAlgn="b"/>
                      <a:r>
                        <a:rPr lang="es-BO" sz="2000" u="none" strike="noStrike">
                          <a:effectLst/>
                          <a:latin typeface="Arial" panose="020B0604020202020204" pitchFamily="34" charset="0"/>
                          <a:cs typeface="Arial" panose="020B0604020202020204" pitchFamily="34" charset="0"/>
                        </a:rPr>
                        <a:t>7</a:t>
                      </a:r>
                      <a:endParaRPr lang="es-BO" sz="20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solidFill>
                      <a:srgbClr val="92D050"/>
                    </a:solidFill>
                  </a:tcPr>
                </a:tc>
                <a:tc>
                  <a:txBody>
                    <a:bodyPr/>
                    <a:lstStyle/>
                    <a:p>
                      <a:pPr algn="r" fontAlgn="b"/>
                      <a:r>
                        <a:rPr lang="es-BO" sz="2000" u="none" strike="noStrike">
                          <a:effectLst/>
                          <a:latin typeface="Arial" panose="020B0604020202020204" pitchFamily="34" charset="0"/>
                          <a:cs typeface="Arial" panose="020B0604020202020204" pitchFamily="34" charset="0"/>
                        </a:rPr>
                        <a:t>35</a:t>
                      </a:r>
                      <a:endParaRPr lang="es-BO" sz="20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solidFill>
                      <a:srgbClr val="92D050"/>
                    </a:solidFill>
                  </a:tcPr>
                </a:tc>
                <a:extLst>
                  <a:ext uri="{0D108BD9-81ED-4DB2-BD59-A6C34878D82A}">
                    <a16:rowId xmlns:a16="http://schemas.microsoft.com/office/drawing/2014/main" val="47145673"/>
                  </a:ext>
                </a:extLst>
              </a:tr>
              <a:tr h="190500">
                <a:tc>
                  <a:txBody>
                    <a:bodyPr/>
                    <a:lstStyle/>
                    <a:p>
                      <a:pPr algn="r" fontAlgn="b"/>
                      <a:r>
                        <a:rPr lang="es-BO" sz="2000" u="none" strike="noStrike">
                          <a:effectLst/>
                          <a:latin typeface="Arial" panose="020B0604020202020204" pitchFamily="34" charset="0"/>
                          <a:cs typeface="Arial" panose="020B0604020202020204" pitchFamily="34" charset="0"/>
                        </a:rPr>
                        <a:t>8</a:t>
                      </a:r>
                      <a:endParaRPr lang="es-BO" sz="20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solidFill>
                      <a:srgbClr val="92D050"/>
                    </a:solidFill>
                  </a:tcPr>
                </a:tc>
                <a:tc>
                  <a:txBody>
                    <a:bodyPr/>
                    <a:lstStyle/>
                    <a:p>
                      <a:pPr algn="r" fontAlgn="b"/>
                      <a:r>
                        <a:rPr lang="es-BO" sz="2000" u="none" strike="noStrike">
                          <a:effectLst/>
                          <a:latin typeface="Arial" panose="020B0604020202020204" pitchFamily="34" charset="0"/>
                          <a:cs typeface="Arial" panose="020B0604020202020204" pitchFamily="34" charset="0"/>
                        </a:rPr>
                        <a:t>41</a:t>
                      </a:r>
                      <a:endParaRPr lang="es-BO" sz="20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solidFill>
                      <a:srgbClr val="92D050"/>
                    </a:solidFill>
                  </a:tcPr>
                </a:tc>
                <a:extLst>
                  <a:ext uri="{0D108BD9-81ED-4DB2-BD59-A6C34878D82A}">
                    <a16:rowId xmlns:a16="http://schemas.microsoft.com/office/drawing/2014/main" val="2955780015"/>
                  </a:ext>
                </a:extLst>
              </a:tr>
              <a:tr h="190500">
                <a:tc>
                  <a:txBody>
                    <a:bodyPr/>
                    <a:lstStyle/>
                    <a:p>
                      <a:pPr algn="r" fontAlgn="b"/>
                      <a:r>
                        <a:rPr lang="es-BO" sz="2000" u="none" strike="noStrike">
                          <a:effectLst/>
                          <a:latin typeface="Arial" panose="020B0604020202020204" pitchFamily="34" charset="0"/>
                          <a:cs typeface="Arial" panose="020B0604020202020204" pitchFamily="34" charset="0"/>
                        </a:rPr>
                        <a:t>9</a:t>
                      </a:r>
                      <a:endParaRPr lang="es-BO" sz="20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solidFill>
                      <a:srgbClr val="92D050"/>
                    </a:solidFill>
                  </a:tcPr>
                </a:tc>
                <a:tc>
                  <a:txBody>
                    <a:bodyPr/>
                    <a:lstStyle/>
                    <a:p>
                      <a:pPr algn="r" fontAlgn="b"/>
                      <a:r>
                        <a:rPr lang="es-BO" sz="2000" u="none" strike="noStrike">
                          <a:effectLst/>
                          <a:latin typeface="Arial" panose="020B0604020202020204" pitchFamily="34" charset="0"/>
                          <a:cs typeface="Arial" panose="020B0604020202020204" pitchFamily="34" charset="0"/>
                        </a:rPr>
                        <a:t>43</a:t>
                      </a:r>
                      <a:endParaRPr lang="es-BO" sz="20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solidFill>
                      <a:srgbClr val="92D050"/>
                    </a:solidFill>
                  </a:tcPr>
                </a:tc>
                <a:extLst>
                  <a:ext uri="{0D108BD9-81ED-4DB2-BD59-A6C34878D82A}">
                    <a16:rowId xmlns:a16="http://schemas.microsoft.com/office/drawing/2014/main" val="2063371009"/>
                  </a:ext>
                </a:extLst>
              </a:tr>
              <a:tr h="190500">
                <a:tc>
                  <a:txBody>
                    <a:bodyPr/>
                    <a:lstStyle/>
                    <a:p>
                      <a:pPr algn="r" fontAlgn="b"/>
                      <a:r>
                        <a:rPr lang="es-BO" sz="2000" u="none" strike="noStrike">
                          <a:effectLst/>
                          <a:latin typeface="Arial" panose="020B0604020202020204" pitchFamily="34" charset="0"/>
                          <a:cs typeface="Arial" panose="020B0604020202020204" pitchFamily="34" charset="0"/>
                        </a:rPr>
                        <a:t>10</a:t>
                      </a:r>
                      <a:endParaRPr lang="es-BO" sz="20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solidFill>
                      <a:srgbClr val="92D050"/>
                    </a:solidFill>
                  </a:tcPr>
                </a:tc>
                <a:tc>
                  <a:txBody>
                    <a:bodyPr/>
                    <a:lstStyle/>
                    <a:p>
                      <a:pPr algn="r" fontAlgn="b"/>
                      <a:r>
                        <a:rPr lang="es-BO" sz="2000" u="none" strike="noStrike" dirty="0">
                          <a:effectLst/>
                          <a:latin typeface="Arial" panose="020B0604020202020204" pitchFamily="34" charset="0"/>
                          <a:cs typeface="Arial" panose="020B0604020202020204" pitchFamily="34" charset="0"/>
                        </a:rPr>
                        <a:t>48</a:t>
                      </a:r>
                      <a:endParaRPr lang="es-BO" sz="20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solidFill>
                      <a:srgbClr val="92D050"/>
                    </a:solidFill>
                  </a:tcPr>
                </a:tc>
                <a:extLst>
                  <a:ext uri="{0D108BD9-81ED-4DB2-BD59-A6C34878D82A}">
                    <a16:rowId xmlns:a16="http://schemas.microsoft.com/office/drawing/2014/main" val="486422454"/>
                  </a:ext>
                </a:extLst>
              </a:tr>
            </a:tbl>
          </a:graphicData>
        </a:graphic>
      </p:graphicFrame>
    </p:spTree>
    <p:extLst>
      <p:ext uri="{BB962C8B-B14F-4D97-AF65-F5344CB8AC3E}">
        <p14:creationId xmlns:p14="http://schemas.microsoft.com/office/powerpoint/2010/main" val="12638617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5511800" y="3171736"/>
            <a:ext cx="1104900" cy="830997"/>
          </a:xfrm>
          <a:prstGeom prst="rect">
            <a:avLst/>
          </a:prstGeom>
        </p:spPr>
        <p:txBody>
          <a:bodyPr wrap="square">
            <a:spAutoFit/>
          </a:bodyPr>
          <a:lstStyle/>
          <a:p>
            <a:r>
              <a:rPr lang="es-BO" sz="4800" dirty="0" smtClean="0"/>
              <a:t>FIN</a:t>
            </a:r>
            <a:endParaRPr lang="es-BO" sz="4800" dirty="0"/>
          </a:p>
        </p:txBody>
      </p:sp>
    </p:spTree>
    <p:extLst>
      <p:ext uri="{BB962C8B-B14F-4D97-AF65-F5344CB8AC3E}">
        <p14:creationId xmlns:p14="http://schemas.microsoft.com/office/powerpoint/2010/main" val="1888702104"/>
      </p:ext>
    </p:extLst>
  </p:cSld>
  <p:clrMapOvr>
    <a:masterClrMapping/>
  </p:clrMapOvr>
</p:sld>
</file>

<file path=ppt/theme/theme1.xml><?xml version="1.0" encoding="utf-8"?>
<a:theme xmlns:a="http://schemas.openxmlformats.org/drawingml/2006/main" name="Sector">
  <a:themeElements>
    <a:clrScheme name="Sector">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fontScheme name="Sector">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ector">
      <a:fillStyleLst>
        <a:solidFill>
          <a:schemeClr val="phClr"/>
        </a:solidFill>
        <a:gradFill rotWithShape="1">
          <a:gsLst>
            <a:gs pos="0">
              <a:schemeClr val="phClr">
                <a:tint val="62000"/>
                <a:hueMod val="94000"/>
                <a:satMod val="140000"/>
                <a:lumMod val="110000"/>
              </a:schemeClr>
            </a:gs>
            <a:gs pos="100000">
              <a:schemeClr val="phClr">
                <a:tint val="84000"/>
                <a:satMod val="160000"/>
              </a:schemeClr>
            </a:gs>
          </a:gsLst>
          <a:lin ang="5400000" scaled="0"/>
        </a:gradFill>
        <a:gradFill rotWithShape="1">
          <a:gsLst>
            <a:gs pos="0">
              <a:schemeClr val="phClr">
                <a:tint val="98000"/>
                <a:hueMod val="94000"/>
                <a:satMod val="130000"/>
                <a:lumMod val="128000"/>
              </a:schemeClr>
            </a:gs>
            <a:gs pos="100000">
              <a:schemeClr val="phClr">
                <a:shade val="94000"/>
                <a:lumMod val="88000"/>
              </a:schemeClr>
            </a:gs>
          </a:gsLst>
          <a:lin ang="5400000" scaled="0"/>
        </a:gradFill>
      </a:fillStyleLst>
      <a:lnStyleLst>
        <a:ln w="9525" cap="rnd" cmpd="sng" algn="ctr">
          <a:solidFill>
            <a:schemeClr val="phClr">
              <a:tint val="76000"/>
              <a:alpha val="60000"/>
              <a:hueMod val="94000"/>
            </a:schemeClr>
          </a:solidFill>
          <a:prstDash val="solid"/>
        </a:ln>
        <a:ln w="15875" cap="rnd" cmpd="sng" algn="ctr">
          <a:solidFill>
            <a:schemeClr val="phClr">
              <a:hueMod val="94000"/>
            </a:schemeClr>
          </a:solidFill>
          <a:prstDash val="solid"/>
        </a:ln>
        <a:ln w="28575"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a:effectStyle>
      </a:effectStyleLst>
      <a:bgFillStyleLst>
        <a:solidFill>
          <a:schemeClr val="phClr"/>
        </a:solidFill>
        <a:gradFill rotWithShape="1">
          <a:gsLst>
            <a:gs pos="10000">
              <a:schemeClr val="phClr">
                <a:tint val="97000"/>
                <a:hueMod val="92000"/>
                <a:satMod val="169000"/>
                <a:lumMod val="164000"/>
              </a:schemeClr>
            </a:gs>
            <a:gs pos="100000">
              <a:schemeClr val="phClr">
                <a:shade val="96000"/>
                <a:satMod val="120000"/>
                <a:lumMod val="90000"/>
              </a:schemeClr>
            </a:gs>
          </a:gsLst>
          <a:lin ang="6120000" scaled="1"/>
        </a:gradFill>
        <a:gradFill rotWithShape="1">
          <a:gsLst>
            <a:gs pos="0">
              <a:schemeClr val="phClr">
                <a:tint val="97000"/>
                <a:hueMod val="92000"/>
                <a:satMod val="169000"/>
                <a:lumMod val="164000"/>
              </a:schemeClr>
            </a:gs>
            <a:gs pos="100000">
              <a:schemeClr val="phClr">
                <a:shade val="96000"/>
                <a:satMod val="120000"/>
                <a:lumMod val="90000"/>
              </a:schemeClr>
            </a:gs>
          </a:gsLst>
          <a:path path="circle">
            <a:fillToRect b="100000"/>
          </a:path>
        </a:gradFill>
      </a:bgFillStyleLst>
    </a:fmtScheme>
  </a:themeElements>
  <a:objectDefaults/>
  <a:extraClrSchemeLst/>
  <a:extLst>
    <a:ext uri="{05A4C25C-085E-4340-85A3-A5531E510DB2}">
      <thm15:themeFamily xmlns:thm15="http://schemas.microsoft.com/office/thememl/2012/main" name="Slice" id="{0507925B-6AC9-4358-8E18-C330545D08F8}" vid="{13FEC7C6-62A9-40C4-99D2-581AACACAA2F}"/>
    </a:ext>
  </a:extLst>
</a:theme>
</file>

<file path=docProps/app.xml><?xml version="1.0" encoding="utf-8"?>
<Properties xmlns="http://schemas.openxmlformats.org/officeDocument/2006/extended-properties" xmlns:vt="http://schemas.openxmlformats.org/officeDocument/2006/docPropsVTypes">
  <Template>Slice</Template>
  <TotalTime>1121</TotalTime>
  <Words>1762</Words>
  <Application>Microsoft Office PowerPoint</Application>
  <PresentationFormat>Panorámica</PresentationFormat>
  <Paragraphs>269</Paragraphs>
  <Slides>40</Slides>
  <Notes>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40</vt:i4>
      </vt:variant>
    </vt:vector>
  </HeadingPairs>
  <TitlesOfParts>
    <vt:vector size="46" baseType="lpstr">
      <vt:lpstr>Arial</vt:lpstr>
      <vt:lpstr>Cambria Math</vt:lpstr>
      <vt:lpstr>Century Gothic</vt:lpstr>
      <vt:lpstr>Maiandra GD</vt:lpstr>
      <vt:lpstr>Wingdings 3</vt:lpstr>
      <vt:lpstr>Sector</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Consultores Academia</dc:creator>
  <cp:lastModifiedBy>Consultores Academia</cp:lastModifiedBy>
  <cp:revision>100</cp:revision>
  <dcterms:created xsi:type="dcterms:W3CDTF">2021-10-03T11:57:06Z</dcterms:created>
  <dcterms:modified xsi:type="dcterms:W3CDTF">2021-10-25T02:13:44Z</dcterms:modified>
</cp:coreProperties>
</file>