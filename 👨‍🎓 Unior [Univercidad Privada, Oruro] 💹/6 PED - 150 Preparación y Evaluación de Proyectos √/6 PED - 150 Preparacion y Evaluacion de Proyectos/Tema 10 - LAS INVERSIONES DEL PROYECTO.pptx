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2" r:id="rId2"/>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58" r:id="rId18"/>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0BE2AEA5-7E91-4398-9AC4-44C0AB881625}"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6F632265-E14A-4AFA-AC82-EE2D57DBA5DD}" type="slidenum">
              <a:rPr lang="es-BO" smtClean="0"/>
              <a:t>‹Nº›</a:t>
            </a:fld>
            <a:endParaRPr lang="es-B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96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BE2AEA5-7E91-4398-9AC4-44C0AB881625}"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6F632265-E14A-4AFA-AC82-EE2D57DBA5DD}" type="slidenum">
              <a:rPr lang="es-BO" smtClean="0"/>
              <a:t>‹Nº›</a:t>
            </a:fld>
            <a:endParaRPr lang="es-BO"/>
          </a:p>
        </p:txBody>
      </p:sp>
    </p:spTree>
    <p:extLst>
      <p:ext uri="{BB962C8B-B14F-4D97-AF65-F5344CB8AC3E}">
        <p14:creationId xmlns:p14="http://schemas.microsoft.com/office/powerpoint/2010/main" val="1958998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0BE2AEA5-7E91-4398-9AC4-44C0AB881625}"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6F632265-E14A-4AFA-AC82-EE2D57DBA5DD}" type="slidenum">
              <a:rPr lang="es-BO" smtClean="0"/>
              <a:t>‹Nº›</a:t>
            </a:fld>
            <a:endParaRPr lang="es-B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7745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0BE2AEA5-7E91-4398-9AC4-44C0AB881625}"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6F632265-E14A-4AFA-AC82-EE2D57DBA5DD}" type="slidenum">
              <a:rPr lang="es-BO" smtClean="0"/>
              <a:t>‹Nº›</a:t>
            </a:fld>
            <a:endParaRPr lang="es-BO"/>
          </a:p>
        </p:txBody>
      </p:sp>
    </p:spTree>
    <p:extLst>
      <p:ext uri="{BB962C8B-B14F-4D97-AF65-F5344CB8AC3E}">
        <p14:creationId xmlns:p14="http://schemas.microsoft.com/office/powerpoint/2010/main" val="4152898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BE2AEA5-7E91-4398-9AC4-44C0AB881625}" type="datetimeFigureOut">
              <a:rPr lang="es-BO" smtClean="0"/>
              <a:t>24/10/2021</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6F632265-E14A-4AFA-AC82-EE2D57DBA5DD}" type="slidenum">
              <a:rPr lang="es-BO" smtClean="0"/>
              <a:t>‹Nº›</a:t>
            </a:fld>
            <a:endParaRPr lang="es-BO"/>
          </a:p>
        </p:txBody>
      </p:sp>
    </p:spTree>
    <p:extLst>
      <p:ext uri="{BB962C8B-B14F-4D97-AF65-F5344CB8AC3E}">
        <p14:creationId xmlns:p14="http://schemas.microsoft.com/office/powerpoint/2010/main" val="4286335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BE2AEA5-7E91-4398-9AC4-44C0AB881625}" type="datetimeFigureOut">
              <a:rPr lang="es-BO" smtClean="0"/>
              <a:t>24/10/2021</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6F632265-E14A-4AFA-AC82-EE2D57DBA5DD}" type="slidenum">
              <a:rPr lang="es-BO" smtClean="0"/>
              <a:t>‹Nº›</a:t>
            </a:fld>
            <a:endParaRPr lang="es-BO"/>
          </a:p>
        </p:txBody>
      </p:sp>
    </p:spTree>
    <p:extLst>
      <p:ext uri="{BB962C8B-B14F-4D97-AF65-F5344CB8AC3E}">
        <p14:creationId xmlns:p14="http://schemas.microsoft.com/office/powerpoint/2010/main" val="3914411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BE2AEA5-7E91-4398-9AC4-44C0AB881625}" type="datetimeFigureOut">
              <a:rPr lang="es-BO" smtClean="0"/>
              <a:t>24/10/2021</a:t>
            </a:fld>
            <a:endParaRPr lang="es-B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BO"/>
          </a:p>
        </p:txBody>
      </p:sp>
      <p:sp>
        <p:nvSpPr>
          <p:cNvPr id="9" name="Slide Number Placeholder 8"/>
          <p:cNvSpPr>
            <a:spLocks noGrp="1"/>
          </p:cNvSpPr>
          <p:nvPr>
            <p:ph type="sldNum" sz="quarter" idx="12"/>
          </p:nvPr>
        </p:nvSpPr>
        <p:spPr/>
        <p:txBody>
          <a:bodyPr/>
          <a:lstStyle/>
          <a:p>
            <a:fld id="{6F632265-E14A-4AFA-AC82-EE2D57DBA5DD}" type="slidenum">
              <a:rPr lang="es-BO" smtClean="0"/>
              <a:t>‹Nº›</a:t>
            </a:fld>
            <a:endParaRPr lang="es-BO"/>
          </a:p>
        </p:txBody>
      </p:sp>
    </p:spTree>
    <p:extLst>
      <p:ext uri="{BB962C8B-B14F-4D97-AF65-F5344CB8AC3E}">
        <p14:creationId xmlns:p14="http://schemas.microsoft.com/office/powerpoint/2010/main" val="2242956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BE2AEA5-7E91-4398-9AC4-44C0AB881625}" type="datetimeFigureOut">
              <a:rPr lang="es-BO" smtClean="0"/>
              <a:t>24/10/2021</a:t>
            </a:fld>
            <a:endParaRPr lang="es-B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B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F632265-E14A-4AFA-AC82-EE2D57DBA5DD}" type="slidenum">
              <a:rPr lang="es-BO" smtClean="0"/>
              <a:t>‹Nº›</a:t>
            </a:fld>
            <a:endParaRPr lang="es-BO"/>
          </a:p>
        </p:txBody>
      </p:sp>
    </p:spTree>
    <p:extLst>
      <p:ext uri="{BB962C8B-B14F-4D97-AF65-F5344CB8AC3E}">
        <p14:creationId xmlns:p14="http://schemas.microsoft.com/office/powerpoint/2010/main" val="4136422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lvl1pPr>
              <a:defRPr>
                <a:solidFill>
                  <a:schemeClr val="tx2"/>
                </a:solidFill>
              </a:defRPr>
            </a:lvl1pPr>
          </a:lstStyle>
          <a:p>
            <a:fld id="{0BE2AEA5-7E91-4398-9AC4-44C0AB881625}" type="datetimeFigureOut">
              <a:rPr lang="es-BO" smtClean="0"/>
              <a:t>24/10/2021</a:t>
            </a:fld>
            <a:endParaRPr lang="es-BO"/>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s-B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F632265-E14A-4AFA-AC82-EE2D57DBA5DD}" type="slidenum">
              <a:rPr lang="es-BO" smtClean="0"/>
              <a:t>‹Nº›</a:t>
            </a:fld>
            <a:endParaRPr lang="es-BO"/>
          </a:p>
        </p:txBody>
      </p:sp>
    </p:spTree>
    <p:extLst>
      <p:ext uri="{BB962C8B-B14F-4D97-AF65-F5344CB8AC3E}">
        <p14:creationId xmlns:p14="http://schemas.microsoft.com/office/powerpoint/2010/main" val="3486203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BE2AEA5-7E91-4398-9AC4-44C0AB881625}"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6F632265-E14A-4AFA-AC82-EE2D57DBA5DD}" type="slidenum">
              <a:rPr lang="es-BO" smtClean="0"/>
              <a:t>‹Nº›</a:t>
            </a:fld>
            <a:endParaRPr lang="es-BO"/>
          </a:p>
        </p:txBody>
      </p:sp>
    </p:spTree>
    <p:extLst>
      <p:ext uri="{BB962C8B-B14F-4D97-AF65-F5344CB8AC3E}">
        <p14:creationId xmlns:p14="http://schemas.microsoft.com/office/powerpoint/2010/main" val="1698908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BE2AEA5-7E91-4398-9AC4-44C0AB881625}"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6F632265-E14A-4AFA-AC82-EE2D57DBA5DD}" type="slidenum">
              <a:rPr lang="es-BO" smtClean="0"/>
              <a:t>‹Nº›</a:t>
            </a:fld>
            <a:endParaRPr lang="es-BO"/>
          </a:p>
        </p:txBody>
      </p:sp>
    </p:spTree>
    <p:extLst>
      <p:ext uri="{BB962C8B-B14F-4D97-AF65-F5344CB8AC3E}">
        <p14:creationId xmlns:p14="http://schemas.microsoft.com/office/powerpoint/2010/main" val="3895993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BE2AEA5-7E91-4398-9AC4-44C0AB881625}" type="datetimeFigureOut">
              <a:rPr lang="es-BO" smtClean="0"/>
              <a:t>24/10/2021</a:t>
            </a:fld>
            <a:endParaRPr lang="es-B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B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F632265-E14A-4AFA-AC82-EE2D57DBA5DD}" type="slidenum">
              <a:rPr lang="es-BO" smtClean="0"/>
              <a:t>‹Nº›</a:t>
            </a:fld>
            <a:endParaRPr lang="es-B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19564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4910028" y="220187"/>
            <a:ext cx="2371944" cy="1714100"/>
          </a:xfrm>
          <a:prstGeom prst="rect">
            <a:avLst/>
          </a:prstGeom>
        </p:spPr>
      </p:pic>
      <p:sp>
        <p:nvSpPr>
          <p:cNvPr id="5" name="CuadroTexto 4"/>
          <p:cNvSpPr txBox="1"/>
          <p:nvPr/>
        </p:nvSpPr>
        <p:spPr>
          <a:xfrm>
            <a:off x="154745" y="3713641"/>
            <a:ext cx="12037255" cy="1384995"/>
          </a:xfrm>
          <a:prstGeom prst="rect">
            <a:avLst/>
          </a:prstGeom>
          <a:noFill/>
        </p:spPr>
        <p:txBody>
          <a:bodyPr wrap="square" rtlCol="0">
            <a:spAutoFit/>
          </a:bodyPr>
          <a:lstStyle/>
          <a:p>
            <a:pPr algn="ctr"/>
            <a:r>
              <a:rPr lang="es-BO" sz="4000" dirty="0" smtClean="0">
                <a:solidFill>
                  <a:schemeClr val="tx1">
                    <a:lumMod val="85000"/>
                  </a:schemeClr>
                </a:solidFill>
                <a:latin typeface="Maiandra GD" panose="020E0502030308020204" pitchFamily="34" charset="0"/>
              </a:rPr>
              <a:t>Modulo: Planificación y evaluación de proyectos</a:t>
            </a:r>
          </a:p>
          <a:p>
            <a:pPr algn="ctr"/>
            <a:r>
              <a:rPr lang="es-BO" sz="4400" dirty="0" smtClean="0">
                <a:solidFill>
                  <a:schemeClr val="tx1">
                    <a:lumMod val="85000"/>
                  </a:schemeClr>
                </a:solidFill>
                <a:latin typeface="Maiandra GD" panose="020E0502030308020204" pitchFamily="34" charset="0"/>
              </a:rPr>
              <a:t>Código: PEP-150</a:t>
            </a:r>
          </a:p>
        </p:txBody>
      </p:sp>
      <p:sp>
        <p:nvSpPr>
          <p:cNvPr id="7" name="CuadroTexto 6"/>
          <p:cNvSpPr txBox="1"/>
          <p:nvPr/>
        </p:nvSpPr>
        <p:spPr>
          <a:xfrm>
            <a:off x="3440876" y="6273225"/>
            <a:ext cx="5464992" cy="584775"/>
          </a:xfrm>
          <a:prstGeom prst="rect">
            <a:avLst/>
          </a:prstGeom>
          <a:noFill/>
        </p:spPr>
        <p:txBody>
          <a:bodyPr wrap="square" rtlCol="0">
            <a:spAutoFit/>
          </a:bodyPr>
          <a:lstStyle/>
          <a:p>
            <a:r>
              <a:rPr lang="es-BO" sz="3200" dirty="0" smtClean="0">
                <a:solidFill>
                  <a:schemeClr val="accent5">
                    <a:lumMod val="75000"/>
                  </a:schemeClr>
                </a:solidFill>
                <a:latin typeface="Maiandra GD" panose="020E0502030308020204" pitchFamily="34" charset="0"/>
              </a:rPr>
              <a:t>Docente: Ing. José C. Rojas P.</a:t>
            </a:r>
          </a:p>
        </p:txBody>
      </p:sp>
      <p:sp>
        <p:nvSpPr>
          <p:cNvPr id="9" name="CuadroTexto 8"/>
          <p:cNvSpPr txBox="1"/>
          <p:nvPr/>
        </p:nvSpPr>
        <p:spPr>
          <a:xfrm>
            <a:off x="1951449" y="2031341"/>
            <a:ext cx="8443846" cy="1446550"/>
          </a:xfrm>
          <a:prstGeom prst="rect">
            <a:avLst/>
          </a:prstGeom>
          <a:noFill/>
        </p:spPr>
        <p:txBody>
          <a:bodyPr wrap="square" rtlCol="0">
            <a:spAutoFit/>
          </a:bodyPr>
          <a:lstStyle/>
          <a:p>
            <a:pPr algn="ctr"/>
            <a:r>
              <a:rPr lang="es-BO" sz="4400" dirty="0" smtClean="0">
                <a:solidFill>
                  <a:srgbClr val="FF0000"/>
                </a:solidFill>
                <a:latin typeface="Maiandra GD" panose="020E0502030308020204" pitchFamily="34" charset="0"/>
              </a:rPr>
              <a:t>Carrera de Ingeniería de Sistemas</a:t>
            </a:r>
          </a:p>
          <a:p>
            <a:pPr algn="ctr"/>
            <a:r>
              <a:rPr lang="es-BO" sz="4400" dirty="0" smtClean="0">
                <a:solidFill>
                  <a:srgbClr val="FF0000"/>
                </a:solidFill>
                <a:latin typeface="Maiandra GD" panose="020E0502030308020204" pitchFamily="34" charset="0"/>
              </a:rPr>
              <a:t>Universidad Privada de Oruro</a:t>
            </a:r>
            <a:endParaRPr lang="es-BO" sz="4400" dirty="0">
              <a:solidFill>
                <a:srgbClr val="FF0000"/>
              </a:solidFill>
              <a:latin typeface="Maiandra GD" panose="020E0502030308020204" pitchFamily="34" charset="0"/>
            </a:endParaRPr>
          </a:p>
        </p:txBody>
      </p:sp>
    </p:spTree>
    <p:extLst>
      <p:ext uri="{BB962C8B-B14F-4D97-AF65-F5344CB8AC3E}">
        <p14:creationId xmlns:p14="http://schemas.microsoft.com/office/powerpoint/2010/main" val="2688018441"/>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52282" y="2628433"/>
            <a:ext cx="9547412" cy="894696"/>
          </a:xfrm>
        </p:spPr>
        <p:txBody>
          <a:bodyPr>
            <a:no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Tree>
    <p:extLst>
      <p:ext uri="{BB962C8B-B14F-4D97-AF65-F5344CB8AC3E}">
        <p14:creationId xmlns:p14="http://schemas.microsoft.com/office/powerpoint/2010/main" val="1744106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11096066" cy="2933233"/>
          </a:xfrm>
        </p:spPr>
        <p:txBody>
          <a:bodyPr>
            <a:normAutofit/>
          </a:bodyPr>
          <a:lstStyle/>
          <a:p>
            <a:r>
              <a:rPr lang="es-BO" dirty="0" smtClean="0">
                <a:latin typeface="Maiandra GD" panose="020E0502030308020204" pitchFamily="34" charset="0"/>
              </a:rPr>
              <a:t>Es importante enfatizar que, analizar cómo la información </a:t>
            </a:r>
            <a:r>
              <a:rPr lang="es-BO" dirty="0">
                <a:latin typeface="Maiandra GD" panose="020E0502030308020204" pitchFamily="34" charset="0"/>
              </a:rPr>
              <a:t>que proveen los estudios de </a:t>
            </a:r>
            <a:r>
              <a:rPr lang="es-BO" dirty="0">
                <a:solidFill>
                  <a:srgbClr val="FF0000"/>
                </a:solidFill>
                <a:latin typeface="Maiandra GD" panose="020E0502030308020204" pitchFamily="34" charset="0"/>
              </a:rPr>
              <a:t>mercado</a:t>
            </a:r>
            <a:r>
              <a:rPr lang="es-BO" dirty="0">
                <a:latin typeface="Maiandra GD" panose="020E0502030308020204" pitchFamily="34" charset="0"/>
              </a:rPr>
              <a:t>, </a:t>
            </a:r>
            <a:r>
              <a:rPr lang="es-BO" dirty="0">
                <a:solidFill>
                  <a:srgbClr val="FF0000"/>
                </a:solidFill>
                <a:latin typeface="Maiandra GD" panose="020E0502030308020204" pitchFamily="34" charset="0"/>
              </a:rPr>
              <a:t>técnico</a:t>
            </a:r>
            <a:r>
              <a:rPr lang="es-BO" dirty="0">
                <a:latin typeface="Maiandra GD" panose="020E0502030308020204" pitchFamily="34" charset="0"/>
              </a:rPr>
              <a:t> y </a:t>
            </a:r>
            <a:r>
              <a:rPr lang="es-BO" dirty="0" smtClean="0">
                <a:solidFill>
                  <a:srgbClr val="FF0000"/>
                </a:solidFill>
                <a:latin typeface="Maiandra GD" panose="020E0502030308020204" pitchFamily="34" charset="0"/>
              </a:rPr>
              <a:t>organizacional, </a:t>
            </a:r>
            <a:r>
              <a:rPr lang="es-BO" dirty="0" smtClean="0">
                <a:latin typeface="Maiandra GD" panose="020E0502030308020204" pitchFamily="34" charset="0"/>
              </a:rPr>
              <a:t>para </a:t>
            </a:r>
            <a:r>
              <a:rPr lang="es-BO" dirty="0">
                <a:latin typeface="Maiandra GD" panose="020E0502030308020204" pitchFamily="34" charset="0"/>
              </a:rPr>
              <a:t>definir la cuantía de las inversiones de un </a:t>
            </a:r>
            <a:r>
              <a:rPr lang="es-BO" dirty="0" smtClean="0">
                <a:latin typeface="Maiandra GD" panose="020E0502030308020204" pitchFamily="34" charset="0"/>
              </a:rPr>
              <a:t>proyecto, </a:t>
            </a:r>
            <a:r>
              <a:rPr lang="es-BO" dirty="0">
                <a:latin typeface="Maiandra GD" panose="020E0502030308020204" pitchFamily="34" charset="0"/>
              </a:rPr>
              <a:t>debe sistematizarse, con el fin de ser incorporada como un antecedente más en la proyección del flujo de caja que posibilite </a:t>
            </a:r>
            <a:r>
              <a:rPr lang="es-BO" dirty="0" smtClean="0">
                <a:latin typeface="Maiandra GD" panose="020E0502030308020204" pitchFamily="34" charset="0"/>
              </a:rPr>
              <a:t>su posterior </a:t>
            </a:r>
            <a:r>
              <a:rPr lang="es-BO" dirty="0">
                <a:latin typeface="Maiandra GD" panose="020E0502030308020204" pitchFamily="34" charset="0"/>
              </a:rPr>
              <a:t>evaluación.</a:t>
            </a:r>
          </a:p>
        </p:txBody>
      </p:sp>
    </p:spTree>
    <p:extLst>
      <p:ext uri="{BB962C8B-B14F-4D97-AF65-F5344CB8AC3E}">
        <p14:creationId xmlns:p14="http://schemas.microsoft.com/office/powerpoint/2010/main" val="3403289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9144000" cy="445527"/>
          </a:xfrm>
        </p:spPr>
        <p:txBody>
          <a:bodyPr>
            <a:normAutofit lnSpcReduction="10000"/>
          </a:bodyPr>
          <a:lstStyle/>
          <a:p>
            <a:pPr algn="l"/>
            <a:r>
              <a:rPr lang="es-BO" dirty="0" smtClean="0">
                <a:latin typeface="Maiandra GD" panose="020E0502030308020204" pitchFamily="34" charset="0"/>
              </a:rPr>
              <a:t>10.1 Inversiones previas a la puesta en marcha</a:t>
            </a:r>
          </a:p>
          <a:p>
            <a:endParaRPr lang="es-BO" dirty="0">
              <a:latin typeface="Maiandra GD" panose="020E0502030308020204" pitchFamily="34" charset="0"/>
            </a:endParaRPr>
          </a:p>
        </p:txBody>
      </p:sp>
      <p:sp>
        <p:nvSpPr>
          <p:cNvPr id="4" name="CuadroTexto 3"/>
          <p:cNvSpPr txBox="1"/>
          <p:nvPr/>
        </p:nvSpPr>
        <p:spPr>
          <a:xfrm>
            <a:off x="712693" y="2393575"/>
            <a:ext cx="10905565" cy="2677656"/>
          </a:xfrm>
          <a:prstGeom prst="rect">
            <a:avLst/>
          </a:prstGeom>
          <a:noFill/>
        </p:spPr>
        <p:txBody>
          <a:bodyPr wrap="square" rtlCol="0">
            <a:spAutoFit/>
          </a:bodyPr>
          <a:lstStyle/>
          <a:p>
            <a:r>
              <a:rPr lang="es-BO" sz="2400" dirty="0" smtClean="0">
                <a:latin typeface="Maiandra GD" panose="020E0502030308020204" pitchFamily="34" charset="0"/>
              </a:rPr>
              <a:t>Las inversiones efectuadas antes de la puesta en marcha del proyecto se pueden</a:t>
            </a:r>
          </a:p>
          <a:p>
            <a:r>
              <a:rPr lang="es-BO" sz="2400" dirty="0" smtClean="0">
                <a:latin typeface="Maiandra GD" panose="020E0502030308020204" pitchFamily="34" charset="0"/>
              </a:rPr>
              <a:t>agrupar en tres tipos: </a:t>
            </a:r>
            <a:r>
              <a:rPr lang="es-BO" sz="2400" dirty="0" smtClean="0">
                <a:solidFill>
                  <a:srgbClr val="FF0000"/>
                </a:solidFill>
                <a:latin typeface="Maiandra GD" panose="020E0502030308020204" pitchFamily="34" charset="0"/>
              </a:rPr>
              <a:t>activos fijos</a:t>
            </a:r>
            <a:r>
              <a:rPr lang="es-BO" sz="2400" dirty="0" smtClean="0">
                <a:latin typeface="Maiandra GD" panose="020E0502030308020204" pitchFamily="34" charset="0"/>
              </a:rPr>
              <a:t>, </a:t>
            </a:r>
            <a:r>
              <a:rPr lang="es-BO" sz="2400" dirty="0" smtClean="0">
                <a:solidFill>
                  <a:srgbClr val="FF0000"/>
                </a:solidFill>
                <a:latin typeface="Maiandra GD" panose="020E0502030308020204" pitchFamily="34" charset="0"/>
              </a:rPr>
              <a:t>activos intangibles </a:t>
            </a:r>
            <a:r>
              <a:rPr lang="es-BO" sz="2400" dirty="0" smtClean="0">
                <a:latin typeface="Maiandra GD" panose="020E0502030308020204" pitchFamily="34" charset="0"/>
              </a:rPr>
              <a:t>y </a:t>
            </a:r>
            <a:r>
              <a:rPr lang="es-BO" sz="2400" dirty="0" smtClean="0">
                <a:solidFill>
                  <a:srgbClr val="FF0000"/>
                </a:solidFill>
                <a:latin typeface="Maiandra GD" panose="020E0502030308020204" pitchFamily="34" charset="0"/>
              </a:rPr>
              <a:t>capital de trabajo</a:t>
            </a:r>
            <a:r>
              <a:rPr lang="es-BO" sz="2400" dirty="0" smtClean="0">
                <a:latin typeface="Maiandra GD" panose="020E0502030308020204" pitchFamily="34" charset="0"/>
              </a:rPr>
              <a:t>.</a:t>
            </a:r>
          </a:p>
          <a:p>
            <a:endParaRPr lang="es-BO" sz="2400" dirty="0">
              <a:latin typeface="Maiandra GD" panose="020E0502030308020204" pitchFamily="34" charset="0"/>
            </a:endParaRPr>
          </a:p>
          <a:p>
            <a:r>
              <a:rPr lang="es-BO" sz="2400" dirty="0" smtClean="0">
                <a:latin typeface="Maiandra GD" panose="020E0502030308020204" pitchFamily="34" charset="0"/>
              </a:rPr>
              <a:t>Las inversiones en activos fijos son todas aquellas que se realizan en los bienes tangibles que se utilizarán en el proceso de transformación de los insumos o que sirvan de apoyo a la operación normal del proyecto.</a:t>
            </a:r>
          </a:p>
          <a:p>
            <a:endParaRPr lang="es-BO" sz="2400" dirty="0">
              <a:latin typeface="Maiandra GD" panose="020E0502030308020204" pitchFamily="34" charset="0"/>
            </a:endParaRPr>
          </a:p>
        </p:txBody>
      </p:sp>
    </p:spTree>
    <p:extLst>
      <p:ext uri="{BB962C8B-B14F-4D97-AF65-F5344CB8AC3E}">
        <p14:creationId xmlns:p14="http://schemas.microsoft.com/office/powerpoint/2010/main" val="986697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9144000" cy="445527"/>
          </a:xfrm>
        </p:spPr>
        <p:txBody>
          <a:bodyPr>
            <a:normAutofit lnSpcReduction="10000"/>
          </a:bodyPr>
          <a:lstStyle/>
          <a:p>
            <a:pPr algn="l"/>
            <a:r>
              <a:rPr lang="es-BO" dirty="0" smtClean="0">
                <a:latin typeface="Maiandra GD" panose="020E0502030308020204" pitchFamily="34" charset="0"/>
              </a:rPr>
              <a:t>10.1 Inversiones previas a la puesta en marcha</a:t>
            </a:r>
          </a:p>
          <a:p>
            <a:endParaRPr lang="es-BO" dirty="0">
              <a:latin typeface="Maiandra GD" panose="020E0502030308020204" pitchFamily="34" charset="0"/>
            </a:endParaRPr>
          </a:p>
        </p:txBody>
      </p:sp>
      <p:sp>
        <p:nvSpPr>
          <p:cNvPr id="4" name="CuadroTexto 3"/>
          <p:cNvSpPr txBox="1"/>
          <p:nvPr/>
        </p:nvSpPr>
        <p:spPr>
          <a:xfrm>
            <a:off x="712693" y="2393575"/>
            <a:ext cx="10905565" cy="2308324"/>
          </a:xfrm>
          <a:prstGeom prst="rect">
            <a:avLst/>
          </a:prstGeom>
          <a:noFill/>
        </p:spPr>
        <p:txBody>
          <a:bodyPr wrap="square" rtlCol="0">
            <a:spAutoFit/>
          </a:bodyPr>
          <a:lstStyle/>
          <a:p>
            <a:r>
              <a:rPr lang="es-BO" sz="2400" dirty="0" smtClean="0">
                <a:latin typeface="Maiandra GD" panose="020E0502030308020204" pitchFamily="34" charset="0"/>
              </a:rPr>
              <a:t>Constituyen activos fijos, entre otros, los terrenos, las obras físicas (edificios industriales, sala de venta, oficinas administrativas, vías de acceso, estacionamientos, bodegas, etcétera), el equipamiento de la planta, oficinas y salas de venta (en maquinarias, muebles, herramientas, vehículos y decoración en general) y la infraestructura de servicios de apoyo (agua potable, desagües, red eléctrica, comunicaciones, energía, etcétera).</a:t>
            </a:r>
            <a:endParaRPr lang="es-BO" sz="2400" dirty="0">
              <a:latin typeface="Maiandra GD" panose="020E0502030308020204" pitchFamily="34" charset="0"/>
            </a:endParaRPr>
          </a:p>
        </p:txBody>
      </p:sp>
    </p:spTree>
    <p:extLst>
      <p:ext uri="{BB962C8B-B14F-4D97-AF65-F5344CB8AC3E}">
        <p14:creationId xmlns:p14="http://schemas.microsoft.com/office/powerpoint/2010/main" val="1181074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9144000" cy="445527"/>
          </a:xfrm>
        </p:spPr>
        <p:txBody>
          <a:bodyPr>
            <a:normAutofit lnSpcReduction="10000"/>
          </a:bodyPr>
          <a:lstStyle/>
          <a:p>
            <a:pPr algn="l"/>
            <a:r>
              <a:rPr lang="es-BO" dirty="0" smtClean="0">
                <a:latin typeface="Maiandra GD" panose="020E0502030308020204" pitchFamily="34" charset="0"/>
              </a:rPr>
              <a:t>10.1 Inversiones previas a la puesta en marcha</a:t>
            </a:r>
          </a:p>
          <a:p>
            <a:endParaRPr lang="es-BO" dirty="0">
              <a:latin typeface="Maiandra GD" panose="020E0502030308020204" pitchFamily="34" charset="0"/>
            </a:endParaRPr>
          </a:p>
        </p:txBody>
      </p:sp>
      <p:sp>
        <p:nvSpPr>
          <p:cNvPr id="4" name="CuadroTexto 3"/>
          <p:cNvSpPr txBox="1"/>
          <p:nvPr/>
        </p:nvSpPr>
        <p:spPr>
          <a:xfrm>
            <a:off x="847163" y="2783539"/>
            <a:ext cx="10905565" cy="1200329"/>
          </a:xfrm>
          <a:prstGeom prst="rect">
            <a:avLst/>
          </a:prstGeom>
          <a:noFill/>
        </p:spPr>
        <p:txBody>
          <a:bodyPr wrap="square" rtlCol="0">
            <a:spAutoFit/>
          </a:bodyPr>
          <a:lstStyle/>
          <a:p>
            <a:r>
              <a:rPr lang="es-BO" sz="2400" dirty="0" smtClean="0">
                <a:latin typeface="Maiandra GD" panose="020E0502030308020204" pitchFamily="34" charset="0"/>
              </a:rPr>
              <a:t>Para efectos contables, los activos fijos están sujetos a depreciación, la cual afectará El resultado de la evaluación por su efecto sobre el cálculo de Los impuestos.</a:t>
            </a:r>
            <a:endParaRPr lang="es-BO" sz="2400" dirty="0">
              <a:latin typeface="Maiandra GD" panose="020E0502030308020204" pitchFamily="34" charset="0"/>
            </a:endParaRPr>
          </a:p>
        </p:txBody>
      </p:sp>
    </p:spTree>
    <p:extLst>
      <p:ext uri="{BB962C8B-B14F-4D97-AF65-F5344CB8AC3E}">
        <p14:creationId xmlns:p14="http://schemas.microsoft.com/office/powerpoint/2010/main" val="469355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9144000" cy="445527"/>
          </a:xfrm>
        </p:spPr>
        <p:txBody>
          <a:bodyPr>
            <a:normAutofit lnSpcReduction="10000"/>
          </a:bodyPr>
          <a:lstStyle/>
          <a:p>
            <a:pPr algn="l"/>
            <a:r>
              <a:rPr lang="es-BO" dirty="0" smtClean="0">
                <a:latin typeface="Maiandra GD" panose="020E0502030308020204" pitchFamily="34" charset="0"/>
              </a:rPr>
              <a:t>10.1 Inversiones previas a la puesta en marcha</a:t>
            </a:r>
          </a:p>
          <a:p>
            <a:endParaRPr lang="es-BO" dirty="0">
              <a:latin typeface="Maiandra GD" panose="020E0502030308020204" pitchFamily="34" charset="0"/>
            </a:endParaRPr>
          </a:p>
        </p:txBody>
      </p:sp>
      <p:sp>
        <p:nvSpPr>
          <p:cNvPr id="4" name="CuadroTexto 3"/>
          <p:cNvSpPr txBox="1"/>
          <p:nvPr/>
        </p:nvSpPr>
        <p:spPr>
          <a:xfrm>
            <a:off x="847163" y="2783539"/>
            <a:ext cx="10905565" cy="2308324"/>
          </a:xfrm>
          <a:prstGeom prst="rect">
            <a:avLst/>
          </a:prstGeom>
          <a:noFill/>
        </p:spPr>
        <p:txBody>
          <a:bodyPr wrap="square" rtlCol="0">
            <a:spAutoFit/>
          </a:bodyPr>
          <a:lstStyle/>
          <a:p>
            <a:r>
              <a:rPr lang="es-BO" sz="2400" dirty="0" smtClean="0">
                <a:latin typeface="Maiandra GD" panose="020E0502030308020204" pitchFamily="34" charset="0"/>
              </a:rPr>
              <a:t>Las inversiones en activos intangibles son todas aquellas que se realizan sobre activos constituidos por los servicios o derechos adquiridos, necesarios para la puesta en marcha del proyecto. Constituyen inversiones intangibles susceptibles de amortizar y, al igual que la depreciación, afectarán el flujo de caja indirectamente por la vía de una disminución en la renta imponible y, por tanto, de los impuestos pagaderos.</a:t>
            </a:r>
            <a:endParaRPr lang="es-BO" sz="2400" dirty="0">
              <a:latin typeface="Maiandra GD" panose="020E0502030308020204" pitchFamily="34" charset="0"/>
            </a:endParaRPr>
          </a:p>
        </p:txBody>
      </p:sp>
    </p:spTree>
    <p:extLst>
      <p:ext uri="{BB962C8B-B14F-4D97-AF65-F5344CB8AC3E}">
        <p14:creationId xmlns:p14="http://schemas.microsoft.com/office/powerpoint/2010/main" val="1538958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9144000" cy="445527"/>
          </a:xfrm>
        </p:spPr>
        <p:txBody>
          <a:bodyPr>
            <a:normAutofit lnSpcReduction="10000"/>
          </a:bodyPr>
          <a:lstStyle/>
          <a:p>
            <a:pPr algn="l"/>
            <a:r>
              <a:rPr lang="es-BO" dirty="0" smtClean="0">
                <a:latin typeface="Maiandra GD" panose="020E0502030308020204" pitchFamily="34" charset="0"/>
              </a:rPr>
              <a:t>10.1 Inversiones previas a la puesta en marcha</a:t>
            </a:r>
          </a:p>
          <a:p>
            <a:endParaRPr lang="es-BO" dirty="0">
              <a:latin typeface="Maiandra GD" panose="020E0502030308020204" pitchFamily="34" charset="0"/>
            </a:endParaRPr>
          </a:p>
        </p:txBody>
      </p:sp>
      <p:sp>
        <p:nvSpPr>
          <p:cNvPr id="4" name="CuadroTexto 3"/>
          <p:cNvSpPr txBox="1"/>
          <p:nvPr/>
        </p:nvSpPr>
        <p:spPr>
          <a:xfrm>
            <a:off x="847163" y="2783539"/>
            <a:ext cx="10905565" cy="1200329"/>
          </a:xfrm>
          <a:prstGeom prst="rect">
            <a:avLst/>
          </a:prstGeom>
          <a:noFill/>
        </p:spPr>
        <p:txBody>
          <a:bodyPr wrap="square" rtlCol="0">
            <a:spAutoFit/>
          </a:bodyPr>
          <a:lstStyle/>
          <a:p>
            <a:r>
              <a:rPr lang="es-BO" sz="2400" dirty="0" smtClean="0">
                <a:latin typeface="Maiandra GD" panose="020E0502030308020204" pitchFamily="34" charset="0"/>
              </a:rPr>
              <a:t>Los principales ítems que configuran esta inversión son los gastos de organización, las patentes y licencias, los gastos de puesta en marcha, la capacitación, las bases de datos y los sistemas de información </a:t>
            </a:r>
            <a:r>
              <a:rPr lang="es-BO" sz="2400" dirty="0" err="1" smtClean="0">
                <a:latin typeface="Maiandra GD" panose="020E0502030308020204" pitchFamily="34" charset="0"/>
              </a:rPr>
              <a:t>preoperativos</a:t>
            </a:r>
            <a:r>
              <a:rPr lang="es-BO" sz="2400" dirty="0" smtClean="0">
                <a:latin typeface="Maiandra GD" panose="020E0502030308020204" pitchFamily="34" charset="0"/>
              </a:rPr>
              <a:t>.</a:t>
            </a:r>
            <a:endParaRPr lang="es-BO" sz="2400" dirty="0">
              <a:latin typeface="Maiandra GD" panose="020E0502030308020204" pitchFamily="34" charset="0"/>
            </a:endParaRPr>
          </a:p>
        </p:txBody>
      </p:sp>
    </p:spTree>
    <p:extLst>
      <p:ext uri="{BB962C8B-B14F-4D97-AF65-F5344CB8AC3E}">
        <p14:creationId xmlns:p14="http://schemas.microsoft.com/office/powerpoint/2010/main" val="1250892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9144000" cy="445527"/>
          </a:xfrm>
        </p:spPr>
        <p:txBody>
          <a:bodyPr>
            <a:normAutofit lnSpcReduction="10000"/>
          </a:bodyPr>
          <a:lstStyle/>
          <a:p>
            <a:pPr algn="l"/>
            <a:r>
              <a:rPr lang="es-BO" dirty="0" smtClean="0">
                <a:latin typeface="Maiandra GD" panose="020E0502030308020204" pitchFamily="34" charset="0"/>
              </a:rPr>
              <a:t>10.1 Inversiones previas a la puesta en marcha</a:t>
            </a:r>
          </a:p>
          <a:p>
            <a:endParaRPr lang="es-BO" dirty="0">
              <a:latin typeface="Maiandra GD" panose="020E0502030308020204" pitchFamily="34" charset="0"/>
            </a:endParaRPr>
          </a:p>
        </p:txBody>
      </p:sp>
      <p:sp>
        <p:nvSpPr>
          <p:cNvPr id="4" name="CuadroTexto 3"/>
          <p:cNvSpPr txBox="1"/>
          <p:nvPr/>
        </p:nvSpPr>
        <p:spPr>
          <a:xfrm>
            <a:off x="847163" y="2783539"/>
            <a:ext cx="10905565" cy="1200329"/>
          </a:xfrm>
          <a:prstGeom prst="rect">
            <a:avLst/>
          </a:prstGeom>
          <a:noFill/>
        </p:spPr>
        <p:txBody>
          <a:bodyPr wrap="square" rtlCol="0">
            <a:spAutoFit/>
          </a:bodyPr>
          <a:lstStyle/>
          <a:p>
            <a:r>
              <a:rPr lang="es-BO" sz="2400" dirty="0" smtClean="0">
                <a:latin typeface="Maiandra GD" panose="020E0502030308020204" pitchFamily="34" charset="0"/>
              </a:rPr>
              <a:t>La inversión en capital de trabajo constituye el conjunto de recursos necesarios, en la forma de activos corrientes, para la operación normal del proyecto durante un ciclo productivo, para una capacidad y tamaño determinados.</a:t>
            </a:r>
            <a:endParaRPr lang="es-BO" sz="2400" dirty="0">
              <a:latin typeface="Maiandra GD" panose="020E0502030308020204" pitchFamily="34" charset="0"/>
            </a:endParaRPr>
          </a:p>
        </p:txBody>
      </p:sp>
    </p:spTree>
    <p:extLst>
      <p:ext uri="{BB962C8B-B14F-4D97-AF65-F5344CB8AC3E}">
        <p14:creationId xmlns:p14="http://schemas.microsoft.com/office/powerpoint/2010/main" val="3907754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9144000" cy="445527"/>
          </a:xfrm>
        </p:spPr>
        <p:txBody>
          <a:bodyPr>
            <a:normAutofit lnSpcReduction="10000"/>
          </a:bodyPr>
          <a:lstStyle/>
          <a:p>
            <a:pPr algn="l"/>
            <a:r>
              <a:rPr lang="es-BO" dirty="0" smtClean="0">
                <a:latin typeface="Maiandra GD" panose="020E0502030308020204" pitchFamily="34" charset="0"/>
              </a:rPr>
              <a:t>10.1 Inversiones previas a la puesta en marcha</a:t>
            </a:r>
          </a:p>
          <a:p>
            <a:endParaRPr lang="es-BO" dirty="0">
              <a:latin typeface="Maiandra GD" panose="020E0502030308020204" pitchFamily="34" charset="0"/>
            </a:endParaRPr>
          </a:p>
        </p:txBody>
      </p:sp>
      <p:sp>
        <p:nvSpPr>
          <p:cNvPr id="4" name="CuadroTexto 3"/>
          <p:cNvSpPr txBox="1"/>
          <p:nvPr/>
        </p:nvSpPr>
        <p:spPr>
          <a:xfrm>
            <a:off x="847163" y="2783539"/>
            <a:ext cx="10905565" cy="1938992"/>
          </a:xfrm>
          <a:prstGeom prst="rect">
            <a:avLst/>
          </a:prstGeom>
          <a:noFill/>
        </p:spPr>
        <p:txBody>
          <a:bodyPr wrap="square" rtlCol="0">
            <a:spAutoFit/>
          </a:bodyPr>
          <a:lstStyle/>
          <a:p>
            <a:r>
              <a:rPr lang="es-BO" sz="2400" dirty="0" smtClean="0">
                <a:latin typeface="Maiandra GD" panose="020E0502030308020204" pitchFamily="34" charset="0"/>
              </a:rPr>
              <a:t>Por ejemplo, en el estudio de factibilidad de una inversión en un proyecto de creación de un hotel, además de la inversión en edificios, equipos y mobiliario, será necesario invertir en capital de trabajo un monto tal que asegure el financiamiento de todos los recursos de operación que se consumen en un ciclo productivo.</a:t>
            </a:r>
            <a:endParaRPr lang="es-BO" sz="2400" dirty="0">
              <a:latin typeface="Maiandra GD" panose="020E0502030308020204" pitchFamily="34" charset="0"/>
            </a:endParaRPr>
          </a:p>
        </p:txBody>
      </p:sp>
    </p:spTree>
    <p:extLst>
      <p:ext uri="{BB962C8B-B14F-4D97-AF65-F5344CB8AC3E}">
        <p14:creationId xmlns:p14="http://schemas.microsoft.com/office/powerpoint/2010/main" val="622443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2" y="1383273"/>
            <a:ext cx="9144000" cy="445527"/>
          </a:xfrm>
        </p:spPr>
        <p:txBody>
          <a:bodyPr>
            <a:normAutofit/>
          </a:bodyPr>
          <a:lstStyle/>
          <a:p>
            <a:r>
              <a:rPr lang="es-BO" dirty="0">
                <a:latin typeface="Maiandra GD" panose="020E0502030308020204" pitchFamily="34" charset="0"/>
              </a:rPr>
              <a:t>10.1 Inversiones previas a la puesta en </a:t>
            </a:r>
            <a:r>
              <a:rPr lang="es-BO" dirty="0" smtClean="0">
                <a:latin typeface="Maiandra GD" panose="020E0502030308020204" pitchFamily="34" charset="0"/>
              </a:rPr>
              <a:t>marcha</a:t>
            </a:r>
            <a:endParaRPr lang="es-BO" dirty="0">
              <a:latin typeface="Maiandra GD" panose="020E0502030308020204" pitchFamily="34" charset="0"/>
            </a:endParaRPr>
          </a:p>
        </p:txBody>
      </p:sp>
      <p:sp>
        <p:nvSpPr>
          <p:cNvPr id="4" name="CuadroTexto 3"/>
          <p:cNvSpPr txBox="1"/>
          <p:nvPr/>
        </p:nvSpPr>
        <p:spPr>
          <a:xfrm>
            <a:off x="847163" y="2783539"/>
            <a:ext cx="10905565" cy="1938992"/>
          </a:xfrm>
          <a:prstGeom prst="rect">
            <a:avLst/>
          </a:prstGeom>
          <a:noFill/>
        </p:spPr>
        <p:txBody>
          <a:bodyPr wrap="square" rtlCol="0">
            <a:spAutoFit/>
          </a:bodyPr>
          <a:lstStyle/>
          <a:p>
            <a:r>
              <a:rPr lang="es-BO" sz="2400" dirty="0" smtClean="0">
                <a:latin typeface="Maiandra GD" panose="020E0502030308020204" pitchFamily="34" charset="0"/>
              </a:rPr>
              <a:t>Por ejemplo, en el estudio de factibilidad de una inversión en un proyecto de creación de un hotel, además de la inversión en edificios, equipos y mobiliario, será necesario invertir en capital de trabajo un monto tal que asegure el financiamiento de todos los recursos de operación que se consumen en un ciclo productivo.</a:t>
            </a:r>
            <a:endParaRPr lang="es-BO" sz="2400" dirty="0">
              <a:latin typeface="Maiandra GD" panose="020E0502030308020204" pitchFamily="34" charset="0"/>
            </a:endParaRPr>
          </a:p>
        </p:txBody>
      </p:sp>
    </p:spTree>
    <p:extLst>
      <p:ext uri="{BB962C8B-B14F-4D97-AF65-F5344CB8AC3E}">
        <p14:creationId xmlns:p14="http://schemas.microsoft.com/office/powerpoint/2010/main" val="2270364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2974600" y="203214"/>
            <a:ext cx="6613152" cy="6500000"/>
          </a:xfrm>
          <a:prstGeom prst="rect">
            <a:avLst/>
          </a:prstGeom>
        </p:spPr>
      </p:pic>
    </p:spTree>
    <p:extLst>
      <p:ext uri="{BB962C8B-B14F-4D97-AF65-F5344CB8AC3E}">
        <p14:creationId xmlns:p14="http://schemas.microsoft.com/office/powerpoint/2010/main" val="657698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085165" y="1439956"/>
            <a:ext cx="7792260" cy="4127126"/>
          </a:xfrm>
          <a:prstGeom prst="rect">
            <a:avLst/>
          </a:prstGeom>
        </p:spPr>
      </p:pic>
    </p:spTree>
    <p:extLst>
      <p:ext uri="{BB962C8B-B14F-4D97-AF65-F5344CB8AC3E}">
        <p14:creationId xmlns:p14="http://schemas.microsoft.com/office/powerpoint/2010/main" val="1277948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1" y="1437061"/>
            <a:ext cx="11365007" cy="1144773"/>
          </a:xfrm>
        </p:spPr>
        <p:txBody>
          <a:bodyPr>
            <a:normAutofit fontScale="85000" lnSpcReduction="20000"/>
          </a:bodyPr>
          <a:lstStyle/>
          <a:p>
            <a:r>
              <a:rPr lang="es-BO" dirty="0">
                <a:latin typeface="Maiandra GD" panose="020E0502030308020204" pitchFamily="34" charset="0"/>
              </a:rPr>
              <a:t>Metodologías para estimar el capital de trabajo del </a:t>
            </a:r>
            <a:r>
              <a:rPr lang="es-BO" dirty="0" smtClean="0">
                <a:latin typeface="Maiandra GD" panose="020E0502030308020204" pitchFamily="34" charset="0"/>
              </a:rPr>
              <a:t>proyecto.</a:t>
            </a:r>
          </a:p>
          <a:p>
            <a:endParaRPr lang="es-BO" dirty="0" smtClean="0">
              <a:latin typeface="Maiandra GD" panose="020E0502030308020204" pitchFamily="34" charset="0"/>
            </a:endParaRPr>
          </a:p>
          <a:p>
            <a:r>
              <a:rPr lang="es-BO" dirty="0" smtClean="0">
                <a:latin typeface="Maiandra GD" panose="020E0502030308020204" pitchFamily="34" charset="0"/>
              </a:rPr>
              <a:t>10.1 Método </a:t>
            </a:r>
            <a:r>
              <a:rPr lang="es-BO" dirty="0">
                <a:latin typeface="Maiandra GD" panose="020E0502030308020204" pitchFamily="34" charset="0"/>
              </a:rPr>
              <a:t>contable</a:t>
            </a:r>
          </a:p>
        </p:txBody>
      </p:sp>
      <p:sp>
        <p:nvSpPr>
          <p:cNvPr id="4" name="CuadroTexto 3"/>
          <p:cNvSpPr txBox="1"/>
          <p:nvPr/>
        </p:nvSpPr>
        <p:spPr>
          <a:xfrm>
            <a:off x="847163" y="2783539"/>
            <a:ext cx="10905565" cy="1200329"/>
          </a:xfrm>
          <a:prstGeom prst="rect">
            <a:avLst/>
          </a:prstGeom>
          <a:noFill/>
        </p:spPr>
        <p:txBody>
          <a:bodyPr wrap="square" rtlCol="0">
            <a:spAutoFit/>
          </a:bodyPr>
          <a:lstStyle/>
          <a:p>
            <a:r>
              <a:rPr lang="es-BO" sz="2400" dirty="0" smtClean="0">
                <a:latin typeface="Maiandra GD" panose="020E0502030308020204" pitchFamily="34" charset="0"/>
              </a:rPr>
              <a:t>Consiste en estimar los saldos de las cuentas del activo corriente, y del pasivo corriente del proyecto, año por año. El requerimiento de capital de trabajo viene a ser la diferencia de ambos.</a:t>
            </a:r>
            <a:endParaRPr lang="es-BO" sz="2400" dirty="0">
              <a:latin typeface="Maiandra GD" panose="020E0502030308020204" pitchFamily="34" charset="0"/>
            </a:endParaRPr>
          </a:p>
        </p:txBody>
      </p:sp>
    </p:spTree>
    <p:extLst>
      <p:ext uri="{BB962C8B-B14F-4D97-AF65-F5344CB8AC3E}">
        <p14:creationId xmlns:p14="http://schemas.microsoft.com/office/powerpoint/2010/main" val="1607510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1" y="1437061"/>
            <a:ext cx="11365007" cy="1144773"/>
          </a:xfrm>
        </p:spPr>
        <p:txBody>
          <a:bodyPr>
            <a:normAutofit fontScale="85000" lnSpcReduction="20000"/>
          </a:bodyPr>
          <a:lstStyle/>
          <a:p>
            <a:r>
              <a:rPr lang="es-BO" dirty="0">
                <a:latin typeface="Maiandra GD" panose="020E0502030308020204" pitchFamily="34" charset="0"/>
              </a:rPr>
              <a:t>Metodologías para estimar el capital de trabajo del </a:t>
            </a:r>
            <a:r>
              <a:rPr lang="es-BO" dirty="0" smtClean="0">
                <a:latin typeface="Maiandra GD" panose="020E0502030308020204" pitchFamily="34" charset="0"/>
              </a:rPr>
              <a:t>proyecto.</a:t>
            </a:r>
          </a:p>
          <a:p>
            <a:endParaRPr lang="es-BO" dirty="0" smtClean="0">
              <a:latin typeface="Maiandra GD" panose="020E0502030308020204" pitchFamily="34" charset="0"/>
            </a:endParaRPr>
          </a:p>
          <a:p>
            <a:r>
              <a:rPr lang="es-BO" dirty="0" smtClean="0">
                <a:latin typeface="Maiandra GD" panose="020E0502030308020204" pitchFamily="34" charset="0"/>
              </a:rPr>
              <a:t>10.2 </a:t>
            </a:r>
            <a:r>
              <a:rPr lang="es-BO" dirty="0">
                <a:latin typeface="Maiandra GD" panose="020E0502030308020204" pitchFamily="34" charset="0"/>
              </a:rPr>
              <a:t>Método del </a:t>
            </a:r>
            <a:r>
              <a:rPr lang="es-BO" dirty="0" smtClean="0">
                <a:latin typeface="Maiandra GD" panose="020E0502030308020204" pitchFamily="34" charset="0"/>
              </a:rPr>
              <a:t>Desfase.</a:t>
            </a:r>
            <a:endParaRPr lang="es-BO" dirty="0">
              <a:latin typeface="Maiandra GD" panose="020E0502030308020204" pitchFamily="34" charset="0"/>
            </a:endParaRPr>
          </a:p>
        </p:txBody>
      </p:sp>
      <p:sp>
        <p:nvSpPr>
          <p:cNvPr id="4" name="CuadroTexto 3"/>
          <p:cNvSpPr txBox="1"/>
          <p:nvPr/>
        </p:nvSpPr>
        <p:spPr>
          <a:xfrm>
            <a:off x="847163" y="2783539"/>
            <a:ext cx="10905565" cy="1200329"/>
          </a:xfrm>
          <a:prstGeom prst="rect">
            <a:avLst/>
          </a:prstGeom>
          <a:noFill/>
        </p:spPr>
        <p:txBody>
          <a:bodyPr wrap="square" rtlCol="0">
            <a:spAutoFit/>
          </a:bodyPr>
          <a:lstStyle/>
          <a:p>
            <a:r>
              <a:rPr lang="es-BO" sz="2400" dirty="0" smtClean="0">
                <a:latin typeface="Maiandra GD" panose="020E0502030308020204" pitchFamily="34" charset="0"/>
              </a:rPr>
              <a:t>Consiste en asignar como requerimiento de capital de trabajo, una cierta cantidad de días del año, la cual se relaciona con el total de costos y gastos anuales desembolsables del proyecto.</a:t>
            </a:r>
            <a:endParaRPr lang="es-BO" sz="2400" dirty="0">
              <a:latin typeface="Maiandra GD" panose="020E0502030308020204" pitchFamily="34" charset="0"/>
            </a:endParaRPr>
          </a:p>
        </p:txBody>
      </p:sp>
    </p:spTree>
    <p:extLst>
      <p:ext uri="{BB962C8B-B14F-4D97-AF65-F5344CB8AC3E}">
        <p14:creationId xmlns:p14="http://schemas.microsoft.com/office/powerpoint/2010/main" val="240740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250576" y="194516"/>
            <a:ext cx="9722224" cy="894696"/>
          </a:xfrm>
        </p:spPr>
        <p:txBody>
          <a:bodyPr>
            <a:normAutofit/>
          </a:bodyPr>
          <a:lstStyle/>
          <a:p>
            <a:r>
              <a:rPr lang="es-BO" sz="4400" dirty="0" smtClean="0">
                <a:latin typeface="Maiandra GD" panose="020E0502030308020204" pitchFamily="34" charset="0"/>
              </a:rPr>
              <a:t>10 LAS INVERSIONES DEL PROYECTO</a:t>
            </a:r>
            <a:endParaRPr lang="es-BO" sz="4400" dirty="0">
              <a:latin typeface="Maiandra GD" panose="020E0502030308020204" pitchFamily="34" charset="0"/>
            </a:endParaRPr>
          </a:p>
        </p:txBody>
      </p:sp>
      <p:sp>
        <p:nvSpPr>
          <p:cNvPr id="3" name="Subtítulo 2"/>
          <p:cNvSpPr>
            <a:spLocks noGrp="1"/>
          </p:cNvSpPr>
          <p:nvPr>
            <p:ph type="subTitle" idx="1"/>
          </p:nvPr>
        </p:nvSpPr>
        <p:spPr>
          <a:xfrm>
            <a:off x="481851" y="1437061"/>
            <a:ext cx="11365007" cy="1144773"/>
          </a:xfrm>
        </p:spPr>
        <p:txBody>
          <a:bodyPr>
            <a:normAutofit fontScale="85000" lnSpcReduction="20000"/>
          </a:bodyPr>
          <a:lstStyle/>
          <a:p>
            <a:r>
              <a:rPr lang="es-BO" dirty="0">
                <a:latin typeface="Maiandra GD" panose="020E0502030308020204" pitchFamily="34" charset="0"/>
              </a:rPr>
              <a:t>Metodologías para estimar el capital de trabajo del </a:t>
            </a:r>
            <a:r>
              <a:rPr lang="es-BO" dirty="0" smtClean="0">
                <a:latin typeface="Maiandra GD" panose="020E0502030308020204" pitchFamily="34" charset="0"/>
              </a:rPr>
              <a:t>proyecto.</a:t>
            </a:r>
          </a:p>
          <a:p>
            <a:endParaRPr lang="es-BO" dirty="0" smtClean="0">
              <a:latin typeface="Maiandra GD" panose="020E0502030308020204" pitchFamily="34" charset="0"/>
            </a:endParaRPr>
          </a:p>
          <a:p>
            <a:r>
              <a:rPr lang="es-BO" dirty="0" smtClean="0">
                <a:latin typeface="Maiandra GD" panose="020E0502030308020204" pitchFamily="34" charset="0"/>
              </a:rPr>
              <a:t>10.3 </a:t>
            </a:r>
            <a:r>
              <a:rPr lang="es-BO" dirty="0">
                <a:latin typeface="Maiandra GD" panose="020E0502030308020204" pitchFamily="34" charset="0"/>
              </a:rPr>
              <a:t>Método del Déficit acumulado.</a:t>
            </a:r>
          </a:p>
        </p:txBody>
      </p:sp>
      <p:sp>
        <p:nvSpPr>
          <p:cNvPr id="4" name="CuadroTexto 3"/>
          <p:cNvSpPr txBox="1"/>
          <p:nvPr/>
        </p:nvSpPr>
        <p:spPr>
          <a:xfrm>
            <a:off x="847163" y="2783539"/>
            <a:ext cx="10905565" cy="1569660"/>
          </a:xfrm>
          <a:prstGeom prst="rect">
            <a:avLst/>
          </a:prstGeom>
          <a:noFill/>
        </p:spPr>
        <p:txBody>
          <a:bodyPr wrap="square" rtlCol="0">
            <a:spAutoFit/>
          </a:bodyPr>
          <a:lstStyle/>
          <a:p>
            <a:r>
              <a:rPr lang="es-BO" sz="2400" dirty="0" smtClean="0">
                <a:latin typeface="Maiandra GD" panose="020E0502030308020204" pitchFamily="34" charset="0"/>
              </a:rPr>
              <a:t>Es el método que debemos aplicar, es el método más preciso, consiste en proyectar con detalle mensual los ingresos y egresos del proyecto del primer año, estimando el saldo acumulado de cada mes, resultando el requerimiento de capital de trabajo, aquel déficit acumulado que resulte ser el más alto.</a:t>
            </a:r>
            <a:endParaRPr lang="es-BO" sz="2400" dirty="0">
              <a:latin typeface="Maiandra GD" panose="020E0502030308020204" pitchFamily="34" charset="0"/>
            </a:endParaRPr>
          </a:p>
        </p:txBody>
      </p:sp>
    </p:spTree>
    <p:extLst>
      <p:ext uri="{BB962C8B-B14F-4D97-AF65-F5344CB8AC3E}">
        <p14:creationId xmlns:p14="http://schemas.microsoft.com/office/powerpoint/2010/main" val="44035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18029" y="436563"/>
            <a:ext cx="10555941" cy="894696"/>
          </a:xfrm>
        </p:spPr>
        <p:txBody>
          <a:bodyPr>
            <a:noAutofit/>
          </a:bodyPr>
          <a:lstStyle/>
          <a:p>
            <a:r>
              <a:rPr lang="es-BO" sz="4400" dirty="0" smtClean="0"/>
              <a:t>10 LAS INVERSIONES DEL PROYECTO</a:t>
            </a:r>
            <a:endParaRPr lang="es-BO" sz="4400" dirty="0"/>
          </a:p>
        </p:txBody>
      </p:sp>
      <p:sp>
        <p:nvSpPr>
          <p:cNvPr id="5" name="CuadroTexto 4"/>
          <p:cNvSpPr txBox="1"/>
          <p:nvPr/>
        </p:nvSpPr>
        <p:spPr>
          <a:xfrm>
            <a:off x="5782235" y="3240741"/>
            <a:ext cx="1048871" cy="523220"/>
          </a:xfrm>
          <a:prstGeom prst="rect">
            <a:avLst/>
          </a:prstGeom>
          <a:noFill/>
        </p:spPr>
        <p:txBody>
          <a:bodyPr wrap="square" rtlCol="0">
            <a:spAutoFit/>
          </a:bodyPr>
          <a:lstStyle/>
          <a:p>
            <a:r>
              <a:rPr lang="es-BO" sz="2800" dirty="0" smtClean="0"/>
              <a:t>FIN</a:t>
            </a:r>
            <a:endParaRPr lang="es-BO" sz="2800" dirty="0"/>
          </a:p>
        </p:txBody>
      </p:sp>
    </p:spTree>
    <p:extLst>
      <p:ext uri="{BB962C8B-B14F-4D97-AF65-F5344CB8AC3E}">
        <p14:creationId xmlns:p14="http://schemas.microsoft.com/office/powerpoint/2010/main" val="970645303"/>
      </p:ext>
    </p:extLst>
  </p:cSld>
  <p:clrMapOvr>
    <a:masterClrMapping/>
  </p:clrMapOvr>
</p:sld>
</file>

<file path=ppt/theme/theme1.xml><?xml version="1.0" encoding="utf-8"?>
<a:theme xmlns:a="http://schemas.openxmlformats.org/drawingml/2006/main" name="Retrospección">
  <a:themeElements>
    <a:clrScheme name="Marquesina">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docProps/app.xml><?xml version="1.0" encoding="utf-8"?>
<Properties xmlns="http://schemas.openxmlformats.org/officeDocument/2006/extended-properties" xmlns:vt="http://schemas.openxmlformats.org/officeDocument/2006/docPropsVTypes">
  <Template>Retrospect</Template>
  <TotalTime>93</TotalTime>
  <Words>833</Words>
  <Application>Microsoft Office PowerPoint</Application>
  <PresentationFormat>Panorámica</PresentationFormat>
  <Paragraphs>52</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Calibri</vt:lpstr>
      <vt:lpstr>Calibri Light</vt:lpstr>
      <vt:lpstr>Maiandra GD</vt:lpstr>
      <vt:lpstr>Retrospección</vt:lpstr>
      <vt:lpstr>Presentación de PowerPoint</vt:lpstr>
      <vt:lpstr>10 LAS INVERSIONES DEL PROYECTO</vt:lpstr>
      <vt:lpstr>10 LAS INVERSIONES DEL PROYECTO</vt:lpstr>
      <vt:lpstr>10 LAS INVERSIONES DEL PROYECTO</vt:lpstr>
      <vt:lpstr>10 LAS INVERSIONES DEL PROYECTO</vt:lpstr>
      <vt:lpstr>10 LAS INVERSIONES DEL PROYECTO</vt:lpstr>
      <vt:lpstr>10 LAS INVERSIONES DEL PROYECTO</vt:lpstr>
      <vt:lpstr>10 LAS INVERSIONES DEL PROYECTO</vt:lpstr>
      <vt:lpstr>10 LAS INVERSIONES DEL PROYECTO</vt:lpstr>
      <vt:lpstr>10 LAS INVERSIONES DEL PROYECTO</vt:lpstr>
      <vt:lpstr>10 LAS INVERSIONES DEL PROYECTO</vt:lpstr>
      <vt:lpstr>Presentación de PowerPoint</vt:lpstr>
      <vt:lpstr>Presentación de PowerPoint</vt:lpstr>
      <vt:lpstr>10 LAS INVERSIONES DEL PROYECTO</vt:lpstr>
      <vt:lpstr>10 LAS INVERSIONES DEL PROYECTO</vt:lpstr>
      <vt:lpstr>10 LAS INVERSIONES DEL PROYECTO</vt:lpstr>
      <vt:lpstr>10 LAS INVERSIONES DEL PROYECTO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LAS INVERSIONES DEL PROYECTO</dc:title>
  <dc:creator>Consultores Academia</dc:creator>
  <cp:lastModifiedBy>Consultores Academia</cp:lastModifiedBy>
  <cp:revision>14</cp:revision>
  <dcterms:created xsi:type="dcterms:W3CDTF">2021-10-25T00:19:10Z</dcterms:created>
  <dcterms:modified xsi:type="dcterms:W3CDTF">2021-10-25T01:53:00Z</dcterms:modified>
</cp:coreProperties>
</file>