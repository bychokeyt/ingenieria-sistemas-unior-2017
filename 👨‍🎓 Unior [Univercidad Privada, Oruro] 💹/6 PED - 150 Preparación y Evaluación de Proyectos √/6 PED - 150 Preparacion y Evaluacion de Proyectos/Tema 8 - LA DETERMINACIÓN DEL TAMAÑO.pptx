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74"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57" r:id="rId20"/>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5520D129-9BDD-4416-BAE8-830CD39609DD}"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4455B6-4E66-4D67-A6C5-A93C54955BC6}" type="slidenum">
              <a:rPr lang="es-BO" smtClean="0"/>
              <a:t>‹Nº›</a:t>
            </a:fld>
            <a:endParaRPr lang="es-B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038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20D129-9BDD-4416-BAE8-830CD39609DD}"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150937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520D129-9BDD-4416-BAE8-830CD39609DD}"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4455B6-4E66-4D67-A6C5-A93C54955BC6}" type="slidenum">
              <a:rPr lang="es-BO" smtClean="0"/>
              <a:t>‹Nº›</a:t>
            </a:fld>
            <a:endParaRPr lang="es-B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493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5520D129-9BDD-4416-BAE8-830CD39609DD}"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1165863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5520D129-9BDD-4416-BAE8-830CD39609DD}" type="datetimeFigureOut">
              <a:rPr lang="es-BO" smtClean="0"/>
              <a:t>24/10/2021</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3410620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5520D129-9BDD-4416-BAE8-830CD39609DD}" type="datetimeFigureOut">
              <a:rPr lang="es-BO" smtClean="0"/>
              <a:t>24/10/2021</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192978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520D129-9BDD-4416-BAE8-830CD39609DD}" type="datetimeFigureOut">
              <a:rPr lang="es-BO" smtClean="0"/>
              <a:t>24/10/2021</a:t>
            </a:fld>
            <a:endParaRPr lang="es-B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BO"/>
          </a:p>
        </p:txBody>
      </p:sp>
      <p:sp>
        <p:nvSpPr>
          <p:cNvPr id="9" name="Slide Number Placeholder 8"/>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1267508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520D129-9BDD-4416-BAE8-830CD39609DD}" type="datetimeFigureOut">
              <a:rPr lang="es-BO" smtClean="0"/>
              <a:t>24/10/2021</a:t>
            </a:fld>
            <a:endParaRPr lang="es-B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B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34455B6-4E66-4D67-A6C5-A93C54955BC6}" type="slidenum">
              <a:rPr lang="es-BO" smtClean="0"/>
              <a:t>‹Nº›</a:t>
            </a:fld>
            <a:endParaRPr lang="es-BO"/>
          </a:p>
        </p:txBody>
      </p:sp>
    </p:spTree>
    <p:extLst>
      <p:ext uri="{BB962C8B-B14F-4D97-AF65-F5344CB8AC3E}">
        <p14:creationId xmlns:p14="http://schemas.microsoft.com/office/powerpoint/2010/main" val="3354235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5520D129-9BDD-4416-BAE8-830CD39609DD}"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111775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20D129-9BDD-4416-BAE8-830CD39609DD}"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4191234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20D129-9BDD-4416-BAE8-830CD39609DD}"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4455B6-4E66-4D67-A6C5-A93C54955BC6}" type="slidenum">
              <a:rPr lang="es-BO" smtClean="0"/>
              <a:t>‹Nº›</a:t>
            </a:fld>
            <a:endParaRPr lang="es-BO"/>
          </a:p>
        </p:txBody>
      </p:sp>
    </p:spTree>
    <p:extLst>
      <p:ext uri="{BB962C8B-B14F-4D97-AF65-F5344CB8AC3E}">
        <p14:creationId xmlns:p14="http://schemas.microsoft.com/office/powerpoint/2010/main" val="3562885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20D129-9BDD-4416-BAE8-830CD39609DD}" type="datetimeFigureOut">
              <a:rPr lang="es-BO" smtClean="0"/>
              <a:t>24/10/2021</a:t>
            </a:fld>
            <a:endParaRPr lang="es-B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B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34455B6-4E66-4D67-A6C5-A93C54955BC6}" type="slidenum">
              <a:rPr lang="es-BO" smtClean="0"/>
              <a:t>‹Nº›</a:t>
            </a:fld>
            <a:endParaRPr lang="es-B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59044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910028" y="220187"/>
            <a:ext cx="2371944" cy="1714100"/>
          </a:xfrm>
          <a:prstGeom prst="rect">
            <a:avLst/>
          </a:prstGeom>
        </p:spPr>
      </p:pic>
      <p:sp>
        <p:nvSpPr>
          <p:cNvPr id="5" name="CuadroTexto 4"/>
          <p:cNvSpPr txBox="1"/>
          <p:nvPr/>
        </p:nvSpPr>
        <p:spPr>
          <a:xfrm>
            <a:off x="154745" y="3901900"/>
            <a:ext cx="12037255" cy="1384995"/>
          </a:xfrm>
          <a:prstGeom prst="rect">
            <a:avLst/>
          </a:prstGeom>
          <a:noFill/>
        </p:spPr>
        <p:txBody>
          <a:bodyPr wrap="square" rtlCol="0">
            <a:spAutoFit/>
          </a:bodyPr>
          <a:lstStyle/>
          <a:p>
            <a:pPr algn="ctr"/>
            <a:r>
              <a:rPr lang="es-BO" sz="4000" dirty="0" smtClean="0">
                <a:solidFill>
                  <a:srgbClr val="002060"/>
                </a:solidFill>
                <a:latin typeface="Maiandra GD" panose="020E0502030308020204" pitchFamily="34" charset="0"/>
              </a:rPr>
              <a:t>Modulo: Planificación y evaluación de proyectos</a:t>
            </a:r>
          </a:p>
          <a:p>
            <a:pPr algn="ctr"/>
            <a:r>
              <a:rPr lang="es-BO" sz="4400" dirty="0" smtClean="0">
                <a:solidFill>
                  <a:srgbClr val="002060"/>
                </a:solidFill>
                <a:latin typeface="Maiandra GD" panose="020E0502030308020204" pitchFamily="34" charset="0"/>
              </a:rPr>
              <a:t>Código: PEP-150</a:t>
            </a:r>
          </a:p>
        </p:txBody>
      </p:sp>
      <p:sp>
        <p:nvSpPr>
          <p:cNvPr id="7" name="CuadroTexto 6"/>
          <p:cNvSpPr txBox="1"/>
          <p:nvPr/>
        </p:nvSpPr>
        <p:spPr>
          <a:xfrm>
            <a:off x="3440876" y="6273225"/>
            <a:ext cx="5464992" cy="584775"/>
          </a:xfrm>
          <a:prstGeom prst="rect">
            <a:avLst/>
          </a:prstGeom>
          <a:noFill/>
        </p:spPr>
        <p:txBody>
          <a:bodyPr wrap="square" rtlCol="0">
            <a:spAutoFit/>
          </a:bodyPr>
          <a:lstStyle/>
          <a:p>
            <a:r>
              <a:rPr lang="es-BO" sz="3200" dirty="0" smtClean="0">
                <a:solidFill>
                  <a:schemeClr val="accent5">
                    <a:lumMod val="75000"/>
                  </a:schemeClr>
                </a:solidFill>
                <a:latin typeface="Maiandra GD" panose="020E0502030308020204" pitchFamily="34" charset="0"/>
              </a:rPr>
              <a:t>Docente: Ing. José C. Rojas P.</a:t>
            </a:r>
          </a:p>
        </p:txBody>
      </p:sp>
      <p:sp>
        <p:nvSpPr>
          <p:cNvPr id="9" name="CuadroTexto 8"/>
          <p:cNvSpPr txBox="1"/>
          <p:nvPr/>
        </p:nvSpPr>
        <p:spPr>
          <a:xfrm>
            <a:off x="1951449" y="2031341"/>
            <a:ext cx="8443846" cy="1446550"/>
          </a:xfrm>
          <a:prstGeom prst="rect">
            <a:avLst/>
          </a:prstGeom>
          <a:noFill/>
        </p:spPr>
        <p:txBody>
          <a:bodyPr wrap="square" rtlCol="0">
            <a:spAutoFit/>
          </a:bodyPr>
          <a:lstStyle/>
          <a:p>
            <a:pPr algn="ctr"/>
            <a:r>
              <a:rPr lang="es-BO" sz="4400" dirty="0" smtClean="0">
                <a:solidFill>
                  <a:srgbClr val="FF0000"/>
                </a:solidFill>
                <a:latin typeface="Maiandra GD" panose="020E0502030308020204" pitchFamily="34" charset="0"/>
              </a:rPr>
              <a:t>Carrera de Ingeniería de Sistemas</a:t>
            </a:r>
          </a:p>
          <a:p>
            <a:pPr algn="ctr"/>
            <a:r>
              <a:rPr lang="es-BO" sz="4400" dirty="0" smtClean="0">
                <a:solidFill>
                  <a:srgbClr val="FF0000"/>
                </a:solidFill>
                <a:latin typeface="Maiandra GD" panose="020E0502030308020204" pitchFamily="34" charset="0"/>
              </a:rPr>
              <a:t>Universidad Privada de Oruro</a:t>
            </a:r>
            <a:endParaRPr lang="es-BO" sz="4400" dirty="0">
              <a:solidFill>
                <a:srgbClr val="FF0000"/>
              </a:solidFill>
              <a:latin typeface="Maiandra GD" panose="020E0502030308020204" pitchFamily="34" charset="0"/>
            </a:endParaRPr>
          </a:p>
        </p:txBody>
      </p:sp>
    </p:spTree>
    <p:extLst>
      <p:ext uri="{BB962C8B-B14F-4D97-AF65-F5344CB8AC3E}">
        <p14:creationId xmlns:p14="http://schemas.microsoft.com/office/powerpoint/2010/main" val="3947120550"/>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8" name="CuadroTexto 7"/>
          <p:cNvSpPr txBox="1"/>
          <p:nvPr/>
        </p:nvSpPr>
        <p:spPr>
          <a:xfrm>
            <a:off x="502507" y="1534413"/>
            <a:ext cx="11483788" cy="3539430"/>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La importancia de definir el tamaño que tendrá el proyecto se manifiesta principalmente en su incidencia sobre el nivel de las inversiones y los costos que se calculen y, por tanto, sobre la estimación de la rentabilidad que podría generar su implementación. De igual manera, la decisión que se tome respecto del tamaño determinará el nivel de operación que posteriormente explicará la estimación de los ingresos por venta. En este capítulo se analizarán los factores que influyen en la decisión del tamaño, los procedimientos para su cálculo y los criterios para buscar su optimización.</a:t>
            </a:r>
            <a:endParaRPr lang="es-BO" sz="2800" dirty="0">
              <a:solidFill>
                <a:srgbClr val="002060"/>
              </a:solidFill>
            </a:endParaRPr>
          </a:p>
        </p:txBody>
      </p:sp>
    </p:spTree>
    <p:extLst>
      <p:ext uri="{BB962C8B-B14F-4D97-AF65-F5344CB8AC3E}">
        <p14:creationId xmlns:p14="http://schemas.microsoft.com/office/powerpoint/2010/main" val="408322429"/>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8.1 Factores que determinan el tamaño del proyecto</a:t>
            </a:r>
          </a:p>
        </p:txBody>
      </p:sp>
      <p:sp>
        <p:nvSpPr>
          <p:cNvPr id="8" name="CuadroTexto 7"/>
          <p:cNvSpPr txBox="1"/>
          <p:nvPr/>
        </p:nvSpPr>
        <p:spPr>
          <a:xfrm>
            <a:off x="502507" y="2448813"/>
            <a:ext cx="11483788" cy="1815882"/>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La determinación del tamaño responde a un análisis interrelacionado de una gran cantidad de variables de un proyecto: demanda, disponibilidad de insumos, localización y plan estratégico comercial de desarrollo futuro de la empresa que se crearía con el proyecto, entre otras.</a:t>
            </a:r>
            <a:endParaRPr lang="es-BO" sz="2800" dirty="0">
              <a:solidFill>
                <a:srgbClr val="002060"/>
              </a:solidFill>
            </a:endParaRPr>
          </a:p>
        </p:txBody>
      </p:sp>
    </p:spTree>
    <p:extLst>
      <p:ext uri="{BB962C8B-B14F-4D97-AF65-F5344CB8AC3E}">
        <p14:creationId xmlns:p14="http://schemas.microsoft.com/office/powerpoint/2010/main" val="98066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8.1 Factores que determinan el tamaño del proyecto</a:t>
            </a:r>
          </a:p>
        </p:txBody>
      </p:sp>
      <p:sp>
        <p:nvSpPr>
          <p:cNvPr id="8" name="CuadroTexto 7"/>
          <p:cNvSpPr txBox="1"/>
          <p:nvPr/>
        </p:nvSpPr>
        <p:spPr>
          <a:xfrm>
            <a:off x="502507" y="2448813"/>
            <a:ext cx="11483788" cy="2677656"/>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Siempre que se trate de establecer el tamaño más adecuado de un proyecto se deberá apelar a la información disponible en torno al mercado, al proceso productivo, a la localización, a la disponibilidad de insumos y otros factores que serán considerados más o menos relevantes dependiendo del proyecto de que se trate ; de todos modos, a la dimensión definitiva se llegará mediante un proceso de aproximaciones sucesivas.</a:t>
            </a:r>
            <a:endParaRPr lang="es-BO" sz="2800" dirty="0">
              <a:solidFill>
                <a:srgbClr val="002060"/>
              </a:solidFill>
            </a:endParaRPr>
          </a:p>
        </p:txBody>
      </p:sp>
    </p:spTree>
    <p:extLst>
      <p:ext uri="{BB962C8B-B14F-4D97-AF65-F5344CB8AC3E}">
        <p14:creationId xmlns:p14="http://schemas.microsoft.com/office/powerpoint/2010/main" val="4250978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8.1 Factores que determinan el tamaño del proyecto</a:t>
            </a:r>
          </a:p>
        </p:txBody>
      </p:sp>
      <p:sp>
        <p:nvSpPr>
          <p:cNvPr id="8" name="CuadroTexto 7"/>
          <p:cNvSpPr txBox="1"/>
          <p:nvPr/>
        </p:nvSpPr>
        <p:spPr>
          <a:xfrm>
            <a:off x="502507" y="2448813"/>
            <a:ext cx="11483788" cy="3539430"/>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smtClean="0">
                <a:solidFill>
                  <a:srgbClr val="002060"/>
                </a:solidFill>
              </a:rPr>
              <a:t>1 Tamaño </a:t>
            </a:r>
            <a:r>
              <a:rPr lang="es-BO" sz="2800" dirty="0" smtClean="0">
                <a:solidFill>
                  <a:srgbClr val="002060"/>
                </a:solidFill>
              </a:rPr>
              <a:t>y mercado.</a:t>
            </a:r>
          </a:p>
          <a:p>
            <a:r>
              <a:rPr lang="es-BO" sz="2800" dirty="0" smtClean="0">
                <a:solidFill>
                  <a:srgbClr val="002060"/>
                </a:solidFill>
              </a:rPr>
              <a:t>La magnitud del mercado es uno de los aspectos que es preciso considerar al estudiar el tamaño del proyecto; por lo tanto nuestra reflexión en torno a la estimación del tamaño más apropiado debe descansar en el estudio del comportamiento de la demanda en su relación con el ingreso, con los precios, con los cambios en la distribución geográfica del mercado, con la movilidad, distribución geográfica y la estratificación de la población y, obviamente, con respecto a los costos unitarios propios del proyecto.</a:t>
            </a:r>
            <a:endParaRPr lang="es-BO" sz="2800" dirty="0">
              <a:solidFill>
                <a:srgbClr val="002060"/>
              </a:solidFill>
            </a:endParaRPr>
          </a:p>
        </p:txBody>
      </p:sp>
    </p:spTree>
    <p:extLst>
      <p:ext uri="{BB962C8B-B14F-4D97-AF65-F5344CB8AC3E}">
        <p14:creationId xmlns:p14="http://schemas.microsoft.com/office/powerpoint/2010/main" val="620408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8.1 Factores que determinan el tamaño del proyecto</a:t>
            </a:r>
          </a:p>
        </p:txBody>
      </p:sp>
      <p:sp>
        <p:nvSpPr>
          <p:cNvPr id="8" name="CuadroTexto 7"/>
          <p:cNvSpPr txBox="1"/>
          <p:nvPr/>
        </p:nvSpPr>
        <p:spPr>
          <a:xfrm>
            <a:off x="502507" y="2448813"/>
            <a:ext cx="11483788" cy="2677656"/>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2 </a:t>
            </a:r>
            <a:r>
              <a:rPr lang="es-BO" sz="2800" dirty="0">
                <a:solidFill>
                  <a:srgbClr val="002060"/>
                </a:solidFill>
              </a:rPr>
              <a:t>Tamaño, costos y aspectos </a:t>
            </a:r>
            <a:r>
              <a:rPr lang="es-BO" sz="2800" dirty="0" smtClean="0">
                <a:solidFill>
                  <a:srgbClr val="002060"/>
                </a:solidFill>
              </a:rPr>
              <a:t>técnicos.</a:t>
            </a:r>
            <a:endParaRPr lang="es-BO" sz="2800" dirty="0">
              <a:solidFill>
                <a:srgbClr val="002060"/>
              </a:solidFill>
            </a:endParaRPr>
          </a:p>
          <a:p>
            <a:r>
              <a:rPr lang="es-BO" sz="2800" dirty="0">
                <a:solidFill>
                  <a:srgbClr val="002060"/>
                </a:solidFill>
              </a:rPr>
              <a:t>Tal como </a:t>
            </a:r>
            <a:r>
              <a:rPr lang="es-BO" sz="2800" dirty="0" smtClean="0">
                <a:solidFill>
                  <a:srgbClr val="002060"/>
                </a:solidFill>
              </a:rPr>
              <a:t>sabemos </a:t>
            </a:r>
            <a:r>
              <a:rPr lang="es-BO" sz="2800" dirty="0">
                <a:solidFill>
                  <a:srgbClr val="002060"/>
                </a:solidFill>
              </a:rPr>
              <a:t>los costos de un proyecto están estrechamente ligados a la definición del tamaño. Si la capacidad de producción se incrementa, los costos fijos unitarios decrecen y por lo tanto los costos unitarios totales, además se pueden manifestar economías de escala que mejoran la relación tamaño - costo.</a:t>
            </a:r>
          </a:p>
        </p:txBody>
      </p:sp>
    </p:spTree>
    <p:extLst>
      <p:ext uri="{BB962C8B-B14F-4D97-AF65-F5344CB8AC3E}">
        <p14:creationId xmlns:p14="http://schemas.microsoft.com/office/powerpoint/2010/main" val="3922413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8.1 Factores que determinan el tamaño del proyecto</a:t>
            </a:r>
          </a:p>
        </p:txBody>
      </p:sp>
      <p:sp>
        <p:nvSpPr>
          <p:cNvPr id="8" name="CuadroTexto 7"/>
          <p:cNvSpPr txBox="1"/>
          <p:nvPr/>
        </p:nvSpPr>
        <p:spPr>
          <a:xfrm>
            <a:off x="502507" y="2448813"/>
            <a:ext cx="11483788" cy="3108543"/>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3 Disponibilidad </a:t>
            </a:r>
            <a:r>
              <a:rPr lang="es-BO" sz="2800" dirty="0">
                <a:solidFill>
                  <a:srgbClr val="002060"/>
                </a:solidFill>
              </a:rPr>
              <a:t>de instintos y servicios públicos.</a:t>
            </a:r>
          </a:p>
          <a:p>
            <a:r>
              <a:rPr lang="es-BO" sz="2800" dirty="0">
                <a:solidFill>
                  <a:srgbClr val="002060"/>
                </a:solidFill>
              </a:rPr>
              <a:t>La producción de cualquier bien o la prestación de cualquier servicio requiere de la disponibilidad de cierta cantidad y calidad de insumos que se reciben a determinados precios. El estudio de mercado de insumos nos indica la magnitud de las necesidades de los mismos y la capacidad real de los proveedores para atender la demanda tanto de la competencia como la </a:t>
            </a:r>
            <a:r>
              <a:rPr lang="es-BO" sz="2800" dirty="0" smtClean="0">
                <a:solidFill>
                  <a:srgbClr val="002060"/>
                </a:solidFill>
              </a:rPr>
              <a:t>propia empresa. </a:t>
            </a:r>
            <a:endParaRPr lang="es-BO" sz="2800" dirty="0">
              <a:solidFill>
                <a:srgbClr val="002060"/>
              </a:solidFill>
            </a:endParaRPr>
          </a:p>
        </p:txBody>
      </p:sp>
    </p:spTree>
    <p:extLst>
      <p:ext uri="{BB962C8B-B14F-4D97-AF65-F5344CB8AC3E}">
        <p14:creationId xmlns:p14="http://schemas.microsoft.com/office/powerpoint/2010/main" val="952767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8.1 Factores que determinan el tamaño del proyecto</a:t>
            </a:r>
          </a:p>
        </p:txBody>
      </p:sp>
      <p:sp>
        <p:nvSpPr>
          <p:cNvPr id="8" name="CuadroTexto 7"/>
          <p:cNvSpPr txBox="1"/>
          <p:nvPr/>
        </p:nvSpPr>
        <p:spPr>
          <a:xfrm>
            <a:off x="389965" y="2126083"/>
            <a:ext cx="11483788" cy="2246769"/>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4 </a:t>
            </a:r>
            <a:r>
              <a:rPr lang="es-BO" sz="2800" dirty="0">
                <a:solidFill>
                  <a:srgbClr val="002060"/>
                </a:solidFill>
              </a:rPr>
              <a:t>Tamaño y Localización.</a:t>
            </a:r>
          </a:p>
          <a:p>
            <a:r>
              <a:rPr lang="es-BO" sz="2800" dirty="0">
                <a:solidFill>
                  <a:srgbClr val="002060"/>
                </a:solidFill>
              </a:rPr>
              <a:t>La distribución espacial del mercado de productos e insumos, además de la importancia de los costos de distribución, hacen que la determinación del tamaño esté relacionada en forma significativa a la ubicación final del proyecto. </a:t>
            </a:r>
          </a:p>
        </p:txBody>
      </p:sp>
    </p:spTree>
    <p:extLst>
      <p:ext uri="{BB962C8B-B14F-4D97-AF65-F5344CB8AC3E}">
        <p14:creationId xmlns:p14="http://schemas.microsoft.com/office/powerpoint/2010/main" val="1534287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8.1 Factores que determinan el tamaño del proyecto</a:t>
            </a:r>
          </a:p>
        </p:txBody>
      </p:sp>
      <p:sp>
        <p:nvSpPr>
          <p:cNvPr id="8" name="CuadroTexto 7"/>
          <p:cNvSpPr txBox="1"/>
          <p:nvPr/>
        </p:nvSpPr>
        <p:spPr>
          <a:xfrm>
            <a:off x="389965" y="2126083"/>
            <a:ext cx="11483788" cy="3539430"/>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5 </a:t>
            </a:r>
            <a:r>
              <a:rPr lang="es-BO" sz="2800" dirty="0">
                <a:solidFill>
                  <a:srgbClr val="002060"/>
                </a:solidFill>
              </a:rPr>
              <a:t>Tamaño y financiamiento.</a:t>
            </a:r>
          </a:p>
          <a:p>
            <a:r>
              <a:rPr lang="es-BO" sz="2800" dirty="0">
                <a:solidFill>
                  <a:srgbClr val="002060"/>
                </a:solidFill>
              </a:rPr>
              <a:t>Cuando la capacidad financiera está por debajo del tamaño mínimo posible, el proyecto no ofrece ninguna viabilidad y debe ser rechazado o, por lo menos, replanteado. Pero si los recursos financieros permiten seleccionar entre varios tamaños </a:t>
            </a:r>
            <a:r>
              <a:rPr lang="es-BO" sz="2800" dirty="0" err="1" smtClean="0">
                <a:solidFill>
                  <a:srgbClr val="002060"/>
                </a:solidFill>
              </a:rPr>
              <a:t>altermos</a:t>
            </a:r>
            <a:r>
              <a:rPr lang="es-BO" sz="2800" dirty="0">
                <a:solidFill>
                  <a:srgbClr val="002060"/>
                </a:solidFill>
              </a:rPr>
              <a:t>, se precisa escoger aquella escala que garantice costos mínimos, obviamente teniendo en cuenta las restricciones del mercado.</a:t>
            </a:r>
          </a:p>
          <a:p>
            <a:r>
              <a:rPr lang="es-BO" sz="2800" dirty="0">
                <a:solidFill>
                  <a:srgbClr val="002060"/>
                </a:solidFill>
              </a:rPr>
              <a:t>Cuando coexisten restricciones financieras temporales, vale la pena estudiar, si los procesos técnicos lo permiten, su desarrollo por etapas.</a:t>
            </a:r>
          </a:p>
        </p:txBody>
      </p:sp>
    </p:spTree>
    <p:extLst>
      <p:ext uri="{BB962C8B-B14F-4D97-AF65-F5344CB8AC3E}">
        <p14:creationId xmlns:p14="http://schemas.microsoft.com/office/powerpoint/2010/main" val="4212785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8.2 Economía </a:t>
            </a:r>
            <a:r>
              <a:rPr lang="es-BO" sz="2800" dirty="0">
                <a:ln w="0"/>
                <a:solidFill>
                  <a:srgbClr val="C00000"/>
                </a:solidFill>
                <a:effectLst>
                  <a:outerShdw blurRad="50800" dist="38100" dir="13500000" algn="br" rotWithShape="0">
                    <a:srgbClr val="FFC000">
                      <a:alpha val="40000"/>
                    </a:srgbClr>
                  </a:outerShdw>
                </a:effectLst>
              </a:rPr>
              <a:t>del tamaño</a:t>
            </a:r>
          </a:p>
        </p:txBody>
      </p:sp>
      <p:sp>
        <p:nvSpPr>
          <p:cNvPr id="8" name="CuadroTexto 7"/>
          <p:cNvSpPr txBox="1"/>
          <p:nvPr/>
        </p:nvSpPr>
        <p:spPr>
          <a:xfrm>
            <a:off x="389965" y="2126083"/>
            <a:ext cx="11483788" cy="2677656"/>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a:solidFill>
                  <a:srgbClr val="002060"/>
                </a:solidFill>
              </a:rPr>
              <a:t>La economía del tamaño es una variable que se relaciona con el manejo de los insumos, observándose dos escenarios</a:t>
            </a:r>
            <a:r>
              <a:rPr lang="es-BO" sz="2800" dirty="0" smtClean="0">
                <a:solidFill>
                  <a:srgbClr val="002060"/>
                </a:solidFill>
              </a:rPr>
              <a:t>:</a:t>
            </a:r>
          </a:p>
          <a:p>
            <a:endParaRPr lang="es-BO" sz="2800" dirty="0">
              <a:solidFill>
                <a:srgbClr val="002060"/>
              </a:solidFill>
            </a:endParaRPr>
          </a:p>
          <a:p>
            <a:r>
              <a:rPr lang="es-BO" sz="2800" dirty="0">
                <a:solidFill>
                  <a:srgbClr val="002060"/>
                </a:solidFill>
              </a:rPr>
              <a:t>Economías de </a:t>
            </a:r>
            <a:r>
              <a:rPr lang="es-BO" sz="2800" dirty="0" smtClean="0">
                <a:solidFill>
                  <a:srgbClr val="002060"/>
                </a:solidFill>
              </a:rPr>
              <a:t>escala.</a:t>
            </a:r>
          </a:p>
          <a:p>
            <a:r>
              <a:rPr lang="es-BO" sz="2800" dirty="0" smtClean="0">
                <a:solidFill>
                  <a:srgbClr val="002060"/>
                </a:solidFill>
              </a:rPr>
              <a:t>Es </a:t>
            </a:r>
            <a:r>
              <a:rPr lang="es-BO" sz="2800" dirty="0">
                <a:solidFill>
                  <a:srgbClr val="002060"/>
                </a:solidFill>
              </a:rPr>
              <a:t>el incremento en la producción que se obtiene empleando la misma cantidad de insumos o reduciéndola</a:t>
            </a:r>
            <a:r>
              <a:rPr lang="es-BO" sz="2800" dirty="0" smtClean="0">
                <a:solidFill>
                  <a:srgbClr val="002060"/>
                </a:solidFill>
              </a:rPr>
              <a:t>.</a:t>
            </a:r>
            <a:endParaRPr lang="es-BO" sz="2800" dirty="0">
              <a:solidFill>
                <a:srgbClr val="002060"/>
              </a:solidFill>
            </a:endParaRPr>
          </a:p>
        </p:txBody>
      </p:sp>
    </p:spTree>
    <p:extLst>
      <p:ext uri="{BB962C8B-B14F-4D97-AF65-F5344CB8AC3E}">
        <p14:creationId xmlns:p14="http://schemas.microsoft.com/office/powerpoint/2010/main" val="2440826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277471"/>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8.2 Economía </a:t>
            </a:r>
            <a:r>
              <a:rPr lang="es-BO" sz="2800" dirty="0">
                <a:ln w="0"/>
                <a:solidFill>
                  <a:srgbClr val="C00000"/>
                </a:solidFill>
                <a:effectLst>
                  <a:outerShdw blurRad="50800" dist="38100" dir="13500000" algn="br" rotWithShape="0">
                    <a:srgbClr val="FFC000">
                      <a:alpha val="40000"/>
                    </a:srgbClr>
                  </a:outerShdw>
                </a:effectLst>
              </a:rPr>
              <a:t>del tamaño</a:t>
            </a:r>
          </a:p>
        </p:txBody>
      </p:sp>
      <p:sp>
        <p:nvSpPr>
          <p:cNvPr id="8" name="CuadroTexto 7"/>
          <p:cNvSpPr txBox="1"/>
          <p:nvPr/>
        </p:nvSpPr>
        <p:spPr>
          <a:xfrm>
            <a:off x="389965" y="2126083"/>
            <a:ext cx="11483788" cy="1384995"/>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Des economías </a:t>
            </a:r>
            <a:r>
              <a:rPr lang="es-BO" sz="2800" dirty="0">
                <a:solidFill>
                  <a:srgbClr val="002060"/>
                </a:solidFill>
              </a:rPr>
              <a:t>de </a:t>
            </a:r>
            <a:r>
              <a:rPr lang="es-BO" sz="2800" dirty="0" smtClean="0">
                <a:solidFill>
                  <a:srgbClr val="002060"/>
                </a:solidFill>
              </a:rPr>
              <a:t>escala.</a:t>
            </a:r>
          </a:p>
          <a:p>
            <a:r>
              <a:rPr lang="es-BO" sz="2800" dirty="0" smtClean="0">
                <a:solidFill>
                  <a:srgbClr val="002060"/>
                </a:solidFill>
              </a:rPr>
              <a:t>Es </a:t>
            </a:r>
            <a:r>
              <a:rPr lang="es-BO" sz="2800" dirty="0">
                <a:solidFill>
                  <a:srgbClr val="002060"/>
                </a:solidFill>
              </a:rPr>
              <a:t>la disminución de la producción empleando los mismos insumos o aumentando el consumo de los mismos</a:t>
            </a:r>
            <a:r>
              <a:rPr lang="es-BO" sz="2800" dirty="0" smtClean="0">
                <a:solidFill>
                  <a:srgbClr val="002060"/>
                </a:solidFill>
              </a:rPr>
              <a:t>.</a:t>
            </a:r>
            <a:endParaRPr lang="es-BO" sz="2800" dirty="0">
              <a:solidFill>
                <a:srgbClr val="002060"/>
              </a:solidFill>
            </a:endParaRPr>
          </a:p>
        </p:txBody>
      </p:sp>
    </p:spTree>
    <p:extLst>
      <p:ext uri="{BB962C8B-B14F-4D97-AF65-F5344CB8AC3E}">
        <p14:creationId xmlns:p14="http://schemas.microsoft.com/office/powerpoint/2010/main" val="2764820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2771335" y="1810098"/>
            <a:ext cx="6654019" cy="50252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079643"/>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8.2 Economía </a:t>
            </a:r>
            <a:r>
              <a:rPr lang="es-BO" sz="2800" dirty="0">
                <a:ln w="0"/>
                <a:solidFill>
                  <a:srgbClr val="C00000"/>
                </a:solidFill>
                <a:effectLst>
                  <a:outerShdw blurRad="50800" dist="38100" dir="13500000" algn="br" rotWithShape="0">
                    <a:srgbClr val="FFC000">
                      <a:alpha val="40000"/>
                    </a:srgbClr>
                  </a:outerShdw>
                </a:effectLst>
              </a:rPr>
              <a:t>del tamaño</a:t>
            </a:r>
          </a:p>
        </p:txBody>
      </p:sp>
      <p:sp>
        <p:nvSpPr>
          <p:cNvPr id="8" name="CuadroTexto 7"/>
          <p:cNvSpPr txBox="1"/>
          <p:nvPr/>
        </p:nvSpPr>
        <p:spPr>
          <a:xfrm>
            <a:off x="381005" y="1575917"/>
            <a:ext cx="11483788" cy="523220"/>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Relación Ingresos, CT, CF, CV, volumen de producción.</a:t>
            </a:r>
            <a:endParaRPr lang="es-BO" sz="2800" dirty="0">
              <a:solidFill>
                <a:srgbClr val="002060"/>
              </a:solidFill>
            </a:endParaRPr>
          </a:p>
        </p:txBody>
      </p:sp>
      <p:pic>
        <p:nvPicPr>
          <p:cNvPr id="3" name="Imagen 2"/>
          <p:cNvPicPr>
            <a:picLocks noChangeAspect="1"/>
          </p:cNvPicPr>
          <p:nvPr/>
        </p:nvPicPr>
        <p:blipFill>
          <a:blip r:embed="rId2"/>
          <a:stretch>
            <a:fillRect/>
          </a:stretch>
        </p:blipFill>
        <p:spPr>
          <a:xfrm>
            <a:off x="2985801" y="2044762"/>
            <a:ext cx="6439553" cy="4790606"/>
          </a:xfrm>
          <a:prstGeom prst="rect">
            <a:avLst/>
          </a:prstGeom>
        </p:spPr>
      </p:pic>
    </p:spTree>
    <p:extLst>
      <p:ext uri="{BB962C8B-B14F-4D97-AF65-F5344CB8AC3E}">
        <p14:creationId xmlns:p14="http://schemas.microsoft.com/office/powerpoint/2010/main" val="2435240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079643"/>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8.3 La </a:t>
            </a:r>
            <a:r>
              <a:rPr lang="es-BO" sz="2800" dirty="0">
                <a:ln w="0"/>
                <a:solidFill>
                  <a:srgbClr val="C00000"/>
                </a:solidFill>
                <a:effectLst>
                  <a:outerShdw blurRad="50800" dist="38100" dir="13500000" algn="br" rotWithShape="0">
                    <a:srgbClr val="FFC000">
                      <a:alpha val="40000"/>
                    </a:srgbClr>
                  </a:outerShdw>
                </a:effectLst>
              </a:rPr>
              <a:t>optimización del tamaño</a:t>
            </a:r>
          </a:p>
        </p:txBody>
      </p:sp>
      <p:sp>
        <p:nvSpPr>
          <p:cNvPr id="8" name="CuadroTexto 7"/>
          <p:cNvSpPr txBox="1"/>
          <p:nvPr/>
        </p:nvSpPr>
        <p:spPr>
          <a:xfrm>
            <a:off x="381005" y="2265234"/>
            <a:ext cx="11483788" cy="2677656"/>
          </a:xfrm>
          <a:prstGeom prst="rect">
            <a:avLst/>
          </a:prstGeom>
          <a:noFill/>
          <a:effectLst>
            <a:outerShdw blurRad="50800" dist="38100" dir="5400000" algn="t" rotWithShape="0">
              <a:srgbClr val="002060">
                <a:alpha val="40000"/>
              </a:srgbClr>
            </a:outerShdw>
          </a:effectLst>
        </p:spPr>
        <p:txBody>
          <a:bodyPr wrap="square" rtlCol="0">
            <a:spAutoFit/>
          </a:bodyPr>
          <a:lstStyle/>
          <a:p>
            <a:pPr marL="457200" indent="-457200">
              <a:buFont typeface="Arial" panose="020B0604020202020204" pitchFamily="34" charset="0"/>
              <a:buChar char="•"/>
            </a:pPr>
            <a:r>
              <a:rPr lang="es-BO" sz="2800" dirty="0">
                <a:solidFill>
                  <a:srgbClr val="002060"/>
                </a:solidFill>
              </a:rPr>
              <a:t>Se define como aquel que conduce al </a:t>
            </a:r>
            <a:r>
              <a:rPr lang="es-BO" sz="2800" dirty="0" smtClean="0">
                <a:solidFill>
                  <a:srgbClr val="002060"/>
                </a:solidFill>
              </a:rPr>
              <a:t>resultado más </a:t>
            </a:r>
            <a:r>
              <a:rPr lang="es-BO" sz="2800" dirty="0">
                <a:solidFill>
                  <a:srgbClr val="002060"/>
                </a:solidFill>
              </a:rPr>
              <a:t>favorable para </a:t>
            </a:r>
            <a:r>
              <a:rPr lang="es-BO" sz="2800" dirty="0" smtClean="0">
                <a:solidFill>
                  <a:srgbClr val="002060"/>
                </a:solidFill>
              </a:rPr>
              <a:t>el proyecto </a:t>
            </a:r>
            <a:r>
              <a:rPr lang="es-BO" sz="2800" dirty="0">
                <a:solidFill>
                  <a:srgbClr val="002060"/>
                </a:solidFill>
              </a:rPr>
              <a:t>en su conjunto</a:t>
            </a:r>
            <a:r>
              <a:rPr lang="es-BO" sz="2800" dirty="0" smtClean="0">
                <a:solidFill>
                  <a:srgbClr val="002060"/>
                </a:solidFill>
              </a:rPr>
              <a:t>.</a:t>
            </a:r>
          </a:p>
          <a:p>
            <a:pPr marL="457200" indent="-457200">
              <a:buFont typeface="Arial" panose="020B0604020202020204" pitchFamily="34" charset="0"/>
              <a:buChar char="•"/>
            </a:pPr>
            <a:endParaRPr lang="es-BO" sz="2800" dirty="0" smtClean="0">
              <a:solidFill>
                <a:srgbClr val="002060"/>
              </a:solidFill>
            </a:endParaRPr>
          </a:p>
          <a:p>
            <a:pPr marL="457200" indent="-457200">
              <a:buFont typeface="Arial" panose="020B0604020202020204" pitchFamily="34" charset="0"/>
              <a:buChar char="•"/>
            </a:pPr>
            <a:r>
              <a:rPr lang="es-BO" sz="2800" dirty="0" smtClean="0">
                <a:solidFill>
                  <a:srgbClr val="002060"/>
                </a:solidFill>
              </a:rPr>
              <a:t>También </a:t>
            </a:r>
            <a:r>
              <a:rPr lang="es-BO" sz="2800" dirty="0">
                <a:solidFill>
                  <a:srgbClr val="002060"/>
                </a:solidFill>
              </a:rPr>
              <a:t>se dice que es aquella capacidad </a:t>
            </a:r>
            <a:r>
              <a:rPr lang="es-BO" sz="2800" dirty="0" smtClean="0">
                <a:solidFill>
                  <a:srgbClr val="002060"/>
                </a:solidFill>
              </a:rPr>
              <a:t>de producción </a:t>
            </a:r>
            <a:r>
              <a:rPr lang="es-BO" sz="2800" dirty="0">
                <a:solidFill>
                  <a:srgbClr val="002060"/>
                </a:solidFill>
              </a:rPr>
              <a:t>que nos conduce a </a:t>
            </a:r>
            <a:r>
              <a:rPr lang="es-BO" sz="2800" dirty="0" smtClean="0">
                <a:solidFill>
                  <a:srgbClr val="002060"/>
                </a:solidFill>
              </a:rPr>
              <a:t>la determinación del costo </a:t>
            </a:r>
            <a:r>
              <a:rPr lang="es-BO" sz="2800" dirty="0">
                <a:solidFill>
                  <a:srgbClr val="002060"/>
                </a:solidFill>
              </a:rPr>
              <a:t>unitario mínimo con respecto a la </a:t>
            </a:r>
            <a:r>
              <a:rPr lang="es-BO" sz="2800" dirty="0" smtClean="0">
                <a:solidFill>
                  <a:srgbClr val="002060"/>
                </a:solidFill>
              </a:rPr>
              <a:t>demanda actual </a:t>
            </a:r>
            <a:r>
              <a:rPr lang="es-BO" sz="2800" dirty="0">
                <a:solidFill>
                  <a:srgbClr val="002060"/>
                </a:solidFill>
              </a:rPr>
              <a:t>y en el mínimo tiempo deseable. </a:t>
            </a:r>
          </a:p>
        </p:txBody>
      </p:sp>
    </p:spTree>
    <p:extLst>
      <p:ext uri="{BB962C8B-B14F-4D97-AF65-F5344CB8AC3E}">
        <p14:creationId xmlns:p14="http://schemas.microsoft.com/office/powerpoint/2010/main" val="3293465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079643"/>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8.3 La </a:t>
            </a:r>
            <a:r>
              <a:rPr lang="es-BO" sz="2800" dirty="0">
                <a:ln w="0"/>
                <a:solidFill>
                  <a:srgbClr val="C00000"/>
                </a:solidFill>
                <a:effectLst>
                  <a:outerShdw blurRad="50800" dist="38100" dir="13500000" algn="br" rotWithShape="0">
                    <a:srgbClr val="FFC000">
                      <a:alpha val="40000"/>
                    </a:srgbClr>
                  </a:outerShdw>
                </a:effectLst>
              </a:rPr>
              <a:t>optimización del tamaño</a:t>
            </a:r>
          </a:p>
        </p:txBody>
      </p:sp>
      <p:sp>
        <p:nvSpPr>
          <p:cNvPr id="8" name="CuadroTexto 7"/>
          <p:cNvSpPr txBox="1"/>
          <p:nvPr/>
        </p:nvSpPr>
        <p:spPr>
          <a:xfrm>
            <a:off x="381005" y="2265234"/>
            <a:ext cx="11483788" cy="3108543"/>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a:solidFill>
                  <a:srgbClr val="002060"/>
                </a:solidFill>
              </a:rPr>
              <a:t>La determinación del tamaño óptimo debe basarse en dos consideraciones que confieren un carácter cambiante a la optimización del proyecto: </a:t>
            </a:r>
            <a:endParaRPr lang="es-BO" sz="2800" dirty="0" smtClean="0">
              <a:solidFill>
                <a:srgbClr val="002060"/>
              </a:solidFill>
            </a:endParaRPr>
          </a:p>
          <a:p>
            <a:endParaRPr lang="es-BO" sz="2800" dirty="0">
              <a:solidFill>
                <a:srgbClr val="002060"/>
              </a:solidFill>
            </a:endParaRPr>
          </a:p>
          <a:p>
            <a:pPr marL="457200" indent="-457200">
              <a:buFont typeface="Arial" panose="020B0604020202020204" pitchFamily="34" charset="0"/>
              <a:buChar char="•"/>
            </a:pPr>
            <a:r>
              <a:rPr lang="es-BO" sz="2800" dirty="0">
                <a:solidFill>
                  <a:srgbClr val="002060"/>
                </a:solidFill>
              </a:rPr>
              <a:t>La relación “precio-volumen”, por el efecto de la elasticidad de la demanda.</a:t>
            </a:r>
          </a:p>
          <a:p>
            <a:pPr marL="457200" indent="-457200">
              <a:buFont typeface="Arial" panose="020B0604020202020204" pitchFamily="34" charset="0"/>
              <a:buChar char="•"/>
            </a:pPr>
            <a:r>
              <a:rPr lang="es-BO" sz="2800" dirty="0">
                <a:solidFill>
                  <a:srgbClr val="002060"/>
                </a:solidFill>
              </a:rPr>
              <a:t>La relación “costo-volumen”, por las economías y </a:t>
            </a:r>
            <a:r>
              <a:rPr lang="es-BO" sz="2800" dirty="0" smtClean="0">
                <a:solidFill>
                  <a:srgbClr val="002060"/>
                </a:solidFill>
              </a:rPr>
              <a:t>des economías </a:t>
            </a:r>
            <a:r>
              <a:rPr lang="es-BO" sz="2800" dirty="0">
                <a:solidFill>
                  <a:srgbClr val="002060"/>
                </a:solidFill>
              </a:rPr>
              <a:t>de escala que pueden lograrse en el proceso productivo. </a:t>
            </a:r>
          </a:p>
        </p:txBody>
      </p:sp>
    </p:spTree>
    <p:extLst>
      <p:ext uri="{BB962C8B-B14F-4D97-AF65-F5344CB8AC3E}">
        <p14:creationId xmlns:p14="http://schemas.microsoft.com/office/powerpoint/2010/main" val="1420562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079643"/>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8.3 La </a:t>
            </a:r>
            <a:r>
              <a:rPr lang="es-BO" sz="2800" dirty="0">
                <a:ln w="0"/>
                <a:solidFill>
                  <a:srgbClr val="C00000"/>
                </a:solidFill>
                <a:effectLst>
                  <a:outerShdw blurRad="50800" dist="38100" dir="13500000" algn="br" rotWithShape="0">
                    <a:srgbClr val="FFC000">
                      <a:alpha val="40000"/>
                    </a:srgbClr>
                  </a:outerShdw>
                </a:effectLst>
              </a:rPr>
              <a:t>optimización del tamaño</a:t>
            </a:r>
          </a:p>
        </p:txBody>
      </p:sp>
      <p:sp>
        <p:nvSpPr>
          <p:cNvPr id="8" name="CuadroTexto 7"/>
          <p:cNvSpPr txBox="1"/>
          <p:nvPr/>
        </p:nvSpPr>
        <p:spPr>
          <a:xfrm>
            <a:off x="497540" y="2002973"/>
            <a:ext cx="9103659" cy="3539430"/>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De que depende el tamaño optimo de la planta. (Capacidad instalada.)</a:t>
            </a:r>
          </a:p>
          <a:p>
            <a:pPr marL="457200" indent="-457200">
              <a:buFont typeface="Arial" panose="020B0604020202020204" pitchFamily="34" charset="0"/>
              <a:buChar char="•"/>
            </a:pPr>
            <a:r>
              <a:rPr lang="es-BO" sz="2800" dirty="0" smtClean="0">
                <a:solidFill>
                  <a:srgbClr val="002060"/>
                </a:solidFill>
              </a:rPr>
              <a:t>Cantidad a producir.</a:t>
            </a:r>
          </a:p>
          <a:p>
            <a:pPr marL="457200" indent="-457200">
              <a:buFont typeface="Arial" panose="020B0604020202020204" pitchFamily="34" charset="0"/>
              <a:buChar char="•"/>
            </a:pPr>
            <a:r>
              <a:rPr lang="es-BO" sz="2800" dirty="0" smtClean="0">
                <a:solidFill>
                  <a:srgbClr val="002060"/>
                </a:solidFill>
              </a:rPr>
              <a:t>Tipo de mano de obra(manual, automático).</a:t>
            </a:r>
          </a:p>
          <a:p>
            <a:pPr marL="457200" indent="-457200">
              <a:buFont typeface="Arial" panose="020B0604020202020204" pitchFamily="34" charset="0"/>
              <a:buChar char="•"/>
            </a:pPr>
            <a:r>
              <a:rPr lang="es-BO" sz="2800" dirty="0" smtClean="0">
                <a:solidFill>
                  <a:srgbClr val="002060"/>
                </a:solidFill>
              </a:rPr>
              <a:t>Turnos de trabajo.</a:t>
            </a:r>
          </a:p>
          <a:p>
            <a:pPr marL="457200" indent="-457200">
              <a:buFont typeface="Arial" panose="020B0604020202020204" pitchFamily="34" charset="0"/>
              <a:buChar char="•"/>
            </a:pPr>
            <a:r>
              <a:rPr lang="es-BO" sz="2800" dirty="0" smtClean="0">
                <a:solidFill>
                  <a:srgbClr val="002060"/>
                </a:solidFill>
              </a:rPr>
              <a:t>Diseño de la planta (infraestructura.)</a:t>
            </a:r>
          </a:p>
          <a:p>
            <a:pPr marL="457200" indent="-457200">
              <a:buFont typeface="Arial" panose="020B0604020202020204" pitchFamily="34" charset="0"/>
              <a:buChar char="•"/>
            </a:pPr>
            <a:r>
              <a:rPr lang="es-BO" sz="2800" dirty="0" smtClean="0">
                <a:solidFill>
                  <a:srgbClr val="002060"/>
                </a:solidFill>
              </a:rPr>
              <a:t>Equipo clave.</a:t>
            </a:r>
          </a:p>
          <a:p>
            <a:pPr marL="457200" indent="-457200">
              <a:buFont typeface="Arial" panose="020B0604020202020204" pitchFamily="34" charset="0"/>
              <a:buChar char="•"/>
            </a:pPr>
            <a:r>
              <a:rPr lang="es-BO" sz="2800" dirty="0" smtClean="0">
                <a:solidFill>
                  <a:srgbClr val="002060"/>
                </a:solidFill>
              </a:rPr>
              <a:t>Optimización de la mano de obra.</a:t>
            </a:r>
            <a:endParaRPr lang="es-BO" sz="2800" dirty="0">
              <a:solidFill>
                <a:srgbClr val="002060"/>
              </a:solidFill>
            </a:endParaRPr>
          </a:p>
        </p:txBody>
      </p:sp>
    </p:spTree>
    <p:extLst>
      <p:ext uri="{BB962C8B-B14F-4D97-AF65-F5344CB8AC3E}">
        <p14:creationId xmlns:p14="http://schemas.microsoft.com/office/powerpoint/2010/main" val="4164900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079643"/>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8.3 La </a:t>
            </a:r>
            <a:r>
              <a:rPr lang="es-BO" sz="2800" dirty="0">
                <a:ln w="0"/>
                <a:solidFill>
                  <a:srgbClr val="C00000"/>
                </a:solidFill>
                <a:effectLst>
                  <a:outerShdw blurRad="50800" dist="38100" dir="13500000" algn="br" rotWithShape="0">
                    <a:srgbClr val="FFC000">
                      <a:alpha val="40000"/>
                    </a:srgbClr>
                  </a:outerShdw>
                </a:effectLst>
              </a:rPr>
              <a:t>optimización del tamaño</a:t>
            </a:r>
          </a:p>
        </p:txBody>
      </p:sp>
      <p:sp>
        <p:nvSpPr>
          <p:cNvPr id="8" name="CuadroTexto 7"/>
          <p:cNvSpPr txBox="1"/>
          <p:nvPr/>
        </p:nvSpPr>
        <p:spPr>
          <a:xfrm>
            <a:off x="941293" y="2002973"/>
            <a:ext cx="9103659" cy="2246769"/>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smtClean="0">
                <a:solidFill>
                  <a:srgbClr val="002060"/>
                </a:solidFill>
              </a:rPr>
              <a:t>Factores condicionantes.</a:t>
            </a:r>
          </a:p>
          <a:p>
            <a:pPr marL="457200" indent="-457200">
              <a:buFont typeface="Arial" panose="020B0604020202020204" pitchFamily="34" charset="0"/>
              <a:buChar char="•"/>
            </a:pPr>
            <a:r>
              <a:rPr lang="es-BO" sz="2800" dirty="0" smtClean="0">
                <a:solidFill>
                  <a:srgbClr val="002060"/>
                </a:solidFill>
              </a:rPr>
              <a:t>Mercado.</a:t>
            </a:r>
          </a:p>
          <a:p>
            <a:pPr marL="457200" indent="-457200">
              <a:buFont typeface="Arial" panose="020B0604020202020204" pitchFamily="34" charset="0"/>
              <a:buChar char="•"/>
            </a:pPr>
            <a:r>
              <a:rPr lang="es-BO" sz="2800" dirty="0" smtClean="0">
                <a:solidFill>
                  <a:srgbClr val="002060"/>
                </a:solidFill>
              </a:rPr>
              <a:t>Tecnología</a:t>
            </a:r>
          </a:p>
          <a:p>
            <a:pPr marL="457200" indent="-457200">
              <a:buFont typeface="Arial" panose="020B0604020202020204" pitchFamily="34" charset="0"/>
              <a:buChar char="•"/>
            </a:pPr>
            <a:r>
              <a:rPr lang="es-BO" sz="2800" dirty="0" smtClean="0">
                <a:solidFill>
                  <a:srgbClr val="002060"/>
                </a:solidFill>
              </a:rPr>
              <a:t>Financiamiento.</a:t>
            </a:r>
          </a:p>
          <a:p>
            <a:pPr marL="457200" indent="-457200">
              <a:buFont typeface="Arial" panose="020B0604020202020204" pitchFamily="34" charset="0"/>
              <a:buChar char="•"/>
            </a:pPr>
            <a:r>
              <a:rPr lang="es-BO" sz="2800" dirty="0" smtClean="0">
                <a:solidFill>
                  <a:srgbClr val="002060"/>
                </a:solidFill>
              </a:rPr>
              <a:t>Disponibilidad de recursos.</a:t>
            </a:r>
            <a:endParaRPr lang="es-BO" sz="2800" dirty="0">
              <a:solidFill>
                <a:srgbClr val="002060"/>
              </a:solidFill>
            </a:endParaRPr>
          </a:p>
        </p:txBody>
      </p:sp>
    </p:spTree>
    <p:extLst>
      <p:ext uri="{BB962C8B-B14F-4D97-AF65-F5344CB8AC3E}">
        <p14:creationId xmlns:p14="http://schemas.microsoft.com/office/powerpoint/2010/main" val="581805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079643"/>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8.4 El </a:t>
            </a:r>
            <a:r>
              <a:rPr lang="es-BO" sz="2800" dirty="0">
                <a:ln w="0"/>
                <a:solidFill>
                  <a:srgbClr val="C00000"/>
                </a:solidFill>
                <a:effectLst>
                  <a:outerShdw blurRad="50800" dist="38100" dir="13500000" algn="br" rotWithShape="0">
                    <a:srgbClr val="FFC000">
                      <a:alpha val="40000"/>
                    </a:srgbClr>
                  </a:outerShdw>
                </a:effectLst>
              </a:rPr>
              <a:t>tamaño de un proyecto con mercado creciente</a:t>
            </a:r>
          </a:p>
        </p:txBody>
      </p:sp>
      <p:sp>
        <p:nvSpPr>
          <p:cNvPr id="8" name="CuadroTexto 7"/>
          <p:cNvSpPr txBox="1"/>
          <p:nvPr/>
        </p:nvSpPr>
        <p:spPr>
          <a:xfrm>
            <a:off x="941293" y="2002973"/>
            <a:ext cx="9843248" cy="3108543"/>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a:solidFill>
                  <a:srgbClr val="002060"/>
                </a:solidFill>
              </a:rPr>
              <a:t>En general, la demanda crece a tasas diferentes a las del aumento en las capacidades de planta, lo que obliga a elegir entre dos estrategias alternativas: satisfacer por exceso o por defecto la demanda. En el primer caso se estará optando por mantener capacidad ociosa de producción, mientras que, en el segundo, se optará por dejar de percibir los beneficios que ocasionaría la opción de satisfacer a toda la demanda.</a:t>
            </a:r>
          </a:p>
        </p:txBody>
      </p:sp>
    </p:spTree>
    <p:extLst>
      <p:ext uri="{BB962C8B-B14F-4D97-AF65-F5344CB8AC3E}">
        <p14:creationId xmlns:p14="http://schemas.microsoft.com/office/powerpoint/2010/main" val="588001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571365" y="210688"/>
            <a:ext cx="9103069"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 La determinación del tamaño</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CuadroTexto 6"/>
          <p:cNvSpPr txBox="1"/>
          <p:nvPr/>
        </p:nvSpPr>
        <p:spPr>
          <a:xfrm>
            <a:off x="389965" y="1079643"/>
            <a:ext cx="938604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BO" sz="2800" dirty="0" smtClean="0">
                <a:ln w="0"/>
                <a:solidFill>
                  <a:srgbClr val="C00000"/>
                </a:solidFill>
                <a:effectLst>
                  <a:outerShdw blurRad="50800" dist="38100" dir="13500000" algn="br" rotWithShape="0">
                    <a:srgbClr val="FFC000">
                      <a:alpha val="40000"/>
                    </a:srgbClr>
                  </a:outerShdw>
                </a:effectLst>
              </a:rPr>
              <a:t>8.5 El </a:t>
            </a:r>
            <a:r>
              <a:rPr lang="es-BO" sz="2800" dirty="0">
                <a:ln w="0"/>
                <a:solidFill>
                  <a:srgbClr val="C00000"/>
                </a:solidFill>
                <a:effectLst>
                  <a:outerShdw blurRad="50800" dist="38100" dir="13500000" algn="br" rotWithShape="0">
                    <a:srgbClr val="FFC000">
                      <a:alpha val="40000"/>
                    </a:srgbClr>
                  </a:outerShdw>
                </a:effectLst>
              </a:rPr>
              <a:t>tamaño de un proyecto con demanda constante</a:t>
            </a:r>
          </a:p>
        </p:txBody>
      </p:sp>
      <p:sp>
        <p:nvSpPr>
          <p:cNvPr id="8" name="CuadroTexto 7"/>
          <p:cNvSpPr txBox="1"/>
          <p:nvPr/>
        </p:nvSpPr>
        <p:spPr>
          <a:xfrm>
            <a:off x="941293" y="2002973"/>
            <a:ext cx="9843248" cy="2246769"/>
          </a:xfrm>
          <a:prstGeom prst="rect">
            <a:avLst/>
          </a:prstGeom>
          <a:noFill/>
          <a:effectLst>
            <a:outerShdw blurRad="50800" dist="38100" dir="5400000" algn="t" rotWithShape="0">
              <a:srgbClr val="002060">
                <a:alpha val="40000"/>
              </a:srgbClr>
            </a:outerShdw>
          </a:effectLst>
        </p:spPr>
        <p:txBody>
          <a:bodyPr wrap="square" rtlCol="0">
            <a:spAutoFit/>
          </a:bodyPr>
          <a:lstStyle/>
          <a:p>
            <a:r>
              <a:rPr lang="es-BO" sz="2800" dirty="0">
                <a:solidFill>
                  <a:srgbClr val="002060"/>
                </a:solidFill>
              </a:rPr>
              <a:t>Un modelo menos frecuente es la información que está </a:t>
            </a:r>
            <a:r>
              <a:rPr lang="es-BO" sz="2800" dirty="0" smtClean="0">
                <a:solidFill>
                  <a:srgbClr val="002060"/>
                </a:solidFill>
              </a:rPr>
              <a:t>disponible, por ejemplo cuando </a:t>
            </a:r>
            <a:r>
              <a:rPr lang="es-BO" sz="2800" dirty="0">
                <a:solidFill>
                  <a:srgbClr val="002060"/>
                </a:solidFill>
              </a:rPr>
              <a:t>la demanda por satisfacer, es interna </a:t>
            </a:r>
            <a:r>
              <a:rPr lang="es-BO" sz="2800" dirty="0" smtClean="0">
                <a:solidFill>
                  <a:srgbClr val="002060"/>
                </a:solidFill>
              </a:rPr>
              <a:t>del proyecto</a:t>
            </a:r>
            <a:r>
              <a:rPr lang="es-BO" sz="2800" dirty="0">
                <a:solidFill>
                  <a:srgbClr val="002060"/>
                </a:solidFill>
              </a:rPr>
              <a:t>, se conoce la </a:t>
            </a:r>
            <a:r>
              <a:rPr lang="es-BO" sz="2800" dirty="0" smtClean="0">
                <a:solidFill>
                  <a:srgbClr val="002060"/>
                </a:solidFill>
              </a:rPr>
              <a:t>cantidad fija </a:t>
            </a:r>
            <a:r>
              <a:rPr lang="es-BO" sz="2800" dirty="0">
                <a:solidFill>
                  <a:srgbClr val="002060"/>
                </a:solidFill>
              </a:rPr>
              <a:t>de demanda por entender </a:t>
            </a:r>
            <a:r>
              <a:rPr lang="es-BO" sz="2800" dirty="0" smtClean="0">
                <a:solidFill>
                  <a:srgbClr val="002060"/>
                </a:solidFill>
              </a:rPr>
              <a:t>o incluso </a:t>
            </a:r>
            <a:r>
              <a:rPr lang="es-BO" sz="2800" dirty="0">
                <a:solidFill>
                  <a:srgbClr val="002060"/>
                </a:solidFill>
              </a:rPr>
              <a:t>es la decisión propia del inversionista </a:t>
            </a:r>
            <a:r>
              <a:rPr lang="es-BO" sz="2800" dirty="0" smtClean="0">
                <a:solidFill>
                  <a:srgbClr val="002060"/>
                </a:solidFill>
              </a:rPr>
              <a:t>el que </a:t>
            </a:r>
            <a:r>
              <a:rPr lang="es-BO" sz="2800" dirty="0">
                <a:solidFill>
                  <a:srgbClr val="002060"/>
                </a:solidFill>
              </a:rPr>
              <a:t>elige </a:t>
            </a:r>
            <a:r>
              <a:rPr lang="es-BO" sz="2800" dirty="0" smtClean="0">
                <a:solidFill>
                  <a:srgbClr val="002060"/>
                </a:solidFill>
              </a:rPr>
              <a:t>el tamaño </a:t>
            </a:r>
            <a:r>
              <a:rPr lang="es-BO" sz="2800" dirty="0">
                <a:solidFill>
                  <a:srgbClr val="002060"/>
                </a:solidFill>
              </a:rPr>
              <a:t>que exhibe el menor costo medio.</a:t>
            </a:r>
          </a:p>
        </p:txBody>
      </p:sp>
    </p:spTree>
    <p:extLst>
      <p:ext uri="{BB962C8B-B14F-4D97-AF65-F5344CB8AC3E}">
        <p14:creationId xmlns:p14="http://schemas.microsoft.com/office/powerpoint/2010/main" val="3625632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674659" y="2702859"/>
            <a:ext cx="806823" cy="369332"/>
          </a:xfrm>
          <a:prstGeom prst="rect">
            <a:avLst/>
          </a:prstGeom>
          <a:noFill/>
        </p:spPr>
        <p:txBody>
          <a:bodyPr wrap="square" rtlCol="0">
            <a:spAutoFit/>
          </a:bodyPr>
          <a:lstStyle/>
          <a:p>
            <a:r>
              <a:rPr lang="es-BO" dirty="0" smtClean="0"/>
              <a:t>FIN</a:t>
            </a:r>
            <a:endParaRPr lang="es-BO" dirty="0"/>
          </a:p>
        </p:txBody>
      </p:sp>
    </p:spTree>
    <p:extLst>
      <p:ext uri="{BB962C8B-B14F-4D97-AF65-F5344CB8AC3E}">
        <p14:creationId xmlns:p14="http://schemas.microsoft.com/office/powerpoint/2010/main" val="4150033253"/>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631</TotalTime>
  <Words>1179</Words>
  <Application>Microsoft Office PowerPoint</Application>
  <PresentationFormat>Panorámica</PresentationFormat>
  <Paragraphs>81</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Calibri Light</vt:lpstr>
      <vt:lpstr>Maiandra GD</vt:lpstr>
      <vt:lpstr>Retrospección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Consultores Academia</dc:creator>
  <cp:lastModifiedBy>Consultores Academia</cp:lastModifiedBy>
  <cp:revision>26</cp:revision>
  <dcterms:created xsi:type="dcterms:W3CDTF">2021-10-21T05:02:45Z</dcterms:created>
  <dcterms:modified xsi:type="dcterms:W3CDTF">2021-10-25T02:23:20Z</dcterms:modified>
</cp:coreProperties>
</file>