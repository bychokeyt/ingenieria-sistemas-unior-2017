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2" r:id="rId14"/>
    <p:sldId id="273" r:id="rId15"/>
    <p:sldId id="271" r:id="rId16"/>
    <p:sldId id="274" r:id="rId17"/>
    <p:sldId id="275" r:id="rId18"/>
    <p:sldId id="276" r:id="rId19"/>
    <p:sldId id="278" r:id="rId20"/>
    <p:sldId id="277" r:id="rId21"/>
    <p:sldId id="279" r:id="rId22"/>
    <p:sldId id="281" r:id="rId23"/>
    <p:sldId id="280" r:id="rId24"/>
    <p:sldId id="283" r:id="rId25"/>
    <p:sldId id="282" r:id="rId26"/>
    <p:sldId id="285" r:id="rId27"/>
    <p:sldId id="284" r:id="rId28"/>
    <p:sldId id="286" r:id="rId29"/>
    <p:sldId id="261" r:id="rId30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EFC5E2-D93F-4377-8C46-8C3D85071A8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1D20161-EC21-4209-84BD-A625F202D998}">
      <dgm:prSet phldrT="[Texto]"/>
      <dgm:spPr>
        <a:solidFill>
          <a:srgbClr val="FF0000"/>
        </a:solidFill>
      </dgm:spPr>
      <dgm:t>
        <a:bodyPr/>
        <a:lstStyle/>
        <a:p>
          <a:r>
            <a:rPr lang="es-ES" dirty="0" smtClean="0"/>
            <a:t>Precio</a:t>
          </a:r>
          <a:endParaRPr lang="es-ES" dirty="0"/>
        </a:p>
      </dgm:t>
    </dgm:pt>
    <dgm:pt modelId="{87A2417A-572B-43E3-AF41-B1BC6333EEF1}" type="parTrans" cxnId="{198F156A-E1EA-48C9-86DF-857BB8150047}">
      <dgm:prSet/>
      <dgm:spPr/>
      <dgm:t>
        <a:bodyPr/>
        <a:lstStyle/>
        <a:p>
          <a:endParaRPr lang="es-ES"/>
        </a:p>
      </dgm:t>
    </dgm:pt>
    <dgm:pt modelId="{D39DDBFF-2675-4B53-BD87-5FEEEACBB06C}" type="sibTrans" cxnId="{198F156A-E1EA-48C9-86DF-857BB8150047}">
      <dgm:prSet/>
      <dgm:spPr/>
      <dgm:t>
        <a:bodyPr/>
        <a:lstStyle/>
        <a:p>
          <a:endParaRPr lang="es-ES"/>
        </a:p>
      </dgm:t>
    </dgm:pt>
    <dgm:pt modelId="{D68AE76E-1985-46C7-BC53-BA67C3415EBF}">
      <dgm:prSet phldrT="[Texto]"/>
      <dgm:spPr>
        <a:solidFill>
          <a:srgbClr val="00B050"/>
        </a:solidFill>
      </dgm:spPr>
      <dgm:t>
        <a:bodyPr/>
        <a:lstStyle/>
        <a:p>
          <a:r>
            <a:rPr lang="es-ES" dirty="0" smtClean="0"/>
            <a:t>Oferta</a:t>
          </a:r>
          <a:endParaRPr lang="es-ES" dirty="0"/>
        </a:p>
      </dgm:t>
    </dgm:pt>
    <dgm:pt modelId="{4ABFCAB4-C6DE-4220-88C6-39EACB618425}" type="parTrans" cxnId="{D4440818-C4E5-4DF7-BBC9-C323ECB74052}">
      <dgm:prSet/>
      <dgm:spPr/>
      <dgm:t>
        <a:bodyPr/>
        <a:lstStyle/>
        <a:p>
          <a:endParaRPr lang="es-ES"/>
        </a:p>
      </dgm:t>
    </dgm:pt>
    <dgm:pt modelId="{E62EDF38-974B-4399-BBED-81954452EDCE}" type="sibTrans" cxnId="{D4440818-C4E5-4DF7-BBC9-C323ECB74052}">
      <dgm:prSet/>
      <dgm:spPr/>
      <dgm:t>
        <a:bodyPr/>
        <a:lstStyle/>
        <a:p>
          <a:endParaRPr lang="es-ES"/>
        </a:p>
      </dgm:t>
    </dgm:pt>
    <dgm:pt modelId="{023A1347-0924-4F49-B15F-8E77127C947C}">
      <dgm:prSet phldrT="[Texto]"/>
      <dgm:spPr/>
      <dgm:t>
        <a:bodyPr/>
        <a:lstStyle/>
        <a:p>
          <a:r>
            <a:rPr lang="es-ES" dirty="0" smtClean="0"/>
            <a:t>Lugar</a:t>
          </a:r>
          <a:endParaRPr lang="es-ES" dirty="0"/>
        </a:p>
      </dgm:t>
    </dgm:pt>
    <dgm:pt modelId="{379539D8-201D-47F6-BE3F-E65E083970A5}" type="parTrans" cxnId="{D9B3E64A-81F2-443B-A519-9C3CB5950327}">
      <dgm:prSet/>
      <dgm:spPr/>
      <dgm:t>
        <a:bodyPr/>
        <a:lstStyle/>
        <a:p>
          <a:endParaRPr lang="es-ES"/>
        </a:p>
      </dgm:t>
    </dgm:pt>
    <dgm:pt modelId="{560FA11C-77E9-40CD-A643-9B2DE5BAC545}" type="sibTrans" cxnId="{D9B3E64A-81F2-443B-A519-9C3CB5950327}">
      <dgm:prSet/>
      <dgm:spPr/>
      <dgm:t>
        <a:bodyPr/>
        <a:lstStyle/>
        <a:p>
          <a:endParaRPr lang="es-ES"/>
        </a:p>
      </dgm:t>
    </dgm:pt>
    <dgm:pt modelId="{6CB791B1-1D0B-40FC-A419-212BDB857C27}">
      <dgm:prSet phldrT="[Texto]"/>
      <dgm:spPr>
        <a:solidFill>
          <a:srgbClr val="0070C0"/>
        </a:solidFill>
      </dgm:spPr>
      <dgm:t>
        <a:bodyPr/>
        <a:lstStyle/>
        <a:p>
          <a:r>
            <a:rPr lang="es-BO" dirty="0" smtClean="0"/>
            <a:t>La capacidad de pago del demandante</a:t>
          </a:r>
          <a:endParaRPr lang="es-ES" dirty="0"/>
        </a:p>
      </dgm:t>
    </dgm:pt>
    <dgm:pt modelId="{84D3976A-BA92-4A87-989C-35F39FF82B7F}" type="parTrans" cxnId="{9ECD4F14-2705-4FED-8EC6-731A24618CCE}">
      <dgm:prSet/>
      <dgm:spPr/>
      <dgm:t>
        <a:bodyPr/>
        <a:lstStyle/>
        <a:p>
          <a:endParaRPr lang="es-ES"/>
        </a:p>
      </dgm:t>
    </dgm:pt>
    <dgm:pt modelId="{6088232C-4DA2-4EC2-9118-A7E139C618E9}" type="sibTrans" cxnId="{9ECD4F14-2705-4FED-8EC6-731A24618CCE}">
      <dgm:prSet/>
      <dgm:spPr/>
      <dgm:t>
        <a:bodyPr/>
        <a:lstStyle/>
        <a:p>
          <a:endParaRPr lang="es-ES"/>
        </a:p>
      </dgm:t>
    </dgm:pt>
    <dgm:pt modelId="{27321003-A093-4DE8-9B91-9A6483FBEE9F}">
      <dgm:prSet phldrT="[Texto]"/>
      <dgm:spPr>
        <a:solidFill>
          <a:srgbClr val="7030A0"/>
        </a:solidFill>
      </dgm:spPr>
      <dgm:t>
        <a:bodyPr/>
        <a:lstStyle/>
        <a:p>
          <a:r>
            <a:rPr lang="es-ES" dirty="0" smtClean="0"/>
            <a:t>Deseos y necesidades</a:t>
          </a:r>
          <a:endParaRPr lang="es-ES" dirty="0"/>
        </a:p>
      </dgm:t>
    </dgm:pt>
    <dgm:pt modelId="{250AC48A-DE8E-480C-ACC0-0C7AB587F7E7}" type="parTrans" cxnId="{CDE032D8-8621-4C6A-966C-D60C66C4730A}">
      <dgm:prSet/>
      <dgm:spPr/>
      <dgm:t>
        <a:bodyPr/>
        <a:lstStyle/>
        <a:p>
          <a:endParaRPr lang="es-ES"/>
        </a:p>
      </dgm:t>
    </dgm:pt>
    <dgm:pt modelId="{8050B751-33EE-4396-83C4-F81BE40E3DB2}" type="sibTrans" cxnId="{CDE032D8-8621-4C6A-966C-D60C66C4730A}">
      <dgm:prSet/>
      <dgm:spPr/>
      <dgm:t>
        <a:bodyPr/>
        <a:lstStyle/>
        <a:p>
          <a:endParaRPr lang="es-ES"/>
        </a:p>
      </dgm:t>
    </dgm:pt>
    <dgm:pt modelId="{83518F73-01CF-464B-B2DC-14772704CD49}" type="pres">
      <dgm:prSet presAssocID="{67EFC5E2-D93F-4377-8C46-8C3D85071A8C}" presName="diagram" presStyleCnt="0">
        <dgm:presLayoutVars>
          <dgm:dir/>
          <dgm:resizeHandles val="exact"/>
        </dgm:presLayoutVars>
      </dgm:prSet>
      <dgm:spPr/>
    </dgm:pt>
    <dgm:pt modelId="{58F7BECB-0129-456F-AA01-6B678874E633}" type="pres">
      <dgm:prSet presAssocID="{71D20161-EC21-4209-84BD-A625F202D99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68AE999-353B-4061-9DC1-A8634D84FA88}" type="pres">
      <dgm:prSet presAssocID="{D39DDBFF-2675-4B53-BD87-5FEEEACBB06C}" presName="sibTrans" presStyleCnt="0"/>
      <dgm:spPr/>
    </dgm:pt>
    <dgm:pt modelId="{84852F1E-585A-4B0D-A4A4-00DBDEAFBCC8}" type="pres">
      <dgm:prSet presAssocID="{D68AE76E-1985-46C7-BC53-BA67C3415EB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532F6BA-A94D-451B-940D-DA05EF52F58D}" type="pres">
      <dgm:prSet presAssocID="{E62EDF38-974B-4399-BBED-81954452EDCE}" presName="sibTrans" presStyleCnt="0"/>
      <dgm:spPr/>
    </dgm:pt>
    <dgm:pt modelId="{E1734998-B313-445E-A83A-1A7125823732}" type="pres">
      <dgm:prSet presAssocID="{023A1347-0924-4F49-B15F-8E77127C947C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AA0D908-695D-4D65-9BF7-DBB0C27ABC13}" type="pres">
      <dgm:prSet presAssocID="{560FA11C-77E9-40CD-A643-9B2DE5BAC545}" presName="sibTrans" presStyleCnt="0"/>
      <dgm:spPr/>
    </dgm:pt>
    <dgm:pt modelId="{7B662B71-695E-4A2E-8A9C-C555225CF314}" type="pres">
      <dgm:prSet presAssocID="{6CB791B1-1D0B-40FC-A419-212BDB857C2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0DF6636-A843-4BE6-954C-0516D596FEDC}" type="pres">
      <dgm:prSet presAssocID="{6088232C-4DA2-4EC2-9118-A7E139C618E9}" presName="sibTrans" presStyleCnt="0"/>
      <dgm:spPr/>
    </dgm:pt>
    <dgm:pt modelId="{FB13AB28-4820-4ADB-8C56-E5F5BEAB2CA4}" type="pres">
      <dgm:prSet presAssocID="{27321003-A093-4DE8-9B91-9A6483FBEE9F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429484A4-5BBB-482C-8870-2AE44987CA77}" type="presOf" srcId="{6CB791B1-1D0B-40FC-A419-212BDB857C27}" destId="{7B662B71-695E-4A2E-8A9C-C555225CF314}" srcOrd="0" destOrd="0" presId="urn:microsoft.com/office/officeart/2005/8/layout/default"/>
    <dgm:cxn modelId="{E612E2AA-3E67-449D-886E-9FFF0B8CBEF7}" type="presOf" srcId="{27321003-A093-4DE8-9B91-9A6483FBEE9F}" destId="{FB13AB28-4820-4ADB-8C56-E5F5BEAB2CA4}" srcOrd="0" destOrd="0" presId="urn:microsoft.com/office/officeart/2005/8/layout/default"/>
    <dgm:cxn modelId="{A3B517DF-6AF0-4CE5-80BE-2581F21B69DA}" type="presOf" srcId="{D68AE76E-1985-46C7-BC53-BA67C3415EBF}" destId="{84852F1E-585A-4B0D-A4A4-00DBDEAFBCC8}" srcOrd="0" destOrd="0" presId="urn:microsoft.com/office/officeart/2005/8/layout/default"/>
    <dgm:cxn modelId="{D4440818-C4E5-4DF7-BBC9-C323ECB74052}" srcId="{67EFC5E2-D93F-4377-8C46-8C3D85071A8C}" destId="{D68AE76E-1985-46C7-BC53-BA67C3415EBF}" srcOrd="1" destOrd="0" parTransId="{4ABFCAB4-C6DE-4220-88C6-39EACB618425}" sibTransId="{E62EDF38-974B-4399-BBED-81954452EDCE}"/>
    <dgm:cxn modelId="{CDE032D8-8621-4C6A-966C-D60C66C4730A}" srcId="{67EFC5E2-D93F-4377-8C46-8C3D85071A8C}" destId="{27321003-A093-4DE8-9B91-9A6483FBEE9F}" srcOrd="4" destOrd="0" parTransId="{250AC48A-DE8E-480C-ACC0-0C7AB587F7E7}" sibTransId="{8050B751-33EE-4396-83C4-F81BE40E3DB2}"/>
    <dgm:cxn modelId="{05641544-1EE9-4CD6-B629-1D8CFE098A0C}" type="presOf" srcId="{67EFC5E2-D93F-4377-8C46-8C3D85071A8C}" destId="{83518F73-01CF-464B-B2DC-14772704CD49}" srcOrd="0" destOrd="0" presId="urn:microsoft.com/office/officeart/2005/8/layout/default"/>
    <dgm:cxn modelId="{404A5492-5B33-4776-815C-1554E0C8A8F8}" type="presOf" srcId="{71D20161-EC21-4209-84BD-A625F202D998}" destId="{58F7BECB-0129-456F-AA01-6B678874E633}" srcOrd="0" destOrd="0" presId="urn:microsoft.com/office/officeart/2005/8/layout/default"/>
    <dgm:cxn modelId="{198F156A-E1EA-48C9-86DF-857BB8150047}" srcId="{67EFC5E2-D93F-4377-8C46-8C3D85071A8C}" destId="{71D20161-EC21-4209-84BD-A625F202D998}" srcOrd="0" destOrd="0" parTransId="{87A2417A-572B-43E3-AF41-B1BC6333EEF1}" sibTransId="{D39DDBFF-2675-4B53-BD87-5FEEEACBB06C}"/>
    <dgm:cxn modelId="{9ECD4F14-2705-4FED-8EC6-731A24618CCE}" srcId="{67EFC5E2-D93F-4377-8C46-8C3D85071A8C}" destId="{6CB791B1-1D0B-40FC-A419-212BDB857C27}" srcOrd="3" destOrd="0" parTransId="{84D3976A-BA92-4A87-989C-35F39FF82B7F}" sibTransId="{6088232C-4DA2-4EC2-9118-A7E139C618E9}"/>
    <dgm:cxn modelId="{D9B3E64A-81F2-443B-A519-9C3CB5950327}" srcId="{67EFC5E2-D93F-4377-8C46-8C3D85071A8C}" destId="{023A1347-0924-4F49-B15F-8E77127C947C}" srcOrd="2" destOrd="0" parTransId="{379539D8-201D-47F6-BE3F-E65E083970A5}" sibTransId="{560FA11C-77E9-40CD-A643-9B2DE5BAC545}"/>
    <dgm:cxn modelId="{C5D1999A-7D47-4BF2-94D0-4FD410CC27A5}" type="presOf" srcId="{023A1347-0924-4F49-B15F-8E77127C947C}" destId="{E1734998-B313-445E-A83A-1A7125823732}" srcOrd="0" destOrd="0" presId="urn:microsoft.com/office/officeart/2005/8/layout/default"/>
    <dgm:cxn modelId="{0D88F833-7B67-415C-8EC0-6740E16B80D0}" type="presParOf" srcId="{83518F73-01CF-464B-B2DC-14772704CD49}" destId="{58F7BECB-0129-456F-AA01-6B678874E633}" srcOrd="0" destOrd="0" presId="urn:microsoft.com/office/officeart/2005/8/layout/default"/>
    <dgm:cxn modelId="{34BA92F8-ED1F-427B-9510-01DC8C305F97}" type="presParOf" srcId="{83518F73-01CF-464B-B2DC-14772704CD49}" destId="{668AE999-353B-4061-9DC1-A8634D84FA88}" srcOrd="1" destOrd="0" presId="urn:microsoft.com/office/officeart/2005/8/layout/default"/>
    <dgm:cxn modelId="{0FA1D95B-0B52-46FE-8DEC-C3DDD09239D4}" type="presParOf" srcId="{83518F73-01CF-464B-B2DC-14772704CD49}" destId="{84852F1E-585A-4B0D-A4A4-00DBDEAFBCC8}" srcOrd="2" destOrd="0" presId="urn:microsoft.com/office/officeart/2005/8/layout/default"/>
    <dgm:cxn modelId="{DA74CD02-D7FA-4EE0-8886-521A208210D9}" type="presParOf" srcId="{83518F73-01CF-464B-B2DC-14772704CD49}" destId="{8532F6BA-A94D-451B-940D-DA05EF52F58D}" srcOrd="3" destOrd="0" presId="urn:microsoft.com/office/officeart/2005/8/layout/default"/>
    <dgm:cxn modelId="{84FD43EC-5F7C-4AC4-B665-210BC8C932F0}" type="presParOf" srcId="{83518F73-01CF-464B-B2DC-14772704CD49}" destId="{E1734998-B313-445E-A83A-1A7125823732}" srcOrd="4" destOrd="0" presId="urn:microsoft.com/office/officeart/2005/8/layout/default"/>
    <dgm:cxn modelId="{7241C05F-F848-4BAB-A9D3-518968407FA1}" type="presParOf" srcId="{83518F73-01CF-464B-B2DC-14772704CD49}" destId="{DAA0D908-695D-4D65-9BF7-DBB0C27ABC13}" srcOrd="5" destOrd="0" presId="urn:microsoft.com/office/officeart/2005/8/layout/default"/>
    <dgm:cxn modelId="{C82D7568-36DC-4F6C-A1B7-A3A65EB0731B}" type="presParOf" srcId="{83518F73-01CF-464B-B2DC-14772704CD49}" destId="{7B662B71-695E-4A2E-8A9C-C555225CF314}" srcOrd="6" destOrd="0" presId="urn:microsoft.com/office/officeart/2005/8/layout/default"/>
    <dgm:cxn modelId="{CBE17CE8-3F35-4263-963E-132DBF95AB03}" type="presParOf" srcId="{83518F73-01CF-464B-B2DC-14772704CD49}" destId="{70DF6636-A843-4BE6-954C-0516D596FEDC}" srcOrd="7" destOrd="0" presId="urn:microsoft.com/office/officeart/2005/8/layout/default"/>
    <dgm:cxn modelId="{85A600C4-B35F-4634-BA40-ED6C7370CF33}" type="presParOf" srcId="{83518F73-01CF-464B-B2DC-14772704CD49}" destId="{FB13AB28-4820-4ADB-8C56-E5F5BEAB2CA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F7BECB-0129-456F-AA01-6B678874E633}">
      <dsp:nvSpPr>
        <dsp:cNvPr id="0" name=""/>
        <dsp:cNvSpPr/>
      </dsp:nvSpPr>
      <dsp:spPr>
        <a:xfrm>
          <a:off x="353508" y="1031"/>
          <a:ext cx="2306135" cy="1383681"/>
        </a:xfrm>
        <a:prstGeom prst="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Precio</a:t>
          </a:r>
          <a:endParaRPr lang="es-ES" sz="2300" kern="1200" dirty="0"/>
        </a:p>
      </dsp:txBody>
      <dsp:txXfrm>
        <a:off x="353508" y="1031"/>
        <a:ext cx="2306135" cy="1383681"/>
      </dsp:txXfrm>
    </dsp:sp>
    <dsp:sp modelId="{84852F1E-585A-4B0D-A4A4-00DBDEAFBCC8}">
      <dsp:nvSpPr>
        <dsp:cNvPr id="0" name=""/>
        <dsp:cNvSpPr/>
      </dsp:nvSpPr>
      <dsp:spPr>
        <a:xfrm>
          <a:off x="2890256" y="1031"/>
          <a:ext cx="2306135" cy="1383681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Oferta</a:t>
          </a:r>
          <a:endParaRPr lang="es-ES" sz="2300" kern="1200" dirty="0"/>
        </a:p>
      </dsp:txBody>
      <dsp:txXfrm>
        <a:off x="2890256" y="1031"/>
        <a:ext cx="2306135" cy="1383681"/>
      </dsp:txXfrm>
    </dsp:sp>
    <dsp:sp modelId="{E1734998-B313-445E-A83A-1A7125823732}">
      <dsp:nvSpPr>
        <dsp:cNvPr id="0" name=""/>
        <dsp:cNvSpPr/>
      </dsp:nvSpPr>
      <dsp:spPr>
        <a:xfrm>
          <a:off x="353508" y="1615325"/>
          <a:ext cx="2306135" cy="13836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Lugar</a:t>
          </a:r>
          <a:endParaRPr lang="es-ES" sz="2300" kern="1200" dirty="0"/>
        </a:p>
      </dsp:txBody>
      <dsp:txXfrm>
        <a:off x="353508" y="1615325"/>
        <a:ext cx="2306135" cy="1383681"/>
      </dsp:txXfrm>
    </dsp:sp>
    <dsp:sp modelId="{7B662B71-695E-4A2E-8A9C-C555225CF314}">
      <dsp:nvSpPr>
        <dsp:cNvPr id="0" name=""/>
        <dsp:cNvSpPr/>
      </dsp:nvSpPr>
      <dsp:spPr>
        <a:xfrm>
          <a:off x="2890256" y="1615325"/>
          <a:ext cx="2306135" cy="1383681"/>
        </a:xfrm>
        <a:prstGeom prst="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2300" kern="1200" dirty="0" smtClean="0"/>
            <a:t>La capacidad de pago del demandante</a:t>
          </a:r>
          <a:endParaRPr lang="es-ES" sz="2300" kern="1200" dirty="0"/>
        </a:p>
      </dsp:txBody>
      <dsp:txXfrm>
        <a:off x="2890256" y="1615325"/>
        <a:ext cx="2306135" cy="1383681"/>
      </dsp:txXfrm>
    </dsp:sp>
    <dsp:sp modelId="{FB13AB28-4820-4ADB-8C56-E5F5BEAB2CA4}">
      <dsp:nvSpPr>
        <dsp:cNvPr id="0" name=""/>
        <dsp:cNvSpPr/>
      </dsp:nvSpPr>
      <dsp:spPr>
        <a:xfrm>
          <a:off x="1621882" y="3229620"/>
          <a:ext cx="2306135" cy="1383681"/>
        </a:xfrm>
        <a:prstGeom prst="rect">
          <a:avLst/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Deseos y necesidades</a:t>
          </a:r>
          <a:endParaRPr lang="es-ES" sz="2300" kern="1200" dirty="0"/>
        </a:p>
      </dsp:txBody>
      <dsp:txXfrm>
        <a:off x="1621882" y="3229620"/>
        <a:ext cx="2306135" cy="1383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84827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1144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611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8016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2404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4950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5578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3752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1312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8198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0705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5472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91276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6660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41078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16384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2012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CD54E10-EDBB-45D0-80AC-2AFF35472970}" type="datetimeFigureOut">
              <a:rPr lang="es-BO" smtClean="0"/>
              <a:t>29/09/2021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FF8AF-DC30-41E7-B3F7-85BDE1419C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08253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28" y="220187"/>
            <a:ext cx="2371944" cy="17141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54745" y="3901900"/>
            <a:ext cx="12037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40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aiandra GD" panose="020E0502030308020204" pitchFamily="34" charset="0"/>
              </a:rPr>
              <a:t>Modulo: Planificación y evaluación de proyectos</a:t>
            </a:r>
          </a:p>
          <a:p>
            <a:pPr algn="ctr"/>
            <a:r>
              <a:rPr lang="es-BO" sz="4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aiandra GD" panose="020E0502030308020204" pitchFamily="34" charset="0"/>
              </a:rPr>
              <a:t>Código: PEP-150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3740021" y="6134913"/>
            <a:ext cx="5464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Docente: Ing. José C. Rojas P.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51449" y="2031341"/>
            <a:ext cx="84438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4400" dirty="0" smtClean="0">
                <a:solidFill>
                  <a:srgbClr val="FFC000"/>
                </a:solidFill>
                <a:latin typeface="Maiandra GD" panose="020E0502030308020204" pitchFamily="34" charset="0"/>
              </a:rPr>
              <a:t>Carrera de Ingeniería de Sistemas</a:t>
            </a:r>
          </a:p>
          <a:p>
            <a:pPr algn="ctr"/>
            <a:r>
              <a:rPr lang="es-BO" sz="4400" dirty="0" smtClean="0">
                <a:solidFill>
                  <a:srgbClr val="FFC000"/>
                </a:solidFill>
                <a:latin typeface="Maiandra GD" panose="020E0502030308020204" pitchFamily="34" charset="0"/>
              </a:rPr>
              <a:t>Universidad Privada de Oruro</a:t>
            </a:r>
            <a:endParaRPr lang="es-BO" sz="4400" dirty="0">
              <a:solidFill>
                <a:srgbClr val="FFC000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2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ECONOMICA DEL MERCADO </a:t>
            </a:r>
            <a:endParaRPr lang="es-BO" sz="36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155700" y="2743200"/>
            <a:ext cx="982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chemeClr val="accent5"/>
                </a:solidFill>
                <a:latin typeface="Maiandra GD" panose="020E0502030308020204" pitchFamily="34" charset="0"/>
              </a:rPr>
              <a:t>El verdadero viaje de </a:t>
            </a:r>
            <a:r>
              <a:rPr lang="es-BO" sz="2800" dirty="0" smtClean="0">
                <a:solidFill>
                  <a:schemeClr val="accent5"/>
                </a:solidFill>
                <a:latin typeface="Maiandra GD" panose="020E0502030308020204" pitchFamily="34" charset="0"/>
              </a:rPr>
              <a:t>descubrimientos, no consiste </a:t>
            </a:r>
            <a:r>
              <a:rPr lang="es-BO" sz="2800" dirty="0">
                <a:solidFill>
                  <a:schemeClr val="accent5"/>
                </a:solidFill>
                <a:latin typeface="Maiandra GD" panose="020E0502030308020204" pitchFamily="34" charset="0"/>
              </a:rPr>
              <a:t>en </a:t>
            </a:r>
            <a:r>
              <a:rPr lang="es-BO" sz="2800" dirty="0" smtClean="0">
                <a:solidFill>
                  <a:schemeClr val="accent5"/>
                </a:solidFill>
                <a:latin typeface="Maiandra GD" panose="020E0502030308020204" pitchFamily="34" charset="0"/>
              </a:rPr>
              <a:t>buscar nuevas </a:t>
            </a:r>
            <a:r>
              <a:rPr lang="es-BO" sz="2800" dirty="0">
                <a:solidFill>
                  <a:schemeClr val="accent5"/>
                </a:solidFill>
                <a:latin typeface="Maiandra GD" panose="020E0502030308020204" pitchFamily="34" charset="0"/>
              </a:rPr>
              <a:t>tierras, sino en ver con nuevos </a:t>
            </a:r>
            <a:r>
              <a:rPr lang="es-BO" sz="2800" dirty="0" smtClean="0">
                <a:solidFill>
                  <a:schemeClr val="accent5"/>
                </a:solidFill>
                <a:latin typeface="Maiandra GD" panose="020E0502030308020204" pitchFamily="34" charset="0"/>
              </a:rPr>
              <a:t>ojos.</a:t>
            </a:r>
          </a:p>
          <a:p>
            <a:pPr algn="r"/>
            <a:r>
              <a:rPr lang="es-BO" sz="2800" dirty="0" smtClean="0">
                <a:solidFill>
                  <a:srgbClr val="7030A0"/>
                </a:solidFill>
                <a:latin typeface="Maiandra GD" panose="020E0502030308020204" pitchFamily="34" charset="0"/>
              </a:rPr>
              <a:t>Marcel Proust.</a:t>
            </a:r>
            <a:endParaRPr lang="es-BO" sz="2800" dirty="0">
              <a:solidFill>
                <a:srgbClr val="7030A0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21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993900" y="2641600"/>
            <a:ext cx="8280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rgbClr val="00B0F0"/>
                </a:solidFill>
                <a:latin typeface="Maiandra GD" panose="020E0502030308020204" pitchFamily="34" charset="0"/>
              </a:rPr>
              <a:t>Definición de mercado.</a:t>
            </a:r>
          </a:p>
          <a:p>
            <a:r>
              <a:rPr lang="es-BO" sz="2800" dirty="0" smtClean="0">
                <a:latin typeface="Maiandra GD" panose="020E0502030308020204" pitchFamily="34" charset="0"/>
              </a:rPr>
              <a:t>Área </a:t>
            </a:r>
            <a:r>
              <a:rPr lang="es-BO" sz="2800" dirty="0">
                <a:latin typeface="Maiandra GD" panose="020E0502030308020204" pitchFamily="34" charset="0"/>
              </a:rPr>
              <a:t>en que </a:t>
            </a:r>
            <a:r>
              <a:rPr lang="es-BO" sz="2800" dirty="0" err="1" smtClean="0">
                <a:latin typeface="Maiandra GD" panose="020E0502030308020204" pitchFamily="34" charset="0"/>
              </a:rPr>
              <a:t>conﬂuyen</a:t>
            </a:r>
            <a:r>
              <a:rPr lang="es-BO" sz="2800" dirty="0" smtClean="0">
                <a:latin typeface="Maiandra GD" panose="020E0502030308020204" pitchFamily="34" charset="0"/>
              </a:rPr>
              <a:t> </a:t>
            </a:r>
            <a:r>
              <a:rPr lang="es-BO" sz="2800" dirty="0">
                <a:latin typeface="Maiandra GD" panose="020E0502030308020204" pitchFamily="34" charset="0"/>
              </a:rPr>
              <a:t>las </a:t>
            </a:r>
            <a:r>
              <a:rPr lang="es-BO" sz="2800" dirty="0" smtClean="0">
                <a:latin typeface="Maiandra GD" panose="020E0502030308020204" pitchFamily="34" charset="0"/>
              </a:rPr>
              <a:t>fuerzas de </a:t>
            </a:r>
            <a:r>
              <a:rPr lang="es-BO" sz="2800" dirty="0">
                <a:latin typeface="Maiandra GD" panose="020E0502030308020204" pitchFamily="34" charset="0"/>
              </a:rPr>
              <a:t>la oferta y </a:t>
            </a:r>
            <a:r>
              <a:rPr lang="es-BO" sz="2800" dirty="0" smtClean="0">
                <a:latin typeface="Maiandra GD" panose="020E0502030308020204" pitchFamily="34" charset="0"/>
              </a:rPr>
              <a:t>la demanda para realizar </a:t>
            </a:r>
            <a:r>
              <a:rPr lang="es-BO" sz="2800" dirty="0">
                <a:latin typeface="Maiandra GD" panose="020E0502030308020204" pitchFamily="34" charset="0"/>
              </a:rPr>
              <a:t>las transacciones </a:t>
            </a:r>
            <a:r>
              <a:rPr lang="es-BO" sz="2800" dirty="0" smtClean="0">
                <a:latin typeface="Maiandra GD" panose="020E0502030308020204" pitchFamily="34" charset="0"/>
              </a:rPr>
              <a:t>de bienes </a:t>
            </a:r>
            <a:r>
              <a:rPr lang="es-BO" sz="2800" dirty="0">
                <a:latin typeface="Maiandra GD" panose="020E0502030308020204" pitchFamily="34" charset="0"/>
              </a:rPr>
              <a:t>y servicios a precios </a:t>
            </a:r>
            <a:r>
              <a:rPr lang="es-BO" sz="2800" dirty="0" smtClean="0">
                <a:latin typeface="Maiandra GD" panose="020E0502030308020204" pitchFamily="34" charset="0"/>
              </a:rPr>
              <a:t>determinados.</a:t>
            </a:r>
          </a:p>
        </p:txBody>
      </p:sp>
    </p:spTree>
    <p:extLst>
      <p:ext uri="{BB962C8B-B14F-4D97-AF65-F5344CB8AC3E}">
        <p14:creationId xmlns:p14="http://schemas.microsoft.com/office/powerpoint/2010/main" val="321392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El ambiente competitivo en que se desenvolverá </a:t>
            </a:r>
            <a:r>
              <a:rPr lang="es-BO" sz="2800" dirty="0" smtClean="0">
                <a:latin typeface="Maiandra GD" panose="020E0502030308020204" pitchFamily="34" charset="0"/>
              </a:rPr>
              <a:t>el proyecto</a:t>
            </a:r>
            <a:r>
              <a:rPr lang="es-BO" sz="2800" dirty="0">
                <a:latin typeface="Maiandra GD" panose="020E0502030308020204" pitchFamily="34" charset="0"/>
              </a:rPr>
              <a:t>, en caso de ser implementado, puede </a:t>
            </a:r>
            <a:r>
              <a:rPr lang="es-BO" sz="2800" dirty="0" smtClean="0">
                <a:latin typeface="Maiandra GD" panose="020E0502030308020204" pitchFamily="34" charset="0"/>
              </a:rPr>
              <a:t>adquirir una </a:t>
            </a:r>
            <a:r>
              <a:rPr lang="es-BO" sz="2800" dirty="0">
                <a:latin typeface="Maiandra GD" panose="020E0502030308020204" pitchFamily="34" charset="0"/>
              </a:rPr>
              <a:t>de las siguientes cuatro </a:t>
            </a:r>
            <a:r>
              <a:rPr lang="es-BO" sz="2800" dirty="0" smtClean="0">
                <a:latin typeface="Maiandra GD" panose="020E0502030308020204" pitchFamily="34" charset="0"/>
              </a:rPr>
              <a:t>formas generales: competencia </a:t>
            </a:r>
            <a:r>
              <a:rPr lang="es-BO" sz="2800" dirty="0">
                <a:latin typeface="Maiandra GD" panose="020E0502030308020204" pitchFamily="34" charset="0"/>
              </a:rPr>
              <a:t>perfecta, monopolio, </a:t>
            </a:r>
            <a:r>
              <a:rPr lang="es-BO" sz="2800" dirty="0" smtClean="0">
                <a:latin typeface="Maiandra GD" panose="020E0502030308020204" pitchFamily="34" charset="0"/>
              </a:rPr>
              <a:t>competencia monopólica y oligopolio</a:t>
            </a:r>
            <a:r>
              <a:rPr lang="es-BO" sz="2800" dirty="0">
                <a:latin typeface="Maiandra GD" panose="020E0502030308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928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La </a:t>
            </a:r>
            <a:r>
              <a:rPr lang="es-BO" sz="2800" dirty="0">
                <a:solidFill>
                  <a:srgbClr val="92D050"/>
                </a:solidFill>
                <a:latin typeface="Maiandra GD" panose="020E0502030308020204" pitchFamily="34" charset="0"/>
              </a:rPr>
              <a:t>competencia perfecta</a:t>
            </a:r>
            <a:r>
              <a:rPr lang="es-BO" sz="2800" dirty="0">
                <a:latin typeface="Maiandra GD" panose="020E0502030308020204" pitchFamily="34" charset="0"/>
              </a:rPr>
              <a:t> se caracteriza porque en el mercado </a:t>
            </a:r>
            <a:r>
              <a:rPr lang="es-BO" sz="2800" dirty="0" smtClean="0">
                <a:latin typeface="Maiandra GD" panose="020E0502030308020204" pitchFamily="34" charset="0"/>
              </a:rPr>
              <a:t>de un </a:t>
            </a:r>
            <a:r>
              <a:rPr lang="es-BO" sz="2800" dirty="0">
                <a:latin typeface="Maiandra GD" panose="020E0502030308020204" pitchFamily="34" charset="0"/>
              </a:rPr>
              <a:t>determinado </a:t>
            </a:r>
            <a:r>
              <a:rPr lang="es-BO" sz="2800" dirty="0" smtClean="0">
                <a:latin typeface="Maiandra GD" panose="020E0502030308020204" pitchFamily="34" charset="0"/>
              </a:rPr>
              <a:t>producto </a:t>
            </a:r>
            <a:r>
              <a:rPr lang="es-BO" sz="2800" dirty="0">
                <a:latin typeface="Maiandra GD" panose="020E0502030308020204" pitchFamily="34" charset="0"/>
              </a:rPr>
              <a:t>existen muchos compradores </a:t>
            </a:r>
            <a:r>
              <a:rPr lang="es-BO" sz="2800" dirty="0" smtClean="0">
                <a:latin typeface="Maiandra GD" panose="020E0502030308020204" pitchFamily="34" charset="0"/>
              </a:rPr>
              <a:t>y vendedores </a:t>
            </a:r>
            <a:r>
              <a:rPr lang="es-BO" sz="2800" dirty="0">
                <a:latin typeface="Maiandra GD" panose="020E0502030308020204" pitchFamily="34" charset="0"/>
              </a:rPr>
              <a:t>que, dado que la </a:t>
            </a:r>
            <a:r>
              <a:rPr lang="es-BO" sz="2800" dirty="0" smtClean="0">
                <a:latin typeface="Maiandra GD" panose="020E0502030308020204" pitchFamily="34" charset="0"/>
              </a:rPr>
              <a:t>participación de </a:t>
            </a:r>
            <a:r>
              <a:rPr lang="es-BO" sz="2800" dirty="0">
                <a:latin typeface="Maiandra GD" panose="020E0502030308020204" pitchFamily="34" charset="0"/>
              </a:rPr>
              <a:t>cada uno de </a:t>
            </a:r>
            <a:r>
              <a:rPr lang="es-BO" sz="2800" dirty="0" smtClean="0">
                <a:latin typeface="Maiandra GD" panose="020E0502030308020204" pitchFamily="34" charset="0"/>
              </a:rPr>
              <a:t>ellos en </a:t>
            </a:r>
            <a:r>
              <a:rPr lang="es-BO" sz="2800" dirty="0">
                <a:latin typeface="Maiandra GD" panose="020E0502030308020204" pitchFamily="34" charset="0"/>
              </a:rPr>
              <a:t>el mercado es muy pequeña, no pueden influir en el </a:t>
            </a:r>
            <a:r>
              <a:rPr lang="es-BO" sz="2800" dirty="0" smtClean="0">
                <a:latin typeface="Maiandra GD" panose="020E0502030308020204" pitchFamily="34" charset="0"/>
              </a:rPr>
              <a:t>precio.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6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Existe </a:t>
            </a:r>
            <a:r>
              <a:rPr lang="es-BO" sz="2800" dirty="0">
                <a:solidFill>
                  <a:srgbClr val="FFFF00"/>
                </a:solidFill>
                <a:latin typeface="Maiandra GD" panose="020E0502030308020204" pitchFamily="34" charset="0"/>
              </a:rPr>
              <a:t>monopolio</a:t>
            </a:r>
            <a:r>
              <a:rPr lang="es-BO" sz="2800" dirty="0">
                <a:latin typeface="Maiandra GD" panose="020E0502030308020204" pitchFamily="34" charset="0"/>
              </a:rPr>
              <a:t> cuando un solo proveedor vende </a:t>
            </a:r>
            <a:r>
              <a:rPr lang="es-BO" sz="2800" dirty="0" smtClean="0">
                <a:latin typeface="Maiandra GD" panose="020E0502030308020204" pitchFamily="34" charset="0"/>
              </a:rPr>
              <a:t>un producto </a:t>
            </a:r>
            <a:r>
              <a:rPr lang="es-BO" sz="2800" dirty="0">
                <a:latin typeface="Maiandra GD" panose="020E0502030308020204" pitchFamily="34" charset="0"/>
              </a:rPr>
              <a:t>para el que no </a:t>
            </a:r>
            <a:r>
              <a:rPr lang="es-BO" sz="2800" dirty="0" smtClean="0">
                <a:latin typeface="Maiandra GD" panose="020E0502030308020204" pitchFamily="34" charset="0"/>
              </a:rPr>
              <a:t>hay sustitutos </a:t>
            </a:r>
            <a:r>
              <a:rPr lang="es-BO" sz="2800" dirty="0">
                <a:latin typeface="Maiandra GD" panose="020E0502030308020204" pitchFamily="34" charset="0"/>
              </a:rPr>
              <a:t>perfectos, y </a:t>
            </a:r>
            <a:r>
              <a:rPr lang="es-BO" sz="2800" dirty="0" smtClean="0">
                <a:latin typeface="Maiandra GD" panose="020E0502030308020204" pitchFamily="34" charset="0"/>
              </a:rPr>
              <a:t>las dificultades </a:t>
            </a:r>
            <a:r>
              <a:rPr lang="es-BO" sz="2800" dirty="0">
                <a:latin typeface="Maiandra GD" panose="020E0502030308020204" pitchFamily="34" charset="0"/>
              </a:rPr>
              <a:t>para ingresar a esa industria son grandes.</a:t>
            </a:r>
          </a:p>
        </p:txBody>
      </p:sp>
    </p:spTree>
    <p:extLst>
      <p:ext uri="{BB962C8B-B14F-4D97-AF65-F5344CB8AC3E}">
        <p14:creationId xmlns:p14="http://schemas.microsoft.com/office/powerpoint/2010/main" val="78529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La </a:t>
            </a:r>
            <a:r>
              <a:rPr lang="es-BO" sz="2800" u="sng" dirty="0">
                <a:latin typeface="Maiandra GD" panose="020E0502030308020204" pitchFamily="34" charset="0"/>
              </a:rPr>
              <a:t>competencia monopólica </a:t>
            </a:r>
            <a:r>
              <a:rPr lang="es-BO" sz="2800" dirty="0">
                <a:latin typeface="Maiandra GD" panose="020E0502030308020204" pitchFamily="34" charset="0"/>
              </a:rPr>
              <a:t>se caracteriza porque </a:t>
            </a:r>
            <a:r>
              <a:rPr lang="es-BO" sz="2800" dirty="0" smtClean="0">
                <a:latin typeface="Maiandra GD" panose="020E0502030308020204" pitchFamily="34" charset="0"/>
              </a:rPr>
              <a:t>existen numerosos vendedores de </a:t>
            </a:r>
            <a:r>
              <a:rPr lang="es-BO" sz="2800" dirty="0">
                <a:latin typeface="Maiandra GD" panose="020E0502030308020204" pitchFamily="34" charset="0"/>
              </a:rPr>
              <a:t>un producto diferenciado y </a:t>
            </a:r>
            <a:r>
              <a:rPr lang="es-BO" sz="2800" dirty="0" smtClean="0">
                <a:latin typeface="Maiandra GD" panose="020E0502030308020204" pitchFamily="34" charset="0"/>
              </a:rPr>
              <a:t>porque, en </a:t>
            </a:r>
            <a:r>
              <a:rPr lang="es-BO" sz="2800" dirty="0">
                <a:latin typeface="Maiandra GD" panose="020E0502030308020204" pitchFamily="34" charset="0"/>
              </a:rPr>
              <a:t>el largo plazo, no hay dificultades </a:t>
            </a:r>
            <a:r>
              <a:rPr lang="es-BO" sz="2800" dirty="0" smtClean="0">
                <a:latin typeface="Maiandra GD" panose="020E0502030308020204" pitchFamily="34" charset="0"/>
              </a:rPr>
              <a:t>para entrar </a:t>
            </a:r>
            <a:r>
              <a:rPr lang="es-BO" sz="2800" dirty="0">
                <a:latin typeface="Maiandra GD" panose="020E0502030308020204" pitchFamily="34" charset="0"/>
              </a:rPr>
              <a:t>o salir de </a:t>
            </a:r>
            <a:r>
              <a:rPr lang="es-BO" sz="2800" dirty="0" smtClean="0">
                <a:latin typeface="Maiandra GD" panose="020E0502030308020204" pitchFamily="34" charset="0"/>
              </a:rPr>
              <a:t>esa industria</a:t>
            </a:r>
            <a:r>
              <a:rPr lang="es-BO" sz="2800" dirty="0">
                <a:latin typeface="Maiandra GD" panose="020E0502030308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72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Una estructura de </a:t>
            </a:r>
            <a:r>
              <a:rPr lang="es-BO" sz="2800" dirty="0">
                <a:solidFill>
                  <a:schemeClr val="accent5">
                    <a:lumMod val="50000"/>
                  </a:schemeClr>
                </a:solidFill>
                <a:latin typeface="Maiandra GD" panose="020E0502030308020204" pitchFamily="34" charset="0"/>
              </a:rPr>
              <a:t>mercado oligopólica </a:t>
            </a:r>
            <a:r>
              <a:rPr lang="es-BO" sz="2800" dirty="0">
                <a:latin typeface="Maiandra GD" panose="020E0502030308020204" pitchFamily="34" charset="0"/>
              </a:rPr>
              <a:t>existe cuando hay </a:t>
            </a:r>
            <a:r>
              <a:rPr lang="es-BO" sz="2800" dirty="0" smtClean="0">
                <a:latin typeface="Maiandra GD" panose="020E0502030308020204" pitchFamily="34" charset="0"/>
              </a:rPr>
              <a:t>pocos vendedores </a:t>
            </a:r>
            <a:r>
              <a:rPr lang="es-BO" sz="2800" dirty="0">
                <a:latin typeface="Maiandra GD" panose="020E0502030308020204" pitchFamily="34" charset="0"/>
              </a:rPr>
              <a:t>de </a:t>
            </a:r>
            <a:r>
              <a:rPr lang="es-BO" sz="2800" dirty="0" smtClean="0">
                <a:latin typeface="Maiandra GD" panose="020E0502030308020204" pitchFamily="34" charset="0"/>
              </a:rPr>
              <a:t>un producto </a:t>
            </a:r>
            <a:r>
              <a:rPr lang="es-BO" sz="2800" dirty="0">
                <a:latin typeface="Maiandra GD" panose="020E0502030308020204" pitchFamily="34" charset="0"/>
              </a:rPr>
              <a:t>homogéneo o diferenciado, y </a:t>
            </a:r>
            <a:r>
              <a:rPr lang="es-BO" sz="2800" dirty="0" smtClean="0">
                <a:latin typeface="Maiandra GD" panose="020E0502030308020204" pitchFamily="34" charset="0"/>
              </a:rPr>
              <a:t>el ingreso </a:t>
            </a:r>
            <a:r>
              <a:rPr lang="es-BO" sz="2800" dirty="0">
                <a:latin typeface="Maiandra GD" panose="020E0502030308020204" pitchFamily="34" charset="0"/>
              </a:rPr>
              <a:t>o salida de la industria es </a:t>
            </a:r>
            <a:r>
              <a:rPr lang="es-BO" sz="2800" dirty="0" smtClean="0">
                <a:latin typeface="Maiandra GD" panose="020E0502030308020204" pitchFamily="34" charset="0"/>
              </a:rPr>
              <a:t>posible, aunque con dificultades</a:t>
            </a:r>
            <a:r>
              <a:rPr lang="es-BO" sz="2800" dirty="0">
                <a:latin typeface="Maiandra GD" panose="020E0502030308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1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Estructura del mercado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90692"/>
              </p:ext>
            </p:extLst>
          </p:nvPr>
        </p:nvGraphicFramePr>
        <p:xfrm>
          <a:off x="504009" y="1897593"/>
          <a:ext cx="11043555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711">
                  <a:extLst>
                    <a:ext uri="{9D8B030D-6E8A-4147-A177-3AD203B41FA5}">
                      <a16:colId xmlns:a16="http://schemas.microsoft.com/office/drawing/2014/main" val="3504961251"/>
                    </a:ext>
                  </a:extLst>
                </a:gridCol>
                <a:gridCol w="2208711">
                  <a:extLst>
                    <a:ext uri="{9D8B030D-6E8A-4147-A177-3AD203B41FA5}">
                      <a16:colId xmlns:a16="http://schemas.microsoft.com/office/drawing/2014/main" val="3584998734"/>
                    </a:ext>
                  </a:extLst>
                </a:gridCol>
                <a:gridCol w="2208711">
                  <a:extLst>
                    <a:ext uri="{9D8B030D-6E8A-4147-A177-3AD203B41FA5}">
                      <a16:colId xmlns:a16="http://schemas.microsoft.com/office/drawing/2014/main" val="446702565"/>
                    </a:ext>
                  </a:extLst>
                </a:gridCol>
                <a:gridCol w="2208711">
                  <a:extLst>
                    <a:ext uri="{9D8B030D-6E8A-4147-A177-3AD203B41FA5}">
                      <a16:colId xmlns:a16="http://schemas.microsoft.com/office/drawing/2014/main" val="3226992899"/>
                    </a:ext>
                  </a:extLst>
                </a:gridCol>
                <a:gridCol w="2208711">
                  <a:extLst>
                    <a:ext uri="{9D8B030D-6E8A-4147-A177-3AD203B41FA5}">
                      <a16:colId xmlns:a16="http://schemas.microsoft.com/office/drawing/2014/main" val="649420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Competencia perfecta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Monopolio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Oligopolio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Competencia monopolística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6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dirty="0" smtClean="0"/>
                        <a:t># Empresas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Grande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Una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Mas de dos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Grande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65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dirty="0" smtClean="0"/>
                        <a:t>Producto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Homogéneo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Único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Homogéneo/heterogéneo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Heterogéneo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4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dirty="0" smtClean="0"/>
                        <a:t>Precio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Estándar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Fijo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Comparte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En función a las preferencias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47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dirty="0" smtClean="0"/>
                        <a:t>Movilidad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Libre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No existe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No existe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Libre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8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dirty="0" smtClean="0"/>
                        <a:t>Poder del mercado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Ninguno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Todo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Comparte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Comparte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38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dirty="0" smtClean="0"/>
                        <a:t>Competencia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Libre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No</a:t>
                      </a:r>
                      <a:r>
                        <a:rPr lang="es-BO" baseline="0" dirty="0" smtClean="0"/>
                        <a:t> existe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Desleal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Libre</a:t>
                      </a:r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36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865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79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latin typeface="Maiandra GD" panose="020E0502030308020204" pitchFamily="34" charset="0"/>
              </a:rPr>
              <a:t>Concepto de demanda.</a:t>
            </a:r>
          </a:p>
          <a:p>
            <a:r>
              <a:rPr lang="es-BO" sz="2800" dirty="0">
                <a:latin typeface="Maiandra GD" panose="020E0502030308020204" pitchFamily="34" charset="0"/>
              </a:rPr>
              <a:t>En economía, la demanda es la cantidad total de un bien </a:t>
            </a:r>
            <a:r>
              <a:rPr lang="es-BO" sz="2800" dirty="0" smtClean="0">
                <a:latin typeface="Maiandra GD" panose="020E0502030308020204" pitchFamily="34" charset="0"/>
              </a:rPr>
              <a:t>o servicio </a:t>
            </a:r>
            <a:r>
              <a:rPr lang="es-BO" sz="2800" dirty="0">
                <a:latin typeface="Maiandra GD" panose="020E0502030308020204" pitchFamily="34" charset="0"/>
              </a:rPr>
              <a:t>que la gente desea adquirir.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67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El análisis de la demanda constituye uno de los </a:t>
            </a:r>
            <a:r>
              <a:rPr lang="es-BO" sz="2800" dirty="0" smtClean="0">
                <a:latin typeface="Maiandra GD" panose="020E0502030308020204" pitchFamily="34" charset="0"/>
              </a:rPr>
              <a:t>aspectos centrales </a:t>
            </a:r>
            <a:r>
              <a:rPr lang="es-BO" sz="2800" dirty="0">
                <a:latin typeface="Maiandra GD" panose="020E0502030308020204" pitchFamily="34" charset="0"/>
              </a:rPr>
              <a:t>del estudio </a:t>
            </a:r>
            <a:r>
              <a:rPr lang="es-BO" sz="2800" dirty="0" smtClean="0">
                <a:latin typeface="Maiandra GD" panose="020E0502030308020204" pitchFamily="34" charset="0"/>
              </a:rPr>
              <a:t>de proyectos</a:t>
            </a:r>
            <a:r>
              <a:rPr lang="es-BO" sz="2800" dirty="0">
                <a:latin typeface="Maiandra GD" panose="020E0502030308020204" pitchFamily="34" charset="0"/>
              </a:rPr>
              <a:t>, por la incidencia de ella </a:t>
            </a:r>
            <a:r>
              <a:rPr lang="es-BO" sz="2800" dirty="0" smtClean="0">
                <a:latin typeface="Maiandra GD" panose="020E0502030308020204" pitchFamily="34" charset="0"/>
              </a:rPr>
              <a:t>en los </a:t>
            </a:r>
            <a:r>
              <a:rPr lang="es-BO" sz="2800" dirty="0">
                <a:latin typeface="Maiandra GD" panose="020E0502030308020204" pitchFamily="34" charset="0"/>
              </a:rPr>
              <a:t>resultados del negocio que se </a:t>
            </a:r>
            <a:r>
              <a:rPr lang="es-BO" sz="2800" dirty="0" smtClean="0">
                <a:latin typeface="Maiandra GD" panose="020E0502030308020204" pitchFamily="34" charset="0"/>
              </a:rPr>
              <a:t>implementará </a:t>
            </a:r>
            <a:r>
              <a:rPr lang="es-BO" sz="2800" dirty="0">
                <a:latin typeface="Maiandra GD" panose="020E0502030308020204" pitchFamily="34" charset="0"/>
              </a:rPr>
              <a:t>con </a:t>
            </a:r>
            <a:r>
              <a:rPr lang="es-BO" sz="2800" dirty="0" smtClean="0">
                <a:latin typeface="Maiandra GD" panose="020E0502030308020204" pitchFamily="34" charset="0"/>
              </a:rPr>
              <a:t>la aceptación </a:t>
            </a:r>
            <a:r>
              <a:rPr lang="es-BO" sz="2800" dirty="0">
                <a:latin typeface="Maiandra GD" panose="020E0502030308020204" pitchFamily="34" charset="0"/>
              </a:rPr>
              <a:t>del proyecto.</a:t>
            </a:r>
          </a:p>
        </p:txBody>
      </p:sp>
    </p:spTree>
    <p:extLst>
      <p:ext uri="{BB962C8B-B14F-4D97-AF65-F5344CB8AC3E}">
        <p14:creationId xmlns:p14="http://schemas.microsoft.com/office/powerpoint/2010/main" val="212912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De acuerdo con la teoría de la demanda, la </a:t>
            </a:r>
            <a:r>
              <a:rPr lang="es-BO" sz="2800" dirty="0" smtClean="0">
                <a:latin typeface="Maiandra GD" panose="020E0502030308020204" pitchFamily="34" charset="0"/>
              </a:rPr>
              <a:t>cantidad demandada </a:t>
            </a:r>
            <a:r>
              <a:rPr lang="es-BO" sz="2800" dirty="0">
                <a:latin typeface="Maiandra GD" panose="020E0502030308020204" pitchFamily="34" charset="0"/>
              </a:rPr>
              <a:t>de un producto </a:t>
            </a:r>
            <a:r>
              <a:rPr lang="es-BO" sz="2800" dirty="0" smtClean="0">
                <a:latin typeface="Maiandra GD" panose="020E0502030308020204" pitchFamily="34" charset="0"/>
              </a:rPr>
              <a:t>o servicio </a:t>
            </a:r>
            <a:r>
              <a:rPr lang="es-BO" sz="2800" dirty="0">
                <a:latin typeface="Maiandra GD" panose="020E0502030308020204" pitchFamily="34" charset="0"/>
              </a:rPr>
              <a:t>depende del precio </a:t>
            </a:r>
            <a:r>
              <a:rPr lang="es-BO" sz="2800" dirty="0" smtClean="0">
                <a:latin typeface="Maiandra GD" panose="020E0502030308020204" pitchFamily="34" charset="0"/>
              </a:rPr>
              <a:t>que se </a:t>
            </a:r>
            <a:r>
              <a:rPr lang="es-BO" sz="2800" dirty="0">
                <a:latin typeface="Maiandra GD" panose="020E0502030308020204" pitchFamily="34" charset="0"/>
              </a:rPr>
              <a:t>le asigne, del ingreso de los consumidores, del precio </a:t>
            </a:r>
            <a:r>
              <a:rPr lang="es-BO" sz="2800" dirty="0" smtClean="0">
                <a:latin typeface="Maiandra GD" panose="020E0502030308020204" pitchFamily="34" charset="0"/>
              </a:rPr>
              <a:t>de los Bienes sustitutos o complementarios </a:t>
            </a:r>
            <a:r>
              <a:rPr lang="es-BO" sz="2800" dirty="0">
                <a:latin typeface="Maiandra GD" panose="020E0502030308020204" pitchFamily="34" charset="0"/>
              </a:rPr>
              <a:t>y </a:t>
            </a:r>
            <a:r>
              <a:rPr lang="es-BO" sz="2800" dirty="0" smtClean="0">
                <a:latin typeface="Maiandra GD" panose="020E0502030308020204" pitchFamily="34" charset="0"/>
              </a:rPr>
              <a:t>de las preferencias del consumidor.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17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En términos generales, la cantidad demandada de un </a:t>
            </a:r>
            <a:r>
              <a:rPr lang="es-BO" sz="2800" dirty="0" smtClean="0">
                <a:latin typeface="Maiandra GD" panose="020E0502030308020204" pitchFamily="34" charset="0"/>
              </a:rPr>
              <a:t>bien aumenta </a:t>
            </a:r>
            <a:r>
              <a:rPr lang="es-BO" sz="2800" dirty="0">
                <a:latin typeface="Maiandra GD" panose="020E0502030308020204" pitchFamily="34" charset="0"/>
              </a:rPr>
              <a:t>al bajar </a:t>
            </a:r>
            <a:r>
              <a:rPr lang="es-BO" sz="2800" dirty="0" smtClean="0">
                <a:latin typeface="Maiandra GD" panose="020E0502030308020204" pitchFamily="34" charset="0"/>
              </a:rPr>
              <a:t>el precio </a:t>
            </a:r>
            <a:r>
              <a:rPr lang="es-BO" sz="2800" dirty="0">
                <a:latin typeface="Maiandra GD" panose="020E0502030308020204" pitchFamily="34" charset="0"/>
              </a:rPr>
              <a:t>del producto, al aumentar el </a:t>
            </a:r>
            <a:r>
              <a:rPr lang="es-BO" sz="2800" dirty="0" smtClean="0">
                <a:latin typeface="Maiandra GD" panose="020E0502030308020204" pitchFamily="34" charset="0"/>
              </a:rPr>
              <a:t>precio de </a:t>
            </a:r>
            <a:r>
              <a:rPr lang="es-BO" sz="2800" dirty="0">
                <a:latin typeface="Maiandra GD" panose="020E0502030308020204" pitchFamily="34" charset="0"/>
              </a:rPr>
              <a:t>los bienes sustitutos o reducirse el </a:t>
            </a:r>
            <a:r>
              <a:rPr lang="es-BO" sz="2800" dirty="0" smtClean="0">
                <a:latin typeface="Maiandra GD" panose="020E0502030308020204" pitchFamily="34" charset="0"/>
              </a:rPr>
              <a:t>de los </a:t>
            </a:r>
            <a:r>
              <a:rPr lang="es-BO" sz="2800" dirty="0">
                <a:latin typeface="Maiandra GD" panose="020E0502030308020204" pitchFamily="34" charset="0"/>
              </a:rPr>
              <a:t>complementarios, </a:t>
            </a:r>
            <a:r>
              <a:rPr lang="es-BO" sz="2800" dirty="0" smtClean="0">
                <a:latin typeface="Maiandra GD" panose="020E0502030308020204" pitchFamily="34" charset="0"/>
              </a:rPr>
              <a:t>al aumentar </a:t>
            </a:r>
            <a:r>
              <a:rPr lang="es-BO" sz="2800" dirty="0">
                <a:latin typeface="Maiandra GD" panose="020E0502030308020204" pitchFamily="34" charset="0"/>
              </a:rPr>
              <a:t>el ingreso del consumidor y al aumentar </a:t>
            </a:r>
            <a:r>
              <a:rPr lang="es-BO" sz="2800" dirty="0" smtClean="0">
                <a:latin typeface="Maiandra GD" panose="020E0502030308020204" pitchFamily="34" charset="0"/>
              </a:rPr>
              <a:t>las preferencias del consumidor por ese producto</a:t>
            </a:r>
            <a:r>
              <a:rPr lang="es-BO" sz="2800" dirty="0">
                <a:latin typeface="Maiandra GD" panose="020E0502030308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54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58586" y="1866900"/>
            <a:ext cx="41372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rgbClr val="FFFF00"/>
                </a:solidFill>
                <a:latin typeface="Maiandra GD" panose="020E0502030308020204" pitchFamily="34" charset="0"/>
              </a:rPr>
              <a:t>Determinantes del movimiento de la </a:t>
            </a:r>
            <a:r>
              <a:rPr lang="es-BO" sz="2800" dirty="0" smtClean="0">
                <a:solidFill>
                  <a:srgbClr val="FFFF00"/>
                </a:solidFill>
                <a:latin typeface="Maiandra GD" panose="020E0502030308020204" pitchFamily="34" charset="0"/>
              </a:rPr>
              <a:t>demanda.</a:t>
            </a:r>
          </a:p>
          <a:p>
            <a:endParaRPr lang="es-BO" sz="2800" dirty="0" smtClean="0">
              <a:latin typeface="Maiandra GD" panose="020E0502030308020204" pitchFamily="34" charset="0"/>
            </a:endParaRPr>
          </a:p>
          <a:p>
            <a:r>
              <a:rPr lang="es-BO" sz="2800" dirty="0" smtClean="0">
                <a:latin typeface="Maiandra GD" panose="020E0502030308020204" pitchFamily="34" charset="0"/>
              </a:rPr>
              <a:t>Existen </a:t>
            </a:r>
            <a:r>
              <a:rPr lang="es-BO" sz="2800" dirty="0">
                <a:latin typeface="Maiandra GD" panose="020E0502030308020204" pitchFamily="34" charset="0"/>
              </a:rPr>
              <a:t>cinco tipos de determinantes que hacen posible un aumento o una disminución de la demanda:</a:t>
            </a:r>
            <a:endParaRPr lang="es-BO" sz="2800" dirty="0">
              <a:latin typeface="Maiandra GD" panose="020E0502030308020204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775294225"/>
              </p:ext>
            </p:extLst>
          </p:nvPr>
        </p:nvGraphicFramePr>
        <p:xfrm>
          <a:off x="6642100" y="1841500"/>
          <a:ext cx="5549900" cy="4614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lecha derecha 4"/>
          <p:cNvSpPr/>
          <p:nvPr/>
        </p:nvSpPr>
        <p:spPr>
          <a:xfrm>
            <a:off x="4737100" y="3009900"/>
            <a:ext cx="1739900" cy="2159000"/>
          </a:xfrm>
          <a:prstGeom prst="rightArrow">
            <a:avLst/>
          </a:prstGeom>
          <a:solidFill>
            <a:schemeClr val="bg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3862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En economía, el concepto de demanda siempre se suele estudiar ligado a la </a:t>
            </a:r>
            <a:r>
              <a:rPr lang="es-BO" sz="2800" dirty="0" smtClean="0">
                <a:latin typeface="Maiandra GD" panose="020E0502030308020204" pitchFamily="34" charset="0"/>
              </a:rPr>
              <a:t>“oferta”, </a:t>
            </a:r>
            <a:r>
              <a:rPr lang="es-BO" sz="2800" dirty="0">
                <a:latin typeface="Maiandra GD" panose="020E0502030308020204" pitchFamily="34" charset="0"/>
              </a:rPr>
              <a:t>ya que ambas deben de ser analizadas conjuntamente para determinar la cantidad de bienes y servicios producidos y su valor </a:t>
            </a:r>
            <a:r>
              <a:rPr lang="es-BO" sz="2800" dirty="0" smtClean="0">
                <a:latin typeface="Maiandra GD" panose="020E0502030308020204" pitchFamily="34" charset="0"/>
              </a:rPr>
              <a:t>monetario.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36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42843" y="1690537"/>
            <a:ext cx="10169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latin typeface="Maiandra GD" panose="020E0502030308020204" pitchFamily="34" charset="0"/>
              </a:rPr>
              <a:t>Curva de la demanda.</a:t>
            </a:r>
            <a:endParaRPr lang="es-BO" sz="2800" dirty="0">
              <a:latin typeface="Maiandra GD" panose="020E0502030308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21478"/>
            <a:ext cx="3810000" cy="27336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877" y="4027144"/>
            <a:ext cx="5505595" cy="26643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9000353" y="1349488"/>
                <a:ext cx="14132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BO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BO" dirty="0"/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353" y="1349488"/>
                <a:ext cx="1413272" cy="276999"/>
              </a:xfrm>
              <a:prstGeom prst="rect">
                <a:avLst/>
              </a:prstGeom>
              <a:blipFill>
                <a:blip r:embed="rId4"/>
                <a:stretch>
                  <a:fillRect l="-4741" r="-3017" b="-32609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/>
          <p:cNvSpPr txBox="1"/>
          <p:nvPr/>
        </p:nvSpPr>
        <p:spPr>
          <a:xfrm>
            <a:off x="6604000" y="1626487"/>
            <a:ext cx="5143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1600" dirty="0"/>
              <a:t>Donde:</a:t>
            </a:r>
          </a:p>
          <a:p>
            <a:r>
              <a:rPr lang="es-BO" sz="1600" dirty="0"/>
              <a:t>Q es la cantidad demandada del </a:t>
            </a:r>
            <a:r>
              <a:rPr lang="es-BO" sz="1600" dirty="0" smtClean="0"/>
              <a:t>bien.</a:t>
            </a:r>
          </a:p>
          <a:p>
            <a:r>
              <a:rPr lang="es-BO" sz="1600" dirty="0" smtClean="0"/>
              <a:t>P </a:t>
            </a:r>
            <a:r>
              <a:rPr lang="es-BO" sz="1600" dirty="0"/>
              <a:t>es el precio al que se vende dicho </a:t>
            </a:r>
            <a:r>
              <a:rPr lang="es-BO" sz="1600" dirty="0" smtClean="0"/>
              <a:t>bien.</a:t>
            </a:r>
          </a:p>
          <a:p>
            <a:r>
              <a:rPr lang="es-BO" sz="1600" dirty="0" smtClean="0"/>
              <a:t>a </a:t>
            </a:r>
            <a:r>
              <a:rPr lang="es-BO" sz="1600" dirty="0"/>
              <a:t>y b son constantes mayores que cero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4927600" y="2703705"/>
            <a:ext cx="7023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1600" dirty="0"/>
              <a:t>Veamos un ejemplo:</a:t>
            </a:r>
          </a:p>
          <a:p>
            <a:r>
              <a:rPr lang="es-BO" sz="1600" dirty="0"/>
              <a:t>Q = 300 - 2*p</a:t>
            </a:r>
          </a:p>
          <a:p>
            <a:r>
              <a:rPr lang="es-BO" sz="1600" dirty="0"/>
              <a:t>Si el precio es de 10 </a:t>
            </a:r>
            <a:r>
              <a:rPr lang="es-BO" sz="1600" dirty="0" smtClean="0"/>
              <a:t>Bs </a:t>
            </a:r>
            <a:r>
              <a:rPr lang="es-BO" sz="1600" dirty="0"/>
              <a:t>la unidad, se demandarán 280 </a:t>
            </a:r>
            <a:r>
              <a:rPr lang="es-BO" sz="1600" dirty="0" smtClean="0"/>
              <a:t>unidades.</a:t>
            </a:r>
          </a:p>
          <a:p>
            <a:r>
              <a:rPr lang="es-BO" sz="1600" dirty="0" smtClean="0"/>
              <a:t>Si </a:t>
            </a:r>
            <a:r>
              <a:rPr lang="es-BO" sz="1600" dirty="0"/>
              <a:t>el precio sube a 15 </a:t>
            </a:r>
            <a:r>
              <a:rPr lang="es-BO" sz="1600" dirty="0" smtClean="0"/>
              <a:t>Bs </a:t>
            </a:r>
            <a:r>
              <a:rPr lang="es-BO" sz="1600" dirty="0"/>
              <a:t>la unidad, se demandarán 270 </a:t>
            </a:r>
            <a:r>
              <a:rPr lang="es-BO" sz="1600" dirty="0" smtClean="0"/>
              <a:t>unidades.</a:t>
            </a:r>
          </a:p>
          <a:p>
            <a:r>
              <a:rPr lang="es-BO" sz="1600" dirty="0" smtClean="0"/>
              <a:t>Si </a:t>
            </a:r>
            <a:r>
              <a:rPr lang="es-BO" sz="1600" dirty="0"/>
              <a:t>el precio baja a 5 </a:t>
            </a:r>
            <a:r>
              <a:rPr lang="es-BO" sz="1600" dirty="0" smtClean="0"/>
              <a:t>Bs </a:t>
            </a:r>
            <a:r>
              <a:rPr lang="es-BO" sz="1600" dirty="0"/>
              <a:t>la unidad, se demandarán 290 unidades</a:t>
            </a:r>
          </a:p>
        </p:txBody>
      </p:sp>
    </p:spTree>
    <p:extLst>
      <p:ext uri="{BB962C8B-B14F-4D97-AF65-F5344CB8AC3E}">
        <p14:creationId xmlns:p14="http://schemas.microsoft.com/office/powerpoint/2010/main" val="135258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85586" y="1842937"/>
            <a:ext cx="111476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rgbClr val="00B0F0"/>
                </a:solidFill>
                <a:latin typeface="Maiandra GD" panose="020E0502030308020204" pitchFamily="34" charset="0"/>
              </a:rPr>
              <a:t>Elasticidad precio de la </a:t>
            </a:r>
            <a:r>
              <a:rPr lang="es-BO" sz="2800" dirty="0" smtClean="0">
                <a:solidFill>
                  <a:srgbClr val="00B0F0"/>
                </a:solidFill>
                <a:latin typeface="Maiandra GD" panose="020E0502030308020204" pitchFamily="34" charset="0"/>
              </a:rPr>
              <a:t>demanda.</a:t>
            </a:r>
          </a:p>
          <a:p>
            <a:endParaRPr lang="es-BO" sz="2800" dirty="0" smtClean="0">
              <a:solidFill>
                <a:srgbClr val="00B0F0"/>
              </a:solidFill>
              <a:latin typeface="Maiandra GD" panose="020E0502030308020204" pitchFamily="34" charset="0"/>
            </a:endParaRPr>
          </a:p>
          <a:p>
            <a:r>
              <a:rPr lang="es-BO" sz="2800" dirty="0">
                <a:latin typeface="Maiandra GD" panose="020E0502030308020204" pitchFamily="34" charset="0"/>
              </a:rPr>
              <a:t>La demanda básicamente puede ser entendida como una </a:t>
            </a:r>
            <a:r>
              <a:rPr lang="es-BO" sz="2800" dirty="0" smtClean="0">
                <a:latin typeface="Maiandra GD" panose="020E0502030308020204" pitchFamily="34" charset="0"/>
              </a:rPr>
              <a:t>función matemática</a:t>
            </a:r>
            <a:r>
              <a:rPr lang="es-BO" sz="2800" dirty="0">
                <a:latin typeface="Maiandra GD" panose="020E0502030308020204" pitchFamily="34" charset="0"/>
              </a:rPr>
              <a:t>, a través de la </a:t>
            </a:r>
            <a:r>
              <a:rPr lang="es-BO" sz="2800" dirty="0" smtClean="0">
                <a:latin typeface="Maiandra GD" panose="020E0502030308020204" pitchFamily="34" charset="0"/>
              </a:rPr>
              <a:t>“Curva </a:t>
            </a:r>
            <a:r>
              <a:rPr lang="es-BO" sz="2800" dirty="0">
                <a:latin typeface="Maiandra GD" panose="020E0502030308020204" pitchFamily="34" charset="0"/>
              </a:rPr>
              <a:t>de la </a:t>
            </a:r>
            <a:r>
              <a:rPr lang="es-BO" sz="2800" dirty="0" smtClean="0">
                <a:latin typeface="Maiandra GD" panose="020E0502030308020204" pitchFamily="34" charset="0"/>
              </a:rPr>
              <a:t>Demanda”, </a:t>
            </a:r>
            <a:r>
              <a:rPr lang="es-BO" sz="2800" dirty="0">
                <a:latin typeface="Maiandra GD" panose="020E0502030308020204" pitchFamily="34" charset="0"/>
              </a:rPr>
              <a:t>cuya </a:t>
            </a:r>
            <a:r>
              <a:rPr lang="es-BO" sz="2800" dirty="0" smtClean="0">
                <a:latin typeface="Maiandra GD" panose="020E0502030308020204" pitchFamily="34" charset="0"/>
              </a:rPr>
              <a:t>pendiente muestra </a:t>
            </a:r>
            <a:r>
              <a:rPr lang="es-BO" sz="2800" dirty="0">
                <a:latin typeface="Maiandra GD" panose="020E0502030308020204" pitchFamily="34" charset="0"/>
              </a:rPr>
              <a:t>como aumenta o disminuye la misma según la variación </a:t>
            </a:r>
            <a:r>
              <a:rPr lang="es-BO" sz="2800" dirty="0" smtClean="0">
                <a:latin typeface="Maiandra GD" panose="020E0502030308020204" pitchFamily="34" charset="0"/>
              </a:rPr>
              <a:t>del precio </a:t>
            </a:r>
            <a:r>
              <a:rPr lang="es-BO" sz="2800" dirty="0">
                <a:latin typeface="Maiandra GD" panose="020E0502030308020204" pitchFamily="34" charset="0"/>
              </a:rPr>
              <a:t>del producto o servicio. A este concepto, se le </a:t>
            </a:r>
            <a:r>
              <a:rPr lang="es-BO" sz="2800" dirty="0" smtClean="0">
                <a:latin typeface="Maiandra GD" panose="020E0502030308020204" pitchFamily="34" charset="0"/>
              </a:rPr>
              <a:t>denomina ‘Elasticidad </a:t>
            </a:r>
            <a:r>
              <a:rPr lang="es-BO" sz="2800" dirty="0">
                <a:latin typeface="Maiandra GD" panose="020E0502030308020204" pitchFamily="34" charset="0"/>
              </a:rPr>
              <a:t>precio de la demanda». La elasticidad puede ser </a:t>
            </a:r>
            <a:r>
              <a:rPr lang="es-BO" sz="2800" dirty="0" smtClean="0">
                <a:latin typeface="Maiandra GD" panose="020E0502030308020204" pitchFamily="34" charset="0"/>
              </a:rPr>
              <a:t>entendida como </a:t>
            </a:r>
            <a:r>
              <a:rPr lang="es-BO" sz="2800" dirty="0">
                <a:latin typeface="Maiandra GD" panose="020E0502030308020204" pitchFamily="34" charset="0"/>
              </a:rPr>
              <a:t>el impacto que tienen las variaciones en el precio sobre </a:t>
            </a:r>
            <a:r>
              <a:rPr lang="es-BO" sz="2800" dirty="0" smtClean="0">
                <a:latin typeface="Maiandra GD" panose="020E0502030308020204" pitchFamily="34" charset="0"/>
              </a:rPr>
              <a:t>la cantidad </a:t>
            </a:r>
            <a:r>
              <a:rPr lang="es-BO" sz="2800" dirty="0">
                <a:latin typeface="Maiandra GD" panose="020E0502030308020204" pitchFamily="34" charset="0"/>
              </a:rPr>
              <a:t>demandada.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08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526986" y="2904191"/>
            <a:ext cx="91410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Tomando en cuenta la elasticidad que tenga la curva, </a:t>
            </a:r>
            <a:r>
              <a:rPr lang="es-BO" sz="2800" dirty="0" smtClean="0">
                <a:latin typeface="Maiandra GD" panose="020E0502030308020204" pitchFamily="34" charset="0"/>
              </a:rPr>
              <a:t>podemos encontrar </a:t>
            </a:r>
            <a:r>
              <a:rPr lang="es-BO" sz="2800" dirty="0">
                <a:latin typeface="Maiandra GD" panose="020E0502030308020204" pitchFamily="34" charset="0"/>
              </a:rPr>
              <a:t>tres tipos de elasticidad precio de la demanda: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00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752286" y="1723091"/>
            <a:ext cx="106015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000" u="sng" dirty="0">
                <a:solidFill>
                  <a:srgbClr val="00B050"/>
                </a:solidFill>
                <a:latin typeface="Maiandra GD" panose="020E0502030308020204" pitchFamily="34" charset="0"/>
              </a:rPr>
              <a:t>Demanda </a:t>
            </a:r>
            <a:r>
              <a:rPr lang="es-BO" sz="2000" u="sng" dirty="0" smtClean="0">
                <a:solidFill>
                  <a:srgbClr val="00B050"/>
                </a:solidFill>
                <a:latin typeface="Maiandra GD" panose="020E0502030308020204" pitchFamily="34" charset="0"/>
              </a:rPr>
              <a:t>elástica. </a:t>
            </a:r>
            <a:r>
              <a:rPr lang="es-BO" sz="2000" dirty="0">
                <a:latin typeface="Maiandra GD" panose="020E0502030308020204" pitchFamily="34" charset="0"/>
              </a:rPr>
              <a:t>Esto significa que ante una variación del precio del bien o servicio, la demanda aumenta considerablemente en una mayor proporción. Por ejemplo, los licores o los productos considerados lujo. Son tremendamente elásticos, imagínese que </a:t>
            </a:r>
            <a:r>
              <a:rPr lang="es-BO" sz="2000" dirty="0" smtClean="0">
                <a:latin typeface="Maiandra GD" panose="020E0502030308020204" pitchFamily="34" charset="0"/>
              </a:rPr>
              <a:t>aumenta el </a:t>
            </a:r>
            <a:r>
              <a:rPr lang="es-BO" sz="2000" dirty="0">
                <a:latin typeface="Maiandra GD" panose="020E0502030308020204" pitchFamily="34" charset="0"/>
              </a:rPr>
              <a:t>precio de un </a:t>
            </a:r>
            <a:r>
              <a:rPr lang="es-BO" sz="2000" dirty="0" smtClean="0">
                <a:latin typeface="Maiandra GD" panose="020E0502030308020204" pitchFamily="34" charset="0"/>
              </a:rPr>
              <a:t>licor, </a:t>
            </a:r>
            <a:r>
              <a:rPr lang="es-BO" sz="2000" dirty="0">
                <a:latin typeface="Maiandra GD" panose="020E0502030308020204" pitchFamily="34" charset="0"/>
              </a:rPr>
              <a:t>la demanda se verá </a:t>
            </a:r>
            <a:r>
              <a:rPr lang="es-BO" sz="2000" dirty="0" smtClean="0">
                <a:latin typeface="Maiandra GD" panose="020E0502030308020204" pitchFamily="34" charset="0"/>
              </a:rPr>
              <a:t>afectada en </a:t>
            </a:r>
            <a:r>
              <a:rPr lang="es-BO" sz="2000" dirty="0">
                <a:latin typeface="Maiandra GD" panose="020E0502030308020204" pitchFamily="34" charset="0"/>
              </a:rPr>
              <a:t>una cantidad </a:t>
            </a:r>
            <a:r>
              <a:rPr lang="es-BO" sz="2000" dirty="0" smtClean="0">
                <a:latin typeface="Maiandra GD" panose="020E0502030308020204" pitchFamily="34" charset="0"/>
              </a:rPr>
              <a:t>menor.</a:t>
            </a:r>
          </a:p>
          <a:p>
            <a:endParaRPr lang="es-BO" sz="2000" u="sng" dirty="0">
              <a:solidFill>
                <a:srgbClr val="00B050"/>
              </a:solidFill>
              <a:latin typeface="Maiandra GD" panose="020E0502030308020204" pitchFamily="34" charset="0"/>
            </a:endParaRPr>
          </a:p>
          <a:p>
            <a:r>
              <a:rPr lang="es-BO" sz="2000" u="sng" dirty="0">
                <a:solidFill>
                  <a:srgbClr val="00B050"/>
                </a:solidFill>
                <a:latin typeface="Maiandra GD" panose="020E0502030308020204" pitchFamily="34" charset="0"/>
              </a:rPr>
              <a:t>Demanda </a:t>
            </a:r>
            <a:r>
              <a:rPr lang="es-BO" sz="2000" u="sng" dirty="0" smtClean="0">
                <a:solidFill>
                  <a:srgbClr val="00B050"/>
                </a:solidFill>
                <a:latin typeface="Maiandra GD" panose="020E0502030308020204" pitchFamily="34" charset="0"/>
              </a:rPr>
              <a:t>inelástica</a:t>
            </a:r>
            <a:r>
              <a:rPr lang="es-BO" sz="2000" dirty="0" smtClean="0">
                <a:latin typeface="Maiandra GD" panose="020E0502030308020204" pitchFamily="34" charset="0"/>
              </a:rPr>
              <a:t>. </a:t>
            </a:r>
            <a:r>
              <a:rPr lang="es-BO" sz="2000" dirty="0">
                <a:latin typeface="Maiandra GD" panose="020E0502030308020204" pitchFamily="34" charset="0"/>
              </a:rPr>
              <a:t>Esto significa que ante una variación del precio del bien o servicio, la demanda se mueve en una menor proporción. Por ejemplo, productos que no puedan ser sustituidos y son necesarios como las medicinas. En este caso, el hecho de que aumente el precio de una </a:t>
            </a:r>
            <a:r>
              <a:rPr lang="es-BO" sz="2000" dirty="0" smtClean="0">
                <a:latin typeface="Maiandra GD" panose="020E0502030308020204" pitchFamily="34" charset="0"/>
              </a:rPr>
              <a:t>medicina por ejemplo, </a:t>
            </a:r>
            <a:r>
              <a:rPr lang="es-BO" sz="2000" dirty="0">
                <a:latin typeface="Maiandra GD" panose="020E0502030308020204" pitchFamily="34" charset="0"/>
              </a:rPr>
              <a:t>la </a:t>
            </a:r>
            <a:r>
              <a:rPr lang="es-BO" sz="2000" dirty="0" smtClean="0">
                <a:latin typeface="Maiandra GD" panose="020E0502030308020204" pitchFamily="34" charset="0"/>
              </a:rPr>
              <a:t>insulina, </a:t>
            </a:r>
            <a:r>
              <a:rPr lang="es-BO" sz="2000" dirty="0">
                <a:latin typeface="Maiandra GD" panose="020E0502030308020204" pitchFamily="34" charset="0"/>
              </a:rPr>
              <a:t>la demanda se verá muy poco afectada porque habrá personas que necesiten ese producto y no encuentren un sustituto en el mercado</a:t>
            </a:r>
            <a:r>
              <a:rPr lang="es-BO" sz="2000" dirty="0" smtClean="0">
                <a:latin typeface="Maiandra GD" panose="020E0502030308020204" pitchFamily="34" charset="0"/>
              </a:rPr>
              <a:t>.</a:t>
            </a:r>
          </a:p>
          <a:p>
            <a:endParaRPr lang="es-BO" sz="2000" dirty="0">
              <a:latin typeface="Maiandra GD" panose="020E0502030308020204" pitchFamily="34" charset="0"/>
            </a:endParaRPr>
          </a:p>
          <a:p>
            <a:r>
              <a:rPr lang="es-BO" sz="2000" u="sng" dirty="0">
                <a:solidFill>
                  <a:srgbClr val="00B050"/>
                </a:solidFill>
                <a:latin typeface="Maiandra GD" panose="020E0502030308020204" pitchFamily="34" charset="0"/>
              </a:rPr>
              <a:t>Demanda </a:t>
            </a:r>
            <a:r>
              <a:rPr lang="es-BO" sz="2000" u="sng" dirty="0" smtClean="0">
                <a:solidFill>
                  <a:srgbClr val="00B050"/>
                </a:solidFill>
                <a:latin typeface="Maiandra GD" panose="020E0502030308020204" pitchFamily="34" charset="0"/>
              </a:rPr>
              <a:t>unitaria. </a:t>
            </a:r>
            <a:r>
              <a:rPr lang="es-BO" sz="2000" dirty="0">
                <a:latin typeface="Maiandra GD" panose="020E0502030308020204" pitchFamily="34" charset="0"/>
              </a:rPr>
              <a:t>Cuando las variaciones en el precio de un bien o servicio producen la misma variación en la cantidad demandada.</a:t>
            </a:r>
            <a:endParaRPr lang="es-BO" sz="20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82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8565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Demanda de un producto.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2167591"/>
            <a:ext cx="10238635" cy="365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9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874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determinación del precio en </a:t>
            </a:r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los monopolios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En el mundo real existe una serie de imperfecciones en los </a:t>
            </a:r>
            <a:r>
              <a:rPr lang="es-BO" sz="2800" dirty="0" smtClean="0">
                <a:latin typeface="Maiandra GD" panose="020E0502030308020204" pitchFamily="34" charset="0"/>
              </a:rPr>
              <a:t>distintos mercados</a:t>
            </a:r>
            <a:r>
              <a:rPr lang="es-BO" sz="2800" dirty="0">
                <a:latin typeface="Maiandra GD" panose="020E0502030308020204" pitchFamily="34" charset="0"/>
              </a:rPr>
              <a:t>. </a:t>
            </a:r>
            <a:r>
              <a:rPr lang="es-BO" sz="2800" dirty="0" smtClean="0">
                <a:latin typeface="Maiandra GD" panose="020E0502030308020204" pitchFamily="34" charset="0"/>
              </a:rPr>
              <a:t>Una de </a:t>
            </a:r>
            <a:r>
              <a:rPr lang="es-BO" sz="2800" dirty="0">
                <a:latin typeface="Maiandra GD" panose="020E0502030308020204" pitchFamily="34" charset="0"/>
              </a:rPr>
              <a:t>ellas consiste en que las empresas partícipes en </a:t>
            </a:r>
            <a:r>
              <a:rPr lang="es-BO" sz="2800" dirty="0" smtClean="0">
                <a:latin typeface="Maiandra GD" panose="020E0502030308020204" pitchFamily="34" charset="0"/>
              </a:rPr>
              <a:t>ellos obtienen </a:t>
            </a:r>
            <a:r>
              <a:rPr lang="es-BO" sz="2800" dirty="0">
                <a:latin typeface="Maiandra GD" panose="020E0502030308020204" pitchFamily="34" charset="0"/>
              </a:rPr>
              <a:t>ganancias </a:t>
            </a:r>
            <a:r>
              <a:rPr lang="es-BO" sz="2800" dirty="0" smtClean="0">
                <a:latin typeface="Maiandra GD" panose="020E0502030308020204" pitchFamily="34" charset="0"/>
              </a:rPr>
              <a:t>extra normales y</a:t>
            </a:r>
            <a:r>
              <a:rPr lang="es-BO" sz="2800" dirty="0">
                <a:latin typeface="Maiandra GD" panose="020E0502030308020204" pitchFamily="34" charset="0"/>
              </a:rPr>
              <a:t>, dado que se </a:t>
            </a:r>
            <a:r>
              <a:rPr lang="es-BO" sz="2800" dirty="0" smtClean="0">
                <a:latin typeface="Maiandra GD" panose="020E0502030308020204" pitchFamily="34" charset="0"/>
              </a:rPr>
              <a:t>ponen barreras de entrada</a:t>
            </a:r>
            <a:r>
              <a:rPr lang="es-BO" sz="2800" dirty="0">
                <a:latin typeface="Maiandra GD" panose="020E0502030308020204" pitchFamily="34" charset="0"/>
              </a:rPr>
              <a:t>, se trunca el ingreso </a:t>
            </a:r>
            <a:r>
              <a:rPr lang="es-BO" sz="2800" dirty="0" smtClean="0">
                <a:latin typeface="Maiandra GD" panose="020E0502030308020204" pitchFamily="34" charset="0"/>
              </a:rPr>
              <a:t>de nuevos competidores</a:t>
            </a:r>
            <a:r>
              <a:rPr lang="es-BO" sz="2800" dirty="0">
                <a:latin typeface="Maiandra GD" panose="020E0502030308020204" pitchFamily="34" charset="0"/>
              </a:rPr>
              <a:t>, haciendo </a:t>
            </a:r>
            <a:r>
              <a:rPr lang="es-BO" sz="2800" dirty="0" smtClean="0">
                <a:latin typeface="Maiandra GD" panose="020E0502030308020204" pitchFamily="34" charset="0"/>
              </a:rPr>
              <a:t>posible que dichas ganancias extra normales </a:t>
            </a:r>
            <a:r>
              <a:rPr lang="es-BO" sz="2800" dirty="0">
                <a:latin typeface="Maiandra GD" panose="020E0502030308020204" pitchFamily="34" charset="0"/>
              </a:rPr>
              <a:t>perduren en </a:t>
            </a:r>
            <a:r>
              <a:rPr lang="es-BO" sz="2800" dirty="0" smtClean="0">
                <a:latin typeface="Maiandra GD" panose="020E0502030308020204" pitchFamily="34" charset="0"/>
              </a:rPr>
              <a:t>el tiempo</a:t>
            </a:r>
            <a:r>
              <a:rPr lang="es-BO" sz="2800" dirty="0">
                <a:latin typeface="Maiandra GD" panose="020E0502030308020204" pitchFamily="34" charset="0"/>
              </a:rPr>
              <a:t>, con lo cual </a:t>
            </a:r>
            <a:r>
              <a:rPr lang="es-BO" sz="2800" dirty="0" smtClean="0">
                <a:latin typeface="Maiandra GD" panose="020E0502030308020204" pitchFamily="34" charset="0"/>
              </a:rPr>
              <a:t>se genera </a:t>
            </a:r>
            <a:r>
              <a:rPr lang="es-BO" sz="2800" dirty="0">
                <a:latin typeface="Maiandra GD" panose="020E0502030308020204" pitchFamily="34" charset="0"/>
              </a:rPr>
              <a:t>una ineficiente asignación de recursos y se </a:t>
            </a:r>
            <a:r>
              <a:rPr lang="es-BO" sz="2800" dirty="0" smtClean="0">
                <a:latin typeface="Maiandra GD" panose="020E0502030308020204" pitchFamily="34" charset="0"/>
              </a:rPr>
              <a:t>ocasiona, de paso, pérdida </a:t>
            </a:r>
            <a:r>
              <a:rPr lang="es-BO" sz="2800" dirty="0">
                <a:latin typeface="Maiandra GD" panose="020E0502030308020204" pitchFamily="34" charset="0"/>
              </a:rPr>
              <a:t>de </a:t>
            </a:r>
            <a:r>
              <a:rPr lang="es-BO" sz="2800" dirty="0" smtClean="0">
                <a:latin typeface="Maiandra GD" panose="020E0502030308020204" pitchFamily="34" charset="0"/>
              </a:rPr>
              <a:t>bienestar social.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874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determinación del precio en </a:t>
            </a:r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los monopolios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En el mundo real existe una serie de imperfecciones en los </a:t>
            </a:r>
            <a:r>
              <a:rPr lang="es-BO" sz="2800" dirty="0" smtClean="0">
                <a:latin typeface="Maiandra GD" panose="020E0502030308020204" pitchFamily="34" charset="0"/>
              </a:rPr>
              <a:t>distintos mercados</a:t>
            </a:r>
            <a:r>
              <a:rPr lang="es-BO" sz="2800" dirty="0">
                <a:latin typeface="Maiandra GD" panose="020E0502030308020204" pitchFamily="34" charset="0"/>
              </a:rPr>
              <a:t>. </a:t>
            </a:r>
            <a:r>
              <a:rPr lang="es-BO" sz="2800" dirty="0" smtClean="0">
                <a:latin typeface="Maiandra GD" panose="020E0502030308020204" pitchFamily="34" charset="0"/>
              </a:rPr>
              <a:t>Una de </a:t>
            </a:r>
            <a:r>
              <a:rPr lang="es-BO" sz="2800" dirty="0">
                <a:latin typeface="Maiandra GD" panose="020E0502030308020204" pitchFamily="34" charset="0"/>
              </a:rPr>
              <a:t>ellas consiste en que las empresas partícipes en </a:t>
            </a:r>
            <a:r>
              <a:rPr lang="es-BO" sz="2800" dirty="0" smtClean="0">
                <a:latin typeface="Maiandra GD" panose="020E0502030308020204" pitchFamily="34" charset="0"/>
              </a:rPr>
              <a:t>ellos obtienen </a:t>
            </a:r>
            <a:r>
              <a:rPr lang="es-BO" sz="2800" dirty="0">
                <a:latin typeface="Maiandra GD" panose="020E0502030308020204" pitchFamily="34" charset="0"/>
              </a:rPr>
              <a:t>ganancias </a:t>
            </a:r>
            <a:r>
              <a:rPr lang="es-BO" sz="2800" dirty="0" smtClean="0">
                <a:latin typeface="Maiandra GD" panose="020E0502030308020204" pitchFamily="34" charset="0"/>
              </a:rPr>
              <a:t>extra normales y</a:t>
            </a:r>
            <a:r>
              <a:rPr lang="es-BO" sz="2800" dirty="0">
                <a:latin typeface="Maiandra GD" panose="020E0502030308020204" pitchFamily="34" charset="0"/>
              </a:rPr>
              <a:t>, dado que se </a:t>
            </a:r>
            <a:r>
              <a:rPr lang="es-BO" sz="2800" dirty="0" smtClean="0">
                <a:latin typeface="Maiandra GD" panose="020E0502030308020204" pitchFamily="34" charset="0"/>
              </a:rPr>
              <a:t>ponen barreras de entrada</a:t>
            </a:r>
            <a:r>
              <a:rPr lang="es-BO" sz="2800" dirty="0">
                <a:latin typeface="Maiandra GD" panose="020E0502030308020204" pitchFamily="34" charset="0"/>
              </a:rPr>
              <a:t>, se trunca el ingreso </a:t>
            </a:r>
            <a:r>
              <a:rPr lang="es-BO" sz="2800" dirty="0" smtClean="0">
                <a:latin typeface="Maiandra GD" panose="020E0502030308020204" pitchFamily="34" charset="0"/>
              </a:rPr>
              <a:t>de nuevos competidores</a:t>
            </a:r>
            <a:r>
              <a:rPr lang="es-BO" sz="2800" dirty="0">
                <a:latin typeface="Maiandra GD" panose="020E0502030308020204" pitchFamily="34" charset="0"/>
              </a:rPr>
              <a:t>, haciendo </a:t>
            </a:r>
            <a:r>
              <a:rPr lang="es-BO" sz="2800" dirty="0" smtClean="0">
                <a:latin typeface="Maiandra GD" panose="020E0502030308020204" pitchFamily="34" charset="0"/>
              </a:rPr>
              <a:t>posible que dichas ganancias extra normales </a:t>
            </a:r>
            <a:r>
              <a:rPr lang="es-BO" sz="2800" dirty="0">
                <a:latin typeface="Maiandra GD" panose="020E0502030308020204" pitchFamily="34" charset="0"/>
              </a:rPr>
              <a:t>perduren en </a:t>
            </a:r>
            <a:r>
              <a:rPr lang="es-BO" sz="2800" dirty="0" smtClean="0">
                <a:latin typeface="Maiandra GD" panose="020E0502030308020204" pitchFamily="34" charset="0"/>
              </a:rPr>
              <a:t>el tiempo</a:t>
            </a:r>
            <a:r>
              <a:rPr lang="es-BO" sz="2800" dirty="0">
                <a:latin typeface="Maiandra GD" panose="020E0502030308020204" pitchFamily="34" charset="0"/>
              </a:rPr>
              <a:t>, con lo cual </a:t>
            </a:r>
            <a:r>
              <a:rPr lang="es-BO" sz="2800" dirty="0" smtClean="0">
                <a:latin typeface="Maiandra GD" panose="020E0502030308020204" pitchFamily="34" charset="0"/>
              </a:rPr>
              <a:t>se genera </a:t>
            </a:r>
            <a:r>
              <a:rPr lang="es-BO" sz="2800" dirty="0">
                <a:latin typeface="Maiandra GD" panose="020E0502030308020204" pitchFamily="34" charset="0"/>
              </a:rPr>
              <a:t>una ineficiente asignación de recursos y se </a:t>
            </a:r>
            <a:r>
              <a:rPr lang="es-BO" sz="2800" dirty="0" smtClean="0">
                <a:latin typeface="Maiandra GD" panose="020E0502030308020204" pitchFamily="34" charset="0"/>
              </a:rPr>
              <a:t>ocasiona, de paso, pérdida </a:t>
            </a:r>
            <a:r>
              <a:rPr lang="es-BO" sz="2800" dirty="0">
                <a:latin typeface="Maiandra GD" panose="020E0502030308020204" pitchFamily="34" charset="0"/>
              </a:rPr>
              <a:t>de </a:t>
            </a:r>
            <a:r>
              <a:rPr lang="es-BO" sz="2800" dirty="0" smtClean="0">
                <a:latin typeface="Maiandra GD" panose="020E0502030308020204" pitchFamily="34" charset="0"/>
              </a:rPr>
              <a:t>bienestar social.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50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137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Oferta de mercados (servicios, materias primas y otros)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72886" y="2735946"/>
            <a:ext cx="10169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El término oferta se puede definir como el número de </a:t>
            </a:r>
            <a:r>
              <a:rPr lang="es-BO" sz="2800" dirty="0" smtClean="0">
                <a:latin typeface="Maiandra GD" panose="020E0502030308020204" pitchFamily="34" charset="0"/>
              </a:rPr>
              <a:t>unidades de </a:t>
            </a:r>
            <a:r>
              <a:rPr lang="es-BO" sz="2800" dirty="0">
                <a:latin typeface="Maiandra GD" panose="020E0502030308020204" pitchFamily="34" charset="0"/>
              </a:rPr>
              <a:t>un determinado </a:t>
            </a:r>
            <a:r>
              <a:rPr lang="es-BO" sz="2800" dirty="0" smtClean="0">
                <a:latin typeface="Maiandra GD" panose="020E0502030308020204" pitchFamily="34" charset="0"/>
              </a:rPr>
              <a:t>bien </a:t>
            </a:r>
            <a:r>
              <a:rPr lang="es-BO" sz="2800" dirty="0">
                <a:latin typeface="Maiandra GD" panose="020E0502030308020204" pitchFamily="34" charset="0"/>
              </a:rPr>
              <a:t>o servicio que los vendedores </a:t>
            </a:r>
            <a:r>
              <a:rPr lang="es-BO" sz="2800" dirty="0" smtClean="0">
                <a:latin typeface="Maiandra GD" panose="020E0502030308020204" pitchFamily="34" charset="0"/>
              </a:rPr>
              <a:t>están dispuestos </a:t>
            </a:r>
            <a:r>
              <a:rPr lang="es-BO" sz="2800" dirty="0">
                <a:latin typeface="Maiandra GD" panose="020E0502030308020204" pitchFamily="34" charset="0"/>
              </a:rPr>
              <a:t>a ofrecer a determinados precios.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2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73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Oferta de mercados (servicios, materias primas y otros)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latin typeface="Maiandra GD" panose="020E0502030308020204" pitchFamily="34" charset="0"/>
              </a:rPr>
              <a:t>Definición técnica.</a:t>
            </a:r>
          </a:p>
          <a:p>
            <a:endParaRPr lang="es-BO" sz="2800" dirty="0">
              <a:latin typeface="Maiandra GD" panose="020E0502030308020204" pitchFamily="34" charset="0"/>
            </a:endParaRPr>
          </a:p>
          <a:p>
            <a:r>
              <a:rPr lang="es-BO" sz="2800" dirty="0">
                <a:latin typeface="Maiandra GD" panose="020E0502030308020204" pitchFamily="34" charset="0"/>
              </a:rPr>
              <a:t>La oferta, en economía, es la cantidad de bienes y servicios </a:t>
            </a:r>
            <a:r>
              <a:rPr lang="es-BO" sz="2800" dirty="0" smtClean="0">
                <a:latin typeface="Maiandra GD" panose="020E0502030308020204" pitchFamily="34" charset="0"/>
              </a:rPr>
              <a:t>que los ofertantes </a:t>
            </a:r>
            <a:r>
              <a:rPr lang="es-BO" sz="2800" dirty="0">
                <a:latin typeface="Maiandra GD" panose="020E0502030308020204" pitchFamily="34" charset="0"/>
              </a:rPr>
              <a:t>están dispuestos a poner a la venta en el </a:t>
            </a:r>
            <a:r>
              <a:rPr lang="es-BO" sz="2800" dirty="0" smtClean="0">
                <a:latin typeface="Maiandra GD" panose="020E0502030308020204" pitchFamily="34" charset="0"/>
              </a:rPr>
              <a:t>mercado a </a:t>
            </a:r>
            <a:r>
              <a:rPr lang="es-BO" sz="2800" dirty="0">
                <a:latin typeface="Maiandra GD" panose="020E0502030308020204" pitchFamily="34" charset="0"/>
              </a:rPr>
              <a:t>unos precios concretos</a:t>
            </a:r>
            <a:r>
              <a:rPr lang="es-BO" sz="2800" dirty="0" smtClean="0">
                <a:latin typeface="Maiandra GD" panose="020E0502030308020204" pitchFamily="34" charset="0"/>
              </a:rPr>
              <a:t>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31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747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Oferta de mercados (servicios, materias primas y otros)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15893" y="2374900"/>
            <a:ext cx="10169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Más concretamente, la oferta es la cantidad de bienes y </a:t>
            </a:r>
            <a:r>
              <a:rPr lang="es-BO" sz="2800" dirty="0" smtClean="0">
                <a:latin typeface="Maiandra GD" panose="020E0502030308020204" pitchFamily="34" charset="0"/>
              </a:rPr>
              <a:t>servicios que </a:t>
            </a:r>
            <a:r>
              <a:rPr lang="es-BO" sz="2800" dirty="0">
                <a:latin typeface="Maiandra GD" panose="020E0502030308020204" pitchFamily="34" charset="0"/>
              </a:rPr>
              <a:t>diversas organizaciones, instituciones, personas o </a:t>
            </a:r>
            <a:r>
              <a:rPr lang="es-BO" sz="2800" dirty="0" smtClean="0">
                <a:latin typeface="Maiandra GD" panose="020E0502030308020204" pitchFamily="34" charset="0"/>
              </a:rPr>
              <a:t>empresas están </a:t>
            </a:r>
            <a:r>
              <a:rPr lang="es-BO" sz="2800" dirty="0">
                <a:latin typeface="Maiandra GD" panose="020E0502030308020204" pitchFamily="34" charset="0"/>
              </a:rPr>
              <a:t>dispuestas a poner a la venta, es decir, en el mercado, </a:t>
            </a:r>
            <a:r>
              <a:rPr lang="es-BO" sz="2800" dirty="0" smtClean="0">
                <a:latin typeface="Maiandra GD" panose="020E0502030308020204" pitchFamily="34" charset="0"/>
              </a:rPr>
              <a:t>en un </a:t>
            </a:r>
            <a:r>
              <a:rPr lang="es-BO" sz="2800" dirty="0">
                <a:latin typeface="Maiandra GD" panose="020E0502030308020204" pitchFamily="34" charset="0"/>
              </a:rPr>
              <a:t>lugar determinado (un pueblo, una </a:t>
            </a:r>
            <a:r>
              <a:rPr lang="es-BO" sz="2800" dirty="0" smtClean="0">
                <a:latin typeface="Maiandra GD" panose="020E0502030308020204" pitchFamily="34" charset="0"/>
              </a:rPr>
              <a:t>región) y </a:t>
            </a:r>
            <a:r>
              <a:rPr lang="es-BO" sz="2800" dirty="0">
                <a:latin typeface="Maiandra GD" panose="020E0502030308020204" pitchFamily="34" charset="0"/>
              </a:rPr>
              <a:t>a un precio dado, bien por el interés del oferente o por la determinación </a:t>
            </a:r>
            <a:r>
              <a:rPr lang="es-BO" sz="2800" dirty="0" smtClean="0">
                <a:latin typeface="Maiandra GD" panose="020E0502030308020204" pitchFamily="34" charset="0"/>
              </a:rPr>
              <a:t>propia </a:t>
            </a:r>
            <a:r>
              <a:rPr lang="es-BO" sz="2800" dirty="0">
                <a:latin typeface="Maiandra GD" panose="020E0502030308020204" pitchFamily="34" charset="0"/>
              </a:rPr>
              <a:t>de la economía. Los precios no tienen por qué ser iguales para cada tipo de productos e incluso en un mismo producto, dos oferentes diferentes pueden decidir poner un precio diferente.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19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582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Oferta de mercados (servicios, materias primas y otros)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50" y="1631891"/>
            <a:ext cx="5073709" cy="507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0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493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asignación de recursos en los mercados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0086" y="2349500"/>
            <a:ext cx="10169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El caso que más preocupa a las autoridades es el relativo a </a:t>
            </a:r>
            <a:r>
              <a:rPr lang="es-BO" sz="2800" dirty="0" smtClean="0">
                <a:latin typeface="Maiandra GD" panose="020E0502030308020204" pitchFamily="34" charset="0"/>
              </a:rPr>
              <a:t>los monopolios naturales</a:t>
            </a:r>
            <a:r>
              <a:rPr lang="es-BO" sz="2800" dirty="0">
                <a:latin typeface="Maiandra GD" panose="020E0502030308020204" pitchFamily="34" charset="0"/>
              </a:rPr>
              <a:t>, que generalmente entregan </a:t>
            </a:r>
            <a:r>
              <a:rPr lang="es-BO" sz="2800" dirty="0" smtClean="0">
                <a:latin typeface="Maiandra GD" panose="020E0502030308020204" pitchFamily="34" charset="0"/>
              </a:rPr>
              <a:t>servicios básicos </a:t>
            </a:r>
            <a:r>
              <a:rPr lang="es-BO" sz="2800" dirty="0">
                <a:latin typeface="Maiandra GD" panose="020E0502030308020204" pitchFamily="34" charset="0"/>
              </a:rPr>
              <a:t>a sus usuarios, como por </a:t>
            </a:r>
            <a:r>
              <a:rPr lang="es-BO" sz="2800" dirty="0" smtClean="0">
                <a:latin typeface="Maiandra GD" panose="020E0502030308020204" pitchFamily="34" charset="0"/>
              </a:rPr>
              <a:t>ejemplo el </a:t>
            </a:r>
            <a:r>
              <a:rPr lang="es-BO" sz="2800" dirty="0">
                <a:latin typeface="Maiandra GD" panose="020E0502030308020204" pitchFamily="34" charset="0"/>
              </a:rPr>
              <a:t>caso del agua y </a:t>
            </a:r>
            <a:r>
              <a:rPr lang="es-BO" sz="2800" dirty="0" smtClean="0">
                <a:latin typeface="Maiandra GD" panose="020E0502030308020204" pitchFamily="34" charset="0"/>
              </a:rPr>
              <a:t>la electricidad</a:t>
            </a:r>
            <a:r>
              <a:rPr lang="es-BO" sz="2800" dirty="0">
                <a:latin typeface="Maiandra GD" panose="020E0502030308020204" pitchFamily="34" charset="0"/>
              </a:rPr>
              <a:t>. 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82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27000" y="813375"/>
            <a:ext cx="11493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asignación de recursos en los mercados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80886" y="1993900"/>
            <a:ext cx="10169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latin typeface="Maiandra GD" panose="020E0502030308020204" pitchFamily="34" charset="0"/>
              </a:rPr>
              <a:t>En estos mercados, la ineficiencia en la asignación de recursos puede generar su impacto en el alza de las tarifas, la cual, por tratarse de servicios básicos que llegan a todos los consumidores, suele ser una variable </a:t>
            </a:r>
            <a:r>
              <a:rPr lang="es-BO" sz="2800" dirty="0" smtClean="0">
                <a:latin typeface="Maiandra GD" panose="020E0502030308020204" pitchFamily="34" charset="0"/>
              </a:rPr>
              <a:t>que repercute negativamente </a:t>
            </a:r>
            <a:r>
              <a:rPr lang="es-BO" sz="2800" dirty="0">
                <a:latin typeface="Maiandra GD" panose="020E0502030308020204" pitchFamily="34" charset="0"/>
              </a:rPr>
              <a:t>en la población. Por tanto, </a:t>
            </a:r>
            <a:r>
              <a:rPr lang="es-BO" sz="2800" dirty="0" smtClean="0">
                <a:latin typeface="Maiandra GD" panose="020E0502030308020204" pitchFamily="34" charset="0"/>
              </a:rPr>
              <a:t>el organismo </a:t>
            </a:r>
            <a:r>
              <a:rPr lang="es-BO" sz="2800" dirty="0">
                <a:latin typeface="Maiandra GD" panose="020E0502030308020204" pitchFamily="34" charset="0"/>
              </a:rPr>
              <a:t>regulador debe </a:t>
            </a:r>
            <a:r>
              <a:rPr lang="es-BO" sz="2800" dirty="0" smtClean="0">
                <a:latin typeface="Maiandra GD" panose="020E0502030308020204" pitchFamily="34" charset="0"/>
              </a:rPr>
              <a:t>generar incentivos para que dichas empresas sean eficientes y traspasen esa eficiencia a sus consumidores, por medio de la tarifa</a:t>
            </a:r>
            <a:r>
              <a:rPr lang="es-BO" sz="2800" dirty="0">
                <a:latin typeface="Maiandra GD" panose="020E0502030308020204" pitchFamily="34" charset="0"/>
              </a:rPr>
              <a:t>.</a:t>
            </a:r>
          </a:p>
          <a:p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69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857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ESTRUCTURA </a:t>
            </a:r>
            <a:r>
              <a:rPr lang="es-BO" sz="3200" dirty="0">
                <a:solidFill>
                  <a:srgbClr val="FF0000"/>
                </a:solidFill>
                <a:latin typeface="Maiandra GD" panose="020E0502030308020204" pitchFamily="34" charset="0"/>
              </a:rPr>
              <a:t>ECONOMICA DEL MERCADO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664200" y="3263900"/>
            <a:ext cx="87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latin typeface="Maiandra GD" panose="020E0502030308020204" pitchFamily="34" charset="0"/>
              </a:rPr>
              <a:t>FIN</a:t>
            </a:r>
            <a:endParaRPr lang="es-BO" sz="28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84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389</TotalTime>
  <Words>1590</Words>
  <Application>Microsoft Office PowerPoint</Application>
  <PresentationFormat>Panorámica</PresentationFormat>
  <Paragraphs>146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Arial</vt:lpstr>
      <vt:lpstr>Cambria Math</vt:lpstr>
      <vt:lpstr>Century Gothic</vt:lpstr>
      <vt:lpstr>Maiandra GD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Consultores Academia</dc:creator>
  <cp:lastModifiedBy>Consultores Academia</cp:lastModifiedBy>
  <cp:revision>66</cp:revision>
  <dcterms:created xsi:type="dcterms:W3CDTF">2021-09-20T12:31:47Z</dcterms:created>
  <dcterms:modified xsi:type="dcterms:W3CDTF">2021-09-30T03:14:33Z</dcterms:modified>
</cp:coreProperties>
</file>