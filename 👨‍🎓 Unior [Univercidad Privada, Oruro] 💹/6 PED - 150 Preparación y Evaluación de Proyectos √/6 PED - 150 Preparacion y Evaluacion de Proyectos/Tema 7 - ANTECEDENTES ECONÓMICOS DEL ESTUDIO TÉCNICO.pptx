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92" r:id="rId2"/>
    <p:sldId id="256" r:id="rId3"/>
    <p:sldId id="260" r:id="rId4"/>
    <p:sldId id="259" r:id="rId5"/>
    <p:sldId id="261" r:id="rId6"/>
    <p:sldId id="262" r:id="rId7"/>
    <p:sldId id="263" r:id="rId8"/>
    <p:sldId id="264" r:id="rId9"/>
    <p:sldId id="265" r:id="rId10"/>
    <p:sldId id="267" r:id="rId11"/>
    <p:sldId id="268" r:id="rId12"/>
    <p:sldId id="269" r:id="rId13"/>
    <p:sldId id="270" r:id="rId14"/>
    <p:sldId id="271" r:id="rId15"/>
    <p:sldId id="272" r:id="rId16"/>
    <p:sldId id="276" r:id="rId17"/>
    <p:sldId id="273" r:id="rId18"/>
    <p:sldId id="274" r:id="rId19"/>
    <p:sldId id="275" r:id="rId20"/>
    <p:sldId id="277"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58" r:id="rId35"/>
  </p:sldIdLst>
  <p:sldSz cx="12192000" cy="68580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D547"/>
    <a:srgbClr val="1D68FF"/>
    <a:srgbClr val="003FBC"/>
    <a:srgbClr val="003296"/>
    <a:srgbClr val="418A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67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5A495167-C250-4520-B8D3-4779C455EC46}"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1894207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3"/>
          <p:cNvSpPr>
            <a:spLocks noGrp="1"/>
          </p:cNvSpPr>
          <p:nvPr>
            <p:ph type="dt" sz="half" idx="10"/>
          </p:nvPr>
        </p:nvSpPr>
        <p:spPr/>
        <p:txBody>
          <a:bodyPr/>
          <a:lstStyle/>
          <a:p>
            <a:fld id="{5A495167-C250-4520-B8D3-4779C455EC46}"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3513276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5A495167-C250-4520-B8D3-4779C455EC46}"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1290622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5A495167-C250-4520-B8D3-4779C455EC46}" type="datetimeFigureOut">
              <a:rPr lang="es-BO" smtClean="0"/>
              <a:t>24/10/2021</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1480106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5A495167-C250-4520-B8D3-4779C455EC46}" type="datetimeFigureOut">
              <a:rPr lang="es-BO" smtClean="0"/>
              <a:t>24/10/2021</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1910641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7" name="Date Placeholder 2"/>
          <p:cNvSpPr>
            <a:spLocks noGrp="1"/>
          </p:cNvSpPr>
          <p:nvPr>
            <p:ph type="dt" sz="half" idx="10"/>
          </p:nvPr>
        </p:nvSpPr>
        <p:spPr/>
        <p:txBody>
          <a:bodyPr/>
          <a:lstStyle/>
          <a:p>
            <a:fld id="{5A495167-C250-4520-B8D3-4779C455EC46}" type="datetimeFigureOut">
              <a:rPr lang="es-BO" smtClean="0"/>
              <a:t>24/10/2021</a:t>
            </a:fld>
            <a:endParaRPr lang="es-BO"/>
          </a:p>
        </p:txBody>
      </p:sp>
      <p:sp>
        <p:nvSpPr>
          <p:cNvPr id="5" name="Footer Placeholder 3"/>
          <p:cNvSpPr>
            <a:spLocks noGrp="1"/>
          </p:cNvSpPr>
          <p:nvPr>
            <p:ph type="ftr" sz="quarter" idx="11"/>
          </p:nvPr>
        </p:nvSpPr>
        <p:spPr/>
        <p:txBody>
          <a:bodyPr/>
          <a:lstStyle/>
          <a:p>
            <a:endParaRPr lang="es-BO"/>
          </a:p>
        </p:txBody>
      </p:sp>
      <p:sp>
        <p:nvSpPr>
          <p:cNvPr id="6" name="Slide Number Placeholder 4"/>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296610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A495167-C250-4520-B8D3-4779C455EC46}" type="datetimeFigureOut">
              <a:rPr lang="es-BO" smtClean="0"/>
              <a:t>24/10/2021</a:t>
            </a:fld>
            <a:endParaRPr lang="es-BO"/>
          </a:p>
        </p:txBody>
      </p:sp>
      <p:sp>
        <p:nvSpPr>
          <p:cNvPr id="5" name="Footer Placeholder 2"/>
          <p:cNvSpPr>
            <a:spLocks noGrp="1"/>
          </p:cNvSpPr>
          <p:nvPr>
            <p:ph type="ftr" sz="quarter" idx="11"/>
          </p:nvPr>
        </p:nvSpPr>
        <p:spPr/>
        <p:txBody>
          <a:bodyPr/>
          <a:lstStyle/>
          <a:p>
            <a:endParaRPr lang="es-BO"/>
          </a:p>
        </p:txBody>
      </p:sp>
      <p:sp>
        <p:nvSpPr>
          <p:cNvPr id="6" name="Slide Number Placeholder 3"/>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2926417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7" name="Date Placeholder 4"/>
          <p:cNvSpPr>
            <a:spLocks noGrp="1"/>
          </p:cNvSpPr>
          <p:nvPr>
            <p:ph type="dt" sz="half" idx="10"/>
          </p:nvPr>
        </p:nvSpPr>
        <p:spPr/>
        <p:txBody>
          <a:bodyPr/>
          <a:lstStyle/>
          <a:p>
            <a:fld id="{5A495167-C250-4520-B8D3-4779C455EC46}" type="datetimeFigureOut">
              <a:rPr lang="es-BO" smtClean="0"/>
              <a:t>24/10/2021</a:t>
            </a:fld>
            <a:endParaRPr lang="es-BO"/>
          </a:p>
        </p:txBody>
      </p:sp>
      <p:sp>
        <p:nvSpPr>
          <p:cNvPr id="5" name="Footer Placeholder 5"/>
          <p:cNvSpPr>
            <a:spLocks noGrp="1"/>
          </p:cNvSpPr>
          <p:nvPr>
            <p:ph type="ftr" sz="quarter" idx="11"/>
          </p:nvPr>
        </p:nvSpPr>
        <p:spPr/>
        <p:txBody>
          <a:bodyPr/>
          <a:lstStyle/>
          <a:p>
            <a:endParaRPr lang="es-BO"/>
          </a:p>
        </p:txBody>
      </p:sp>
      <p:sp>
        <p:nvSpPr>
          <p:cNvPr id="6" name="Slide Number Placeholder 6"/>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1790404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5A495167-C250-4520-B8D3-4779C455EC46}" type="datetimeFigureOut">
              <a:rPr lang="es-BO" smtClean="0"/>
              <a:t>24/10/2021</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3724967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5A495167-C250-4520-B8D3-4779C455EC46}" type="datetimeFigureOut">
              <a:rPr lang="es-BO" smtClean="0"/>
              <a:t>24/10/2021</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1230399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smtClean="0"/>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5A495167-C250-4520-B8D3-4779C455EC46}"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2831224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smtClean="0"/>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smtClean="0"/>
              <a:t>Editar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5A495167-C250-4520-B8D3-4779C455EC46}"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9C34A57-9419-4FBA-8135-78C619C8BA2A}" type="slidenum">
              <a:rPr lang="es-BO" smtClean="0"/>
              <a:t>‹Nº›</a:t>
            </a:fld>
            <a:endParaRPr lang="es-BO"/>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0089957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5A495167-C250-4520-B8D3-4779C455EC46}"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40244631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A495167-C250-4520-B8D3-4779C455EC46}" type="datetimeFigureOut">
              <a:rPr lang="es-BO" smtClean="0"/>
              <a:t>24/10/2021</a:t>
            </a:fld>
            <a:endParaRPr lang="es-BO"/>
          </a:p>
        </p:txBody>
      </p:sp>
      <p:sp>
        <p:nvSpPr>
          <p:cNvPr id="4"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77822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A495167-C250-4520-B8D3-4779C455EC46}" type="datetimeFigureOut">
              <a:rPr lang="es-BO" smtClean="0"/>
              <a:t>24/10/2021</a:t>
            </a:fld>
            <a:endParaRPr lang="es-BO"/>
          </a:p>
        </p:txBody>
      </p:sp>
      <p:sp>
        <p:nvSpPr>
          <p:cNvPr id="4"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37335864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A495167-C250-4520-B8D3-4779C455EC46}"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1542489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A495167-C250-4520-B8D3-4779C455EC46}"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F9C34A57-9419-4FBA-8135-78C619C8BA2A}" type="slidenum">
              <a:rPr lang="es-BO" smtClean="0"/>
              <a:t>‹Nº›</a:t>
            </a:fld>
            <a:endParaRPr lang="es-BO"/>
          </a:p>
        </p:txBody>
      </p:sp>
    </p:spTree>
    <p:extLst>
      <p:ext uri="{BB962C8B-B14F-4D97-AF65-F5344CB8AC3E}">
        <p14:creationId xmlns:p14="http://schemas.microsoft.com/office/powerpoint/2010/main" val="4052236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A495167-C250-4520-B8D3-4779C455EC46}" type="datetimeFigureOut">
              <a:rPr lang="es-BO" smtClean="0"/>
              <a:t>24/10/2021</a:t>
            </a:fld>
            <a:endParaRPr lang="es-BO"/>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BO"/>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9C34A57-9419-4FBA-8135-78C619C8BA2A}" type="slidenum">
              <a:rPr lang="es-BO" smtClean="0"/>
              <a:t>‹Nº›</a:t>
            </a:fld>
            <a:endParaRPr lang="es-BO"/>
          </a:p>
        </p:txBody>
      </p:sp>
    </p:spTree>
    <p:extLst>
      <p:ext uri="{BB962C8B-B14F-4D97-AF65-F5344CB8AC3E}">
        <p14:creationId xmlns:p14="http://schemas.microsoft.com/office/powerpoint/2010/main" val="629070013"/>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0.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0.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4910028" y="220187"/>
            <a:ext cx="2371944" cy="1714100"/>
          </a:xfrm>
          <a:prstGeom prst="rect">
            <a:avLst/>
          </a:prstGeom>
        </p:spPr>
      </p:pic>
      <p:sp>
        <p:nvSpPr>
          <p:cNvPr id="6" name="CuadroTexto 5"/>
          <p:cNvSpPr txBox="1"/>
          <p:nvPr/>
        </p:nvSpPr>
        <p:spPr>
          <a:xfrm>
            <a:off x="154745" y="3901900"/>
            <a:ext cx="12037255" cy="1384995"/>
          </a:xfrm>
          <a:prstGeom prst="rect">
            <a:avLst/>
          </a:prstGeom>
          <a:noFill/>
        </p:spPr>
        <p:txBody>
          <a:bodyPr wrap="square" rtlCol="0">
            <a:spAutoFit/>
          </a:bodyPr>
          <a:lstStyle/>
          <a:p>
            <a:pPr algn="ctr"/>
            <a:r>
              <a:rPr lang="es-BO" sz="4000" dirty="0" smtClean="0">
                <a:solidFill>
                  <a:srgbClr val="002060"/>
                </a:solidFill>
                <a:latin typeface="Maiandra GD" panose="020E0502030308020204" pitchFamily="34" charset="0"/>
              </a:rPr>
              <a:t>Modulo: Planificación y evaluación de proyectos</a:t>
            </a:r>
          </a:p>
          <a:p>
            <a:pPr algn="ctr"/>
            <a:r>
              <a:rPr lang="es-BO" sz="4400" dirty="0" smtClean="0">
                <a:solidFill>
                  <a:srgbClr val="002060"/>
                </a:solidFill>
                <a:latin typeface="Maiandra GD" panose="020E0502030308020204" pitchFamily="34" charset="0"/>
              </a:rPr>
              <a:t>Código: PEP-150</a:t>
            </a:r>
          </a:p>
        </p:txBody>
      </p:sp>
      <p:sp>
        <p:nvSpPr>
          <p:cNvPr id="7" name="CuadroTexto 6"/>
          <p:cNvSpPr txBox="1"/>
          <p:nvPr/>
        </p:nvSpPr>
        <p:spPr>
          <a:xfrm>
            <a:off x="3740021" y="6134913"/>
            <a:ext cx="5464992" cy="584775"/>
          </a:xfrm>
          <a:prstGeom prst="rect">
            <a:avLst/>
          </a:prstGeom>
          <a:noFill/>
        </p:spPr>
        <p:txBody>
          <a:bodyPr wrap="square" rtlCol="0">
            <a:spAutoFit/>
          </a:bodyPr>
          <a:lstStyle/>
          <a:p>
            <a:r>
              <a:rPr lang="es-BO" sz="3200" dirty="0" smtClean="0">
                <a:solidFill>
                  <a:schemeClr val="accent5">
                    <a:lumMod val="75000"/>
                  </a:schemeClr>
                </a:solidFill>
                <a:latin typeface="Maiandra GD" panose="020E0502030308020204" pitchFamily="34" charset="0"/>
              </a:rPr>
              <a:t>Docente: Ing. José C. Rojas P.</a:t>
            </a:r>
          </a:p>
        </p:txBody>
      </p:sp>
      <p:sp>
        <p:nvSpPr>
          <p:cNvPr id="9" name="CuadroTexto 8"/>
          <p:cNvSpPr txBox="1"/>
          <p:nvPr/>
        </p:nvSpPr>
        <p:spPr>
          <a:xfrm>
            <a:off x="1951449" y="2031341"/>
            <a:ext cx="8443846" cy="1446550"/>
          </a:xfrm>
          <a:prstGeom prst="rect">
            <a:avLst/>
          </a:prstGeom>
          <a:noFill/>
        </p:spPr>
        <p:txBody>
          <a:bodyPr wrap="square" rtlCol="0">
            <a:spAutoFit/>
          </a:bodyPr>
          <a:lstStyle/>
          <a:p>
            <a:pPr algn="ctr"/>
            <a:r>
              <a:rPr lang="es-BO" sz="4400" dirty="0" smtClean="0">
                <a:solidFill>
                  <a:srgbClr val="FFC000"/>
                </a:solidFill>
                <a:latin typeface="Maiandra GD" panose="020E0502030308020204" pitchFamily="34" charset="0"/>
              </a:rPr>
              <a:t>Carrera de Ingeniería de Sistemas</a:t>
            </a:r>
          </a:p>
          <a:p>
            <a:pPr algn="ctr"/>
            <a:r>
              <a:rPr lang="es-BO" sz="4400" dirty="0" smtClean="0">
                <a:solidFill>
                  <a:srgbClr val="FFC000"/>
                </a:solidFill>
                <a:latin typeface="Maiandra GD" panose="020E0502030308020204" pitchFamily="34" charset="0"/>
              </a:rPr>
              <a:t>Universidad Privada de Oruro</a:t>
            </a:r>
            <a:endParaRPr lang="es-BO" sz="4400" dirty="0">
              <a:solidFill>
                <a:srgbClr val="FFC000"/>
              </a:solidFill>
              <a:latin typeface="Maiandra GD" panose="020E0502030308020204" pitchFamily="34" charset="0"/>
            </a:endParaRPr>
          </a:p>
        </p:txBody>
      </p:sp>
    </p:spTree>
    <p:extLst>
      <p:ext uri="{BB962C8B-B14F-4D97-AF65-F5344CB8AC3E}">
        <p14:creationId xmlns:p14="http://schemas.microsoft.com/office/powerpoint/2010/main" val="12333967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6917278" cy="584775"/>
          </a:xfrm>
          <a:prstGeom prst="rect">
            <a:avLst/>
          </a:prstGeom>
        </p:spPr>
        <p:txBody>
          <a:bodyPr wrap="none">
            <a:spAutoFit/>
          </a:bodyPr>
          <a:lstStyle/>
          <a:p>
            <a:r>
              <a:rPr lang="es-BO" sz="2800" dirty="0" smtClean="0">
                <a:solidFill>
                  <a:srgbClr val="FF0000"/>
                </a:solidFill>
              </a:rPr>
              <a:t>7.1 </a:t>
            </a:r>
            <a:r>
              <a:rPr lang="es-BO" sz="3200" dirty="0" smtClean="0">
                <a:solidFill>
                  <a:srgbClr val="FF0000"/>
                </a:solidFill>
              </a:rPr>
              <a:t>Alcance</a:t>
            </a:r>
            <a:r>
              <a:rPr lang="es-BO" sz="2800" dirty="0" smtClean="0">
                <a:solidFill>
                  <a:srgbClr val="FF0000"/>
                </a:solidFill>
              </a:rPr>
              <a:t> del estudio de Ingeniería</a:t>
            </a:r>
            <a:endParaRPr lang="es-BO" sz="2800" dirty="0">
              <a:solidFill>
                <a:srgbClr val="FF0000"/>
              </a:solidFill>
            </a:endParaRPr>
          </a:p>
        </p:txBody>
      </p:sp>
      <p:sp>
        <p:nvSpPr>
          <p:cNvPr id="8" name="CuadroTexto 7"/>
          <p:cNvSpPr txBox="1"/>
          <p:nvPr/>
        </p:nvSpPr>
        <p:spPr>
          <a:xfrm>
            <a:off x="517711" y="1965355"/>
            <a:ext cx="10381130" cy="1815882"/>
          </a:xfrm>
          <a:prstGeom prst="rect">
            <a:avLst/>
          </a:prstGeom>
          <a:noFill/>
        </p:spPr>
        <p:txBody>
          <a:bodyPr wrap="square" rtlCol="0">
            <a:spAutoFit/>
          </a:bodyPr>
          <a:lstStyle/>
          <a:p>
            <a:r>
              <a:rPr lang="es-BO" sz="2800" dirty="0" smtClean="0">
                <a:solidFill>
                  <a:srgbClr val="002060"/>
                </a:solidFill>
              </a:rPr>
              <a:t>Los aspectos relacionados con la ingeniería del proyecto son probablemente los que tienen mayor incidencia sobre la magnitud de los costos e inversiones que deberán efectuarse si se implementa el proyecto.</a:t>
            </a:r>
            <a:endParaRPr lang="es-BO" sz="2800" dirty="0">
              <a:solidFill>
                <a:srgbClr val="002060"/>
              </a:solidFill>
            </a:endParaRPr>
          </a:p>
        </p:txBody>
      </p:sp>
    </p:spTree>
    <p:extLst>
      <p:ext uri="{BB962C8B-B14F-4D97-AF65-F5344CB8AC3E}">
        <p14:creationId xmlns:p14="http://schemas.microsoft.com/office/powerpoint/2010/main" val="4260604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6917278" cy="584775"/>
          </a:xfrm>
          <a:prstGeom prst="rect">
            <a:avLst/>
          </a:prstGeom>
        </p:spPr>
        <p:txBody>
          <a:bodyPr wrap="none">
            <a:spAutoFit/>
          </a:bodyPr>
          <a:lstStyle/>
          <a:p>
            <a:r>
              <a:rPr lang="es-BO" sz="2800" dirty="0" smtClean="0">
                <a:solidFill>
                  <a:srgbClr val="FF0000"/>
                </a:solidFill>
              </a:rPr>
              <a:t>7.1 </a:t>
            </a:r>
            <a:r>
              <a:rPr lang="es-BO" sz="3200" dirty="0" smtClean="0">
                <a:solidFill>
                  <a:srgbClr val="FF0000"/>
                </a:solidFill>
              </a:rPr>
              <a:t>Alcance</a:t>
            </a:r>
            <a:r>
              <a:rPr lang="es-BO" sz="2800" dirty="0" smtClean="0">
                <a:solidFill>
                  <a:srgbClr val="FF0000"/>
                </a:solidFill>
              </a:rPr>
              <a:t> del estudio de Ingeniería</a:t>
            </a:r>
            <a:endParaRPr lang="es-BO" sz="2800" dirty="0">
              <a:solidFill>
                <a:srgbClr val="FF0000"/>
              </a:solidFill>
            </a:endParaRPr>
          </a:p>
        </p:txBody>
      </p:sp>
      <p:sp>
        <p:nvSpPr>
          <p:cNvPr id="8" name="CuadroTexto 7"/>
          <p:cNvSpPr txBox="1"/>
          <p:nvPr/>
        </p:nvSpPr>
        <p:spPr>
          <a:xfrm>
            <a:off x="517711" y="1965355"/>
            <a:ext cx="10381130" cy="3108543"/>
          </a:xfrm>
          <a:prstGeom prst="rect">
            <a:avLst/>
          </a:prstGeom>
          <a:noFill/>
        </p:spPr>
        <p:txBody>
          <a:bodyPr wrap="square" rtlCol="0">
            <a:spAutoFit/>
          </a:bodyPr>
          <a:lstStyle/>
          <a:p>
            <a:r>
              <a:rPr lang="es-BO" sz="2800" dirty="0" smtClean="0">
                <a:solidFill>
                  <a:srgbClr val="002060"/>
                </a:solidFill>
              </a:rPr>
              <a:t>Los aspectos relacionados con la ingeniería del proyecto son probablemente los que tienen mayor incidencia sobre la magnitud de los costos e inversiones que deberán efectuarse si se implementa el proyecto.</a:t>
            </a:r>
          </a:p>
          <a:p>
            <a:r>
              <a:rPr lang="es-BO" sz="2800" dirty="0" smtClean="0">
                <a:solidFill>
                  <a:srgbClr val="002060"/>
                </a:solidFill>
              </a:rPr>
              <a:t>De ahí la importancia de estudiar con especial énfasis la valorización económica de todas sus variables técnicas.</a:t>
            </a:r>
          </a:p>
          <a:p>
            <a:endParaRPr lang="es-BO" sz="2800" dirty="0">
              <a:solidFill>
                <a:srgbClr val="002060"/>
              </a:solidFill>
            </a:endParaRPr>
          </a:p>
        </p:txBody>
      </p:sp>
    </p:spTree>
    <p:extLst>
      <p:ext uri="{BB962C8B-B14F-4D97-AF65-F5344CB8AC3E}">
        <p14:creationId xmlns:p14="http://schemas.microsoft.com/office/powerpoint/2010/main" val="2595674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6917278" cy="584775"/>
          </a:xfrm>
          <a:prstGeom prst="rect">
            <a:avLst/>
          </a:prstGeom>
        </p:spPr>
        <p:txBody>
          <a:bodyPr wrap="none">
            <a:spAutoFit/>
          </a:bodyPr>
          <a:lstStyle/>
          <a:p>
            <a:r>
              <a:rPr lang="es-BO" sz="2800" dirty="0" smtClean="0">
                <a:solidFill>
                  <a:srgbClr val="FF0000"/>
                </a:solidFill>
              </a:rPr>
              <a:t>7.1 </a:t>
            </a:r>
            <a:r>
              <a:rPr lang="es-BO" sz="3200" dirty="0" smtClean="0">
                <a:solidFill>
                  <a:srgbClr val="FF0000"/>
                </a:solidFill>
              </a:rPr>
              <a:t>Alcance</a:t>
            </a:r>
            <a:r>
              <a:rPr lang="es-BO" sz="2800" dirty="0" smtClean="0">
                <a:solidFill>
                  <a:srgbClr val="FF0000"/>
                </a:solidFill>
              </a:rPr>
              <a:t> del estudio de Ingeniería</a:t>
            </a:r>
            <a:endParaRPr lang="es-BO" sz="2800" dirty="0">
              <a:solidFill>
                <a:srgbClr val="FF0000"/>
              </a:solidFill>
            </a:endParaRPr>
          </a:p>
        </p:txBody>
      </p:sp>
      <p:sp>
        <p:nvSpPr>
          <p:cNvPr id="8" name="CuadroTexto 7"/>
          <p:cNvSpPr txBox="1"/>
          <p:nvPr/>
        </p:nvSpPr>
        <p:spPr>
          <a:xfrm>
            <a:off x="517711" y="1965355"/>
            <a:ext cx="10381130" cy="2677656"/>
          </a:xfrm>
          <a:prstGeom prst="rect">
            <a:avLst/>
          </a:prstGeom>
          <a:noFill/>
        </p:spPr>
        <p:txBody>
          <a:bodyPr wrap="square" rtlCol="0">
            <a:spAutoFit/>
          </a:bodyPr>
          <a:lstStyle/>
          <a:p>
            <a:r>
              <a:rPr lang="es-BO" sz="2800" dirty="0" smtClean="0">
                <a:solidFill>
                  <a:srgbClr val="002060"/>
                </a:solidFill>
              </a:rPr>
              <a:t>Las diferencias de cada proyecto en su ingeniería hacen muy complejo generalizar un procedimiento de análisis que sea útil a todo ellos. Sin embargo, es posible desarrollar un sistema de orden, clasificación y presentación de la información económica derivada del estudio técnico.</a:t>
            </a:r>
            <a:endParaRPr lang="es-BO" sz="2800" dirty="0">
              <a:solidFill>
                <a:srgbClr val="002060"/>
              </a:solidFill>
            </a:endParaRPr>
          </a:p>
        </p:txBody>
      </p:sp>
    </p:spTree>
    <p:extLst>
      <p:ext uri="{BB962C8B-B14F-4D97-AF65-F5344CB8AC3E}">
        <p14:creationId xmlns:p14="http://schemas.microsoft.com/office/powerpoint/2010/main" val="4021917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900701" cy="523220"/>
          </a:xfrm>
          <a:prstGeom prst="rect">
            <a:avLst/>
          </a:prstGeom>
        </p:spPr>
        <p:txBody>
          <a:bodyPr wrap="none">
            <a:spAutoFit/>
          </a:bodyPr>
          <a:lstStyle/>
          <a:p>
            <a:r>
              <a:rPr lang="es-BO" sz="2800" dirty="0" smtClean="0">
                <a:solidFill>
                  <a:srgbClr val="FF0000"/>
                </a:solidFill>
              </a:rPr>
              <a:t>7.2 Proceso de producción</a:t>
            </a:r>
          </a:p>
        </p:txBody>
      </p:sp>
      <p:sp>
        <p:nvSpPr>
          <p:cNvPr id="8" name="CuadroTexto 7"/>
          <p:cNvSpPr txBox="1"/>
          <p:nvPr/>
        </p:nvSpPr>
        <p:spPr>
          <a:xfrm>
            <a:off x="867334" y="2314979"/>
            <a:ext cx="10381130" cy="2246769"/>
          </a:xfrm>
          <a:prstGeom prst="rect">
            <a:avLst/>
          </a:prstGeom>
          <a:noFill/>
        </p:spPr>
        <p:txBody>
          <a:bodyPr wrap="square" rtlCol="0">
            <a:spAutoFit/>
          </a:bodyPr>
          <a:lstStyle/>
          <a:p>
            <a:r>
              <a:rPr lang="es-BO" sz="2800" dirty="0" smtClean="0">
                <a:solidFill>
                  <a:srgbClr val="002060"/>
                </a:solidFill>
              </a:rPr>
              <a:t>El proceso de producción se define como la forma en que una serie de insumos se transforman en productos mediante la participación de una determinada tecnología (combinación de mano de obra, maquinaria, métodos y procedimientos de operación, etcétera).</a:t>
            </a:r>
            <a:endParaRPr lang="es-BO" sz="2800" dirty="0">
              <a:solidFill>
                <a:srgbClr val="002060"/>
              </a:solidFill>
            </a:endParaRPr>
          </a:p>
        </p:txBody>
      </p:sp>
    </p:spTree>
    <p:extLst>
      <p:ext uri="{BB962C8B-B14F-4D97-AF65-F5344CB8AC3E}">
        <p14:creationId xmlns:p14="http://schemas.microsoft.com/office/powerpoint/2010/main" val="2587058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900701" cy="523220"/>
          </a:xfrm>
          <a:prstGeom prst="rect">
            <a:avLst/>
          </a:prstGeom>
        </p:spPr>
        <p:txBody>
          <a:bodyPr wrap="none">
            <a:spAutoFit/>
          </a:bodyPr>
          <a:lstStyle/>
          <a:p>
            <a:r>
              <a:rPr lang="es-BO" sz="2800" dirty="0" smtClean="0">
                <a:solidFill>
                  <a:srgbClr val="FF0000"/>
                </a:solidFill>
              </a:rPr>
              <a:t>7.2 Proceso de producción</a:t>
            </a:r>
          </a:p>
        </p:txBody>
      </p:sp>
      <p:sp>
        <p:nvSpPr>
          <p:cNvPr id="8" name="CuadroTexto 7"/>
          <p:cNvSpPr txBox="1"/>
          <p:nvPr/>
        </p:nvSpPr>
        <p:spPr>
          <a:xfrm>
            <a:off x="867334" y="2314979"/>
            <a:ext cx="10381130" cy="1815882"/>
          </a:xfrm>
          <a:prstGeom prst="rect">
            <a:avLst/>
          </a:prstGeom>
          <a:noFill/>
        </p:spPr>
        <p:txBody>
          <a:bodyPr wrap="square" rtlCol="0">
            <a:spAutoFit/>
          </a:bodyPr>
          <a:lstStyle/>
          <a:p>
            <a:r>
              <a:rPr lang="es-BO" sz="2800" dirty="0" smtClean="0">
                <a:solidFill>
                  <a:srgbClr val="002060"/>
                </a:solidFill>
              </a:rPr>
              <a:t>Los distintos tipos de procesos productivos pueden clasificarse en función de su </a:t>
            </a:r>
            <a:r>
              <a:rPr lang="es-BO" sz="2800" dirty="0" smtClean="0">
                <a:solidFill>
                  <a:srgbClr val="FFFF00"/>
                </a:solidFill>
              </a:rPr>
              <a:t>flujo productivo </a:t>
            </a:r>
            <a:r>
              <a:rPr lang="es-BO" sz="2800" dirty="0" smtClean="0">
                <a:solidFill>
                  <a:srgbClr val="002060"/>
                </a:solidFill>
              </a:rPr>
              <a:t>o del tipo de producto, teniendo en cada caso efectos distintos sobre el flujo de caja del proyecto.</a:t>
            </a:r>
            <a:endParaRPr lang="es-BO" sz="2800" dirty="0">
              <a:solidFill>
                <a:srgbClr val="002060"/>
              </a:solidFill>
            </a:endParaRPr>
          </a:p>
        </p:txBody>
      </p:sp>
    </p:spTree>
    <p:extLst>
      <p:ext uri="{BB962C8B-B14F-4D97-AF65-F5344CB8AC3E}">
        <p14:creationId xmlns:p14="http://schemas.microsoft.com/office/powerpoint/2010/main" val="3752304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900701" cy="523220"/>
          </a:xfrm>
          <a:prstGeom prst="rect">
            <a:avLst/>
          </a:prstGeom>
        </p:spPr>
        <p:txBody>
          <a:bodyPr wrap="none">
            <a:spAutoFit/>
          </a:bodyPr>
          <a:lstStyle/>
          <a:p>
            <a:r>
              <a:rPr lang="es-BO" sz="2800" dirty="0" smtClean="0">
                <a:solidFill>
                  <a:srgbClr val="FF0000"/>
                </a:solidFill>
              </a:rPr>
              <a:t>7.2 Proceso de producción</a:t>
            </a:r>
          </a:p>
        </p:txBody>
      </p:sp>
      <p:sp>
        <p:nvSpPr>
          <p:cNvPr id="8" name="CuadroTexto 7"/>
          <p:cNvSpPr txBox="1"/>
          <p:nvPr/>
        </p:nvSpPr>
        <p:spPr>
          <a:xfrm>
            <a:off x="867334" y="2314979"/>
            <a:ext cx="6716807" cy="2246769"/>
          </a:xfrm>
          <a:prstGeom prst="rect">
            <a:avLst/>
          </a:prstGeom>
          <a:noFill/>
        </p:spPr>
        <p:txBody>
          <a:bodyPr wrap="square" rtlCol="0">
            <a:spAutoFit/>
          </a:bodyPr>
          <a:lstStyle/>
          <a:p>
            <a:r>
              <a:rPr lang="es-BO" sz="2800" dirty="0" smtClean="0">
                <a:solidFill>
                  <a:srgbClr val="002060"/>
                </a:solidFill>
              </a:rPr>
              <a:t>Según el flujo, el proceso puede ser:</a:t>
            </a:r>
          </a:p>
          <a:p>
            <a:endParaRPr lang="es-BO" sz="2800" dirty="0" smtClean="0">
              <a:solidFill>
                <a:srgbClr val="002060"/>
              </a:solidFill>
            </a:endParaRPr>
          </a:p>
          <a:p>
            <a:pPr marL="457200" indent="-457200">
              <a:buFont typeface="Arial" panose="020B0604020202020204" pitchFamily="34" charset="0"/>
              <a:buChar char="•"/>
            </a:pPr>
            <a:r>
              <a:rPr lang="es-BO" sz="2800" dirty="0" smtClean="0">
                <a:solidFill>
                  <a:srgbClr val="002060"/>
                </a:solidFill>
              </a:rPr>
              <a:t>En serie.</a:t>
            </a:r>
          </a:p>
          <a:p>
            <a:pPr marL="457200" indent="-457200">
              <a:buFont typeface="Arial" panose="020B0604020202020204" pitchFamily="34" charset="0"/>
              <a:buChar char="•"/>
            </a:pPr>
            <a:r>
              <a:rPr lang="es-BO" sz="2800" dirty="0" smtClean="0">
                <a:solidFill>
                  <a:srgbClr val="002060"/>
                </a:solidFill>
              </a:rPr>
              <a:t>Por pedido.</a:t>
            </a:r>
          </a:p>
          <a:p>
            <a:pPr marL="457200" indent="-457200">
              <a:buFont typeface="Arial" panose="020B0604020202020204" pitchFamily="34" charset="0"/>
              <a:buChar char="•"/>
            </a:pPr>
            <a:r>
              <a:rPr lang="es-BO" sz="2800" dirty="0" smtClean="0">
                <a:solidFill>
                  <a:srgbClr val="002060"/>
                </a:solidFill>
              </a:rPr>
              <a:t>Por proyecto. </a:t>
            </a:r>
          </a:p>
        </p:txBody>
      </p:sp>
      <p:pic>
        <p:nvPicPr>
          <p:cNvPr id="2050" name="Picture 2" descr="Calaméo - Procesos De Produccion Calameo Gema"/>
          <p:cNvPicPr>
            <a:picLocks noChangeAspect="1" noChangeArrowheads="1"/>
          </p:cNvPicPr>
          <p:nvPr/>
        </p:nvPicPr>
        <p:blipFill rotWithShape="1">
          <a:blip r:embed="rId2">
            <a:extLst>
              <a:ext uri="{28A0092B-C50C-407E-A947-70E740481C1C}">
                <a14:useLocalDpi xmlns:a14="http://schemas.microsoft.com/office/drawing/2010/main" val="0"/>
              </a:ext>
            </a:extLst>
          </a:blip>
          <a:srcRect l="6902" t="7795" r="10690" b="5588"/>
          <a:stretch/>
        </p:blipFill>
        <p:spPr bwMode="auto">
          <a:xfrm>
            <a:off x="5688106" y="2957082"/>
            <a:ext cx="6360460" cy="3761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5147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900701" cy="523220"/>
          </a:xfrm>
          <a:prstGeom prst="rect">
            <a:avLst/>
          </a:prstGeom>
        </p:spPr>
        <p:txBody>
          <a:bodyPr wrap="none">
            <a:spAutoFit/>
          </a:bodyPr>
          <a:lstStyle/>
          <a:p>
            <a:r>
              <a:rPr lang="es-BO" sz="2800" dirty="0" smtClean="0">
                <a:solidFill>
                  <a:srgbClr val="FF0000"/>
                </a:solidFill>
              </a:rPr>
              <a:t>7.2 Proceso de producción</a:t>
            </a:r>
          </a:p>
        </p:txBody>
      </p:sp>
      <p:sp>
        <p:nvSpPr>
          <p:cNvPr id="8" name="CuadroTexto 7"/>
          <p:cNvSpPr txBox="1"/>
          <p:nvPr/>
        </p:nvSpPr>
        <p:spPr>
          <a:xfrm>
            <a:off x="867334" y="2314979"/>
            <a:ext cx="10381130" cy="1815882"/>
          </a:xfrm>
          <a:prstGeom prst="rect">
            <a:avLst/>
          </a:prstGeom>
          <a:noFill/>
        </p:spPr>
        <p:txBody>
          <a:bodyPr wrap="square" rtlCol="0">
            <a:spAutoFit/>
          </a:bodyPr>
          <a:lstStyle/>
          <a:p>
            <a:r>
              <a:rPr lang="es-BO" sz="2800" dirty="0" smtClean="0">
                <a:solidFill>
                  <a:srgbClr val="002060"/>
                </a:solidFill>
              </a:rPr>
              <a:t>El proceso de producción es en serie cuando ciertos productos, cuyo diseño básico es relativamente estable en el tiempo, y que están destinados a un gran mercado, permiten su producción para existencias.</a:t>
            </a:r>
            <a:endParaRPr lang="es-BO" sz="2800" dirty="0">
              <a:solidFill>
                <a:srgbClr val="002060"/>
              </a:solidFill>
            </a:endParaRPr>
          </a:p>
        </p:txBody>
      </p:sp>
      <p:pic>
        <p:nvPicPr>
          <p:cNvPr id="1026" name="Picture 2" descr="ECONOMIA NO FORTE: TEMA 5.5.3 PRODUCCIÓN EN SER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5152" y="4130861"/>
            <a:ext cx="3810000" cy="2505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86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900701" cy="523220"/>
          </a:xfrm>
          <a:prstGeom prst="rect">
            <a:avLst/>
          </a:prstGeom>
        </p:spPr>
        <p:txBody>
          <a:bodyPr wrap="none">
            <a:spAutoFit/>
          </a:bodyPr>
          <a:lstStyle/>
          <a:p>
            <a:r>
              <a:rPr lang="es-BO" sz="2800" dirty="0" smtClean="0">
                <a:solidFill>
                  <a:srgbClr val="FF0000"/>
                </a:solidFill>
              </a:rPr>
              <a:t>7.2 Proceso de producción</a:t>
            </a:r>
          </a:p>
        </p:txBody>
      </p:sp>
      <p:sp>
        <p:nvSpPr>
          <p:cNvPr id="8" name="CuadroTexto 7"/>
          <p:cNvSpPr txBox="1"/>
          <p:nvPr/>
        </p:nvSpPr>
        <p:spPr>
          <a:xfrm>
            <a:off x="692523" y="1761906"/>
            <a:ext cx="6985748" cy="4832092"/>
          </a:xfrm>
          <a:prstGeom prst="rect">
            <a:avLst/>
          </a:prstGeom>
          <a:noFill/>
        </p:spPr>
        <p:txBody>
          <a:bodyPr wrap="square" rtlCol="0">
            <a:spAutoFit/>
          </a:bodyPr>
          <a:lstStyle/>
          <a:p>
            <a:r>
              <a:rPr lang="es-BO" sz="2800" dirty="0" smtClean="0">
                <a:solidFill>
                  <a:srgbClr val="002060"/>
                </a:solidFill>
              </a:rPr>
              <a:t>En un proceso por pedido, la producción sigue secuencias diferentes, que hacen necesaria su flexibilización, a través de mano de obra y equipos suficientemente maleables para adaptarse a las características del pedido. Este proceso afectará los flujos económicos por la mayor especialidad del recurso humano y por las mayores existencias que será preciso mantener.</a:t>
            </a:r>
            <a:endParaRPr lang="es-BO" sz="2800" dirty="0">
              <a:solidFill>
                <a:srgbClr val="002060"/>
              </a:solidFill>
            </a:endParaRPr>
          </a:p>
        </p:txBody>
      </p:sp>
      <p:pic>
        <p:nvPicPr>
          <p:cNvPr id="3082" name="Picture 10" descr="etapas del proceso productivo | Mind M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3696" y="2672439"/>
            <a:ext cx="4288304" cy="3011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1819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900701" cy="523220"/>
          </a:xfrm>
          <a:prstGeom prst="rect">
            <a:avLst/>
          </a:prstGeom>
        </p:spPr>
        <p:txBody>
          <a:bodyPr wrap="none">
            <a:spAutoFit/>
          </a:bodyPr>
          <a:lstStyle/>
          <a:p>
            <a:r>
              <a:rPr lang="es-BO" sz="2800" dirty="0" smtClean="0">
                <a:solidFill>
                  <a:srgbClr val="FF0000"/>
                </a:solidFill>
              </a:rPr>
              <a:t>7.2 Proceso de producción</a:t>
            </a:r>
          </a:p>
        </p:txBody>
      </p:sp>
      <p:sp>
        <p:nvSpPr>
          <p:cNvPr id="8" name="CuadroTexto 7"/>
          <p:cNvSpPr txBox="1"/>
          <p:nvPr/>
        </p:nvSpPr>
        <p:spPr>
          <a:xfrm>
            <a:off x="692523" y="1761906"/>
            <a:ext cx="6985748" cy="4401205"/>
          </a:xfrm>
          <a:prstGeom prst="rect">
            <a:avLst/>
          </a:prstGeom>
          <a:noFill/>
        </p:spPr>
        <p:txBody>
          <a:bodyPr wrap="square" rtlCol="0">
            <a:spAutoFit/>
          </a:bodyPr>
          <a:lstStyle/>
          <a:p>
            <a:r>
              <a:rPr lang="es-BO" sz="2800" dirty="0" smtClean="0">
                <a:solidFill>
                  <a:srgbClr val="002060"/>
                </a:solidFill>
              </a:rPr>
              <a:t>Un proceso de producción por proyecto corresponde a un producto complejo de carácter único que, con tareas bien definidas en términos de recursos y plazos, da origen, normalmente, a un estudio de factibilidad completo. Ejemplos claros de esto son los proyectos de construcción y de filmación de películas, entre otros.</a:t>
            </a:r>
            <a:endParaRPr lang="es-BO" sz="2800" dirty="0">
              <a:solidFill>
                <a:srgbClr val="002060"/>
              </a:solidFill>
            </a:endParaRPr>
          </a:p>
        </p:txBody>
      </p:sp>
      <p:pic>
        <p:nvPicPr>
          <p:cNvPr id="5" name="Imagen 4"/>
          <p:cNvPicPr>
            <a:picLocks noChangeAspect="1"/>
          </p:cNvPicPr>
          <p:nvPr/>
        </p:nvPicPr>
        <p:blipFill rotWithShape="1">
          <a:blip r:embed="rId2"/>
          <a:srcRect l="56141" t="21558" r="3716" b="8630"/>
          <a:stretch/>
        </p:blipFill>
        <p:spPr>
          <a:xfrm>
            <a:off x="8861611" y="2532405"/>
            <a:ext cx="2783541" cy="3630706"/>
          </a:xfrm>
          <a:prstGeom prst="rect">
            <a:avLst/>
          </a:prstGeom>
        </p:spPr>
      </p:pic>
    </p:spTree>
    <p:extLst>
      <p:ext uri="{BB962C8B-B14F-4D97-AF65-F5344CB8AC3E}">
        <p14:creationId xmlns:p14="http://schemas.microsoft.com/office/powerpoint/2010/main" val="2984165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7433445" cy="523220"/>
          </a:xfrm>
          <a:prstGeom prst="rect">
            <a:avLst/>
          </a:prstGeom>
        </p:spPr>
        <p:txBody>
          <a:bodyPr wrap="none">
            <a:spAutoFit/>
          </a:bodyPr>
          <a:lstStyle/>
          <a:p>
            <a:r>
              <a:rPr lang="es-BO" sz="2800" dirty="0" smtClean="0">
                <a:solidFill>
                  <a:srgbClr val="FF0000"/>
                </a:solidFill>
              </a:rPr>
              <a:t>7.3    Efectos económicos de la ingeniería</a:t>
            </a:r>
          </a:p>
        </p:txBody>
      </p:sp>
      <p:sp>
        <p:nvSpPr>
          <p:cNvPr id="8" name="CuadroTexto 7"/>
          <p:cNvSpPr txBox="1"/>
          <p:nvPr/>
        </p:nvSpPr>
        <p:spPr>
          <a:xfrm>
            <a:off x="1674157" y="2528388"/>
            <a:ext cx="9056595" cy="1815882"/>
          </a:xfrm>
          <a:prstGeom prst="rect">
            <a:avLst/>
          </a:prstGeom>
          <a:noFill/>
        </p:spPr>
        <p:txBody>
          <a:bodyPr wrap="square" rtlCol="0">
            <a:spAutoFit/>
          </a:bodyPr>
          <a:lstStyle/>
          <a:p>
            <a:r>
              <a:rPr lang="es-BO" sz="2800" dirty="0" smtClean="0">
                <a:solidFill>
                  <a:srgbClr val="002060"/>
                </a:solidFill>
              </a:rPr>
              <a:t>El proceso </a:t>
            </a:r>
            <a:r>
              <a:rPr lang="es-BO" sz="2800" dirty="0" smtClean="0">
                <a:solidFill>
                  <a:srgbClr val="FFFF00"/>
                </a:solidFill>
              </a:rPr>
              <a:t>productivo</a:t>
            </a:r>
            <a:r>
              <a:rPr lang="es-BO" sz="2800" dirty="0" smtClean="0">
                <a:solidFill>
                  <a:srgbClr val="002060"/>
                </a:solidFill>
              </a:rPr>
              <a:t> y la </a:t>
            </a:r>
            <a:r>
              <a:rPr lang="es-BO" sz="2800" dirty="0" smtClean="0">
                <a:solidFill>
                  <a:srgbClr val="00B0F0"/>
                </a:solidFill>
              </a:rPr>
              <a:t>tecnología</a:t>
            </a:r>
            <a:r>
              <a:rPr lang="es-BO" sz="2800" dirty="0" smtClean="0">
                <a:solidFill>
                  <a:srgbClr val="002060"/>
                </a:solidFill>
              </a:rPr>
              <a:t> que se seleccionen influirán directamente sobre la cuantía de las inversiones, los costos y los ingresos del proyecto.</a:t>
            </a:r>
            <a:endParaRPr lang="es-BO" sz="2800" dirty="0">
              <a:solidFill>
                <a:srgbClr val="002060"/>
              </a:solidFill>
            </a:endParaRPr>
          </a:p>
        </p:txBody>
      </p:sp>
    </p:spTree>
    <p:extLst>
      <p:ext uri="{BB962C8B-B14F-4D97-AF65-F5344CB8AC3E}">
        <p14:creationId xmlns:p14="http://schemas.microsoft.com/office/powerpoint/2010/main" val="2777917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7433445" cy="523220"/>
          </a:xfrm>
          <a:prstGeom prst="rect">
            <a:avLst/>
          </a:prstGeom>
        </p:spPr>
        <p:txBody>
          <a:bodyPr wrap="none">
            <a:spAutoFit/>
          </a:bodyPr>
          <a:lstStyle/>
          <a:p>
            <a:r>
              <a:rPr lang="es-BO" sz="2800" dirty="0" smtClean="0">
                <a:solidFill>
                  <a:srgbClr val="FF0000"/>
                </a:solidFill>
              </a:rPr>
              <a:t>7.3    Efectos económicos de la ingeniería</a:t>
            </a:r>
          </a:p>
        </p:txBody>
      </p:sp>
      <p:sp>
        <p:nvSpPr>
          <p:cNvPr id="8" name="CuadroTexto 7"/>
          <p:cNvSpPr txBox="1"/>
          <p:nvPr/>
        </p:nvSpPr>
        <p:spPr>
          <a:xfrm>
            <a:off x="1832160" y="2098082"/>
            <a:ext cx="9056595" cy="3539430"/>
          </a:xfrm>
          <a:prstGeom prst="rect">
            <a:avLst/>
          </a:prstGeom>
          <a:noFill/>
        </p:spPr>
        <p:txBody>
          <a:bodyPr wrap="square" rtlCol="0">
            <a:spAutoFit/>
          </a:bodyPr>
          <a:lstStyle/>
          <a:p>
            <a:r>
              <a:rPr lang="es-BO" sz="2800" dirty="0" smtClean="0">
                <a:solidFill>
                  <a:srgbClr val="002060"/>
                </a:solidFill>
              </a:rPr>
              <a:t>La </a:t>
            </a:r>
            <a:r>
              <a:rPr lang="es-BO" sz="2800" dirty="0" smtClean="0">
                <a:solidFill>
                  <a:srgbClr val="00B0F0"/>
                </a:solidFill>
              </a:rPr>
              <a:t>cantidad</a:t>
            </a:r>
            <a:r>
              <a:rPr lang="es-BO" sz="2800" dirty="0" smtClean="0">
                <a:solidFill>
                  <a:srgbClr val="002060"/>
                </a:solidFill>
              </a:rPr>
              <a:t> y </a:t>
            </a:r>
            <a:r>
              <a:rPr lang="es-BO" sz="2800" dirty="0" smtClean="0">
                <a:solidFill>
                  <a:srgbClr val="00B0F0"/>
                </a:solidFill>
              </a:rPr>
              <a:t>calidad</a:t>
            </a:r>
            <a:r>
              <a:rPr lang="es-BO" sz="2800" dirty="0" smtClean="0">
                <a:solidFill>
                  <a:srgbClr val="002060"/>
                </a:solidFill>
              </a:rPr>
              <a:t> de maquinarias, equipos, herramientas, mobiliario de planta, vehículos y otras inversiones normalmente dependerán del proceso productivo elegido. En algunos casos la disponibilidad de los equipos se obtiene no por su compra sino por su arrendamiento, con lo cual, en lugar de afectarse el ítem de inversiones, se influirá en el de costos.</a:t>
            </a:r>
            <a:endParaRPr lang="es-BO" sz="2800" dirty="0">
              <a:solidFill>
                <a:srgbClr val="002060"/>
              </a:solidFill>
            </a:endParaRPr>
          </a:p>
        </p:txBody>
      </p:sp>
    </p:spTree>
    <p:extLst>
      <p:ext uri="{BB962C8B-B14F-4D97-AF65-F5344CB8AC3E}">
        <p14:creationId xmlns:p14="http://schemas.microsoft.com/office/powerpoint/2010/main" val="2687640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7433445" cy="523220"/>
          </a:xfrm>
          <a:prstGeom prst="rect">
            <a:avLst/>
          </a:prstGeom>
        </p:spPr>
        <p:txBody>
          <a:bodyPr wrap="none">
            <a:spAutoFit/>
          </a:bodyPr>
          <a:lstStyle/>
          <a:p>
            <a:r>
              <a:rPr lang="es-BO" sz="2800" dirty="0" smtClean="0">
                <a:solidFill>
                  <a:srgbClr val="FF0000"/>
                </a:solidFill>
              </a:rPr>
              <a:t>7.3    Efectos económicos de la ingeniería</a:t>
            </a:r>
          </a:p>
        </p:txBody>
      </p:sp>
      <p:sp>
        <p:nvSpPr>
          <p:cNvPr id="8" name="CuadroTexto 7"/>
          <p:cNvSpPr txBox="1"/>
          <p:nvPr/>
        </p:nvSpPr>
        <p:spPr>
          <a:xfrm>
            <a:off x="1321171" y="1903800"/>
            <a:ext cx="9826440" cy="3970318"/>
          </a:xfrm>
          <a:prstGeom prst="rect">
            <a:avLst/>
          </a:prstGeom>
          <a:noFill/>
        </p:spPr>
        <p:txBody>
          <a:bodyPr wrap="square" rtlCol="0">
            <a:spAutoFit/>
          </a:bodyPr>
          <a:lstStyle/>
          <a:p>
            <a:r>
              <a:rPr lang="es-BO" sz="2800" dirty="0" smtClean="0">
                <a:solidFill>
                  <a:srgbClr val="002060"/>
                </a:solidFill>
              </a:rPr>
              <a:t>Las necesidades de inversión en obra física se determinan principalmente en función de la distribución de los equipos productivos en el espacio físico (</a:t>
            </a:r>
            <a:r>
              <a:rPr lang="es-BO" sz="2800" dirty="0" err="1" smtClean="0">
                <a:solidFill>
                  <a:srgbClr val="002060"/>
                </a:solidFill>
              </a:rPr>
              <a:t>layout</a:t>
            </a:r>
            <a:r>
              <a:rPr lang="es-BO" sz="2800" dirty="0" smtClean="0">
                <a:solidFill>
                  <a:srgbClr val="002060"/>
                </a:solidFill>
              </a:rPr>
              <a:t>). Sin embargo, también será preciso considerar posibles ampliaciones futuras en la capacidad de producción que hagan aconsejable disponer desde un principio de la obra física necesaria, aun cuando ésta se mantenga ociosa por algún tiempo.</a:t>
            </a:r>
            <a:endParaRPr lang="es-BO" sz="2800" dirty="0">
              <a:solidFill>
                <a:srgbClr val="002060"/>
              </a:solidFill>
            </a:endParaRPr>
          </a:p>
        </p:txBody>
      </p:sp>
    </p:spTree>
    <p:extLst>
      <p:ext uri="{BB962C8B-B14F-4D97-AF65-F5344CB8AC3E}">
        <p14:creationId xmlns:p14="http://schemas.microsoft.com/office/powerpoint/2010/main" val="2174263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7433445" cy="523220"/>
          </a:xfrm>
          <a:prstGeom prst="rect">
            <a:avLst/>
          </a:prstGeom>
        </p:spPr>
        <p:txBody>
          <a:bodyPr wrap="none">
            <a:spAutoFit/>
          </a:bodyPr>
          <a:lstStyle/>
          <a:p>
            <a:r>
              <a:rPr lang="es-BO" sz="2800" dirty="0" smtClean="0">
                <a:solidFill>
                  <a:srgbClr val="FF0000"/>
                </a:solidFill>
              </a:rPr>
              <a:t>7.3    Efectos económicos de la ingeniería</a:t>
            </a:r>
          </a:p>
        </p:txBody>
      </p:sp>
      <p:sp>
        <p:nvSpPr>
          <p:cNvPr id="8" name="CuadroTexto 7"/>
          <p:cNvSpPr txBox="1"/>
          <p:nvPr/>
        </p:nvSpPr>
        <p:spPr>
          <a:xfrm>
            <a:off x="1334618" y="2737518"/>
            <a:ext cx="9826440" cy="1384995"/>
          </a:xfrm>
          <a:prstGeom prst="rect">
            <a:avLst/>
          </a:prstGeom>
          <a:noFill/>
        </p:spPr>
        <p:txBody>
          <a:bodyPr wrap="square" rtlCol="0">
            <a:spAutoFit/>
          </a:bodyPr>
          <a:lstStyle/>
          <a:p>
            <a:r>
              <a:rPr lang="es-BO" sz="2800" dirty="0" smtClean="0">
                <a:solidFill>
                  <a:srgbClr val="002060"/>
                </a:solidFill>
              </a:rPr>
              <a:t>La distribución en planta debe evitar los flujos innecesarios de materiales, productos en proceso o terminados, personal, etcétera.</a:t>
            </a:r>
            <a:endParaRPr lang="es-BO" sz="2800" dirty="0">
              <a:solidFill>
                <a:srgbClr val="002060"/>
              </a:solidFill>
            </a:endParaRPr>
          </a:p>
        </p:txBody>
      </p:sp>
    </p:spTree>
    <p:extLst>
      <p:ext uri="{BB962C8B-B14F-4D97-AF65-F5344CB8AC3E}">
        <p14:creationId xmlns:p14="http://schemas.microsoft.com/office/powerpoint/2010/main" val="2096751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7433445" cy="523220"/>
          </a:xfrm>
          <a:prstGeom prst="rect">
            <a:avLst/>
          </a:prstGeom>
        </p:spPr>
        <p:txBody>
          <a:bodyPr wrap="none">
            <a:spAutoFit/>
          </a:bodyPr>
          <a:lstStyle/>
          <a:p>
            <a:r>
              <a:rPr lang="es-BO" sz="2800" dirty="0" smtClean="0">
                <a:solidFill>
                  <a:srgbClr val="FF0000"/>
                </a:solidFill>
              </a:rPr>
              <a:t>7.3    Efectos económicos de la ingeniería</a:t>
            </a:r>
          </a:p>
        </p:txBody>
      </p:sp>
      <p:sp>
        <p:nvSpPr>
          <p:cNvPr id="8" name="CuadroTexto 7"/>
          <p:cNvSpPr txBox="1"/>
          <p:nvPr/>
        </p:nvSpPr>
        <p:spPr>
          <a:xfrm>
            <a:off x="1186700" y="2280318"/>
            <a:ext cx="9826440" cy="2677656"/>
          </a:xfrm>
          <a:prstGeom prst="rect">
            <a:avLst/>
          </a:prstGeom>
          <a:noFill/>
        </p:spPr>
        <p:txBody>
          <a:bodyPr wrap="square" rtlCol="0">
            <a:spAutoFit/>
          </a:bodyPr>
          <a:lstStyle/>
          <a:p>
            <a:r>
              <a:rPr lang="es-BO" sz="2800" dirty="0" smtClean="0">
                <a:solidFill>
                  <a:srgbClr val="002060"/>
                </a:solidFill>
              </a:rPr>
              <a:t>Los cálculos de requerimientos de obra física para la planta, más los estudios de vías de acceso, circulación, bodegas, estacionamientos, áreas verdes, ampliaciones proyectadas y otros, serán algunos de los factores determinantes en la definición del tamaño y las características del terreno.</a:t>
            </a:r>
            <a:endParaRPr lang="es-BO" sz="2800" dirty="0">
              <a:solidFill>
                <a:srgbClr val="002060"/>
              </a:solidFill>
            </a:endParaRPr>
          </a:p>
        </p:txBody>
      </p:sp>
    </p:spTree>
    <p:extLst>
      <p:ext uri="{BB962C8B-B14F-4D97-AF65-F5344CB8AC3E}">
        <p14:creationId xmlns:p14="http://schemas.microsoft.com/office/powerpoint/2010/main" val="1798666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8528297" cy="523220"/>
          </a:xfrm>
          <a:prstGeom prst="rect">
            <a:avLst/>
          </a:prstGeom>
        </p:spPr>
        <p:txBody>
          <a:bodyPr wrap="none">
            <a:spAutoFit/>
          </a:bodyPr>
          <a:lstStyle/>
          <a:p>
            <a:r>
              <a:rPr lang="es-BO" sz="2800" dirty="0" smtClean="0">
                <a:solidFill>
                  <a:srgbClr val="FF0000"/>
                </a:solidFill>
              </a:rPr>
              <a:t>Determinación del tamaño optimo de la planta</a:t>
            </a:r>
          </a:p>
        </p:txBody>
      </p:sp>
      <p:sp>
        <p:nvSpPr>
          <p:cNvPr id="8" name="CuadroTexto 7"/>
          <p:cNvSpPr txBox="1"/>
          <p:nvPr/>
        </p:nvSpPr>
        <p:spPr>
          <a:xfrm>
            <a:off x="1186700" y="2280318"/>
            <a:ext cx="9826440" cy="2246769"/>
          </a:xfrm>
          <a:prstGeom prst="rect">
            <a:avLst/>
          </a:prstGeom>
          <a:noFill/>
        </p:spPr>
        <p:txBody>
          <a:bodyPr wrap="square" rtlCol="0">
            <a:spAutoFit/>
          </a:bodyPr>
          <a:lstStyle/>
          <a:p>
            <a:r>
              <a:rPr lang="es-BO" sz="2800" dirty="0" smtClean="0">
                <a:solidFill>
                  <a:srgbClr val="002060"/>
                </a:solidFill>
              </a:rPr>
              <a:t>Se realiza a través de dos métodos que veremos a continuación:</a:t>
            </a:r>
          </a:p>
          <a:p>
            <a:endParaRPr lang="es-BO" sz="2800" dirty="0">
              <a:solidFill>
                <a:srgbClr val="002060"/>
              </a:solidFill>
            </a:endParaRPr>
          </a:p>
          <a:p>
            <a:pPr marL="457200" indent="-457200">
              <a:buFont typeface="Arial" panose="020B0604020202020204" pitchFamily="34" charset="0"/>
              <a:buChar char="•"/>
            </a:pPr>
            <a:r>
              <a:rPr lang="es-BO" sz="2800" dirty="0" smtClean="0">
                <a:solidFill>
                  <a:srgbClr val="002060"/>
                </a:solidFill>
              </a:rPr>
              <a:t>Economías de escala.</a:t>
            </a:r>
          </a:p>
          <a:p>
            <a:pPr marL="457200" indent="-457200">
              <a:buFont typeface="Arial" panose="020B0604020202020204" pitchFamily="34" charset="0"/>
              <a:buChar char="•"/>
            </a:pPr>
            <a:r>
              <a:rPr lang="es-BO" sz="2800" dirty="0" smtClean="0">
                <a:solidFill>
                  <a:srgbClr val="002060"/>
                </a:solidFill>
              </a:rPr>
              <a:t>Método de </a:t>
            </a:r>
            <a:r>
              <a:rPr lang="es-BO" sz="2800" dirty="0" err="1" smtClean="0">
                <a:solidFill>
                  <a:srgbClr val="002060"/>
                </a:solidFill>
              </a:rPr>
              <a:t>Lange</a:t>
            </a:r>
            <a:endParaRPr lang="es-BO" sz="2800" dirty="0">
              <a:solidFill>
                <a:srgbClr val="002060"/>
              </a:solidFill>
            </a:endParaRPr>
          </a:p>
        </p:txBody>
      </p:sp>
    </p:spTree>
    <p:extLst>
      <p:ext uri="{BB962C8B-B14F-4D97-AF65-F5344CB8AC3E}">
        <p14:creationId xmlns:p14="http://schemas.microsoft.com/office/powerpoint/2010/main" val="375644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302781" cy="523220"/>
          </a:xfrm>
          <a:prstGeom prst="rect">
            <a:avLst/>
          </a:prstGeom>
        </p:spPr>
        <p:txBody>
          <a:bodyPr wrap="none">
            <a:spAutoFit/>
          </a:bodyPr>
          <a:lstStyle/>
          <a:p>
            <a:r>
              <a:rPr lang="es-BO" sz="2800" dirty="0" smtClean="0">
                <a:solidFill>
                  <a:srgbClr val="FF0000"/>
                </a:solidFill>
              </a:rPr>
              <a:t>7.4 Economías a escala</a:t>
            </a:r>
          </a:p>
        </p:txBody>
      </p:sp>
      <p:sp>
        <p:nvSpPr>
          <p:cNvPr id="8" name="CuadroTexto 7"/>
          <p:cNvSpPr txBox="1"/>
          <p:nvPr/>
        </p:nvSpPr>
        <p:spPr>
          <a:xfrm>
            <a:off x="177648" y="1595021"/>
            <a:ext cx="11884364" cy="3108543"/>
          </a:xfrm>
          <a:prstGeom prst="rect">
            <a:avLst/>
          </a:prstGeom>
          <a:noFill/>
        </p:spPr>
        <p:txBody>
          <a:bodyPr wrap="square" rtlCol="0">
            <a:spAutoFit/>
          </a:bodyPr>
          <a:lstStyle/>
          <a:p>
            <a:r>
              <a:rPr lang="es-BO" sz="2800" dirty="0" smtClean="0">
                <a:solidFill>
                  <a:srgbClr val="002060"/>
                </a:solidFill>
              </a:rPr>
              <a:t>Las empresas pueden experimentar tres tipos de crecimiento de producción, a medida que aumenta la escala o tamaño de la empresa.</a:t>
            </a:r>
          </a:p>
          <a:p>
            <a:endParaRPr lang="es-BO" sz="2800" dirty="0" smtClean="0">
              <a:solidFill>
                <a:srgbClr val="002060"/>
              </a:solidFill>
            </a:endParaRPr>
          </a:p>
          <a:p>
            <a:r>
              <a:rPr lang="es-BO" sz="2800" dirty="0" smtClean="0">
                <a:solidFill>
                  <a:srgbClr val="FF0000"/>
                </a:solidFill>
              </a:rPr>
              <a:t>Economías de escala creciente.</a:t>
            </a:r>
            <a:endParaRPr lang="es-BO" sz="2800" dirty="0">
              <a:solidFill>
                <a:srgbClr val="FF0000"/>
              </a:solidFill>
            </a:endParaRPr>
          </a:p>
          <a:p>
            <a:r>
              <a:rPr lang="es-BO" sz="2800" dirty="0" smtClean="0">
                <a:solidFill>
                  <a:srgbClr val="002060"/>
                </a:solidFill>
              </a:rPr>
              <a:t>Los costos de producción promedio disminuyen a medida que aumentamos la escala de producción.</a:t>
            </a:r>
          </a:p>
        </p:txBody>
      </p:sp>
    </p:spTree>
    <p:extLst>
      <p:ext uri="{BB962C8B-B14F-4D97-AF65-F5344CB8AC3E}">
        <p14:creationId xmlns:p14="http://schemas.microsoft.com/office/powerpoint/2010/main" val="2340227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302781" cy="523220"/>
          </a:xfrm>
          <a:prstGeom prst="rect">
            <a:avLst/>
          </a:prstGeom>
        </p:spPr>
        <p:txBody>
          <a:bodyPr wrap="none">
            <a:spAutoFit/>
          </a:bodyPr>
          <a:lstStyle/>
          <a:p>
            <a:r>
              <a:rPr lang="es-BO" sz="2800" dirty="0" smtClean="0">
                <a:solidFill>
                  <a:srgbClr val="FF0000"/>
                </a:solidFill>
              </a:rPr>
              <a:t>7.4 Economías a escala</a:t>
            </a:r>
          </a:p>
        </p:txBody>
      </p:sp>
      <p:sp>
        <p:nvSpPr>
          <p:cNvPr id="8" name="CuadroTexto 7"/>
          <p:cNvSpPr txBox="1"/>
          <p:nvPr/>
        </p:nvSpPr>
        <p:spPr>
          <a:xfrm>
            <a:off x="1789876" y="2563209"/>
            <a:ext cx="9141164" cy="1815882"/>
          </a:xfrm>
          <a:prstGeom prst="rect">
            <a:avLst/>
          </a:prstGeom>
          <a:noFill/>
        </p:spPr>
        <p:txBody>
          <a:bodyPr wrap="square" rtlCol="0">
            <a:spAutoFit/>
          </a:bodyPr>
          <a:lstStyle/>
          <a:p>
            <a:r>
              <a:rPr lang="es-BO" sz="2800" dirty="0" smtClean="0">
                <a:solidFill>
                  <a:srgbClr val="FF0000"/>
                </a:solidFill>
              </a:rPr>
              <a:t>Economías de escala constante.</a:t>
            </a:r>
          </a:p>
          <a:p>
            <a:r>
              <a:rPr lang="es-BO" sz="2800" dirty="0" smtClean="0">
                <a:solidFill>
                  <a:srgbClr val="002060"/>
                </a:solidFill>
              </a:rPr>
              <a:t>Los costos de producción promedio permanecen sin cambiar a medida que aumentamos la escala de producción.</a:t>
            </a:r>
          </a:p>
        </p:txBody>
      </p:sp>
    </p:spTree>
    <p:extLst>
      <p:ext uri="{BB962C8B-B14F-4D97-AF65-F5344CB8AC3E}">
        <p14:creationId xmlns:p14="http://schemas.microsoft.com/office/powerpoint/2010/main" val="508627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302781" cy="523220"/>
          </a:xfrm>
          <a:prstGeom prst="rect">
            <a:avLst/>
          </a:prstGeom>
        </p:spPr>
        <p:txBody>
          <a:bodyPr wrap="none">
            <a:spAutoFit/>
          </a:bodyPr>
          <a:lstStyle/>
          <a:p>
            <a:r>
              <a:rPr lang="es-BO" sz="2800" dirty="0" smtClean="0">
                <a:solidFill>
                  <a:srgbClr val="FF0000"/>
                </a:solidFill>
              </a:rPr>
              <a:t>7.4 Economías a escala</a:t>
            </a:r>
          </a:p>
        </p:txBody>
      </p:sp>
      <p:sp>
        <p:nvSpPr>
          <p:cNvPr id="8" name="CuadroTexto 7"/>
          <p:cNvSpPr txBox="1"/>
          <p:nvPr/>
        </p:nvSpPr>
        <p:spPr>
          <a:xfrm>
            <a:off x="1534382" y="2522868"/>
            <a:ext cx="9652152" cy="1384995"/>
          </a:xfrm>
          <a:prstGeom prst="rect">
            <a:avLst/>
          </a:prstGeom>
          <a:noFill/>
        </p:spPr>
        <p:txBody>
          <a:bodyPr wrap="square" rtlCol="0">
            <a:spAutoFit/>
          </a:bodyPr>
          <a:lstStyle/>
          <a:p>
            <a:r>
              <a:rPr lang="es-BO" sz="2800" dirty="0" smtClean="0">
                <a:solidFill>
                  <a:srgbClr val="FF0000"/>
                </a:solidFill>
              </a:rPr>
              <a:t>Economías de escala decreciente.</a:t>
            </a:r>
          </a:p>
          <a:p>
            <a:r>
              <a:rPr lang="es-BO" sz="2800" dirty="0" smtClean="0">
                <a:solidFill>
                  <a:srgbClr val="002060"/>
                </a:solidFill>
              </a:rPr>
              <a:t>Los costos de producción promedio aumentan a medida que aumentamos la escala de producción.</a:t>
            </a:r>
            <a:endParaRPr lang="es-BO" sz="2800" dirty="0">
              <a:solidFill>
                <a:srgbClr val="002060"/>
              </a:solidFill>
            </a:endParaRPr>
          </a:p>
        </p:txBody>
      </p:sp>
    </p:spTree>
    <p:extLst>
      <p:ext uri="{BB962C8B-B14F-4D97-AF65-F5344CB8AC3E}">
        <p14:creationId xmlns:p14="http://schemas.microsoft.com/office/powerpoint/2010/main" val="3959425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302781" cy="523220"/>
          </a:xfrm>
          <a:prstGeom prst="rect">
            <a:avLst/>
          </a:prstGeom>
        </p:spPr>
        <p:txBody>
          <a:bodyPr wrap="none">
            <a:spAutoFit/>
          </a:bodyPr>
          <a:lstStyle/>
          <a:p>
            <a:r>
              <a:rPr lang="es-BO" sz="2800" dirty="0" smtClean="0">
                <a:solidFill>
                  <a:srgbClr val="FF0000"/>
                </a:solidFill>
              </a:rPr>
              <a:t>7.4 Economías a escala</a:t>
            </a:r>
          </a:p>
        </p:txBody>
      </p:sp>
      <p:sp>
        <p:nvSpPr>
          <p:cNvPr id="8" name="CuadroTexto 7"/>
          <p:cNvSpPr txBox="1"/>
          <p:nvPr/>
        </p:nvSpPr>
        <p:spPr>
          <a:xfrm>
            <a:off x="1534382" y="2522868"/>
            <a:ext cx="9652152" cy="1384995"/>
          </a:xfrm>
          <a:prstGeom prst="rect">
            <a:avLst/>
          </a:prstGeom>
          <a:noFill/>
        </p:spPr>
        <p:txBody>
          <a:bodyPr wrap="square" rtlCol="0">
            <a:spAutoFit/>
          </a:bodyPr>
          <a:lstStyle/>
          <a:p>
            <a:r>
              <a:rPr lang="es-BO" sz="2800" dirty="0" smtClean="0">
                <a:solidFill>
                  <a:srgbClr val="FF0000"/>
                </a:solidFill>
              </a:rPr>
              <a:t>Economías de escala decreciente.</a:t>
            </a:r>
          </a:p>
          <a:p>
            <a:r>
              <a:rPr lang="es-BO" sz="2800" dirty="0" smtClean="0">
                <a:solidFill>
                  <a:srgbClr val="002060"/>
                </a:solidFill>
              </a:rPr>
              <a:t>Los costos de producción promedio aumentan a medida que aumentamos la escala de producción.</a:t>
            </a:r>
            <a:endParaRPr lang="es-BO" sz="2800" dirty="0">
              <a:solidFill>
                <a:srgbClr val="002060"/>
              </a:solidFill>
            </a:endParaRPr>
          </a:p>
        </p:txBody>
      </p:sp>
    </p:spTree>
    <p:extLst>
      <p:ext uri="{BB962C8B-B14F-4D97-AF65-F5344CB8AC3E}">
        <p14:creationId xmlns:p14="http://schemas.microsoft.com/office/powerpoint/2010/main" val="4293007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302781" cy="523220"/>
          </a:xfrm>
          <a:prstGeom prst="rect">
            <a:avLst/>
          </a:prstGeom>
        </p:spPr>
        <p:txBody>
          <a:bodyPr wrap="none">
            <a:spAutoFit/>
          </a:bodyPr>
          <a:lstStyle/>
          <a:p>
            <a:r>
              <a:rPr lang="es-BO" sz="2800" dirty="0" smtClean="0">
                <a:solidFill>
                  <a:srgbClr val="FF0000"/>
                </a:solidFill>
              </a:rPr>
              <a:t>7.4 Economías a escala</a:t>
            </a:r>
          </a:p>
        </p:txBody>
      </p:sp>
      <p:sp>
        <p:nvSpPr>
          <p:cNvPr id="8" name="CuadroTexto 7"/>
          <p:cNvSpPr txBox="1"/>
          <p:nvPr/>
        </p:nvSpPr>
        <p:spPr>
          <a:xfrm>
            <a:off x="2436754" y="3086634"/>
            <a:ext cx="7406493" cy="3108543"/>
          </a:xfrm>
          <a:prstGeom prst="rect">
            <a:avLst/>
          </a:prstGeom>
          <a:noFill/>
        </p:spPr>
        <p:txBody>
          <a:bodyPr wrap="square" rtlCol="0">
            <a:spAutoFit/>
          </a:bodyPr>
          <a:lstStyle/>
          <a:p>
            <a:r>
              <a:rPr lang="es-BO" sz="2800" dirty="0" smtClean="0">
                <a:solidFill>
                  <a:srgbClr val="002060"/>
                </a:solidFill>
              </a:rPr>
              <a:t>Donde,</a:t>
            </a:r>
          </a:p>
          <a:p>
            <a:r>
              <a:rPr lang="es-BO" sz="2800" dirty="0" smtClean="0">
                <a:solidFill>
                  <a:srgbClr val="002060"/>
                </a:solidFill>
              </a:rPr>
              <a:t>I2 = Inversión en la planta nueva.</a:t>
            </a:r>
          </a:p>
          <a:p>
            <a:r>
              <a:rPr lang="es-BO" sz="2800" dirty="0" smtClean="0">
                <a:solidFill>
                  <a:srgbClr val="002060"/>
                </a:solidFill>
              </a:rPr>
              <a:t>I1 = Inversión en la planta construida.</a:t>
            </a:r>
          </a:p>
          <a:p>
            <a:r>
              <a:rPr lang="es-BO" sz="2800" dirty="0" smtClean="0">
                <a:solidFill>
                  <a:srgbClr val="002060"/>
                </a:solidFill>
              </a:rPr>
              <a:t>C1 = Capacidad de la planta conocida.</a:t>
            </a:r>
          </a:p>
          <a:p>
            <a:r>
              <a:rPr lang="es-BO" sz="2800" dirty="0" smtClean="0">
                <a:solidFill>
                  <a:srgbClr val="002060"/>
                </a:solidFill>
              </a:rPr>
              <a:t>C2 = Capacidad de producción en la planta nueva.</a:t>
            </a:r>
          </a:p>
          <a:p>
            <a:r>
              <a:rPr lang="es-BO" sz="2800" dirty="0" smtClean="0">
                <a:solidFill>
                  <a:srgbClr val="002060"/>
                </a:solidFill>
              </a:rPr>
              <a:t>F = Factor exponencial.</a:t>
            </a:r>
            <a:endParaRPr lang="es-BO" sz="2800" dirty="0">
              <a:solidFill>
                <a:srgbClr val="002060"/>
              </a:solidFill>
            </a:endParaRPr>
          </a:p>
        </p:txBody>
      </p:sp>
      <p:pic>
        <p:nvPicPr>
          <p:cNvPr id="2" name="Imagen 1"/>
          <p:cNvPicPr>
            <a:picLocks noChangeAspect="1"/>
          </p:cNvPicPr>
          <p:nvPr/>
        </p:nvPicPr>
        <p:blipFill rotWithShape="1">
          <a:blip r:embed="rId2"/>
          <a:srcRect l="20316" t="9178" r="25583" b="15605"/>
          <a:stretch/>
        </p:blipFill>
        <p:spPr>
          <a:xfrm>
            <a:off x="8659906" y="1702875"/>
            <a:ext cx="2716306" cy="2084608"/>
          </a:xfrm>
          <a:prstGeom prst="rect">
            <a:avLst/>
          </a:prstGeom>
        </p:spPr>
      </p:pic>
      <p:sp>
        <p:nvSpPr>
          <p:cNvPr id="9" name="CuadroTexto 8"/>
          <p:cNvSpPr txBox="1"/>
          <p:nvPr/>
        </p:nvSpPr>
        <p:spPr>
          <a:xfrm>
            <a:off x="177648" y="1791072"/>
            <a:ext cx="7258575" cy="954107"/>
          </a:xfrm>
          <a:prstGeom prst="rect">
            <a:avLst/>
          </a:prstGeom>
          <a:noFill/>
        </p:spPr>
        <p:txBody>
          <a:bodyPr wrap="square" rtlCol="0">
            <a:spAutoFit/>
          </a:bodyPr>
          <a:lstStyle/>
          <a:p>
            <a:r>
              <a:rPr lang="es-BO" sz="2800" dirty="0" smtClean="0">
                <a:solidFill>
                  <a:srgbClr val="002060"/>
                </a:solidFill>
              </a:rPr>
              <a:t>Relación de la </a:t>
            </a:r>
            <a:r>
              <a:rPr lang="es-BO" sz="2800" dirty="0">
                <a:solidFill>
                  <a:srgbClr val="002060"/>
                </a:solidFill>
              </a:rPr>
              <a:t>capacidad (C) con la inversión total </a:t>
            </a:r>
            <a:r>
              <a:rPr lang="es-BO" sz="2800" dirty="0" smtClean="0">
                <a:solidFill>
                  <a:srgbClr val="002060"/>
                </a:solidFill>
              </a:rPr>
              <a:t>(I</a:t>
            </a:r>
            <a:r>
              <a:rPr lang="es-BO" sz="2800" dirty="0">
                <a:solidFill>
                  <a:srgbClr val="002060"/>
                </a:solidFill>
              </a:rPr>
              <a:t>),</a:t>
            </a:r>
          </a:p>
        </p:txBody>
      </p:sp>
    </p:spTree>
    <p:extLst>
      <p:ext uri="{BB962C8B-B14F-4D97-AF65-F5344CB8AC3E}">
        <p14:creationId xmlns:p14="http://schemas.microsoft.com/office/powerpoint/2010/main" val="1245431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302781" cy="523220"/>
          </a:xfrm>
          <a:prstGeom prst="rect">
            <a:avLst/>
          </a:prstGeom>
        </p:spPr>
        <p:txBody>
          <a:bodyPr wrap="none">
            <a:spAutoFit/>
          </a:bodyPr>
          <a:lstStyle/>
          <a:p>
            <a:r>
              <a:rPr lang="es-BO" sz="2800" dirty="0" smtClean="0">
                <a:solidFill>
                  <a:srgbClr val="FF0000"/>
                </a:solidFill>
              </a:rPr>
              <a:t>7.4 Economías a escala</a:t>
            </a:r>
          </a:p>
        </p:txBody>
      </p:sp>
      <p:sp>
        <p:nvSpPr>
          <p:cNvPr id="8" name="CuadroTexto 7"/>
          <p:cNvSpPr txBox="1"/>
          <p:nvPr/>
        </p:nvSpPr>
        <p:spPr>
          <a:xfrm>
            <a:off x="177646" y="1706692"/>
            <a:ext cx="7406493" cy="954107"/>
          </a:xfrm>
          <a:prstGeom prst="rect">
            <a:avLst/>
          </a:prstGeom>
          <a:noFill/>
        </p:spPr>
        <p:txBody>
          <a:bodyPr wrap="square" rtlCol="0">
            <a:spAutoFit/>
          </a:bodyPr>
          <a:lstStyle/>
          <a:p>
            <a:r>
              <a:rPr lang="es-BO" sz="2800" dirty="0" smtClean="0">
                <a:solidFill>
                  <a:srgbClr val="002060"/>
                </a:solidFill>
              </a:rPr>
              <a:t>Relación del </a:t>
            </a:r>
            <a:r>
              <a:rPr lang="es-BO" sz="2800" dirty="0">
                <a:solidFill>
                  <a:srgbClr val="002060"/>
                </a:solidFill>
              </a:rPr>
              <a:t>costo unitario de operación (P) con la capacidad de la planta (C).</a:t>
            </a:r>
          </a:p>
        </p:txBody>
      </p:sp>
      <p:sp>
        <p:nvSpPr>
          <p:cNvPr id="7" name="CuadroTexto 6"/>
          <p:cNvSpPr txBox="1"/>
          <p:nvPr/>
        </p:nvSpPr>
        <p:spPr>
          <a:xfrm>
            <a:off x="1317811" y="3634799"/>
            <a:ext cx="7258575" cy="1815882"/>
          </a:xfrm>
          <a:prstGeom prst="rect">
            <a:avLst/>
          </a:prstGeom>
          <a:noFill/>
        </p:spPr>
        <p:txBody>
          <a:bodyPr wrap="square" rtlCol="0">
            <a:spAutoFit/>
          </a:bodyPr>
          <a:lstStyle/>
          <a:p>
            <a:r>
              <a:rPr lang="es-BO" sz="2800" dirty="0" smtClean="0">
                <a:solidFill>
                  <a:srgbClr val="002060"/>
                </a:solidFill>
              </a:rPr>
              <a:t>Donde,</a:t>
            </a:r>
          </a:p>
          <a:p>
            <a:r>
              <a:rPr lang="es-BO" sz="2800" dirty="0" smtClean="0">
                <a:solidFill>
                  <a:srgbClr val="002060"/>
                </a:solidFill>
              </a:rPr>
              <a:t>P = Costo unitario de operación.</a:t>
            </a:r>
          </a:p>
          <a:p>
            <a:r>
              <a:rPr lang="es-BO" sz="2800" dirty="0" smtClean="0">
                <a:solidFill>
                  <a:srgbClr val="002060"/>
                </a:solidFill>
              </a:rPr>
              <a:t>C = Capacidad de la planta.</a:t>
            </a:r>
          </a:p>
          <a:p>
            <a:r>
              <a:rPr lang="es-BO" sz="2800" dirty="0" smtClean="0">
                <a:solidFill>
                  <a:srgbClr val="002060"/>
                </a:solidFill>
              </a:rPr>
              <a:t>a = factor de volumen.</a:t>
            </a:r>
            <a:endParaRPr lang="es-BO" sz="2800" dirty="0">
              <a:solidFill>
                <a:srgbClr val="002060"/>
              </a:solidFill>
            </a:endParaRPr>
          </a:p>
        </p:txBody>
      </p:sp>
      <p:pic>
        <p:nvPicPr>
          <p:cNvPr id="5" name="Imagen 4"/>
          <p:cNvPicPr>
            <a:picLocks noChangeAspect="1"/>
          </p:cNvPicPr>
          <p:nvPr/>
        </p:nvPicPr>
        <p:blipFill rotWithShape="1">
          <a:blip r:embed="rId2"/>
          <a:srcRect l="17097" t="13597" r="10688" b="11128"/>
          <a:stretch/>
        </p:blipFill>
        <p:spPr>
          <a:xfrm>
            <a:off x="7782359" y="1920668"/>
            <a:ext cx="3862793" cy="2454262"/>
          </a:xfrm>
          <a:prstGeom prst="rect">
            <a:avLst/>
          </a:prstGeom>
        </p:spPr>
      </p:pic>
    </p:spTree>
    <p:extLst>
      <p:ext uri="{BB962C8B-B14F-4D97-AF65-F5344CB8AC3E}">
        <p14:creationId xmlns:p14="http://schemas.microsoft.com/office/powerpoint/2010/main" val="41801387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302781" cy="523220"/>
          </a:xfrm>
          <a:prstGeom prst="rect">
            <a:avLst/>
          </a:prstGeom>
        </p:spPr>
        <p:txBody>
          <a:bodyPr wrap="none">
            <a:spAutoFit/>
          </a:bodyPr>
          <a:lstStyle/>
          <a:p>
            <a:r>
              <a:rPr lang="es-BO" sz="2800" dirty="0" smtClean="0">
                <a:solidFill>
                  <a:srgbClr val="FF0000"/>
                </a:solidFill>
              </a:rPr>
              <a:t>7.4 Economías a escala</a:t>
            </a:r>
          </a:p>
        </p:txBody>
      </p:sp>
      <p:sp>
        <p:nvSpPr>
          <p:cNvPr id="8" name="CuadroTexto 7"/>
          <p:cNvSpPr txBox="1"/>
          <p:nvPr/>
        </p:nvSpPr>
        <p:spPr>
          <a:xfrm>
            <a:off x="2073684" y="2971016"/>
            <a:ext cx="7406493" cy="2246769"/>
          </a:xfrm>
          <a:prstGeom prst="rect">
            <a:avLst/>
          </a:prstGeom>
          <a:noFill/>
        </p:spPr>
        <p:txBody>
          <a:bodyPr wrap="square" rtlCol="0">
            <a:spAutoFit/>
          </a:bodyPr>
          <a:lstStyle/>
          <a:p>
            <a:r>
              <a:rPr lang="es-BO" sz="2800" dirty="0" smtClean="0">
                <a:solidFill>
                  <a:srgbClr val="002060"/>
                </a:solidFill>
              </a:rPr>
              <a:t>Donde, </a:t>
            </a:r>
          </a:p>
          <a:p>
            <a:r>
              <a:rPr lang="es-BO" sz="2800" dirty="0" smtClean="0">
                <a:solidFill>
                  <a:srgbClr val="002060"/>
                </a:solidFill>
              </a:rPr>
              <a:t>Q = Costo en equipos por unidad de capacidad.</a:t>
            </a:r>
          </a:p>
          <a:p>
            <a:r>
              <a:rPr lang="es-BO" sz="2800" dirty="0" smtClean="0">
                <a:solidFill>
                  <a:srgbClr val="002060"/>
                </a:solidFill>
              </a:rPr>
              <a:t>C = Capacidad de la planta.</a:t>
            </a:r>
          </a:p>
          <a:p>
            <a:r>
              <a:rPr lang="es-BO" sz="2800" dirty="0" smtClean="0">
                <a:solidFill>
                  <a:srgbClr val="002060"/>
                </a:solidFill>
              </a:rPr>
              <a:t>b = factor de volumen.</a:t>
            </a:r>
            <a:endParaRPr lang="es-BO" sz="2800" dirty="0">
              <a:solidFill>
                <a:srgbClr val="002060"/>
              </a:solidFill>
            </a:endParaRPr>
          </a:p>
        </p:txBody>
      </p:sp>
      <p:sp>
        <p:nvSpPr>
          <p:cNvPr id="7" name="CuadroTexto 6"/>
          <p:cNvSpPr txBox="1"/>
          <p:nvPr/>
        </p:nvSpPr>
        <p:spPr>
          <a:xfrm>
            <a:off x="177648" y="1587567"/>
            <a:ext cx="7258575" cy="954107"/>
          </a:xfrm>
          <a:prstGeom prst="rect">
            <a:avLst/>
          </a:prstGeom>
          <a:noFill/>
        </p:spPr>
        <p:txBody>
          <a:bodyPr wrap="square" rtlCol="0">
            <a:spAutoFit/>
          </a:bodyPr>
          <a:lstStyle/>
          <a:p>
            <a:r>
              <a:rPr lang="es-BO" sz="2800" dirty="0" smtClean="0">
                <a:solidFill>
                  <a:srgbClr val="002060"/>
                </a:solidFill>
              </a:rPr>
              <a:t>Relación costo en equipos por unidad de capacidad (Q)</a:t>
            </a:r>
            <a:endParaRPr lang="es-BO" sz="2800" dirty="0">
              <a:solidFill>
                <a:srgbClr val="002060"/>
              </a:solidFill>
            </a:endParaRPr>
          </a:p>
        </p:txBody>
      </p:sp>
      <p:pic>
        <p:nvPicPr>
          <p:cNvPr id="3" name="Imagen 2"/>
          <p:cNvPicPr>
            <a:picLocks noChangeAspect="1"/>
          </p:cNvPicPr>
          <p:nvPr/>
        </p:nvPicPr>
        <p:blipFill rotWithShape="1">
          <a:blip r:embed="rId2"/>
          <a:srcRect l="12915" t="19376" r="14422" b="12453"/>
          <a:stretch/>
        </p:blipFill>
        <p:spPr>
          <a:xfrm>
            <a:off x="8727097" y="1365372"/>
            <a:ext cx="3227337" cy="2009840"/>
          </a:xfrm>
          <a:prstGeom prst="rect">
            <a:avLst/>
          </a:prstGeom>
        </p:spPr>
      </p:pic>
    </p:spTree>
    <p:extLst>
      <p:ext uri="{BB962C8B-B14F-4D97-AF65-F5344CB8AC3E}">
        <p14:creationId xmlns:p14="http://schemas.microsoft.com/office/powerpoint/2010/main" val="702650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302781" cy="523220"/>
          </a:xfrm>
          <a:prstGeom prst="rect">
            <a:avLst/>
          </a:prstGeom>
        </p:spPr>
        <p:txBody>
          <a:bodyPr wrap="none">
            <a:spAutoFit/>
          </a:bodyPr>
          <a:lstStyle/>
          <a:p>
            <a:r>
              <a:rPr lang="es-BO" sz="2800" dirty="0" smtClean="0">
                <a:solidFill>
                  <a:srgbClr val="FF0000"/>
                </a:solidFill>
              </a:rPr>
              <a:t>7.4 Economías a escala</a:t>
            </a:r>
          </a:p>
        </p:txBody>
      </p:sp>
      <p:sp>
        <p:nvSpPr>
          <p:cNvPr id="7" name="CuadroTexto 6"/>
          <p:cNvSpPr txBox="1"/>
          <p:nvPr/>
        </p:nvSpPr>
        <p:spPr>
          <a:xfrm>
            <a:off x="177649" y="1587567"/>
            <a:ext cx="5846634" cy="4401205"/>
          </a:xfrm>
          <a:prstGeom prst="rect">
            <a:avLst/>
          </a:prstGeom>
          <a:noFill/>
        </p:spPr>
        <p:txBody>
          <a:bodyPr wrap="square" rtlCol="0">
            <a:spAutoFit/>
          </a:bodyPr>
          <a:lstStyle/>
          <a:p>
            <a:r>
              <a:rPr lang="es-BO" sz="2800" dirty="0" smtClean="0">
                <a:solidFill>
                  <a:srgbClr val="002060"/>
                </a:solidFill>
              </a:rPr>
              <a:t>Ejemplo 1.</a:t>
            </a:r>
          </a:p>
          <a:p>
            <a:r>
              <a:rPr lang="es-BO" sz="2800" dirty="0" smtClean="0">
                <a:solidFill>
                  <a:srgbClr val="002060"/>
                </a:solidFill>
              </a:rPr>
              <a:t>Se </a:t>
            </a:r>
            <a:r>
              <a:rPr lang="es-BO" sz="2800" dirty="0">
                <a:solidFill>
                  <a:srgbClr val="002060"/>
                </a:solidFill>
              </a:rPr>
              <a:t>ha determinado que la inversión necesaria para implementar un proyecto para la producción de 30,000 toneladas anuales de </a:t>
            </a:r>
            <a:r>
              <a:rPr lang="es-BO" sz="2800" dirty="0" smtClean="0">
                <a:solidFill>
                  <a:srgbClr val="002060"/>
                </a:solidFill>
              </a:rPr>
              <a:t>azufre, </a:t>
            </a:r>
            <a:r>
              <a:rPr lang="es-BO" sz="2800" dirty="0">
                <a:solidFill>
                  <a:srgbClr val="002060"/>
                </a:solidFill>
              </a:rPr>
              <a:t>es de </a:t>
            </a:r>
            <a:r>
              <a:rPr lang="es-BO" sz="2800" dirty="0" smtClean="0">
                <a:solidFill>
                  <a:srgbClr val="002060"/>
                </a:solidFill>
              </a:rPr>
              <a:t>Bs 180,000.</a:t>
            </a:r>
          </a:p>
          <a:p>
            <a:r>
              <a:rPr lang="es-BO" sz="2800" dirty="0" smtClean="0">
                <a:solidFill>
                  <a:srgbClr val="002060"/>
                </a:solidFill>
              </a:rPr>
              <a:t>Calcular </a:t>
            </a:r>
            <a:r>
              <a:rPr lang="es-BO" sz="2800" dirty="0">
                <a:solidFill>
                  <a:srgbClr val="002060"/>
                </a:solidFill>
              </a:rPr>
              <a:t>la inversión requerida para producir 60,000 toneladas anuales, con factor 0.64</a:t>
            </a:r>
          </a:p>
        </p:txBody>
      </p:sp>
      <p:sp>
        <p:nvSpPr>
          <p:cNvPr id="9" name="CuadroTexto 8"/>
          <p:cNvSpPr txBox="1"/>
          <p:nvPr/>
        </p:nvSpPr>
        <p:spPr>
          <a:xfrm>
            <a:off x="6798084" y="2449341"/>
            <a:ext cx="4215056" cy="2677656"/>
          </a:xfrm>
          <a:prstGeom prst="rect">
            <a:avLst/>
          </a:prstGeom>
          <a:noFill/>
        </p:spPr>
        <p:txBody>
          <a:bodyPr wrap="square" rtlCol="0">
            <a:spAutoFit/>
          </a:bodyPr>
          <a:lstStyle/>
          <a:p>
            <a:r>
              <a:rPr lang="es-BO" sz="2800" dirty="0" smtClean="0">
                <a:solidFill>
                  <a:srgbClr val="002060"/>
                </a:solidFill>
              </a:rPr>
              <a:t>Datos:</a:t>
            </a:r>
          </a:p>
          <a:p>
            <a:r>
              <a:rPr lang="es-BO" sz="2800" dirty="0" smtClean="0">
                <a:solidFill>
                  <a:srgbClr val="002060"/>
                </a:solidFill>
              </a:rPr>
              <a:t>C1 = 30000 toneladas.</a:t>
            </a:r>
          </a:p>
          <a:p>
            <a:r>
              <a:rPr lang="es-BO" sz="2800" dirty="0" smtClean="0">
                <a:solidFill>
                  <a:srgbClr val="002060"/>
                </a:solidFill>
              </a:rPr>
              <a:t>I1 = 180000 Bs.</a:t>
            </a:r>
          </a:p>
          <a:p>
            <a:r>
              <a:rPr lang="es-BO" sz="2800" dirty="0" smtClean="0">
                <a:solidFill>
                  <a:srgbClr val="002060"/>
                </a:solidFill>
              </a:rPr>
              <a:t>C2 = 60000 Toneladas.</a:t>
            </a:r>
          </a:p>
          <a:p>
            <a:r>
              <a:rPr lang="es-BO" sz="2800" dirty="0" smtClean="0">
                <a:solidFill>
                  <a:srgbClr val="002060"/>
                </a:solidFill>
              </a:rPr>
              <a:t>F= 0,64</a:t>
            </a:r>
          </a:p>
          <a:p>
            <a:endParaRPr lang="es-BO" sz="2800" dirty="0">
              <a:solidFill>
                <a:srgbClr val="002060"/>
              </a:solidFill>
            </a:endParaRPr>
          </a:p>
        </p:txBody>
      </p:sp>
    </p:spTree>
    <p:extLst>
      <p:ext uri="{BB962C8B-B14F-4D97-AF65-F5344CB8AC3E}">
        <p14:creationId xmlns:p14="http://schemas.microsoft.com/office/powerpoint/2010/main" val="532036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302781" cy="523220"/>
          </a:xfrm>
          <a:prstGeom prst="rect">
            <a:avLst/>
          </a:prstGeom>
        </p:spPr>
        <p:txBody>
          <a:bodyPr wrap="none">
            <a:spAutoFit/>
          </a:bodyPr>
          <a:lstStyle/>
          <a:p>
            <a:r>
              <a:rPr lang="es-BO" sz="2800" dirty="0" smtClean="0">
                <a:solidFill>
                  <a:srgbClr val="FF0000"/>
                </a:solidFill>
              </a:rPr>
              <a:t>7.4 Economías a escala</a:t>
            </a:r>
          </a:p>
        </p:txBody>
      </p:sp>
      <p:sp>
        <p:nvSpPr>
          <p:cNvPr id="7" name="CuadroTexto 6"/>
          <p:cNvSpPr txBox="1"/>
          <p:nvPr/>
        </p:nvSpPr>
        <p:spPr>
          <a:xfrm>
            <a:off x="177649" y="1587567"/>
            <a:ext cx="5846634" cy="523220"/>
          </a:xfrm>
          <a:prstGeom prst="rect">
            <a:avLst/>
          </a:prstGeom>
          <a:noFill/>
        </p:spPr>
        <p:txBody>
          <a:bodyPr wrap="square" rtlCol="0">
            <a:spAutoFit/>
          </a:bodyPr>
          <a:lstStyle/>
          <a:p>
            <a:r>
              <a:rPr lang="es-BO" sz="2800" dirty="0" smtClean="0">
                <a:solidFill>
                  <a:srgbClr val="002060"/>
                </a:solidFill>
              </a:rPr>
              <a:t>Aplicando la formula siguiente:</a:t>
            </a:r>
          </a:p>
        </p:txBody>
      </p:sp>
      <mc:AlternateContent xmlns:mc="http://schemas.openxmlformats.org/markup-compatibility/2006" xmlns:a14="http://schemas.microsoft.com/office/drawing/2010/main">
        <mc:Choice Requires="a14">
          <p:sp>
            <p:nvSpPr>
              <p:cNvPr id="3" name="CuadroTexto 2"/>
              <p:cNvSpPr txBox="1"/>
              <p:nvPr/>
            </p:nvSpPr>
            <p:spPr>
              <a:xfrm>
                <a:off x="2050677" y="2110787"/>
                <a:ext cx="1912255" cy="12081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BO" sz="3200" i="1" smtClean="0">
                              <a:latin typeface="Cambria Math" panose="02040503050406030204" pitchFamily="18" charset="0"/>
                            </a:rPr>
                          </m:ctrlPr>
                        </m:fPr>
                        <m:num>
                          <m:sSub>
                            <m:sSubPr>
                              <m:ctrlPr>
                                <a:rPr lang="es-BO" sz="3200" i="1" smtClean="0">
                                  <a:latin typeface="Cambria Math" panose="02040503050406030204" pitchFamily="18" charset="0"/>
                                </a:rPr>
                              </m:ctrlPr>
                            </m:sSubPr>
                            <m:e>
                              <m:r>
                                <a:rPr lang="es-BO" sz="3200" b="0" i="1" smtClean="0">
                                  <a:latin typeface="Cambria Math" panose="02040503050406030204" pitchFamily="18" charset="0"/>
                                </a:rPr>
                                <m:t>𝐼</m:t>
                              </m:r>
                            </m:e>
                            <m:sub>
                              <m:r>
                                <a:rPr lang="es-BO" sz="3200" b="0" i="1" smtClean="0">
                                  <a:latin typeface="Cambria Math" panose="02040503050406030204" pitchFamily="18" charset="0"/>
                                </a:rPr>
                                <m:t>2</m:t>
                              </m:r>
                            </m:sub>
                          </m:sSub>
                        </m:num>
                        <m:den>
                          <m:sSub>
                            <m:sSubPr>
                              <m:ctrlPr>
                                <a:rPr lang="es-BO" sz="3200" i="1" smtClean="0">
                                  <a:latin typeface="Cambria Math" panose="02040503050406030204" pitchFamily="18" charset="0"/>
                                </a:rPr>
                              </m:ctrlPr>
                            </m:sSubPr>
                            <m:e>
                              <m:r>
                                <a:rPr lang="es-BO" sz="3200" b="0" i="1" smtClean="0">
                                  <a:latin typeface="Cambria Math" panose="02040503050406030204" pitchFamily="18" charset="0"/>
                                </a:rPr>
                                <m:t>𝐼</m:t>
                              </m:r>
                            </m:e>
                            <m:sub>
                              <m:r>
                                <a:rPr lang="es-BO" sz="3200" b="0" i="1" smtClean="0">
                                  <a:latin typeface="Cambria Math" panose="02040503050406030204" pitchFamily="18" charset="0"/>
                                </a:rPr>
                                <m:t>1</m:t>
                              </m:r>
                            </m:sub>
                          </m:sSub>
                        </m:den>
                      </m:f>
                      <m:r>
                        <a:rPr lang="es-BO" sz="3200" b="0" i="1" smtClean="0">
                          <a:latin typeface="Cambria Math" panose="02040503050406030204" pitchFamily="18" charset="0"/>
                        </a:rPr>
                        <m:t>=</m:t>
                      </m:r>
                      <m:sSup>
                        <m:sSupPr>
                          <m:ctrlPr>
                            <a:rPr lang="es-BO" sz="3200" b="0" i="1" smtClean="0">
                              <a:latin typeface="Cambria Math" panose="02040503050406030204" pitchFamily="18" charset="0"/>
                            </a:rPr>
                          </m:ctrlPr>
                        </m:sSupPr>
                        <m:e>
                          <m:d>
                            <m:dPr>
                              <m:begChr m:val="["/>
                              <m:endChr m:val="]"/>
                              <m:ctrlPr>
                                <a:rPr lang="es-BO" sz="3200" b="0" i="1" smtClean="0">
                                  <a:latin typeface="Cambria Math" panose="02040503050406030204" pitchFamily="18" charset="0"/>
                                </a:rPr>
                              </m:ctrlPr>
                            </m:dPr>
                            <m:e>
                              <m:f>
                                <m:fPr>
                                  <m:ctrlPr>
                                    <a:rPr lang="es-BO" sz="3200" b="0" i="1" smtClean="0">
                                      <a:latin typeface="Cambria Math" panose="02040503050406030204" pitchFamily="18" charset="0"/>
                                    </a:rPr>
                                  </m:ctrlPr>
                                </m:fPr>
                                <m:num>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𝐶</m:t>
                                      </m:r>
                                    </m:e>
                                    <m:sub>
                                      <m:r>
                                        <a:rPr lang="es-BO" sz="3200" b="0" i="1" smtClean="0">
                                          <a:latin typeface="Cambria Math" panose="02040503050406030204" pitchFamily="18" charset="0"/>
                                        </a:rPr>
                                        <m:t>2</m:t>
                                      </m:r>
                                    </m:sub>
                                  </m:sSub>
                                </m:num>
                                <m:den>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𝐶</m:t>
                                      </m:r>
                                    </m:e>
                                    <m:sub>
                                      <m:r>
                                        <a:rPr lang="es-BO" sz="3200" b="0" i="1" smtClean="0">
                                          <a:latin typeface="Cambria Math" panose="02040503050406030204" pitchFamily="18" charset="0"/>
                                        </a:rPr>
                                        <m:t>1</m:t>
                                      </m:r>
                                    </m:sub>
                                  </m:sSub>
                                </m:den>
                              </m:f>
                            </m:e>
                          </m:d>
                        </m:e>
                        <m:sup>
                          <m:r>
                            <a:rPr lang="es-BO" sz="3200" b="0" i="1" smtClean="0">
                              <a:latin typeface="Cambria Math" panose="02040503050406030204" pitchFamily="18" charset="0"/>
                            </a:rPr>
                            <m:t>𝑓</m:t>
                          </m:r>
                        </m:sup>
                      </m:sSup>
                    </m:oMath>
                  </m:oMathPara>
                </a14:m>
                <a:endParaRPr lang="es-BO" sz="32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2050677" y="2110787"/>
                <a:ext cx="1912255" cy="1208151"/>
              </a:xfrm>
              <a:prstGeom prst="rect">
                <a:avLst/>
              </a:prstGeom>
              <a:blipFill>
                <a:blip r:embed="rId2"/>
                <a:stretch>
                  <a:fillRect/>
                </a:stretch>
              </a:blipFill>
            </p:spPr>
            <p:txBody>
              <a:bodyPr/>
              <a:lstStyle/>
              <a:p>
                <a:r>
                  <a:rPr lang="es-BO">
                    <a:noFill/>
                  </a:rPr>
                  <a:t> </a:t>
                </a:r>
              </a:p>
            </p:txBody>
          </p:sp>
        </mc:Fallback>
      </mc:AlternateContent>
      <p:sp>
        <p:nvSpPr>
          <p:cNvPr id="8" name="CuadroTexto 7"/>
          <p:cNvSpPr txBox="1"/>
          <p:nvPr/>
        </p:nvSpPr>
        <p:spPr>
          <a:xfrm>
            <a:off x="139866" y="3318938"/>
            <a:ext cx="5846634" cy="523220"/>
          </a:xfrm>
          <a:prstGeom prst="rect">
            <a:avLst/>
          </a:prstGeom>
          <a:noFill/>
        </p:spPr>
        <p:txBody>
          <a:bodyPr wrap="square" rtlCol="0">
            <a:spAutoFit/>
          </a:bodyPr>
          <a:lstStyle/>
          <a:p>
            <a:r>
              <a:rPr lang="es-BO" sz="2800" dirty="0" smtClean="0">
                <a:solidFill>
                  <a:srgbClr val="002060"/>
                </a:solidFill>
              </a:rPr>
              <a:t>Despejamos I2, tenemos:</a:t>
            </a:r>
          </a:p>
        </p:txBody>
      </p:sp>
      <mc:AlternateContent xmlns:mc="http://schemas.openxmlformats.org/markup-compatibility/2006" xmlns:a14="http://schemas.microsoft.com/office/drawing/2010/main">
        <mc:Choice Requires="a14">
          <p:sp>
            <p:nvSpPr>
              <p:cNvPr id="11" name="CuadroTexto 10"/>
              <p:cNvSpPr txBox="1"/>
              <p:nvPr/>
            </p:nvSpPr>
            <p:spPr>
              <a:xfrm>
                <a:off x="1704043" y="3923013"/>
                <a:ext cx="2605521" cy="12081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𝐼</m:t>
                          </m:r>
                        </m:e>
                        <m:sub>
                          <m:r>
                            <a:rPr lang="es-BO" sz="3200" b="0" i="1" smtClean="0">
                              <a:latin typeface="Cambria Math" panose="02040503050406030204" pitchFamily="18" charset="0"/>
                            </a:rPr>
                            <m:t>2</m:t>
                          </m:r>
                        </m:sub>
                      </m:sSub>
                      <m:r>
                        <a:rPr lang="es-BO" sz="3200" b="0" i="1" smtClean="0">
                          <a:latin typeface="Cambria Math" panose="02040503050406030204" pitchFamily="18" charset="0"/>
                        </a:rPr>
                        <m:t>=</m:t>
                      </m:r>
                      <m:sSup>
                        <m:sSupPr>
                          <m:ctrlPr>
                            <a:rPr lang="es-BO" sz="3200" b="0" i="1" smtClean="0">
                              <a:latin typeface="Cambria Math" panose="02040503050406030204" pitchFamily="18" charset="0"/>
                            </a:rPr>
                          </m:ctrlPr>
                        </m:sSupPr>
                        <m:e>
                          <m:d>
                            <m:dPr>
                              <m:begChr m:val="["/>
                              <m:endChr m:val="]"/>
                              <m:ctrlPr>
                                <a:rPr lang="es-BO" sz="3200" b="0" i="1" smtClean="0">
                                  <a:latin typeface="Cambria Math" panose="02040503050406030204" pitchFamily="18" charset="0"/>
                                </a:rPr>
                              </m:ctrlPr>
                            </m:dPr>
                            <m:e>
                              <m:f>
                                <m:fPr>
                                  <m:ctrlPr>
                                    <a:rPr lang="es-BO" sz="3200" b="0" i="1" smtClean="0">
                                      <a:latin typeface="Cambria Math" panose="02040503050406030204" pitchFamily="18" charset="0"/>
                                    </a:rPr>
                                  </m:ctrlPr>
                                </m:fPr>
                                <m:num>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𝐶</m:t>
                                      </m:r>
                                    </m:e>
                                    <m:sub>
                                      <m:r>
                                        <a:rPr lang="es-BO" sz="3200" b="0" i="1" smtClean="0">
                                          <a:latin typeface="Cambria Math" panose="02040503050406030204" pitchFamily="18" charset="0"/>
                                        </a:rPr>
                                        <m:t>2</m:t>
                                      </m:r>
                                    </m:sub>
                                  </m:sSub>
                                </m:num>
                                <m:den>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𝐶</m:t>
                                      </m:r>
                                    </m:e>
                                    <m:sub>
                                      <m:r>
                                        <a:rPr lang="es-BO" sz="3200" b="0" i="1" smtClean="0">
                                          <a:latin typeface="Cambria Math" panose="02040503050406030204" pitchFamily="18" charset="0"/>
                                        </a:rPr>
                                        <m:t>1</m:t>
                                      </m:r>
                                    </m:sub>
                                  </m:sSub>
                                </m:den>
                              </m:f>
                            </m:e>
                          </m:d>
                        </m:e>
                        <m:sup>
                          <m:r>
                            <a:rPr lang="es-BO" sz="3200" b="0" i="1" smtClean="0">
                              <a:latin typeface="Cambria Math" panose="02040503050406030204" pitchFamily="18" charset="0"/>
                            </a:rPr>
                            <m:t>𝑓</m:t>
                          </m:r>
                        </m:sup>
                      </m:sSup>
                      <m:r>
                        <a:rPr lang="es-BO" sz="3200" b="0" i="1" smtClean="0">
                          <a:latin typeface="Cambria Math" panose="02040503050406030204" pitchFamily="18" charset="0"/>
                        </a:rPr>
                        <m:t>∗</m:t>
                      </m:r>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𝐼</m:t>
                          </m:r>
                        </m:e>
                        <m:sub>
                          <m:r>
                            <a:rPr lang="es-BO" sz="3200" b="0" i="1" smtClean="0">
                              <a:latin typeface="Cambria Math" panose="02040503050406030204" pitchFamily="18" charset="0"/>
                            </a:rPr>
                            <m:t>1</m:t>
                          </m:r>
                        </m:sub>
                      </m:sSub>
                    </m:oMath>
                  </m:oMathPara>
                </a14:m>
                <a:endParaRPr lang="es-BO" sz="3200"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1704043" y="3923013"/>
                <a:ext cx="2605521" cy="1208151"/>
              </a:xfrm>
              <a:prstGeom prst="rect">
                <a:avLst/>
              </a:prstGeom>
              <a:blipFill>
                <a:blip r:embed="rId3"/>
                <a:stretch>
                  <a:fillRect/>
                </a:stretch>
              </a:blipFill>
            </p:spPr>
            <p:txBody>
              <a:bodyPr/>
              <a:lstStyle/>
              <a:p>
                <a:r>
                  <a:rPr lang="es-BO">
                    <a:noFill/>
                  </a:rPr>
                  <a:t> </a:t>
                </a:r>
              </a:p>
            </p:txBody>
          </p:sp>
        </mc:Fallback>
      </mc:AlternateContent>
      <p:sp>
        <p:nvSpPr>
          <p:cNvPr id="12" name="CuadroTexto 11"/>
          <p:cNvSpPr txBox="1"/>
          <p:nvPr/>
        </p:nvSpPr>
        <p:spPr>
          <a:xfrm>
            <a:off x="6814089" y="1516804"/>
            <a:ext cx="4266287" cy="523220"/>
          </a:xfrm>
          <a:prstGeom prst="rect">
            <a:avLst/>
          </a:prstGeom>
          <a:noFill/>
        </p:spPr>
        <p:txBody>
          <a:bodyPr wrap="square" rtlCol="0">
            <a:spAutoFit/>
          </a:bodyPr>
          <a:lstStyle/>
          <a:p>
            <a:r>
              <a:rPr lang="es-BO" sz="2800" dirty="0" smtClean="0">
                <a:solidFill>
                  <a:srgbClr val="002060"/>
                </a:solidFill>
              </a:rPr>
              <a:t>Reemplazando valores:</a:t>
            </a:r>
          </a:p>
        </p:txBody>
      </p:sp>
      <mc:AlternateContent xmlns:mc="http://schemas.openxmlformats.org/markup-compatibility/2006" xmlns:a14="http://schemas.microsoft.com/office/drawing/2010/main">
        <mc:Choice Requires="a14">
          <p:sp>
            <p:nvSpPr>
              <p:cNvPr id="13" name="CuadroTexto 12"/>
              <p:cNvSpPr txBox="1"/>
              <p:nvPr/>
            </p:nvSpPr>
            <p:spPr>
              <a:xfrm>
                <a:off x="6360458" y="2529811"/>
                <a:ext cx="4762971" cy="10356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𝐼</m:t>
                          </m:r>
                        </m:e>
                        <m:sub>
                          <m:r>
                            <a:rPr lang="es-BO" sz="3200" b="0" i="1" smtClean="0">
                              <a:latin typeface="Cambria Math" panose="02040503050406030204" pitchFamily="18" charset="0"/>
                            </a:rPr>
                            <m:t>2</m:t>
                          </m:r>
                        </m:sub>
                      </m:sSub>
                      <m:r>
                        <a:rPr lang="es-BO" sz="3200" b="0" i="1" smtClean="0">
                          <a:latin typeface="Cambria Math" panose="02040503050406030204" pitchFamily="18" charset="0"/>
                        </a:rPr>
                        <m:t>=</m:t>
                      </m:r>
                      <m:sSup>
                        <m:sSupPr>
                          <m:ctrlPr>
                            <a:rPr lang="es-BO" sz="3200" b="0" i="1" smtClean="0">
                              <a:latin typeface="Cambria Math" panose="02040503050406030204" pitchFamily="18" charset="0"/>
                            </a:rPr>
                          </m:ctrlPr>
                        </m:sSupPr>
                        <m:e>
                          <m:d>
                            <m:dPr>
                              <m:begChr m:val="["/>
                              <m:endChr m:val="]"/>
                              <m:ctrlPr>
                                <a:rPr lang="es-BO" sz="3200" b="0" i="1" smtClean="0">
                                  <a:latin typeface="Cambria Math" panose="02040503050406030204" pitchFamily="18" charset="0"/>
                                </a:rPr>
                              </m:ctrlPr>
                            </m:dPr>
                            <m:e>
                              <m:f>
                                <m:fPr>
                                  <m:ctrlPr>
                                    <a:rPr lang="es-BO" sz="3200" b="0" i="1" smtClean="0">
                                      <a:latin typeface="Cambria Math" panose="02040503050406030204" pitchFamily="18" charset="0"/>
                                    </a:rPr>
                                  </m:ctrlPr>
                                </m:fPr>
                                <m:num>
                                  <m:r>
                                    <a:rPr lang="es-BO" sz="3200" b="0" i="1" smtClean="0">
                                      <a:latin typeface="Cambria Math" panose="02040503050406030204" pitchFamily="18" charset="0"/>
                                    </a:rPr>
                                    <m:t>60000</m:t>
                                  </m:r>
                                </m:num>
                                <m:den>
                                  <m:r>
                                    <a:rPr lang="es-BO" sz="3200" b="0" i="1" smtClean="0">
                                      <a:latin typeface="Cambria Math" panose="02040503050406030204" pitchFamily="18" charset="0"/>
                                    </a:rPr>
                                    <m:t>30000</m:t>
                                  </m:r>
                                </m:den>
                              </m:f>
                            </m:e>
                          </m:d>
                        </m:e>
                        <m:sup>
                          <m:r>
                            <a:rPr lang="es-BO" sz="3200" b="0" i="1" smtClean="0">
                              <a:latin typeface="Cambria Math" panose="02040503050406030204" pitchFamily="18" charset="0"/>
                            </a:rPr>
                            <m:t>0,64</m:t>
                          </m:r>
                        </m:sup>
                      </m:sSup>
                      <m:r>
                        <a:rPr lang="es-BO" sz="3200" b="0" i="1" smtClean="0">
                          <a:latin typeface="Cambria Math" panose="02040503050406030204" pitchFamily="18" charset="0"/>
                        </a:rPr>
                        <m:t>∗180000</m:t>
                      </m:r>
                    </m:oMath>
                  </m:oMathPara>
                </a14:m>
                <a:endParaRPr lang="es-BO" sz="3200"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6360458" y="2529811"/>
                <a:ext cx="4762971" cy="1035668"/>
              </a:xfrm>
              <a:prstGeom prst="rect">
                <a:avLst/>
              </a:prstGeom>
              <a:blipFill>
                <a:blip r:embed="rId4"/>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5" name="CuadroTexto 14"/>
              <p:cNvSpPr txBox="1"/>
              <p:nvPr/>
            </p:nvSpPr>
            <p:spPr>
              <a:xfrm>
                <a:off x="6814089" y="4527088"/>
                <a:ext cx="2892010" cy="492443"/>
              </a:xfrm>
              <a:prstGeom prst="rect">
                <a:avLst/>
              </a:prstGeom>
              <a:solidFill>
                <a:schemeClr val="accent2"/>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𝐼</m:t>
                          </m:r>
                        </m:e>
                        <m:sub>
                          <m:r>
                            <a:rPr lang="es-BO" sz="3200" b="0" i="1" smtClean="0">
                              <a:latin typeface="Cambria Math" panose="02040503050406030204" pitchFamily="18" charset="0"/>
                            </a:rPr>
                            <m:t>2</m:t>
                          </m:r>
                        </m:sub>
                      </m:sSub>
                      <m:r>
                        <a:rPr lang="es-BO" sz="3200" b="0" i="1" smtClean="0">
                          <a:latin typeface="Cambria Math" panose="02040503050406030204" pitchFamily="18" charset="0"/>
                        </a:rPr>
                        <m:t>=280499 </m:t>
                      </m:r>
                      <m:r>
                        <a:rPr lang="es-BO" sz="3200" b="0" i="1" smtClean="0">
                          <a:latin typeface="Cambria Math" panose="02040503050406030204" pitchFamily="18" charset="0"/>
                        </a:rPr>
                        <m:t>𝐵𝑠</m:t>
                      </m:r>
                    </m:oMath>
                  </m:oMathPara>
                </a14:m>
                <a:endParaRPr lang="es-BO" sz="3200" dirty="0"/>
              </a:p>
            </p:txBody>
          </p:sp>
        </mc:Choice>
        <mc:Fallback xmlns="">
          <p:sp>
            <p:nvSpPr>
              <p:cNvPr id="15" name="CuadroTexto 14"/>
              <p:cNvSpPr txBox="1">
                <a:spLocks noRot="1" noChangeAspect="1" noMove="1" noResize="1" noEditPoints="1" noAdjustHandles="1" noChangeArrowheads="1" noChangeShapeType="1" noTextEdit="1"/>
              </p:cNvSpPr>
              <p:nvPr/>
            </p:nvSpPr>
            <p:spPr>
              <a:xfrm>
                <a:off x="6814089" y="4527088"/>
                <a:ext cx="2892010" cy="492443"/>
              </a:xfrm>
              <a:prstGeom prst="rect">
                <a:avLst/>
              </a:prstGeom>
              <a:blipFill>
                <a:blip r:embed="rId5"/>
                <a:stretch>
                  <a:fillRect/>
                </a:stretch>
              </a:blipFill>
            </p:spPr>
            <p:txBody>
              <a:bodyPr/>
              <a:lstStyle/>
              <a:p>
                <a:r>
                  <a:rPr lang="es-BO">
                    <a:noFill/>
                  </a:rPr>
                  <a:t> </a:t>
                </a:r>
              </a:p>
            </p:txBody>
          </p:sp>
        </mc:Fallback>
      </mc:AlternateContent>
      <p:sp>
        <p:nvSpPr>
          <p:cNvPr id="5" name="Rectángulo 4"/>
          <p:cNvSpPr/>
          <p:nvPr/>
        </p:nvSpPr>
        <p:spPr>
          <a:xfrm>
            <a:off x="7681870" y="4055266"/>
            <a:ext cx="4356847" cy="1438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spTree>
    <p:extLst>
      <p:ext uri="{BB962C8B-B14F-4D97-AF65-F5344CB8AC3E}">
        <p14:creationId xmlns:p14="http://schemas.microsoft.com/office/powerpoint/2010/main" val="2117691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302781" cy="523220"/>
          </a:xfrm>
          <a:prstGeom prst="rect">
            <a:avLst/>
          </a:prstGeom>
        </p:spPr>
        <p:txBody>
          <a:bodyPr wrap="none">
            <a:spAutoFit/>
          </a:bodyPr>
          <a:lstStyle/>
          <a:p>
            <a:r>
              <a:rPr lang="es-BO" sz="2800" dirty="0" smtClean="0">
                <a:solidFill>
                  <a:srgbClr val="FF0000"/>
                </a:solidFill>
              </a:rPr>
              <a:t>7.4 Economías a escala</a:t>
            </a:r>
          </a:p>
        </p:txBody>
      </p:sp>
      <p:sp>
        <p:nvSpPr>
          <p:cNvPr id="7" name="CuadroTexto 6"/>
          <p:cNvSpPr txBox="1"/>
          <p:nvPr/>
        </p:nvSpPr>
        <p:spPr>
          <a:xfrm>
            <a:off x="177648" y="1587567"/>
            <a:ext cx="7029976" cy="5262979"/>
          </a:xfrm>
          <a:prstGeom prst="rect">
            <a:avLst/>
          </a:prstGeom>
          <a:noFill/>
        </p:spPr>
        <p:txBody>
          <a:bodyPr wrap="square" rtlCol="0">
            <a:spAutoFit/>
          </a:bodyPr>
          <a:lstStyle/>
          <a:p>
            <a:r>
              <a:rPr lang="es-BO" sz="2800" dirty="0" smtClean="0"/>
              <a:t>Ejemplo 2.</a:t>
            </a:r>
          </a:p>
          <a:p>
            <a:r>
              <a:rPr lang="es-BO" sz="2800" dirty="0">
                <a:solidFill>
                  <a:srgbClr val="002060"/>
                </a:solidFill>
              </a:rPr>
              <a:t>2. Se tiene previsto implantar un proyecto de </a:t>
            </a:r>
            <a:r>
              <a:rPr lang="es-BO" sz="2800" dirty="0" smtClean="0">
                <a:solidFill>
                  <a:srgbClr val="002060"/>
                </a:solidFill>
              </a:rPr>
              <a:t>recauchutado de llantas, cuya </a:t>
            </a:r>
            <a:r>
              <a:rPr lang="es-BO" sz="2800" dirty="0">
                <a:solidFill>
                  <a:srgbClr val="002060"/>
                </a:solidFill>
              </a:rPr>
              <a:t>inversión sería de </a:t>
            </a:r>
            <a:r>
              <a:rPr lang="es-BO" sz="2800" dirty="0" smtClean="0">
                <a:solidFill>
                  <a:srgbClr val="002060"/>
                </a:solidFill>
              </a:rPr>
              <a:t>Bs 250000, </a:t>
            </a:r>
            <a:r>
              <a:rPr lang="es-BO" sz="2800" dirty="0">
                <a:solidFill>
                  <a:srgbClr val="002060"/>
                </a:solidFill>
              </a:rPr>
              <a:t>para </a:t>
            </a:r>
            <a:r>
              <a:rPr lang="es-BO" sz="2800" dirty="0" smtClean="0">
                <a:solidFill>
                  <a:srgbClr val="002060"/>
                </a:solidFill>
              </a:rPr>
              <a:t>una producción 12750 </a:t>
            </a:r>
            <a:r>
              <a:rPr lang="es-BO" sz="2800" dirty="0">
                <a:solidFill>
                  <a:srgbClr val="002060"/>
                </a:solidFill>
              </a:rPr>
              <a:t>toneladas anuales. Luego de estudiar el proyecto, </a:t>
            </a:r>
            <a:r>
              <a:rPr lang="es-BO" sz="2800" dirty="0" smtClean="0">
                <a:solidFill>
                  <a:srgbClr val="002060"/>
                </a:solidFill>
              </a:rPr>
              <a:t>los inversores estiman </a:t>
            </a:r>
            <a:r>
              <a:rPr lang="es-BO" sz="2800" dirty="0">
                <a:solidFill>
                  <a:srgbClr val="002060"/>
                </a:solidFill>
              </a:rPr>
              <a:t>que es más conveniente </a:t>
            </a:r>
            <a:r>
              <a:rPr lang="es-BO" sz="2800" dirty="0" smtClean="0">
                <a:solidFill>
                  <a:srgbClr val="002060"/>
                </a:solidFill>
              </a:rPr>
              <a:t>una producción de </a:t>
            </a:r>
            <a:r>
              <a:rPr lang="es-BO" sz="2800" dirty="0">
                <a:solidFill>
                  <a:srgbClr val="002060"/>
                </a:solidFill>
              </a:rPr>
              <a:t>21,120 toneladas al año. ¿A cuánto ascenderá la inversión total, si el exponente del factor de escala es x = 0 . 6 3 ?</a:t>
            </a:r>
          </a:p>
        </p:txBody>
      </p:sp>
      <p:sp>
        <p:nvSpPr>
          <p:cNvPr id="9" name="CuadroTexto 8"/>
          <p:cNvSpPr txBox="1"/>
          <p:nvPr/>
        </p:nvSpPr>
        <p:spPr>
          <a:xfrm>
            <a:off x="7739378" y="2435893"/>
            <a:ext cx="4215056" cy="2677656"/>
          </a:xfrm>
          <a:prstGeom prst="rect">
            <a:avLst/>
          </a:prstGeom>
          <a:noFill/>
        </p:spPr>
        <p:txBody>
          <a:bodyPr wrap="square" rtlCol="0">
            <a:spAutoFit/>
          </a:bodyPr>
          <a:lstStyle/>
          <a:p>
            <a:r>
              <a:rPr lang="es-BO" sz="2800" dirty="0" smtClean="0"/>
              <a:t>Datos:</a:t>
            </a:r>
          </a:p>
          <a:p>
            <a:r>
              <a:rPr lang="es-BO" sz="2800" dirty="0" smtClean="0">
                <a:solidFill>
                  <a:srgbClr val="002060"/>
                </a:solidFill>
              </a:rPr>
              <a:t>C1 = 12750 toneladas.</a:t>
            </a:r>
          </a:p>
          <a:p>
            <a:r>
              <a:rPr lang="es-BO" sz="2800" dirty="0" smtClean="0">
                <a:solidFill>
                  <a:srgbClr val="002060"/>
                </a:solidFill>
              </a:rPr>
              <a:t>I1 = 250000 Bs.</a:t>
            </a:r>
          </a:p>
          <a:p>
            <a:r>
              <a:rPr lang="es-BO" sz="2800" dirty="0" smtClean="0">
                <a:solidFill>
                  <a:srgbClr val="002060"/>
                </a:solidFill>
              </a:rPr>
              <a:t>C2 = 21120 Toneladas.</a:t>
            </a:r>
          </a:p>
          <a:p>
            <a:r>
              <a:rPr lang="es-BO" sz="2800" dirty="0" smtClean="0">
                <a:solidFill>
                  <a:srgbClr val="002060"/>
                </a:solidFill>
              </a:rPr>
              <a:t>F= 0,63</a:t>
            </a:r>
          </a:p>
          <a:p>
            <a:endParaRPr lang="es-BO" sz="2800" dirty="0">
              <a:solidFill>
                <a:srgbClr val="002060"/>
              </a:solidFill>
            </a:endParaRPr>
          </a:p>
        </p:txBody>
      </p:sp>
    </p:spTree>
    <p:extLst>
      <p:ext uri="{BB962C8B-B14F-4D97-AF65-F5344CB8AC3E}">
        <p14:creationId xmlns:p14="http://schemas.microsoft.com/office/powerpoint/2010/main" val="2783623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4302781" cy="523220"/>
          </a:xfrm>
          <a:prstGeom prst="rect">
            <a:avLst/>
          </a:prstGeom>
        </p:spPr>
        <p:txBody>
          <a:bodyPr wrap="none">
            <a:spAutoFit/>
          </a:bodyPr>
          <a:lstStyle/>
          <a:p>
            <a:r>
              <a:rPr lang="es-BO" sz="2800" dirty="0" smtClean="0">
                <a:solidFill>
                  <a:srgbClr val="FF0000"/>
                </a:solidFill>
              </a:rPr>
              <a:t>7.4 Economías a escala</a:t>
            </a:r>
          </a:p>
        </p:txBody>
      </p:sp>
      <p:sp>
        <p:nvSpPr>
          <p:cNvPr id="7" name="CuadroTexto 6"/>
          <p:cNvSpPr txBox="1"/>
          <p:nvPr/>
        </p:nvSpPr>
        <p:spPr>
          <a:xfrm>
            <a:off x="177649" y="1587567"/>
            <a:ext cx="5846634" cy="523220"/>
          </a:xfrm>
          <a:prstGeom prst="rect">
            <a:avLst/>
          </a:prstGeom>
          <a:noFill/>
        </p:spPr>
        <p:txBody>
          <a:bodyPr wrap="square" rtlCol="0">
            <a:spAutoFit/>
          </a:bodyPr>
          <a:lstStyle/>
          <a:p>
            <a:r>
              <a:rPr lang="es-BO" sz="2800" dirty="0" smtClean="0">
                <a:solidFill>
                  <a:srgbClr val="002060"/>
                </a:solidFill>
              </a:rPr>
              <a:t>Aplicando la formula siguiente:</a:t>
            </a:r>
          </a:p>
        </p:txBody>
      </p:sp>
      <mc:AlternateContent xmlns:mc="http://schemas.openxmlformats.org/markup-compatibility/2006" xmlns:a14="http://schemas.microsoft.com/office/drawing/2010/main">
        <mc:Choice Requires="a14">
          <p:sp>
            <p:nvSpPr>
              <p:cNvPr id="3" name="CuadroTexto 2"/>
              <p:cNvSpPr txBox="1"/>
              <p:nvPr/>
            </p:nvSpPr>
            <p:spPr>
              <a:xfrm>
                <a:off x="2050677" y="2110787"/>
                <a:ext cx="1912255" cy="12081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BO" sz="3200" i="1" smtClean="0">
                              <a:latin typeface="Cambria Math" panose="02040503050406030204" pitchFamily="18" charset="0"/>
                            </a:rPr>
                          </m:ctrlPr>
                        </m:fPr>
                        <m:num>
                          <m:sSub>
                            <m:sSubPr>
                              <m:ctrlPr>
                                <a:rPr lang="es-BO" sz="3200" i="1" smtClean="0">
                                  <a:latin typeface="Cambria Math" panose="02040503050406030204" pitchFamily="18" charset="0"/>
                                </a:rPr>
                              </m:ctrlPr>
                            </m:sSubPr>
                            <m:e>
                              <m:r>
                                <a:rPr lang="es-BO" sz="3200" b="0" i="1" smtClean="0">
                                  <a:latin typeface="Cambria Math" panose="02040503050406030204" pitchFamily="18" charset="0"/>
                                </a:rPr>
                                <m:t>𝐼</m:t>
                              </m:r>
                            </m:e>
                            <m:sub>
                              <m:r>
                                <a:rPr lang="es-BO" sz="3200" b="0" i="1" smtClean="0">
                                  <a:latin typeface="Cambria Math" panose="02040503050406030204" pitchFamily="18" charset="0"/>
                                </a:rPr>
                                <m:t>2</m:t>
                              </m:r>
                            </m:sub>
                          </m:sSub>
                        </m:num>
                        <m:den>
                          <m:sSub>
                            <m:sSubPr>
                              <m:ctrlPr>
                                <a:rPr lang="es-BO" sz="3200" i="1" smtClean="0">
                                  <a:latin typeface="Cambria Math" panose="02040503050406030204" pitchFamily="18" charset="0"/>
                                </a:rPr>
                              </m:ctrlPr>
                            </m:sSubPr>
                            <m:e>
                              <m:r>
                                <a:rPr lang="es-BO" sz="3200" b="0" i="1" smtClean="0">
                                  <a:latin typeface="Cambria Math" panose="02040503050406030204" pitchFamily="18" charset="0"/>
                                </a:rPr>
                                <m:t>𝐼</m:t>
                              </m:r>
                            </m:e>
                            <m:sub>
                              <m:r>
                                <a:rPr lang="es-BO" sz="3200" b="0" i="1" smtClean="0">
                                  <a:latin typeface="Cambria Math" panose="02040503050406030204" pitchFamily="18" charset="0"/>
                                </a:rPr>
                                <m:t>1</m:t>
                              </m:r>
                            </m:sub>
                          </m:sSub>
                        </m:den>
                      </m:f>
                      <m:r>
                        <a:rPr lang="es-BO" sz="3200" b="0" i="1" smtClean="0">
                          <a:latin typeface="Cambria Math" panose="02040503050406030204" pitchFamily="18" charset="0"/>
                        </a:rPr>
                        <m:t>=</m:t>
                      </m:r>
                      <m:sSup>
                        <m:sSupPr>
                          <m:ctrlPr>
                            <a:rPr lang="es-BO" sz="3200" b="0" i="1" smtClean="0">
                              <a:latin typeface="Cambria Math" panose="02040503050406030204" pitchFamily="18" charset="0"/>
                            </a:rPr>
                          </m:ctrlPr>
                        </m:sSupPr>
                        <m:e>
                          <m:d>
                            <m:dPr>
                              <m:begChr m:val="["/>
                              <m:endChr m:val="]"/>
                              <m:ctrlPr>
                                <a:rPr lang="es-BO" sz="3200" b="0" i="1" smtClean="0">
                                  <a:latin typeface="Cambria Math" panose="02040503050406030204" pitchFamily="18" charset="0"/>
                                </a:rPr>
                              </m:ctrlPr>
                            </m:dPr>
                            <m:e>
                              <m:f>
                                <m:fPr>
                                  <m:ctrlPr>
                                    <a:rPr lang="es-BO" sz="3200" b="0" i="1" smtClean="0">
                                      <a:latin typeface="Cambria Math" panose="02040503050406030204" pitchFamily="18" charset="0"/>
                                    </a:rPr>
                                  </m:ctrlPr>
                                </m:fPr>
                                <m:num>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𝐶</m:t>
                                      </m:r>
                                    </m:e>
                                    <m:sub>
                                      <m:r>
                                        <a:rPr lang="es-BO" sz="3200" b="0" i="1" smtClean="0">
                                          <a:latin typeface="Cambria Math" panose="02040503050406030204" pitchFamily="18" charset="0"/>
                                        </a:rPr>
                                        <m:t>2</m:t>
                                      </m:r>
                                    </m:sub>
                                  </m:sSub>
                                </m:num>
                                <m:den>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𝐶</m:t>
                                      </m:r>
                                    </m:e>
                                    <m:sub>
                                      <m:r>
                                        <a:rPr lang="es-BO" sz="3200" b="0" i="1" smtClean="0">
                                          <a:latin typeface="Cambria Math" panose="02040503050406030204" pitchFamily="18" charset="0"/>
                                        </a:rPr>
                                        <m:t>1</m:t>
                                      </m:r>
                                    </m:sub>
                                  </m:sSub>
                                </m:den>
                              </m:f>
                            </m:e>
                          </m:d>
                        </m:e>
                        <m:sup>
                          <m:r>
                            <a:rPr lang="es-BO" sz="3200" b="0" i="1" smtClean="0">
                              <a:latin typeface="Cambria Math" panose="02040503050406030204" pitchFamily="18" charset="0"/>
                            </a:rPr>
                            <m:t>𝑓</m:t>
                          </m:r>
                        </m:sup>
                      </m:sSup>
                    </m:oMath>
                  </m:oMathPara>
                </a14:m>
                <a:endParaRPr lang="es-BO" sz="32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2050677" y="2110787"/>
                <a:ext cx="1912255" cy="1208151"/>
              </a:xfrm>
              <a:prstGeom prst="rect">
                <a:avLst/>
              </a:prstGeom>
              <a:blipFill>
                <a:blip r:embed="rId2"/>
                <a:stretch>
                  <a:fillRect/>
                </a:stretch>
              </a:blipFill>
            </p:spPr>
            <p:txBody>
              <a:bodyPr/>
              <a:lstStyle/>
              <a:p>
                <a:r>
                  <a:rPr lang="es-BO">
                    <a:noFill/>
                  </a:rPr>
                  <a:t> </a:t>
                </a:r>
              </a:p>
            </p:txBody>
          </p:sp>
        </mc:Fallback>
      </mc:AlternateContent>
      <p:sp>
        <p:nvSpPr>
          <p:cNvPr id="8" name="CuadroTexto 7"/>
          <p:cNvSpPr txBox="1"/>
          <p:nvPr/>
        </p:nvSpPr>
        <p:spPr>
          <a:xfrm>
            <a:off x="139866" y="3318938"/>
            <a:ext cx="5846634" cy="523220"/>
          </a:xfrm>
          <a:prstGeom prst="rect">
            <a:avLst/>
          </a:prstGeom>
          <a:noFill/>
        </p:spPr>
        <p:txBody>
          <a:bodyPr wrap="square" rtlCol="0">
            <a:spAutoFit/>
          </a:bodyPr>
          <a:lstStyle/>
          <a:p>
            <a:r>
              <a:rPr lang="es-BO" sz="2800" dirty="0" smtClean="0">
                <a:solidFill>
                  <a:srgbClr val="002060"/>
                </a:solidFill>
              </a:rPr>
              <a:t>Despejamos I2, tenemos:</a:t>
            </a:r>
          </a:p>
        </p:txBody>
      </p:sp>
      <mc:AlternateContent xmlns:mc="http://schemas.openxmlformats.org/markup-compatibility/2006" xmlns:a14="http://schemas.microsoft.com/office/drawing/2010/main">
        <mc:Choice Requires="a14">
          <p:sp>
            <p:nvSpPr>
              <p:cNvPr id="11" name="CuadroTexto 10"/>
              <p:cNvSpPr txBox="1"/>
              <p:nvPr/>
            </p:nvSpPr>
            <p:spPr>
              <a:xfrm>
                <a:off x="1704043" y="3923013"/>
                <a:ext cx="2605521" cy="12081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𝐼</m:t>
                          </m:r>
                        </m:e>
                        <m:sub>
                          <m:r>
                            <a:rPr lang="es-BO" sz="3200" b="0" i="1" smtClean="0">
                              <a:latin typeface="Cambria Math" panose="02040503050406030204" pitchFamily="18" charset="0"/>
                            </a:rPr>
                            <m:t>2</m:t>
                          </m:r>
                        </m:sub>
                      </m:sSub>
                      <m:r>
                        <a:rPr lang="es-BO" sz="3200" b="0" i="1" smtClean="0">
                          <a:latin typeface="Cambria Math" panose="02040503050406030204" pitchFamily="18" charset="0"/>
                        </a:rPr>
                        <m:t>=</m:t>
                      </m:r>
                      <m:sSup>
                        <m:sSupPr>
                          <m:ctrlPr>
                            <a:rPr lang="es-BO" sz="3200" b="0" i="1" smtClean="0">
                              <a:latin typeface="Cambria Math" panose="02040503050406030204" pitchFamily="18" charset="0"/>
                            </a:rPr>
                          </m:ctrlPr>
                        </m:sSupPr>
                        <m:e>
                          <m:d>
                            <m:dPr>
                              <m:begChr m:val="["/>
                              <m:endChr m:val="]"/>
                              <m:ctrlPr>
                                <a:rPr lang="es-BO" sz="3200" b="0" i="1" smtClean="0">
                                  <a:latin typeface="Cambria Math" panose="02040503050406030204" pitchFamily="18" charset="0"/>
                                </a:rPr>
                              </m:ctrlPr>
                            </m:dPr>
                            <m:e>
                              <m:f>
                                <m:fPr>
                                  <m:ctrlPr>
                                    <a:rPr lang="es-BO" sz="3200" b="0" i="1" smtClean="0">
                                      <a:latin typeface="Cambria Math" panose="02040503050406030204" pitchFamily="18" charset="0"/>
                                    </a:rPr>
                                  </m:ctrlPr>
                                </m:fPr>
                                <m:num>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𝐶</m:t>
                                      </m:r>
                                    </m:e>
                                    <m:sub>
                                      <m:r>
                                        <a:rPr lang="es-BO" sz="3200" b="0" i="1" smtClean="0">
                                          <a:latin typeface="Cambria Math" panose="02040503050406030204" pitchFamily="18" charset="0"/>
                                        </a:rPr>
                                        <m:t>2</m:t>
                                      </m:r>
                                    </m:sub>
                                  </m:sSub>
                                </m:num>
                                <m:den>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𝐶</m:t>
                                      </m:r>
                                    </m:e>
                                    <m:sub>
                                      <m:r>
                                        <a:rPr lang="es-BO" sz="3200" b="0" i="1" smtClean="0">
                                          <a:latin typeface="Cambria Math" panose="02040503050406030204" pitchFamily="18" charset="0"/>
                                        </a:rPr>
                                        <m:t>1</m:t>
                                      </m:r>
                                    </m:sub>
                                  </m:sSub>
                                </m:den>
                              </m:f>
                            </m:e>
                          </m:d>
                        </m:e>
                        <m:sup>
                          <m:r>
                            <a:rPr lang="es-BO" sz="3200" b="0" i="1" smtClean="0">
                              <a:latin typeface="Cambria Math" panose="02040503050406030204" pitchFamily="18" charset="0"/>
                            </a:rPr>
                            <m:t>𝑓</m:t>
                          </m:r>
                        </m:sup>
                      </m:sSup>
                      <m:r>
                        <a:rPr lang="es-BO" sz="3200" b="0" i="1" smtClean="0">
                          <a:latin typeface="Cambria Math" panose="02040503050406030204" pitchFamily="18" charset="0"/>
                        </a:rPr>
                        <m:t>∗</m:t>
                      </m:r>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𝐼</m:t>
                          </m:r>
                        </m:e>
                        <m:sub>
                          <m:r>
                            <a:rPr lang="es-BO" sz="3200" b="0" i="1" smtClean="0">
                              <a:latin typeface="Cambria Math" panose="02040503050406030204" pitchFamily="18" charset="0"/>
                            </a:rPr>
                            <m:t>1</m:t>
                          </m:r>
                        </m:sub>
                      </m:sSub>
                    </m:oMath>
                  </m:oMathPara>
                </a14:m>
                <a:endParaRPr lang="es-BO" sz="3200"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1704043" y="3923013"/>
                <a:ext cx="2605521" cy="1208151"/>
              </a:xfrm>
              <a:prstGeom prst="rect">
                <a:avLst/>
              </a:prstGeom>
              <a:blipFill>
                <a:blip r:embed="rId3"/>
                <a:stretch>
                  <a:fillRect/>
                </a:stretch>
              </a:blipFill>
            </p:spPr>
            <p:txBody>
              <a:bodyPr/>
              <a:lstStyle/>
              <a:p>
                <a:r>
                  <a:rPr lang="es-BO">
                    <a:noFill/>
                  </a:rPr>
                  <a:t> </a:t>
                </a:r>
              </a:p>
            </p:txBody>
          </p:sp>
        </mc:Fallback>
      </mc:AlternateContent>
      <p:sp>
        <p:nvSpPr>
          <p:cNvPr id="12" name="CuadroTexto 11"/>
          <p:cNvSpPr txBox="1"/>
          <p:nvPr/>
        </p:nvSpPr>
        <p:spPr>
          <a:xfrm>
            <a:off x="6814089" y="1516804"/>
            <a:ext cx="4266287" cy="523220"/>
          </a:xfrm>
          <a:prstGeom prst="rect">
            <a:avLst/>
          </a:prstGeom>
          <a:noFill/>
        </p:spPr>
        <p:txBody>
          <a:bodyPr wrap="square" rtlCol="0">
            <a:spAutoFit/>
          </a:bodyPr>
          <a:lstStyle/>
          <a:p>
            <a:r>
              <a:rPr lang="es-BO" sz="2800" dirty="0" smtClean="0">
                <a:solidFill>
                  <a:srgbClr val="002060"/>
                </a:solidFill>
              </a:rPr>
              <a:t>Reemplazando valores:</a:t>
            </a:r>
          </a:p>
        </p:txBody>
      </p:sp>
      <mc:AlternateContent xmlns:mc="http://schemas.openxmlformats.org/markup-compatibility/2006" xmlns:a14="http://schemas.microsoft.com/office/drawing/2010/main">
        <mc:Choice Requires="a14">
          <p:sp>
            <p:nvSpPr>
              <p:cNvPr id="13" name="CuadroTexto 12"/>
              <p:cNvSpPr txBox="1"/>
              <p:nvPr/>
            </p:nvSpPr>
            <p:spPr>
              <a:xfrm>
                <a:off x="6360458" y="2529811"/>
                <a:ext cx="4990597" cy="10356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𝐼</m:t>
                          </m:r>
                        </m:e>
                        <m:sub>
                          <m:r>
                            <a:rPr lang="es-BO" sz="3200" b="0" i="1" smtClean="0">
                              <a:latin typeface="Cambria Math" panose="02040503050406030204" pitchFamily="18" charset="0"/>
                            </a:rPr>
                            <m:t>2</m:t>
                          </m:r>
                        </m:sub>
                      </m:sSub>
                      <m:r>
                        <a:rPr lang="es-BO" sz="3200" b="0" i="1" smtClean="0">
                          <a:latin typeface="Cambria Math" panose="02040503050406030204" pitchFamily="18" charset="0"/>
                        </a:rPr>
                        <m:t>=</m:t>
                      </m:r>
                      <m:sSup>
                        <m:sSupPr>
                          <m:ctrlPr>
                            <a:rPr lang="es-BO" sz="3200" b="0" i="1" smtClean="0">
                              <a:latin typeface="Cambria Math" panose="02040503050406030204" pitchFamily="18" charset="0"/>
                            </a:rPr>
                          </m:ctrlPr>
                        </m:sSupPr>
                        <m:e>
                          <m:d>
                            <m:dPr>
                              <m:begChr m:val="["/>
                              <m:endChr m:val="]"/>
                              <m:ctrlPr>
                                <a:rPr lang="es-BO" sz="3200" b="0" i="1" smtClean="0">
                                  <a:latin typeface="Cambria Math" panose="02040503050406030204" pitchFamily="18" charset="0"/>
                                </a:rPr>
                              </m:ctrlPr>
                            </m:dPr>
                            <m:e>
                              <m:f>
                                <m:fPr>
                                  <m:ctrlPr>
                                    <a:rPr lang="es-BO" sz="3200" b="0" i="1" smtClean="0">
                                      <a:latin typeface="Cambria Math" panose="02040503050406030204" pitchFamily="18" charset="0"/>
                                    </a:rPr>
                                  </m:ctrlPr>
                                </m:fPr>
                                <m:num>
                                  <m:r>
                                    <a:rPr lang="es-BO" sz="3200" b="0" i="1" smtClean="0">
                                      <a:latin typeface="Cambria Math" panose="02040503050406030204" pitchFamily="18" charset="0"/>
                                    </a:rPr>
                                    <m:t>21120</m:t>
                                  </m:r>
                                </m:num>
                                <m:den>
                                  <m:r>
                                    <a:rPr lang="es-BO" sz="3200" b="0" i="1" smtClean="0">
                                      <a:latin typeface="Cambria Math" panose="02040503050406030204" pitchFamily="18" charset="0"/>
                                    </a:rPr>
                                    <m:t>12750</m:t>
                                  </m:r>
                                </m:den>
                              </m:f>
                            </m:e>
                          </m:d>
                        </m:e>
                        <m:sup>
                          <m:r>
                            <a:rPr lang="es-BO" sz="3200" b="0" i="1" smtClean="0">
                              <a:latin typeface="Cambria Math" panose="02040503050406030204" pitchFamily="18" charset="0"/>
                            </a:rPr>
                            <m:t>0,63</m:t>
                          </m:r>
                        </m:sup>
                      </m:sSup>
                      <m:r>
                        <a:rPr lang="es-BO" sz="3200" b="0" i="1" smtClean="0">
                          <a:latin typeface="Cambria Math" panose="02040503050406030204" pitchFamily="18" charset="0"/>
                        </a:rPr>
                        <m:t>∗2500000</m:t>
                      </m:r>
                    </m:oMath>
                  </m:oMathPara>
                </a14:m>
                <a:endParaRPr lang="es-BO" sz="3200"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6360458" y="2529811"/>
                <a:ext cx="4990597" cy="1035668"/>
              </a:xfrm>
              <a:prstGeom prst="rect">
                <a:avLst/>
              </a:prstGeom>
              <a:blipFill>
                <a:blip r:embed="rId4"/>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5" name="CuadroTexto 14"/>
              <p:cNvSpPr txBox="1"/>
              <p:nvPr/>
            </p:nvSpPr>
            <p:spPr>
              <a:xfrm>
                <a:off x="6814089" y="4527088"/>
                <a:ext cx="2892010" cy="492443"/>
              </a:xfrm>
              <a:prstGeom prst="rect">
                <a:avLst/>
              </a:prstGeom>
              <a:solidFill>
                <a:schemeClr val="accent2"/>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BO" sz="3200" b="0" i="1" smtClean="0">
                              <a:latin typeface="Cambria Math" panose="02040503050406030204" pitchFamily="18" charset="0"/>
                            </a:rPr>
                          </m:ctrlPr>
                        </m:sSubPr>
                        <m:e>
                          <m:r>
                            <a:rPr lang="es-BO" sz="3200" b="0" i="1" smtClean="0">
                              <a:latin typeface="Cambria Math" panose="02040503050406030204" pitchFamily="18" charset="0"/>
                            </a:rPr>
                            <m:t>𝐼</m:t>
                          </m:r>
                        </m:e>
                        <m:sub>
                          <m:r>
                            <a:rPr lang="es-BO" sz="3200" b="0" i="1" smtClean="0">
                              <a:latin typeface="Cambria Math" panose="02040503050406030204" pitchFamily="18" charset="0"/>
                            </a:rPr>
                            <m:t>2</m:t>
                          </m:r>
                        </m:sub>
                      </m:sSub>
                      <m:r>
                        <a:rPr lang="es-BO" sz="3200" b="0" i="1" smtClean="0">
                          <a:latin typeface="Cambria Math" panose="02040503050406030204" pitchFamily="18" charset="0"/>
                        </a:rPr>
                        <m:t>=343578 </m:t>
                      </m:r>
                      <m:r>
                        <a:rPr lang="es-BO" sz="3200" b="0" i="1" smtClean="0">
                          <a:latin typeface="Cambria Math" panose="02040503050406030204" pitchFamily="18" charset="0"/>
                        </a:rPr>
                        <m:t>𝐵𝑠</m:t>
                      </m:r>
                    </m:oMath>
                  </m:oMathPara>
                </a14:m>
                <a:endParaRPr lang="es-BO" sz="3200" dirty="0"/>
              </a:p>
            </p:txBody>
          </p:sp>
        </mc:Choice>
        <mc:Fallback xmlns="">
          <p:sp>
            <p:nvSpPr>
              <p:cNvPr id="15" name="CuadroTexto 14"/>
              <p:cNvSpPr txBox="1">
                <a:spLocks noRot="1" noChangeAspect="1" noMove="1" noResize="1" noEditPoints="1" noAdjustHandles="1" noChangeArrowheads="1" noChangeShapeType="1" noTextEdit="1"/>
              </p:cNvSpPr>
              <p:nvPr/>
            </p:nvSpPr>
            <p:spPr>
              <a:xfrm>
                <a:off x="6814089" y="4527088"/>
                <a:ext cx="2892010" cy="492443"/>
              </a:xfrm>
              <a:prstGeom prst="rect">
                <a:avLst/>
              </a:prstGeom>
              <a:blipFill>
                <a:blip r:embed="rId5"/>
                <a:stretch>
                  <a:fillRect/>
                </a:stretch>
              </a:blipFill>
            </p:spPr>
            <p:txBody>
              <a:bodyPr/>
              <a:lstStyle/>
              <a:p>
                <a:r>
                  <a:rPr lang="es-BO">
                    <a:noFill/>
                  </a:rPr>
                  <a:t> </a:t>
                </a:r>
              </a:p>
            </p:txBody>
          </p:sp>
        </mc:Fallback>
      </mc:AlternateContent>
      <p:sp>
        <p:nvSpPr>
          <p:cNvPr id="2" name="Rectángulo 1"/>
          <p:cNvSpPr/>
          <p:nvPr/>
        </p:nvSpPr>
        <p:spPr>
          <a:xfrm>
            <a:off x="7651376" y="4174914"/>
            <a:ext cx="3845860" cy="11967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spTree>
    <p:extLst>
      <p:ext uri="{BB962C8B-B14F-4D97-AF65-F5344CB8AC3E}">
        <p14:creationId xmlns:p14="http://schemas.microsoft.com/office/powerpoint/2010/main" val="9734362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10956517" cy="954107"/>
          </a:xfrm>
          <a:prstGeom prst="rect">
            <a:avLst/>
          </a:prstGeom>
        </p:spPr>
        <p:txBody>
          <a:bodyPr wrap="square">
            <a:spAutoFit/>
          </a:bodyPr>
          <a:lstStyle/>
          <a:p>
            <a:r>
              <a:rPr lang="es-BO" sz="2800" dirty="0">
                <a:solidFill>
                  <a:srgbClr val="FF0000"/>
                </a:solidFill>
              </a:rPr>
              <a:t>7.5   El modelo de </a:t>
            </a:r>
            <a:r>
              <a:rPr lang="es-BO" sz="2800" dirty="0" err="1">
                <a:solidFill>
                  <a:srgbClr val="FF0000"/>
                </a:solidFill>
              </a:rPr>
              <a:t>Lange</a:t>
            </a:r>
            <a:r>
              <a:rPr lang="es-BO" sz="2800" dirty="0">
                <a:solidFill>
                  <a:srgbClr val="FF0000"/>
                </a:solidFill>
              </a:rPr>
              <a:t> para determinar la capacidad productiva optima</a:t>
            </a:r>
          </a:p>
        </p:txBody>
      </p:sp>
      <p:sp>
        <p:nvSpPr>
          <p:cNvPr id="7" name="CuadroTexto 6"/>
          <p:cNvSpPr txBox="1"/>
          <p:nvPr/>
        </p:nvSpPr>
        <p:spPr>
          <a:xfrm>
            <a:off x="352459" y="2159876"/>
            <a:ext cx="10956517" cy="954107"/>
          </a:xfrm>
          <a:prstGeom prst="rect">
            <a:avLst/>
          </a:prstGeom>
          <a:noFill/>
        </p:spPr>
        <p:txBody>
          <a:bodyPr wrap="square" rtlCol="0">
            <a:spAutoFit/>
          </a:bodyPr>
          <a:lstStyle/>
          <a:p>
            <a:r>
              <a:rPr lang="es-BO" sz="2800" dirty="0" smtClean="0">
                <a:solidFill>
                  <a:srgbClr val="002060"/>
                </a:solidFill>
              </a:rPr>
              <a:t>El modelo de </a:t>
            </a:r>
            <a:r>
              <a:rPr lang="es-BO" sz="2800" dirty="0" err="1" smtClean="0">
                <a:solidFill>
                  <a:srgbClr val="002060"/>
                </a:solidFill>
              </a:rPr>
              <a:t>Lange</a:t>
            </a:r>
            <a:r>
              <a:rPr lang="es-BO" sz="2800" dirty="0" smtClean="0">
                <a:solidFill>
                  <a:srgbClr val="002060"/>
                </a:solidFill>
              </a:rPr>
              <a:t> es  una relación funcional entre el monto de </a:t>
            </a:r>
            <a:r>
              <a:rPr lang="es-BO" sz="2800" dirty="0">
                <a:solidFill>
                  <a:srgbClr val="002060"/>
                </a:solidFill>
              </a:rPr>
              <a:t>la </a:t>
            </a:r>
            <a:r>
              <a:rPr lang="es-BO" sz="2800" dirty="0" smtClean="0">
                <a:solidFill>
                  <a:srgbClr val="002060"/>
                </a:solidFill>
              </a:rPr>
              <a:t>inversión </a:t>
            </a:r>
            <a:r>
              <a:rPr lang="es-BO" sz="2800" dirty="0">
                <a:solidFill>
                  <a:srgbClr val="002060"/>
                </a:solidFill>
              </a:rPr>
              <a:t>y </a:t>
            </a:r>
            <a:r>
              <a:rPr lang="es-BO" sz="2800" dirty="0" smtClean="0">
                <a:solidFill>
                  <a:srgbClr val="002060"/>
                </a:solidFill>
              </a:rPr>
              <a:t>la capacidad </a:t>
            </a:r>
            <a:r>
              <a:rPr lang="es-BO" sz="2800" dirty="0">
                <a:solidFill>
                  <a:srgbClr val="002060"/>
                </a:solidFill>
              </a:rPr>
              <a:t>productiva </a:t>
            </a:r>
            <a:r>
              <a:rPr lang="es-BO" sz="2800" dirty="0" smtClean="0">
                <a:solidFill>
                  <a:srgbClr val="002060"/>
                </a:solidFill>
              </a:rPr>
              <a:t>del proyecto.</a:t>
            </a:r>
          </a:p>
        </p:txBody>
      </p:sp>
      <p:pic>
        <p:nvPicPr>
          <p:cNvPr id="5" name="Imagen 4"/>
          <p:cNvPicPr>
            <a:picLocks noChangeAspect="1"/>
          </p:cNvPicPr>
          <p:nvPr/>
        </p:nvPicPr>
        <p:blipFill rotWithShape="1">
          <a:blip r:embed="rId2"/>
          <a:srcRect l="3126" t="7243" r="2036" b="3523"/>
          <a:stretch/>
        </p:blipFill>
        <p:spPr>
          <a:xfrm>
            <a:off x="2971799" y="3576918"/>
            <a:ext cx="6373907" cy="2043953"/>
          </a:xfrm>
          <a:prstGeom prst="rect">
            <a:avLst/>
          </a:prstGeom>
        </p:spPr>
      </p:pic>
    </p:spTree>
    <p:extLst>
      <p:ext uri="{BB962C8B-B14F-4D97-AF65-F5344CB8AC3E}">
        <p14:creationId xmlns:p14="http://schemas.microsoft.com/office/powerpoint/2010/main" val="22860014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10956517" cy="523220"/>
          </a:xfrm>
          <a:prstGeom prst="rect">
            <a:avLst/>
          </a:prstGeom>
        </p:spPr>
        <p:txBody>
          <a:bodyPr wrap="square">
            <a:spAutoFit/>
          </a:bodyPr>
          <a:lstStyle/>
          <a:p>
            <a:r>
              <a:rPr lang="es-BO" sz="2800" dirty="0" smtClean="0">
                <a:solidFill>
                  <a:srgbClr val="FF0000"/>
                </a:solidFill>
              </a:rPr>
              <a:t>7.6 Inversiones </a:t>
            </a:r>
            <a:r>
              <a:rPr lang="es-BO" sz="2800" dirty="0">
                <a:solidFill>
                  <a:srgbClr val="FF0000"/>
                </a:solidFill>
              </a:rPr>
              <a:t>en </a:t>
            </a:r>
            <a:r>
              <a:rPr lang="es-BO" sz="2800" dirty="0" smtClean="0">
                <a:solidFill>
                  <a:srgbClr val="FF0000"/>
                </a:solidFill>
              </a:rPr>
              <a:t>equipamiento.</a:t>
            </a:r>
            <a:endParaRPr lang="es-BO" sz="2800" dirty="0">
              <a:solidFill>
                <a:srgbClr val="FF0000"/>
              </a:solidFill>
            </a:endParaRPr>
          </a:p>
        </p:txBody>
      </p:sp>
      <p:sp>
        <p:nvSpPr>
          <p:cNvPr id="7" name="CuadroTexto 6"/>
          <p:cNvSpPr txBox="1"/>
          <p:nvPr/>
        </p:nvSpPr>
        <p:spPr>
          <a:xfrm>
            <a:off x="352459" y="2159876"/>
            <a:ext cx="10956517" cy="1815882"/>
          </a:xfrm>
          <a:prstGeom prst="rect">
            <a:avLst/>
          </a:prstGeom>
          <a:noFill/>
        </p:spPr>
        <p:txBody>
          <a:bodyPr wrap="square" rtlCol="0">
            <a:spAutoFit/>
          </a:bodyPr>
          <a:lstStyle/>
          <a:p>
            <a:r>
              <a:rPr lang="es-BO" sz="2800" dirty="0">
                <a:solidFill>
                  <a:srgbClr val="002060"/>
                </a:solidFill>
              </a:rPr>
              <a:t>Por inversión en equipamiento se entenderán todas </a:t>
            </a:r>
            <a:r>
              <a:rPr lang="es-BO" sz="2800" dirty="0" smtClean="0">
                <a:solidFill>
                  <a:srgbClr val="002060"/>
                </a:solidFill>
              </a:rPr>
              <a:t>las inversiones </a:t>
            </a:r>
            <a:r>
              <a:rPr lang="es-BO" sz="2800" dirty="0">
                <a:solidFill>
                  <a:srgbClr val="002060"/>
                </a:solidFill>
              </a:rPr>
              <a:t>que permitan </a:t>
            </a:r>
            <a:r>
              <a:rPr lang="es-BO" sz="2800" dirty="0" smtClean="0">
                <a:solidFill>
                  <a:srgbClr val="002060"/>
                </a:solidFill>
              </a:rPr>
              <a:t>la operación </a:t>
            </a:r>
            <a:r>
              <a:rPr lang="es-BO" sz="2800" dirty="0">
                <a:solidFill>
                  <a:srgbClr val="002060"/>
                </a:solidFill>
              </a:rPr>
              <a:t>normal de la planta </a:t>
            </a:r>
            <a:r>
              <a:rPr lang="es-BO" sz="2800" dirty="0" smtClean="0">
                <a:solidFill>
                  <a:srgbClr val="002060"/>
                </a:solidFill>
              </a:rPr>
              <a:t>de la </a:t>
            </a:r>
            <a:r>
              <a:rPr lang="es-BO" sz="2800" dirty="0">
                <a:solidFill>
                  <a:srgbClr val="002060"/>
                </a:solidFill>
              </a:rPr>
              <a:t>empresa creada por el proyecto, por </a:t>
            </a:r>
            <a:r>
              <a:rPr lang="es-BO" sz="2800" dirty="0" smtClean="0">
                <a:solidFill>
                  <a:srgbClr val="002060"/>
                </a:solidFill>
              </a:rPr>
              <a:t>ejemplo, maquinaria, herramientas</a:t>
            </a:r>
            <a:r>
              <a:rPr lang="es-BO" sz="2800" dirty="0">
                <a:solidFill>
                  <a:srgbClr val="002060"/>
                </a:solidFill>
              </a:rPr>
              <a:t>, vehículos, mobiliario y equipos en general.</a:t>
            </a:r>
            <a:endParaRPr lang="es-BO" sz="2800" dirty="0" smtClean="0">
              <a:solidFill>
                <a:srgbClr val="002060"/>
              </a:solidFill>
            </a:endParaRPr>
          </a:p>
        </p:txBody>
      </p:sp>
    </p:spTree>
    <p:extLst>
      <p:ext uri="{BB962C8B-B14F-4D97-AF65-F5344CB8AC3E}">
        <p14:creationId xmlns:p14="http://schemas.microsoft.com/office/powerpoint/2010/main" val="2672376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10956517" cy="523220"/>
          </a:xfrm>
          <a:prstGeom prst="rect">
            <a:avLst/>
          </a:prstGeom>
        </p:spPr>
        <p:txBody>
          <a:bodyPr wrap="square">
            <a:spAutoFit/>
          </a:bodyPr>
          <a:lstStyle/>
          <a:p>
            <a:r>
              <a:rPr lang="es-BO" sz="2800" dirty="0" smtClean="0">
                <a:solidFill>
                  <a:srgbClr val="FF0000"/>
                </a:solidFill>
              </a:rPr>
              <a:t>7.6 Inversiones </a:t>
            </a:r>
            <a:r>
              <a:rPr lang="es-BO" sz="2800" dirty="0">
                <a:solidFill>
                  <a:srgbClr val="FF0000"/>
                </a:solidFill>
              </a:rPr>
              <a:t>en </a:t>
            </a:r>
            <a:r>
              <a:rPr lang="es-BO" sz="2800" dirty="0" smtClean="0">
                <a:solidFill>
                  <a:srgbClr val="FF0000"/>
                </a:solidFill>
              </a:rPr>
              <a:t>equipamiento.</a:t>
            </a:r>
            <a:endParaRPr lang="es-BO" sz="2800" dirty="0">
              <a:solidFill>
                <a:srgbClr val="FF0000"/>
              </a:solidFill>
            </a:endParaRPr>
          </a:p>
        </p:txBody>
      </p:sp>
      <p:sp>
        <p:nvSpPr>
          <p:cNvPr id="7" name="CuadroTexto 6"/>
          <p:cNvSpPr txBox="1"/>
          <p:nvPr/>
        </p:nvSpPr>
        <p:spPr>
          <a:xfrm>
            <a:off x="312118" y="1606750"/>
            <a:ext cx="10956517" cy="1815882"/>
          </a:xfrm>
          <a:prstGeom prst="rect">
            <a:avLst/>
          </a:prstGeom>
          <a:noFill/>
        </p:spPr>
        <p:txBody>
          <a:bodyPr wrap="square" rtlCol="0">
            <a:spAutoFit/>
          </a:bodyPr>
          <a:lstStyle/>
          <a:p>
            <a:r>
              <a:rPr lang="es-BO" sz="2800" dirty="0">
                <a:solidFill>
                  <a:srgbClr val="002060"/>
                </a:solidFill>
              </a:rPr>
              <a:t>Por inversión en equipamiento se entenderán todas </a:t>
            </a:r>
            <a:r>
              <a:rPr lang="es-BO" sz="2800" dirty="0" smtClean="0">
                <a:solidFill>
                  <a:srgbClr val="002060"/>
                </a:solidFill>
              </a:rPr>
              <a:t>las inversiones </a:t>
            </a:r>
            <a:r>
              <a:rPr lang="es-BO" sz="2800" dirty="0">
                <a:solidFill>
                  <a:srgbClr val="002060"/>
                </a:solidFill>
              </a:rPr>
              <a:t>que permitan </a:t>
            </a:r>
            <a:r>
              <a:rPr lang="es-BO" sz="2800" dirty="0" smtClean="0">
                <a:solidFill>
                  <a:srgbClr val="002060"/>
                </a:solidFill>
              </a:rPr>
              <a:t>la operación </a:t>
            </a:r>
            <a:r>
              <a:rPr lang="es-BO" sz="2800" dirty="0">
                <a:solidFill>
                  <a:srgbClr val="002060"/>
                </a:solidFill>
              </a:rPr>
              <a:t>normal de la planta </a:t>
            </a:r>
            <a:r>
              <a:rPr lang="es-BO" sz="2800" dirty="0" smtClean="0">
                <a:solidFill>
                  <a:srgbClr val="002060"/>
                </a:solidFill>
              </a:rPr>
              <a:t>de la </a:t>
            </a:r>
            <a:r>
              <a:rPr lang="es-BO" sz="2800" dirty="0">
                <a:solidFill>
                  <a:srgbClr val="002060"/>
                </a:solidFill>
              </a:rPr>
              <a:t>empresa creada por el proyecto, por </a:t>
            </a:r>
            <a:r>
              <a:rPr lang="es-BO" sz="2800" dirty="0" smtClean="0">
                <a:solidFill>
                  <a:srgbClr val="002060"/>
                </a:solidFill>
              </a:rPr>
              <a:t>ejemplo, maquinaria, herramientas</a:t>
            </a:r>
            <a:r>
              <a:rPr lang="es-BO" sz="2800" dirty="0">
                <a:solidFill>
                  <a:srgbClr val="002060"/>
                </a:solidFill>
              </a:rPr>
              <a:t>, vehículos, mobiliario y equipos en general.</a:t>
            </a:r>
            <a:endParaRPr lang="es-BO" sz="2800" dirty="0" smtClean="0">
              <a:solidFill>
                <a:srgbClr val="002060"/>
              </a:solidFill>
            </a:endParaRPr>
          </a:p>
        </p:txBody>
      </p:sp>
      <p:pic>
        <p:nvPicPr>
          <p:cNvPr id="2" name="Imagen 1"/>
          <p:cNvPicPr>
            <a:picLocks noChangeAspect="1"/>
          </p:cNvPicPr>
          <p:nvPr/>
        </p:nvPicPr>
        <p:blipFill>
          <a:blip r:embed="rId2"/>
          <a:stretch>
            <a:fillRect/>
          </a:stretch>
        </p:blipFill>
        <p:spPr>
          <a:xfrm>
            <a:off x="2431116" y="3578318"/>
            <a:ext cx="7479366" cy="2822140"/>
          </a:xfrm>
          <a:prstGeom prst="rect">
            <a:avLst/>
          </a:prstGeom>
        </p:spPr>
      </p:pic>
    </p:spTree>
    <p:extLst>
      <p:ext uri="{BB962C8B-B14F-4D97-AF65-F5344CB8AC3E}">
        <p14:creationId xmlns:p14="http://schemas.microsoft.com/office/powerpoint/2010/main" val="1664207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10956517" cy="523220"/>
          </a:xfrm>
          <a:prstGeom prst="rect">
            <a:avLst/>
          </a:prstGeom>
        </p:spPr>
        <p:txBody>
          <a:bodyPr wrap="square">
            <a:spAutoFit/>
          </a:bodyPr>
          <a:lstStyle/>
          <a:p>
            <a:r>
              <a:rPr lang="es-BO" sz="2800" dirty="0">
                <a:solidFill>
                  <a:srgbClr val="FF0000"/>
                </a:solidFill>
              </a:rPr>
              <a:t>7.7 </a:t>
            </a:r>
            <a:r>
              <a:rPr lang="es-BO" sz="2800" dirty="0" smtClean="0">
                <a:solidFill>
                  <a:srgbClr val="FF0000"/>
                </a:solidFill>
              </a:rPr>
              <a:t>Valoración </a:t>
            </a:r>
            <a:r>
              <a:rPr lang="es-BO" sz="2800" dirty="0">
                <a:solidFill>
                  <a:srgbClr val="FF0000"/>
                </a:solidFill>
              </a:rPr>
              <a:t>de las inversiones en obras físicas</a:t>
            </a:r>
          </a:p>
        </p:txBody>
      </p:sp>
      <p:sp>
        <p:nvSpPr>
          <p:cNvPr id="7" name="CuadroTexto 6"/>
          <p:cNvSpPr txBox="1"/>
          <p:nvPr/>
        </p:nvSpPr>
        <p:spPr>
          <a:xfrm>
            <a:off x="312118" y="1606750"/>
            <a:ext cx="10956517" cy="1815882"/>
          </a:xfrm>
          <a:prstGeom prst="rect">
            <a:avLst/>
          </a:prstGeom>
          <a:noFill/>
        </p:spPr>
        <p:txBody>
          <a:bodyPr wrap="square" rtlCol="0">
            <a:spAutoFit/>
          </a:bodyPr>
          <a:lstStyle/>
          <a:p>
            <a:r>
              <a:rPr lang="es-BO" sz="2800" dirty="0" smtClean="0">
                <a:solidFill>
                  <a:srgbClr val="002060"/>
                </a:solidFill>
              </a:rPr>
              <a:t>En </a:t>
            </a:r>
            <a:r>
              <a:rPr lang="es-BO" sz="2800" dirty="0">
                <a:solidFill>
                  <a:srgbClr val="002060"/>
                </a:solidFill>
              </a:rPr>
              <a:t>relación con la obra física, las inversiones incluyen desde la construcción o remodelación de edificios, oficinas o salas de venta, hasta la construcción de caminos, cercos </a:t>
            </a:r>
            <a:r>
              <a:rPr lang="es-BO" sz="2800" dirty="0" smtClean="0">
                <a:solidFill>
                  <a:srgbClr val="002060"/>
                </a:solidFill>
              </a:rPr>
              <a:t>o estacionamientos</a:t>
            </a:r>
            <a:r>
              <a:rPr lang="es-BO" sz="2800" dirty="0">
                <a:solidFill>
                  <a:srgbClr val="002060"/>
                </a:solidFill>
              </a:rPr>
              <a:t>.</a:t>
            </a:r>
            <a:endParaRPr lang="es-BO" sz="2800" dirty="0" smtClean="0">
              <a:solidFill>
                <a:srgbClr val="002060"/>
              </a:solidFill>
            </a:endParaRPr>
          </a:p>
        </p:txBody>
      </p:sp>
      <p:pic>
        <p:nvPicPr>
          <p:cNvPr id="3" name="Imagen 2"/>
          <p:cNvPicPr>
            <a:picLocks noChangeAspect="1"/>
          </p:cNvPicPr>
          <p:nvPr/>
        </p:nvPicPr>
        <p:blipFill>
          <a:blip r:embed="rId2"/>
          <a:stretch>
            <a:fillRect/>
          </a:stretch>
        </p:blipFill>
        <p:spPr>
          <a:xfrm>
            <a:off x="1962709" y="3547297"/>
            <a:ext cx="8567403" cy="2557668"/>
          </a:xfrm>
          <a:prstGeom prst="rect">
            <a:avLst/>
          </a:prstGeom>
        </p:spPr>
      </p:pic>
    </p:spTree>
    <p:extLst>
      <p:ext uri="{BB962C8B-B14F-4D97-AF65-F5344CB8AC3E}">
        <p14:creationId xmlns:p14="http://schemas.microsoft.com/office/powerpoint/2010/main" val="2500119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10956517" cy="523220"/>
          </a:xfrm>
          <a:prstGeom prst="rect">
            <a:avLst/>
          </a:prstGeom>
        </p:spPr>
        <p:txBody>
          <a:bodyPr wrap="square">
            <a:spAutoFit/>
          </a:bodyPr>
          <a:lstStyle/>
          <a:p>
            <a:r>
              <a:rPr lang="es-BO" sz="2800" dirty="0" smtClean="0">
                <a:solidFill>
                  <a:srgbClr val="FF0000"/>
                </a:solidFill>
              </a:rPr>
              <a:t>7.8 Balance </a:t>
            </a:r>
            <a:r>
              <a:rPr lang="es-BO" sz="2800" dirty="0">
                <a:solidFill>
                  <a:srgbClr val="FF0000"/>
                </a:solidFill>
              </a:rPr>
              <a:t>de personal</a:t>
            </a:r>
          </a:p>
        </p:txBody>
      </p:sp>
      <p:sp>
        <p:nvSpPr>
          <p:cNvPr id="7" name="CuadroTexto 6"/>
          <p:cNvSpPr txBox="1"/>
          <p:nvPr/>
        </p:nvSpPr>
        <p:spPr>
          <a:xfrm>
            <a:off x="540718" y="1903800"/>
            <a:ext cx="10956517" cy="3108543"/>
          </a:xfrm>
          <a:prstGeom prst="rect">
            <a:avLst/>
          </a:prstGeom>
          <a:noFill/>
        </p:spPr>
        <p:txBody>
          <a:bodyPr wrap="square" rtlCol="0">
            <a:spAutoFit/>
          </a:bodyPr>
          <a:lstStyle/>
          <a:p>
            <a:r>
              <a:rPr lang="es-BO" sz="2800" dirty="0">
                <a:solidFill>
                  <a:srgbClr val="002060"/>
                </a:solidFill>
              </a:rPr>
              <a:t>El costo de mano de obra constituye uno de los principales ítems de los costos de operación de un proyecto. La importancia relativa que tenga dentro de éstos dependerá, entre otros aspectos, del grado de automatización del proceso productivo, de la especialización del personal requerido, de la situación del mercado laboral, de las leyes laborales, del número de turnos requeridos, etcétera.</a:t>
            </a:r>
            <a:endParaRPr lang="es-BO" sz="2800" dirty="0" smtClean="0">
              <a:solidFill>
                <a:srgbClr val="002060"/>
              </a:solidFill>
            </a:endParaRPr>
          </a:p>
        </p:txBody>
      </p:sp>
    </p:spTree>
    <p:extLst>
      <p:ext uri="{BB962C8B-B14F-4D97-AF65-F5344CB8AC3E}">
        <p14:creationId xmlns:p14="http://schemas.microsoft.com/office/powerpoint/2010/main" val="1699043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75764" y="201705"/>
            <a:ext cx="10569388" cy="584775"/>
          </a:xfrm>
          <a:prstGeom prst="rect">
            <a:avLst/>
          </a:prstGeom>
          <a:noFill/>
        </p:spPr>
        <p:txBody>
          <a:bodyPr wrap="square" rtlCol="0">
            <a:spAutoFit/>
          </a:bodyPr>
          <a:lstStyle/>
          <a:p>
            <a:r>
              <a:rPr lang="es-BO" sz="3200" dirty="0" smtClean="0">
                <a:solidFill>
                  <a:srgbClr val="FF0000"/>
                </a:solidFill>
              </a:rPr>
              <a:t>7 ANTEDENTES ECONOMICOS DEL ESTUDIO TECNICO </a:t>
            </a:r>
            <a:endParaRPr lang="es-BO" sz="3200" dirty="0">
              <a:solidFill>
                <a:srgbClr val="FF0000"/>
              </a:solidFill>
            </a:endParaRPr>
          </a:p>
        </p:txBody>
      </p:sp>
      <p:sp>
        <p:nvSpPr>
          <p:cNvPr id="6" name="Rectángulo 5"/>
          <p:cNvSpPr/>
          <p:nvPr/>
        </p:nvSpPr>
        <p:spPr>
          <a:xfrm>
            <a:off x="177648" y="1083530"/>
            <a:ext cx="10956517" cy="523220"/>
          </a:xfrm>
          <a:prstGeom prst="rect">
            <a:avLst/>
          </a:prstGeom>
        </p:spPr>
        <p:txBody>
          <a:bodyPr wrap="square">
            <a:spAutoFit/>
          </a:bodyPr>
          <a:lstStyle/>
          <a:p>
            <a:r>
              <a:rPr lang="es-BO" sz="2800" dirty="0" smtClean="0">
                <a:solidFill>
                  <a:srgbClr val="FF0000"/>
                </a:solidFill>
              </a:rPr>
              <a:t>7.8 Balance </a:t>
            </a:r>
            <a:r>
              <a:rPr lang="es-BO" sz="2800" dirty="0">
                <a:solidFill>
                  <a:srgbClr val="FF0000"/>
                </a:solidFill>
              </a:rPr>
              <a:t>de personal</a:t>
            </a:r>
          </a:p>
        </p:txBody>
      </p:sp>
      <p:sp>
        <p:nvSpPr>
          <p:cNvPr id="7" name="CuadroTexto 6"/>
          <p:cNvSpPr txBox="1"/>
          <p:nvPr/>
        </p:nvSpPr>
        <p:spPr>
          <a:xfrm>
            <a:off x="453295" y="1606750"/>
            <a:ext cx="10956517" cy="1815882"/>
          </a:xfrm>
          <a:prstGeom prst="rect">
            <a:avLst/>
          </a:prstGeom>
          <a:noFill/>
        </p:spPr>
        <p:txBody>
          <a:bodyPr wrap="square" rtlCol="0">
            <a:spAutoFit/>
          </a:bodyPr>
          <a:lstStyle/>
          <a:p>
            <a:r>
              <a:rPr lang="es-BO" sz="2800" dirty="0">
                <a:solidFill>
                  <a:srgbClr val="002060"/>
                </a:solidFill>
              </a:rPr>
              <a:t>El estudio del proyecto requiere la identificación y cuantificación del personal que se necesitará en la operación para determinar el costo de remuneraciones por periodo.</a:t>
            </a:r>
            <a:endParaRPr lang="es-BO" sz="2800" dirty="0" smtClean="0">
              <a:solidFill>
                <a:srgbClr val="002060"/>
              </a:solidFill>
            </a:endParaRPr>
          </a:p>
        </p:txBody>
      </p:sp>
      <p:pic>
        <p:nvPicPr>
          <p:cNvPr id="2" name="Imagen 1"/>
          <p:cNvPicPr>
            <a:picLocks noChangeAspect="1"/>
          </p:cNvPicPr>
          <p:nvPr/>
        </p:nvPicPr>
        <p:blipFill>
          <a:blip r:embed="rId2"/>
          <a:stretch>
            <a:fillRect/>
          </a:stretch>
        </p:blipFill>
        <p:spPr>
          <a:xfrm>
            <a:off x="2528047" y="3038194"/>
            <a:ext cx="6387354" cy="3543669"/>
          </a:xfrm>
          <a:prstGeom prst="rect">
            <a:avLst/>
          </a:prstGeom>
        </p:spPr>
      </p:pic>
    </p:spTree>
    <p:extLst>
      <p:ext uri="{BB962C8B-B14F-4D97-AF65-F5344CB8AC3E}">
        <p14:creationId xmlns:p14="http://schemas.microsoft.com/office/powerpoint/2010/main" val="19483687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5714999" y="2998693"/>
            <a:ext cx="779931" cy="584775"/>
          </a:xfrm>
          <a:prstGeom prst="rect">
            <a:avLst/>
          </a:prstGeom>
          <a:noFill/>
        </p:spPr>
        <p:txBody>
          <a:bodyPr wrap="square" rtlCol="0">
            <a:spAutoFit/>
          </a:bodyPr>
          <a:lstStyle/>
          <a:p>
            <a:r>
              <a:rPr lang="es-BO" sz="3200" dirty="0" smtClean="0"/>
              <a:t>FIN</a:t>
            </a:r>
            <a:endParaRPr lang="es-BO" sz="3200" dirty="0"/>
          </a:p>
        </p:txBody>
      </p:sp>
    </p:spTree>
    <p:extLst>
      <p:ext uri="{BB962C8B-B14F-4D97-AF65-F5344CB8AC3E}">
        <p14:creationId xmlns:p14="http://schemas.microsoft.com/office/powerpoint/2010/main" val="37863923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Anaranjado">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345</TotalTime>
  <Words>1652</Words>
  <Application>Microsoft Office PowerPoint</Application>
  <PresentationFormat>Panorámica</PresentationFormat>
  <Paragraphs>155</Paragraphs>
  <Slides>34</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34</vt:i4>
      </vt:variant>
    </vt:vector>
  </HeadingPairs>
  <TitlesOfParts>
    <vt:vector size="40" baseType="lpstr">
      <vt:lpstr>Arial</vt:lpstr>
      <vt:lpstr>Cambria Math</vt:lpstr>
      <vt:lpstr>Century Gothic</vt:lpstr>
      <vt:lpstr>Maiandra GD</vt:lpstr>
      <vt:lpstr>Wingdings 3</vt:lpstr>
      <vt:lpstr>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Consultores Academia</dc:creator>
  <cp:lastModifiedBy>Consultores Academia</cp:lastModifiedBy>
  <cp:revision>39</cp:revision>
  <dcterms:created xsi:type="dcterms:W3CDTF">2021-10-19T12:01:24Z</dcterms:created>
  <dcterms:modified xsi:type="dcterms:W3CDTF">2021-10-25T02:20:54Z</dcterms:modified>
</cp:coreProperties>
</file>