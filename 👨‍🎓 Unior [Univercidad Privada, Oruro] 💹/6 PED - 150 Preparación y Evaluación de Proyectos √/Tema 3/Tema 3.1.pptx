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slides/_rels/slide21.xml.rels" ContentType="application/vnd.openxmlformats-package.relationships+xml"/>
  <Override PartName="/ppt/slides/_rels/slide20.xml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22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slide22.xml" ContentType="application/vnd.openxmlformats-officedocument.presentationml.slide+xml"/>
  <Override PartName="/ppt/slides/slide7.xml" ContentType="application/vnd.openxmlformats-officedocument.presentationml.slide+xml"/>
  <Override PartName="/ppt/slides/slide21.xml" ContentType="application/vnd.openxmlformats-officedocument.presentationml.slide+xml"/>
  <Override PartName="/ppt/slides/slide6.xml" ContentType="application/vnd.openxmlformats-officedocument.presentationml.slide+xml"/>
  <Override PartName="/ppt/slides/slide20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_rels/presentation.xml.rels" ContentType="application/vnd.openxmlformats-package.relationships+xml"/>
  <Override PartName="/ppt/media/image25.png" ContentType="image/png"/>
  <Override PartName="/ppt/media/image24.png" ContentType="image/png"/>
  <Override PartName="/ppt/media/image9.png" ContentType="image/png"/>
  <Override PartName="/ppt/media/image10.png" ContentType="image/png"/>
  <Override PartName="/ppt/media/image23.png" ContentType="image/png"/>
  <Override PartName="/ppt/media/image8.png" ContentType="image/png"/>
  <Override PartName="/ppt/media/image1.png" ContentType="image/png"/>
  <Override PartName="/ppt/media/image6.png" ContentType="image/png"/>
  <Override PartName="/ppt/media/image21.png" ContentType="image/png"/>
  <Override PartName="/ppt/media/image2.png" ContentType="image/png"/>
  <Override PartName="/ppt/media/image7.png" ContentType="image/png"/>
  <Override PartName="/ppt/media/image22.png" ContentType="image/png"/>
  <Override PartName="/ppt/media/image3.png" ContentType="image/png"/>
  <Override PartName="/ppt/media/image4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5.png" ContentType="image/png"/>
  <Override PartName="/ppt/media/image20.png" ContentType="image/png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2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del texto de título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 esquema del texto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Segundo nivel del esquema</a:t>
            </a:r>
            <a:endParaRPr b="0" lang="es-BO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Tercer nivel del esquema</a:t>
            </a:r>
            <a:endParaRPr b="0" lang="es-BO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Cuarto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Quinto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Sexto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Séptimo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&lt;fecha/hora&gt;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lIns="0" rIns="0" tIns="0" bIns="0"/>
          <a:p>
            <a:pPr algn="ctr"/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&lt;pie de página&gt;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pPr algn="r"/>
            <a:fld id="{ABB58AFA-9291-4336-9A43-BEACD5BF3A12}" type="slidenum"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&lt;número&gt;</a:t>
            </a:fld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" name="TextShape 2"/>
          <p:cNvSpPr txBox="1"/>
          <p:nvPr/>
        </p:nvSpPr>
        <p:spPr>
          <a:xfrm>
            <a:off x="504000" y="1769040"/>
            <a:ext cx="9071640" cy="543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Mercado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Lugar donde compradores y vendedores se encuentran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2376000" y="2520000"/>
            <a:ext cx="5336280" cy="40168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TextShape 2"/>
          <p:cNvSpPr txBox="1"/>
          <p:nvPr/>
        </p:nvSpPr>
        <p:spPr>
          <a:xfrm>
            <a:off x="504000" y="1769040"/>
            <a:ext cx="9071640" cy="543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del mercado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¿Que producir?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1944000" y="2448000"/>
            <a:ext cx="6121440" cy="4176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6" name="TextShape 2"/>
          <p:cNvSpPr txBox="1"/>
          <p:nvPr/>
        </p:nvSpPr>
        <p:spPr>
          <a:xfrm>
            <a:off x="504000" y="1769040"/>
            <a:ext cx="9071640" cy="543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del mercado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¿Como producir?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2952000" y="2448000"/>
            <a:ext cx="3906000" cy="4176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TextShape 2"/>
          <p:cNvSpPr txBox="1"/>
          <p:nvPr/>
        </p:nvSpPr>
        <p:spPr>
          <a:xfrm>
            <a:off x="504000" y="1769040"/>
            <a:ext cx="9071640" cy="543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del mercado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¿Cuanto producir?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0" name="" descr=""/>
          <p:cNvPicPr/>
          <p:nvPr/>
        </p:nvPicPr>
        <p:blipFill>
          <a:blip r:embed="rId1"/>
          <a:stretch/>
        </p:blipFill>
        <p:spPr>
          <a:xfrm>
            <a:off x="2931120" y="2520000"/>
            <a:ext cx="4723200" cy="3960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TextShape 2"/>
          <p:cNvSpPr txBox="1"/>
          <p:nvPr/>
        </p:nvSpPr>
        <p:spPr>
          <a:xfrm>
            <a:off x="504000" y="1769040"/>
            <a:ext cx="9071640" cy="543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del mercado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Economía liberal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2520000" y="2448000"/>
            <a:ext cx="5164200" cy="4248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5" name="TextShape 2"/>
          <p:cNvSpPr txBox="1"/>
          <p:nvPr/>
        </p:nvSpPr>
        <p:spPr>
          <a:xfrm>
            <a:off x="504000" y="1769040"/>
            <a:ext cx="9071640" cy="543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del mercado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Economía central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3168000" y="2448000"/>
            <a:ext cx="3816000" cy="41166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TextShape 2"/>
          <p:cNvSpPr txBox="1"/>
          <p:nvPr/>
        </p:nvSpPr>
        <p:spPr>
          <a:xfrm>
            <a:off x="504000" y="1721880"/>
            <a:ext cx="9071640" cy="5525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Demanda de un producto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Demanda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numero de unidades de un  determinado producto o servicio que los consumidores están dispuestos a adquirir durante un determinado tiempo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872000" y="2880000"/>
            <a:ext cx="6708960" cy="3312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3" dur="indefinite" restart="never" nodeType="tmRoot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1" name="TextShape 2"/>
          <p:cNvSpPr txBox="1"/>
          <p:nvPr/>
        </p:nvSpPr>
        <p:spPr>
          <a:xfrm>
            <a:off x="504000" y="1769040"/>
            <a:ext cx="9071640" cy="543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Demanda de un producto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La teoría de la demanda intenta explicar el comportamiento de los consumidores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2664000" y="2472480"/>
            <a:ext cx="5254560" cy="39355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5" dur="indefinite" restart="never" nodeType="tmRoot">
          <p:childTnLst>
            <p:seq>
              <p:cTn id="1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4" name="TextShape 2"/>
          <p:cNvSpPr txBox="1"/>
          <p:nvPr/>
        </p:nvSpPr>
        <p:spPr>
          <a:xfrm>
            <a:off x="504000" y="1769040"/>
            <a:ext cx="9071640" cy="543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Demanda de un producto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 a: Estructura de preferencias o gustos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2664000" y="2467080"/>
            <a:ext cx="5378400" cy="37249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7" dur="indefinite" restart="never" nodeType="tmRoot">
          <p:childTnLst>
            <p:seq>
              <p:cTn id="1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7" name="TextShape 2"/>
          <p:cNvSpPr txBox="1"/>
          <p:nvPr/>
        </p:nvSpPr>
        <p:spPr>
          <a:xfrm>
            <a:off x="504000" y="1769040"/>
            <a:ext cx="9071640" cy="543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Demanda de un producto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 b: Nivel de ingresos o riquezas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8" name="" descr=""/>
          <p:cNvPicPr/>
          <p:nvPr/>
        </p:nvPicPr>
        <p:blipFill>
          <a:blip r:embed="rId1"/>
          <a:stretch/>
        </p:blipFill>
        <p:spPr>
          <a:xfrm>
            <a:off x="2376000" y="2477880"/>
            <a:ext cx="5068080" cy="40741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9" dur="indefinite" restart="never" nodeType="tmRoot">
          <p:childTnLst>
            <p:seq>
              <p:cTn id="2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0" name="TextShape 2"/>
          <p:cNvSpPr txBox="1"/>
          <p:nvPr/>
        </p:nvSpPr>
        <p:spPr>
          <a:xfrm>
            <a:off x="504000" y="1769040"/>
            <a:ext cx="9071640" cy="543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Demanda de un producto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 c: Precio de los artículos relacionados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3168000" y="2537280"/>
            <a:ext cx="3942720" cy="39427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1" dur="indefinite" restart="never" nodeType="tmRoot">
          <p:childTnLst>
            <p:seq>
              <p:cTn id="2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3" name="TextShape 2"/>
          <p:cNvSpPr txBox="1"/>
          <p:nvPr/>
        </p:nvSpPr>
        <p:spPr>
          <a:xfrm>
            <a:off x="504000" y="1769040"/>
            <a:ext cx="9071640" cy="543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Demanda de un producto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Tomar en cuenta : La relación funcional entre precio y cantidad demandada es inversa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1872000" y="2664000"/>
            <a:ext cx="6912720" cy="3600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3" dur="indefinite" restart="never" nodeType="tmRoot">
          <p:childTnLst>
            <p:seq>
              <p:cTn id="2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6" name="TextShape 2"/>
          <p:cNvSpPr txBox="1"/>
          <p:nvPr/>
        </p:nvSpPr>
        <p:spPr>
          <a:xfrm>
            <a:off x="504000" y="1721880"/>
            <a:ext cx="9071640" cy="5525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Demanda de un producto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Tomar en cuenta : El cambio de los gustos de los consumidores producirá un desplazamiento de la curva de demanda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7" name="" descr=""/>
          <p:cNvPicPr/>
          <p:nvPr/>
        </p:nvPicPr>
        <p:blipFill>
          <a:blip r:embed="rId1"/>
          <a:stretch/>
        </p:blipFill>
        <p:spPr>
          <a:xfrm>
            <a:off x="2232000" y="2520000"/>
            <a:ext cx="6154200" cy="3600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5" dur="indefinite" restart="never" nodeType="tmRoot">
          <p:childTnLst>
            <p:seq>
              <p:cTn id="2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9" name="TextShape 2"/>
          <p:cNvSpPr txBox="1"/>
          <p:nvPr/>
        </p:nvSpPr>
        <p:spPr>
          <a:xfrm>
            <a:off x="504000" y="1769040"/>
            <a:ext cx="9071640" cy="543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Demanda de un producto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Tomar en cuenta : Existen bienes que se caracterizan por tener una demanda pasajera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2969280" y="2376000"/>
            <a:ext cx="4176000" cy="4176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7" dur="indefinite" restart="never" nodeType="tmRoot">
          <p:childTnLst>
            <p:seq>
              <p:cTn id="2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2" name="TextShape 2"/>
          <p:cNvSpPr txBox="1"/>
          <p:nvPr/>
        </p:nvSpPr>
        <p:spPr>
          <a:xfrm>
            <a:off x="504000" y="1769040"/>
            <a:ext cx="9071640" cy="543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Demanda de un producto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Tomar en cuenta : Bienes sustitutos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2392200" y="2520000"/>
            <a:ext cx="5671800" cy="4248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9" dur="indefinite" restart="never" nodeType="tmRoot">
          <p:childTnLst>
            <p:seq>
              <p:cTn id="3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5" name="TextShape 2"/>
          <p:cNvSpPr txBox="1"/>
          <p:nvPr/>
        </p:nvSpPr>
        <p:spPr>
          <a:xfrm>
            <a:off x="504000" y="1769040"/>
            <a:ext cx="9071640" cy="543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Demanda de un producto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Tomar en cuenta : Bienes complementarios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2573280" y="2592000"/>
            <a:ext cx="5191200" cy="3888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1" dur="indefinite" restart="never" nodeType="tmRoot">
          <p:childTnLst>
            <p:seq>
              <p:cTn id="3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8" name="TextShape 2"/>
          <p:cNvSpPr txBox="1"/>
          <p:nvPr/>
        </p:nvSpPr>
        <p:spPr>
          <a:xfrm>
            <a:off x="504000" y="1769040"/>
            <a:ext cx="9071640" cy="543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Demanda de un producto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Tomar en cuenta : Bienes independientes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9" name="" descr=""/>
          <p:cNvPicPr/>
          <p:nvPr/>
        </p:nvPicPr>
        <p:blipFill>
          <a:blip r:embed="rId1"/>
          <a:stretch/>
        </p:blipFill>
        <p:spPr>
          <a:xfrm>
            <a:off x="1457280" y="2681280"/>
            <a:ext cx="2142720" cy="2142720"/>
          </a:xfrm>
          <a:prstGeom prst="rect">
            <a:avLst/>
          </a:prstGeom>
          <a:ln>
            <a:noFill/>
          </a:ln>
        </p:spPr>
      </p:pic>
      <p:pic>
        <p:nvPicPr>
          <p:cNvPr id="90" name="" descr=""/>
          <p:cNvPicPr/>
          <p:nvPr/>
        </p:nvPicPr>
        <p:blipFill>
          <a:blip r:embed="rId2"/>
          <a:stretch/>
        </p:blipFill>
        <p:spPr>
          <a:xfrm>
            <a:off x="5976360" y="2880000"/>
            <a:ext cx="3028680" cy="1514160"/>
          </a:xfrm>
          <a:prstGeom prst="rect">
            <a:avLst/>
          </a:prstGeom>
          <a:ln>
            <a:noFill/>
          </a:ln>
        </p:spPr>
      </p:pic>
      <p:pic>
        <p:nvPicPr>
          <p:cNvPr id="91" name="" descr=""/>
          <p:cNvPicPr/>
          <p:nvPr/>
        </p:nvPicPr>
        <p:blipFill>
          <a:blip r:embed="rId3"/>
          <a:stretch/>
        </p:blipFill>
        <p:spPr>
          <a:xfrm>
            <a:off x="3833280" y="4464000"/>
            <a:ext cx="2142720" cy="21427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3" dur="indefinite" restart="never" nodeType="tmRoot">
          <p:childTnLst>
            <p:seq>
              <p:cTn id="3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3" name="TextShape 2"/>
          <p:cNvSpPr txBox="1"/>
          <p:nvPr/>
        </p:nvSpPr>
        <p:spPr>
          <a:xfrm>
            <a:off x="504000" y="1769040"/>
            <a:ext cx="9071640" cy="543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Determinación de precios en los monopolios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Monopolio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Un productor que es único en su industria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3240000" y="2905920"/>
            <a:ext cx="3792600" cy="35020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5" dur="indefinite" restart="never" nodeType="tmRoot">
          <p:childTnLst>
            <p:seq>
              <p:cTn id="3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6" name="TextShape 2"/>
          <p:cNvSpPr txBox="1"/>
          <p:nvPr/>
        </p:nvSpPr>
        <p:spPr>
          <a:xfrm>
            <a:off x="504000" y="1769040"/>
            <a:ext cx="9071640" cy="543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Determinación de precios en los monopolios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 escoge el precio de forma unilateral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3041280" y="2376000"/>
            <a:ext cx="4248000" cy="4248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7" dur="indefinite" restart="never" nodeType="tmRoot">
          <p:childTnLst>
            <p:seq>
              <p:cTn id="3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9" name="TextShape 2"/>
          <p:cNvSpPr txBox="1"/>
          <p:nvPr/>
        </p:nvSpPr>
        <p:spPr>
          <a:xfrm>
            <a:off x="504000" y="1769040"/>
            <a:ext cx="9071640" cy="543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Determinación de precios en los monopolios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Oligopolio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Un pequeño gupo de grandes vendedores, son los únicos en un mercado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2592000" y="2988000"/>
            <a:ext cx="5469120" cy="3672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9" dur="indefinite" restart="never" nodeType="tmRoot">
          <p:childTnLst>
            <p:seq>
              <p:cTn id="4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2" name="TextShape 2"/>
          <p:cNvSpPr txBox="1"/>
          <p:nvPr/>
        </p:nvSpPr>
        <p:spPr>
          <a:xfrm>
            <a:off x="504000" y="1769040"/>
            <a:ext cx="9071640" cy="543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Determinación de precios en los monopolios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Los precios son dados en consenso de los participantes del oligopolio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1584000" y="2504160"/>
            <a:ext cx="7229520" cy="40478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41" dur="indefinite" restart="never" nodeType="tmRoot">
          <p:childTnLst>
            <p:seq>
              <p:cTn id="4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Estructura económica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5" name="TextShape 2"/>
          <p:cNvSpPr txBox="1"/>
          <p:nvPr/>
        </p:nvSpPr>
        <p:spPr>
          <a:xfrm>
            <a:off x="504000" y="1651680"/>
            <a:ext cx="9071640" cy="5666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6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Gracias</a:t>
            </a:r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Ing. Alvaro Rodrigo Lara Valdivia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43" dur="indefinite" restart="never" nodeType="tmRoot">
          <p:childTnLst>
            <p:seq>
              <p:cTn id="4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LibreOffice/5.2.7.2$Linux_X86_64 LibreOffice_project/20m0$Build-2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2020-09-29T15:03:55Z</dcterms:created>
  <dc:creator/>
  <dc:description/>
  <dc:language>es-BO</dc:language>
  <cp:lastModifiedBy/>
  <dcterms:modified xsi:type="dcterms:W3CDTF">2020-09-29T16:21:22Z</dcterms:modified>
  <cp:revision>1</cp:revision>
  <dc:subject/>
  <dc:title/>
</cp:coreProperties>
</file>