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4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1"/>
  </p:sldMasterIdLst>
  <p:sldIdLst>
    <p:sldId id="30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9182100" cy="6896100"/>
  <p:notesSz cx="9182100" cy="6896100"/>
  <p:defaultTextStyle>
    <a:defPPr>
      <a:defRPr lang="es-BO"/>
    </a:defPPr>
    <a:lvl1pPr marL="0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8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2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6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0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64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8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52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62661"/>
            <a:ext cx="3586758" cy="423343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90" y="-930"/>
            <a:ext cx="9184490" cy="6897030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20517" y="1740016"/>
            <a:ext cx="5672159" cy="1210997"/>
          </a:xfrm>
        </p:spPr>
        <p:txBody>
          <a:bodyPr bIns="9187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7329" y="2484653"/>
            <a:ext cx="6538261" cy="331088"/>
          </a:xfrm>
        </p:spPr>
        <p:txBody>
          <a:bodyPr tIns="9187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2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9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8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8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7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6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6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15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747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8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90" y="-930"/>
            <a:ext cx="9184490" cy="6897030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62661"/>
            <a:ext cx="3586758" cy="4233439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22813" y="1736331"/>
            <a:ext cx="5674538" cy="1214217"/>
          </a:xfrm>
        </p:spPr>
        <p:txBody>
          <a:bodyPr bIns="9187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869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21219" y="2482017"/>
            <a:ext cx="6537655" cy="331013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2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93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80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373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967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560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154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747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86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6389" y="1103376"/>
            <a:ext cx="3213735" cy="37330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9599" y="1103376"/>
            <a:ext cx="3213735" cy="37330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389" y="1103376"/>
            <a:ext cx="3213735" cy="551688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2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9349" indent="0">
              <a:buNone/>
              <a:defRPr sz="2000" b="1"/>
            </a:lvl2pPr>
            <a:lvl3pPr marL="918698" indent="0">
              <a:buNone/>
              <a:defRPr sz="1800" b="1"/>
            </a:lvl3pPr>
            <a:lvl4pPr marL="1378047" indent="0">
              <a:buNone/>
              <a:defRPr sz="1600" b="1"/>
            </a:lvl4pPr>
            <a:lvl5pPr marL="1837395" indent="0">
              <a:buNone/>
              <a:defRPr sz="1600" b="1"/>
            </a:lvl5pPr>
            <a:lvl6pPr marL="2296744" indent="0">
              <a:buNone/>
              <a:defRPr sz="1600" b="1"/>
            </a:lvl6pPr>
            <a:lvl7pPr marL="2756093" indent="0">
              <a:buNone/>
              <a:defRPr sz="1600" b="1"/>
            </a:lvl7pPr>
            <a:lvl8pPr marL="3215442" indent="0">
              <a:buNone/>
              <a:defRPr sz="1600" b="1"/>
            </a:lvl8pPr>
            <a:lvl9pPr marL="3674791" indent="0">
              <a:buNone/>
              <a:defRPr sz="1600" b="1"/>
            </a:lvl9pPr>
          </a:lstStyle>
          <a:p>
            <a:pPr marL="0" lvl="0" indent="0" algn="l" defTabSz="91869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563" y="1711303"/>
            <a:ext cx="3213735" cy="31262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9599" y="1103376"/>
            <a:ext cx="3213735" cy="551688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2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9349" indent="0">
              <a:buNone/>
              <a:defRPr sz="2000" b="1"/>
            </a:lvl2pPr>
            <a:lvl3pPr marL="918698" indent="0">
              <a:buNone/>
              <a:defRPr sz="1800" b="1"/>
            </a:lvl3pPr>
            <a:lvl4pPr marL="1378047" indent="0">
              <a:buNone/>
              <a:defRPr sz="1600" b="1"/>
            </a:lvl4pPr>
            <a:lvl5pPr marL="1837395" indent="0">
              <a:buNone/>
              <a:defRPr sz="1600" b="1"/>
            </a:lvl5pPr>
            <a:lvl6pPr marL="2296744" indent="0">
              <a:buNone/>
              <a:defRPr sz="1600" b="1"/>
            </a:lvl6pPr>
            <a:lvl7pPr marL="2756093" indent="0">
              <a:buNone/>
              <a:defRPr sz="1600" b="1"/>
            </a:lvl7pPr>
            <a:lvl8pPr marL="3215442" indent="0">
              <a:buNone/>
              <a:defRPr sz="1600" b="1"/>
            </a:lvl8pPr>
            <a:lvl9pPr marL="3674791" indent="0">
              <a:buNone/>
              <a:defRPr sz="1600" b="1"/>
            </a:lvl9pPr>
          </a:lstStyle>
          <a:p>
            <a:pPr marL="0" lvl="0" indent="0" algn="l" defTabSz="91869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9599" y="1711303"/>
            <a:ext cx="3213735" cy="31262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62661"/>
            <a:ext cx="3586758" cy="423343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0432" y="-430430"/>
            <a:ext cx="6896100" cy="7756965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marL="0" algn="ctr" defTabSz="918698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8201" y="1584860"/>
            <a:ext cx="5233797" cy="1095479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869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342" y="2633462"/>
            <a:ext cx="3823645" cy="33431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303362" y="2265904"/>
            <a:ext cx="5818905" cy="626777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9349" indent="0">
              <a:buNone/>
              <a:defRPr sz="1200"/>
            </a:lvl2pPr>
            <a:lvl3pPr marL="918698" indent="0">
              <a:buNone/>
              <a:defRPr sz="1000"/>
            </a:lvl3pPr>
            <a:lvl4pPr marL="1378047" indent="0">
              <a:buNone/>
              <a:defRPr sz="900"/>
            </a:lvl4pPr>
            <a:lvl5pPr marL="1837395" indent="0">
              <a:buNone/>
              <a:defRPr sz="900"/>
            </a:lvl5pPr>
            <a:lvl6pPr marL="2296744" indent="0">
              <a:buNone/>
              <a:defRPr sz="900"/>
            </a:lvl6pPr>
            <a:lvl7pPr marL="2756093" indent="0">
              <a:buNone/>
              <a:defRPr sz="900"/>
            </a:lvl7pPr>
            <a:lvl8pPr marL="3215442" indent="0">
              <a:buNone/>
              <a:defRPr sz="900"/>
            </a:lvl8pPr>
            <a:lvl9pPr marL="3674791" indent="0">
              <a:buNone/>
              <a:defRPr sz="900"/>
            </a:lvl9pPr>
          </a:lstStyle>
          <a:p>
            <a:pPr marL="0" marR="0" lvl="0" indent="0" algn="l" defTabSz="918698" rtl="0" eaLnBrk="1" fontAlgn="auto" latinLnBrk="0" hangingPunct="1">
              <a:lnSpc>
                <a:spcPct val="100000"/>
              </a:lnSpc>
              <a:spcBef>
                <a:spcPts val="301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37279" y="0"/>
            <a:ext cx="7144822" cy="68961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374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62661"/>
            <a:ext cx="3586758" cy="423343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76296"/>
            <a:ext cx="3586758" cy="1819804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3994" y="1727043"/>
            <a:ext cx="5509260" cy="872263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8244" y="2192643"/>
            <a:ext cx="6121947" cy="74477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9349" indent="0">
              <a:buNone/>
              <a:defRPr sz="1200"/>
            </a:lvl2pPr>
            <a:lvl3pPr marL="918698" indent="0">
              <a:buNone/>
              <a:defRPr sz="1000"/>
            </a:lvl3pPr>
            <a:lvl4pPr marL="1378047" indent="0">
              <a:buNone/>
              <a:defRPr sz="900"/>
            </a:lvl4pPr>
            <a:lvl5pPr marL="1837395" indent="0">
              <a:buNone/>
              <a:defRPr sz="900"/>
            </a:lvl5pPr>
            <a:lvl6pPr marL="2296744" indent="0">
              <a:buNone/>
              <a:defRPr sz="900"/>
            </a:lvl6pPr>
            <a:lvl7pPr marL="2756093" indent="0">
              <a:buNone/>
              <a:defRPr sz="900"/>
            </a:lvl7pPr>
            <a:lvl8pPr marL="3215442" indent="0">
              <a:buNone/>
              <a:defRPr sz="900"/>
            </a:lvl8pPr>
            <a:lvl9pPr marL="3674791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022" y="276165"/>
            <a:ext cx="2065973" cy="470435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9105" y="276165"/>
            <a:ext cx="6044883" cy="470435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9B17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2469" y="1264922"/>
            <a:ext cx="3402329" cy="649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9B17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2182" y="1264921"/>
            <a:ext cx="3698875" cy="6499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9B17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9B17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92" y="5078692"/>
            <a:ext cx="3589150" cy="1817409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90" y="5079355"/>
            <a:ext cx="9184490" cy="1816746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870" tIns="45935" rIns="91870" bIns="45935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6389" y="367792"/>
            <a:ext cx="7552277" cy="551688"/>
          </a:xfrm>
          <a:prstGeom prst="rect">
            <a:avLst/>
          </a:prstGeom>
        </p:spPr>
        <p:txBody>
          <a:bodyPr vert="horz" lIns="91870" tIns="45935" rIns="91870" bIns="45935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389" y="1106743"/>
            <a:ext cx="7552277" cy="3599737"/>
          </a:xfrm>
          <a:prstGeom prst="rect">
            <a:avLst/>
          </a:prstGeom>
        </p:spPr>
        <p:txBody>
          <a:bodyPr vert="horz" lIns="91870" tIns="45935" rIns="91870" bIns="45935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2006" y="5903061"/>
            <a:ext cx="2185340" cy="202286"/>
          </a:xfrm>
          <a:prstGeom prst="rect">
            <a:avLst/>
          </a:prstGeom>
        </p:spPr>
        <p:txBody>
          <a:bodyPr vert="horz" lIns="91870" tIns="45935" rIns="91870" bIns="45935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32170" y="6320039"/>
            <a:ext cx="4744085" cy="275844"/>
          </a:xfrm>
          <a:prstGeom prst="rect">
            <a:avLst/>
          </a:prstGeom>
        </p:spPr>
        <p:txBody>
          <a:bodyPr vert="horz" lIns="91870" tIns="45935" rIns="91870" bIns="45935" rtlCol="0" anchor="ctr"/>
          <a:lstStyle>
            <a:lvl1pPr algn="r">
              <a:defRPr sz="1000" cap="all" spc="201" baseline="0">
                <a:solidFill>
                  <a:srgbClr val="FFFFFF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6042" y="6205104"/>
            <a:ext cx="505016" cy="505714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87" tIns="9187" rIns="9187" bIns="9187" rtlCol="0" anchor="ctr">
            <a:normAutofit/>
          </a:bodyPr>
          <a:lstStyle>
            <a:lvl1pPr algn="ctr">
              <a:defRPr sz="17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txStyles>
    <p:titleStyle>
      <a:lvl1pPr algn="l" defTabSz="918698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4512" indent="-344512" algn="l" defTabSz="918698" rtl="0" eaLnBrk="1" latinLnBrk="0" hangingPunct="1">
        <a:spcBef>
          <a:spcPts val="804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4553" indent="-174553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4227" indent="-165366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3901" indent="-165366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3576" indent="-174553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437" indent="-174553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9673" indent="-165366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9347" indent="-165366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00647" indent="-165366" algn="l" defTabSz="918698" rtl="0" eaLnBrk="1" latinLnBrk="0" hangingPunct="1">
        <a:spcBef>
          <a:spcPts val="301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9349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8698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8047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7395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6744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56093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15442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74791" algn="l" defTabSz="91869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://penyaskitodice.wordpress.com/2007/10/08/findbug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sonar.codehaus.org/)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ptrinidad@us.es" TargetMode="External"/><Relationship Id="rId2" Type="http://schemas.openxmlformats.org/officeDocument/2006/relationships/hyperlink" Target="mailto:aruiz@us.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si.us.es/" TargetMode="External"/><Relationship Id="rId4" Type="http://schemas.openxmlformats.org/officeDocument/2006/relationships/hyperlink" Target="mailto:resinas@us.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5897" y="4286250"/>
            <a:ext cx="4876800" cy="369332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s-BO" b="1" dirty="0" smtClean="0"/>
              <a:t>                   ING. Leonardo Santos Rodríguez</a:t>
            </a:r>
            <a:endParaRPr lang="es-BO" b="1" dirty="0"/>
          </a:p>
        </p:txBody>
      </p:sp>
      <p:sp>
        <p:nvSpPr>
          <p:cNvPr id="5" name="4 CuadroTexto"/>
          <p:cNvSpPr txBox="1"/>
          <p:nvPr/>
        </p:nvSpPr>
        <p:spPr>
          <a:xfrm>
            <a:off x="1162050" y="1085850"/>
            <a:ext cx="685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6000" b="1" spc="-5" dirty="0"/>
              <a:t>Pruebas</a:t>
            </a:r>
            <a:r>
              <a:rPr lang="es-BO" sz="6000" b="1" spc="-45" dirty="0"/>
              <a:t> </a:t>
            </a:r>
            <a:r>
              <a:rPr lang="es-BO" sz="6000" b="1" spc="-5" dirty="0" smtClean="0"/>
              <a:t>de software</a:t>
            </a:r>
            <a:r>
              <a:rPr lang="es-BO" sz="6000" b="1" spc="-5" dirty="0"/>
              <a:t/>
            </a:r>
            <a:br>
              <a:rPr lang="es-BO" sz="6000" b="1" spc="-5" dirty="0"/>
            </a:br>
            <a:r>
              <a:rPr lang="es-BO" sz="6000" b="1" spc="-5" dirty="0"/>
              <a:t/>
            </a:r>
            <a:br>
              <a:rPr lang="es-BO" sz="6000" b="1" spc="-5" dirty="0"/>
            </a:br>
            <a:r>
              <a:rPr lang="es-BO" sz="6000" b="1" spc="-5" dirty="0" smtClean="0"/>
              <a:t>           </a:t>
            </a:r>
            <a:endParaRPr lang="es-BO" sz="6000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2000250"/>
            <a:ext cx="1504950" cy="214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0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233235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Objetivos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64921"/>
            <a:ext cx="7748905" cy="3008002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355556" marR="875558" indent="-342858">
              <a:lnSpc>
                <a:spcPct val="100699"/>
              </a:lnSpc>
              <a:spcBef>
                <a:spcPts val="8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Cu</a:t>
            </a:r>
            <a:r>
              <a:rPr sz="24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les son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alternativas para verificar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y 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validar software</a:t>
            </a:r>
            <a:endParaRPr sz="2400">
              <a:latin typeface="Verdana"/>
              <a:cs typeface="Verdana"/>
            </a:endParaRPr>
          </a:p>
          <a:p>
            <a:pPr marL="355556" indent="-342858">
              <a:spcBef>
                <a:spcPts val="82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Qu</a:t>
            </a:r>
            <a:r>
              <a:rPr sz="2400" dirty="0">
                <a:solidFill>
                  <a:srgbClr val="9B172C"/>
                </a:solidFill>
                <a:latin typeface="Arial"/>
                <a:cs typeface="Arial"/>
              </a:rPr>
              <a:t>é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son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pruebas de</a:t>
            </a:r>
            <a:r>
              <a:rPr sz="2400" spc="17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software</a:t>
            </a:r>
            <a:endParaRPr sz="2400">
              <a:latin typeface="Verdana"/>
              <a:cs typeface="Verdana"/>
            </a:endParaRPr>
          </a:p>
          <a:p>
            <a:pPr marL="355556" indent="-342858">
              <a:spcBef>
                <a:spcPts val="72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Conocer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la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utilidad de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unitarias</a:t>
            </a:r>
            <a:endParaRPr sz="2400">
              <a:latin typeface="Verdana"/>
              <a:cs typeface="Verdana"/>
            </a:endParaRPr>
          </a:p>
          <a:p>
            <a:pPr marL="355556" marR="254604" indent="-342858">
              <a:lnSpc>
                <a:spcPct val="100699"/>
              </a:lnSpc>
              <a:spcBef>
                <a:spcPts val="80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Conocimientos b</a:t>
            </a:r>
            <a:r>
              <a:rPr sz="24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sicos de c</a:t>
            </a:r>
            <a:r>
              <a:rPr sz="24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mo hacer pruebas  unitarias</a:t>
            </a:r>
            <a:endParaRPr sz="2400">
              <a:latin typeface="Verdana"/>
              <a:cs typeface="Verdana"/>
            </a:endParaRPr>
          </a:p>
          <a:p>
            <a:pPr marL="355556" indent="-342858">
              <a:spcBef>
                <a:spcPts val="82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Idea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b</a:t>
            </a:r>
            <a:r>
              <a:rPr sz="2400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sica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sobre desarrollo guiado por pruebas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15595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Ín</a:t>
            </a:r>
            <a:r>
              <a:rPr spc="-5" dirty="0"/>
              <a:t>di</a:t>
            </a:r>
            <a:r>
              <a:rPr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6203315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Conceptos fundamentales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 software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unitarias automatizadas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Desarrollo guiado por</a:t>
            </a: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Conclusiones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62966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Conceptos</a:t>
            </a:r>
            <a:r>
              <a:rPr spc="-20" dirty="0"/>
              <a:t> </a:t>
            </a:r>
            <a:r>
              <a:rPr spc="-5" dirty="0"/>
              <a:t>fundamentales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2399665" cy="10922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Verificaci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Validaci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1141" y="2525225"/>
            <a:ext cx="6352540" cy="4345940"/>
            <a:chOff x="2751141" y="2525224"/>
            <a:chExt cx="6352540" cy="4345940"/>
          </a:xfrm>
        </p:grpSpPr>
        <p:sp>
          <p:nvSpPr>
            <p:cNvPr id="3" name="object 3"/>
            <p:cNvSpPr/>
            <p:nvPr/>
          </p:nvSpPr>
          <p:spPr>
            <a:xfrm>
              <a:off x="2751141" y="2832101"/>
              <a:ext cx="3886200" cy="36782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75141" y="2527301"/>
              <a:ext cx="1200150" cy="571500"/>
            </a:xfrm>
            <a:custGeom>
              <a:avLst/>
              <a:gdLst/>
              <a:ahLst/>
              <a:cxnLst/>
              <a:rect l="l" t="t" r="r" b="b"/>
              <a:pathLst>
                <a:path w="1200150" h="571500">
                  <a:moveTo>
                    <a:pt x="533400" y="0"/>
                  </a:moveTo>
                  <a:lnTo>
                    <a:pt x="478860" y="1966"/>
                  </a:lnTo>
                  <a:lnTo>
                    <a:pt x="425897" y="7739"/>
                  </a:lnTo>
                  <a:lnTo>
                    <a:pt x="374778" y="17127"/>
                  </a:lnTo>
                  <a:lnTo>
                    <a:pt x="325771" y="29938"/>
                  </a:lnTo>
                  <a:lnTo>
                    <a:pt x="279144" y="45980"/>
                  </a:lnTo>
                  <a:lnTo>
                    <a:pt x="235165" y="65063"/>
                  </a:lnTo>
                  <a:lnTo>
                    <a:pt x="194102" y="86995"/>
                  </a:lnTo>
                  <a:lnTo>
                    <a:pt x="156224" y="111585"/>
                  </a:lnTo>
                  <a:lnTo>
                    <a:pt x="121798" y="138640"/>
                  </a:lnTo>
                  <a:lnTo>
                    <a:pt x="91092" y="167971"/>
                  </a:lnTo>
                  <a:lnTo>
                    <a:pt x="64375" y="199384"/>
                  </a:lnTo>
                  <a:lnTo>
                    <a:pt x="41915" y="232689"/>
                  </a:lnTo>
                  <a:lnTo>
                    <a:pt x="23979" y="267695"/>
                  </a:lnTo>
                  <a:lnTo>
                    <a:pt x="10836" y="304209"/>
                  </a:lnTo>
                  <a:lnTo>
                    <a:pt x="2753" y="342041"/>
                  </a:lnTo>
                  <a:lnTo>
                    <a:pt x="0" y="381000"/>
                  </a:lnTo>
                  <a:lnTo>
                    <a:pt x="266700" y="381000"/>
                  </a:lnTo>
                  <a:lnTo>
                    <a:pt x="272116" y="342601"/>
                  </a:lnTo>
                  <a:lnTo>
                    <a:pt x="287653" y="306839"/>
                  </a:lnTo>
                  <a:lnTo>
                    <a:pt x="312238" y="274479"/>
                  </a:lnTo>
                  <a:lnTo>
                    <a:pt x="344800" y="246287"/>
                  </a:lnTo>
                  <a:lnTo>
                    <a:pt x="384268" y="223028"/>
                  </a:lnTo>
                  <a:lnTo>
                    <a:pt x="429572" y="205467"/>
                  </a:lnTo>
                  <a:lnTo>
                    <a:pt x="479639" y="194369"/>
                  </a:lnTo>
                  <a:lnTo>
                    <a:pt x="533400" y="190500"/>
                  </a:lnTo>
                  <a:lnTo>
                    <a:pt x="587142" y="194369"/>
                  </a:lnTo>
                  <a:lnTo>
                    <a:pt x="637201" y="205467"/>
                  </a:lnTo>
                  <a:lnTo>
                    <a:pt x="682503" y="223028"/>
                  </a:lnTo>
                  <a:lnTo>
                    <a:pt x="721975" y="246287"/>
                  </a:lnTo>
                  <a:lnTo>
                    <a:pt x="754545" y="274479"/>
                  </a:lnTo>
                  <a:lnTo>
                    <a:pt x="779137" y="306839"/>
                  </a:lnTo>
                  <a:lnTo>
                    <a:pt x="794680" y="342601"/>
                  </a:lnTo>
                  <a:lnTo>
                    <a:pt x="800100" y="381000"/>
                  </a:lnTo>
                  <a:lnTo>
                    <a:pt x="666750" y="381000"/>
                  </a:lnTo>
                  <a:lnTo>
                    <a:pt x="933450" y="571500"/>
                  </a:lnTo>
                  <a:lnTo>
                    <a:pt x="1200150" y="381000"/>
                  </a:lnTo>
                  <a:lnTo>
                    <a:pt x="1066800" y="381000"/>
                  </a:lnTo>
                  <a:lnTo>
                    <a:pt x="1064037" y="342010"/>
                  </a:lnTo>
                  <a:lnTo>
                    <a:pt x="1055947" y="304184"/>
                  </a:lnTo>
                  <a:lnTo>
                    <a:pt x="1042797" y="267674"/>
                  </a:lnTo>
                  <a:lnTo>
                    <a:pt x="1024856" y="232673"/>
                  </a:lnTo>
                  <a:lnTo>
                    <a:pt x="1002391" y="199372"/>
                  </a:lnTo>
                  <a:lnTo>
                    <a:pt x="975671" y="167961"/>
                  </a:lnTo>
                  <a:lnTo>
                    <a:pt x="944964" y="138634"/>
                  </a:lnTo>
                  <a:lnTo>
                    <a:pt x="910537" y="111580"/>
                  </a:lnTo>
                  <a:lnTo>
                    <a:pt x="872659" y="86992"/>
                  </a:lnTo>
                  <a:lnTo>
                    <a:pt x="831599" y="65061"/>
                  </a:lnTo>
                  <a:lnTo>
                    <a:pt x="787623" y="45979"/>
                  </a:lnTo>
                  <a:lnTo>
                    <a:pt x="741000" y="29937"/>
                  </a:lnTo>
                  <a:lnTo>
                    <a:pt x="691998" y="17127"/>
                  </a:lnTo>
                  <a:lnTo>
                    <a:pt x="640885" y="7739"/>
                  </a:lnTo>
                  <a:lnTo>
                    <a:pt x="587930" y="1966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D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75140" y="2527302"/>
              <a:ext cx="1200150" cy="571500"/>
            </a:xfrm>
            <a:custGeom>
              <a:avLst/>
              <a:gdLst/>
              <a:ahLst/>
              <a:cxnLst/>
              <a:rect l="l" t="t" r="r" b="b"/>
              <a:pathLst>
                <a:path w="1200150" h="571500">
                  <a:moveTo>
                    <a:pt x="800100" y="381000"/>
                  </a:moveTo>
                  <a:lnTo>
                    <a:pt x="794681" y="342602"/>
                  </a:lnTo>
                  <a:lnTo>
                    <a:pt x="779139" y="306840"/>
                  </a:lnTo>
                  <a:lnTo>
                    <a:pt x="754548" y="274481"/>
                  </a:lnTo>
                  <a:lnTo>
                    <a:pt x="721980" y="246288"/>
                  </a:lnTo>
                  <a:lnTo>
                    <a:pt x="682508" y="223029"/>
                  </a:lnTo>
                  <a:lnTo>
                    <a:pt x="637205" y="205467"/>
                  </a:lnTo>
                  <a:lnTo>
                    <a:pt x="587145" y="194369"/>
                  </a:lnTo>
                  <a:lnTo>
                    <a:pt x="533400" y="190500"/>
                  </a:lnTo>
                  <a:lnTo>
                    <a:pt x="479640" y="194369"/>
                  </a:lnTo>
                  <a:lnTo>
                    <a:pt x="429573" y="205467"/>
                  </a:lnTo>
                  <a:lnTo>
                    <a:pt x="384270" y="223029"/>
                  </a:lnTo>
                  <a:lnTo>
                    <a:pt x="344801" y="246288"/>
                  </a:lnTo>
                  <a:lnTo>
                    <a:pt x="312238" y="274481"/>
                  </a:lnTo>
                  <a:lnTo>
                    <a:pt x="287653" y="306840"/>
                  </a:lnTo>
                  <a:lnTo>
                    <a:pt x="272117" y="342602"/>
                  </a:lnTo>
                  <a:lnTo>
                    <a:pt x="266700" y="381000"/>
                  </a:lnTo>
                  <a:lnTo>
                    <a:pt x="0" y="381000"/>
                  </a:lnTo>
                  <a:lnTo>
                    <a:pt x="2753" y="342043"/>
                  </a:lnTo>
                  <a:lnTo>
                    <a:pt x="10836" y="304212"/>
                  </a:lnTo>
                  <a:lnTo>
                    <a:pt x="23979" y="267698"/>
                  </a:lnTo>
                  <a:lnTo>
                    <a:pt x="41915" y="232693"/>
                  </a:lnTo>
                  <a:lnTo>
                    <a:pt x="64376" y="199388"/>
                  </a:lnTo>
                  <a:lnTo>
                    <a:pt x="91093" y="167975"/>
                  </a:lnTo>
                  <a:lnTo>
                    <a:pt x="121799" y="138644"/>
                  </a:lnTo>
                  <a:lnTo>
                    <a:pt x="156225" y="111588"/>
                  </a:lnTo>
                  <a:lnTo>
                    <a:pt x="194103" y="86998"/>
                  </a:lnTo>
                  <a:lnTo>
                    <a:pt x="235166" y="65066"/>
                  </a:lnTo>
                  <a:lnTo>
                    <a:pt x="279145" y="45982"/>
                  </a:lnTo>
                  <a:lnTo>
                    <a:pt x="325772" y="29939"/>
                  </a:lnTo>
                  <a:lnTo>
                    <a:pt x="374779" y="17128"/>
                  </a:lnTo>
                  <a:lnTo>
                    <a:pt x="425898" y="7740"/>
                  </a:lnTo>
                  <a:lnTo>
                    <a:pt x="478861" y="1966"/>
                  </a:lnTo>
                  <a:lnTo>
                    <a:pt x="533400" y="0"/>
                  </a:lnTo>
                  <a:lnTo>
                    <a:pt x="587932" y="1966"/>
                  </a:lnTo>
                  <a:lnTo>
                    <a:pt x="640888" y="7740"/>
                  </a:lnTo>
                  <a:lnTo>
                    <a:pt x="692002" y="17127"/>
                  </a:lnTo>
                  <a:lnTo>
                    <a:pt x="741004" y="29938"/>
                  </a:lnTo>
                  <a:lnTo>
                    <a:pt x="787627" y="45981"/>
                  </a:lnTo>
                  <a:lnTo>
                    <a:pt x="831603" y="65064"/>
                  </a:lnTo>
                  <a:lnTo>
                    <a:pt x="872664" y="86995"/>
                  </a:lnTo>
                  <a:lnTo>
                    <a:pt x="910541" y="111583"/>
                  </a:lnTo>
                  <a:lnTo>
                    <a:pt x="944967" y="138637"/>
                  </a:lnTo>
                  <a:lnTo>
                    <a:pt x="975674" y="167965"/>
                  </a:lnTo>
                  <a:lnTo>
                    <a:pt x="1002394" y="199375"/>
                  </a:lnTo>
                  <a:lnTo>
                    <a:pt x="1024858" y="232676"/>
                  </a:lnTo>
                  <a:lnTo>
                    <a:pt x="1042798" y="267677"/>
                  </a:lnTo>
                  <a:lnTo>
                    <a:pt x="1055948" y="304185"/>
                  </a:lnTo>
                  <a:lnTo>
                    <a:pt x="1064038" y="342010"/>
                  </a:lnTo>
                  <a:lnTo>
                    <a:pt x="1066800" y="380960"/>
                  </a:lnTo>
                  <a:lnTo>
                    <a:pt x="1200150" y="381000"/>
                  </a:lnTo>
                  <a:lnTo>
                    <a:pt x="933450" y="571500"/>
                  </a:lnTo>
                  <a:lnTo>
                    <a:pt x="666750" y="381000"/>
                  </a:lnTo>
                  <a:lnTo>
                    <a:pt x="800100" y="381000"/>
                  </a:lnTo>
                  <a:close/>
                </a:path>
              </a:pathLst>
            </a:custGeom>
            <a:ln w="4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284988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Verificaci</a:t>
            </a:r>
            <a:r>
              <a:rPr spc="-5" dirty="0">
                <a:latin typeface="Arial"/>
                <a:cs typeface="Arial"/>
              </a:rPr>
              <a:t>ó</a:t>
            </a:r>
            <a:r>
              <a:rPr spc="-5" dirty="0"/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468" y="1264922"/>
            <a:ext cx="7665720" cy="1330325"/>
          </a:xfrm>
          <a:prstGeom prst="rect">
            <a:avLst/>
          </a:prstGeom>
        </p:spPr>
        <p:txBody>
          <a:bodyPr vert="horz" wrap="square" lIns="0" tIns="27936" rIns="0" bIns="0" rtlCol="0">
            <a:spAutoFit/>
          </a:bodyPr>
          <a:lstStyle/>
          <a:p>
            <a:pPr marL="355556" marR="5080" indent="-342858">
              <a:lnSpc>
                <a:spcPts val="2600"/>
              </a:lnSpc>
              <a:spcBef>
                <a:spcPts val="219"/>
              </a:spcBef>
              <a:buFont typeface="Symbol"/>
              <a:buChar char=""/>
              <a:tabLst>
                <a:tab pos="354921" algn="l"/>
                <a:tab pos="355556" algn="l"/>
              </a:tabLst>
            </a:pP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¿Estamos construyendo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producto correctamente?  [Siguiendo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especificaciones]</a:t>
            </a:r>
            <a:endParaRPr sz="2200">
              <a:latin typeface="Verdana"/>
              <a:cs typeface="Verdana"/>
            </a:endParaRPr>
          </a:p>
          <a:p>
            <a:pPr marL="703494" algn="ctr">
              <a:spcBef>
                <a:spcPts val="1589"/>
              </a:spcBef>
            </a:pPr>
            <a:r>
              <a:rPr sz="2800" b="1" dirty="0">
                <a:solidFill>
                  <a:srgbClr val="9B172C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0842" y="2755900"/>
            <a:ext cx="5549900" cy="3581400"/>
            <a:chOff x="1620841" y="2755900"/>
            <a:chExt cx="5549900" cy="3581400"/>
          </a:xfrm>
        </p:grpSpPr>
        <p:sp>
          <p:nvSpPr>
            <p:cNvPr id="3" name="object 3"/>
            <p:cNvSpPr/>
            <p:nvPr/>
          </p:nvSpPr>
          <p:spPr>
            <a:xfrm>
              <a:off x="3436941" y="2760663"/>
              <a:ext cx="3733800" cy="35321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20841" y="2755900"/>
              <a:ext cx="1892300" cy="3581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250253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Validaci</a:t>
            </a:r>
            <a:r>
              <a:rPr spc="-5" dirty="0">
                <a:latin typeface="Arial"/>
                <a:cs typeface="Arial"/>
              </a:rPr>
              <a:t>ó</a:t>
            </a:r>
            <a:r>
              <a:rPr spc="-5" dirty="0"/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2469" y="1264921"/>
            <a:ext cx="6776084" cy="1101725"/>
          </a:xfrm>
          <a:prstGeom prst="rect">
            <a:avLst/>
          </a:prstGeom>
        </p:spPr>
        <p:txBody>
          <a:bodyPr vert="horz" wrap="square" lIns="0" tIns="27936" rIns="0" bIns="0" rtlCol="0">
            <a:spAutoFit/>
          </a:bodyPr>
          <a:lstStyle/>
          <a:p>
            <a:pPr marL="355556" marR="5080" indent="-342858">
              <a:lnSpc>
                <a:spcPts val="2600"/>
              </a:lnSpc>
              <a:spcBef>
                <a:spcPts val="219"/>
              </a:spcBef>
              <a:buFont typeface="Symbol"/>
              <a:buChar char=""/>
              <a:tabLst>
                <a:tab pos="354921" algn="l"/>
                <a:tab pos="355556" algn="l"/>
              </a:tabLst>
            </a:pP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¿Estamos construyendo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producto correcto?  [Siguiendo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lo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que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cliente quiere]</a:t>
            </a:r>
            <a:endParaRPr sz="2200">
              <a:latin typeface="Verdana"/>
              <a:cs typeface="Verdana"/>
            </a:endParaRPr>
          </a:p>
          <a:p>
            <a:pPr marL="373969" algn="ctr">
              <a:lnSpc>
                <a:spcPts val="3155"/>
              </a:lnSpc>
            </a:pPr>
            <a:r>
              <a:rPr sz="2800" b="1" dirty="0">
                <a:solidFill>
                  <a:srgbClr val="9B172C"/>
                </a:solidFill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9060" y="2296625"/>
            <a:ext cx="3436620" cy="1042035"/>
            <a:chOff x="2749060" y="2296624"/>
            <a:chExt cx="3436620" cy="1042035"/>
          </a:xfrm>
        </p:grpSpPr>
        <p:sp>
          <p:nvSpPr>
            <p:cNvPr id="8" name="object 8"/>
            <p:cNvSpPr/>
            <p:nvPr/>
          </p:nvSpPr>
          <p:spPr>
            <a:xfrm>
              <a:off x="2751141" y="2298701"/>
              <a:ext cx="3432175" cy="1038225"/>
            </a:xfrm>
            <a:custGeom>
              <a:avLst/>
              <a:gdLst/>
              <a:ahLst/>
              <a:cxnLst/>
              <a:rect l="l" t="t" r="r" b="b"/>
              <a:pathLst>
                <a:path w="3432175" h="1038225">
                  <a:moveTo>
                    <a:pt x="1562100" y="0"/>
                  </a:moveTo>
                  <a:lnTo>
                    <a:pt x="1502178" y="660"/>
                  </a:lnTo>
                  <a:lnTo>
                    <a:pt x="1442827" y="2625"/>
                  </a:lnTo>
                  <a:lnTo>
                    <a:pt x="1384088" y="5871"/>
                  </a:lnTo>
                  <a:lnTo>
                    <a:pt x="1326000" y="10374"/>
                  </a:lnTo>
                  <a:lnTo>
                    <a:pt x="1268604" y="16111"/>
                  </a:lnTo>
                  <a:lnTo>
                    <a:pt x="1211941" y="23058"/>
                  </a:lnTo>
                  <a:lnTo>
                    <a:pt x="1156051" y="31191"/>
                  </a:lnTo>
                  <a:lnTo>
                    <a:pt x="1100974" y="40487"/>
                  </a:lnTo>
                  <a:lnTo>
                    <a:pt x="1046752" y="50922"/>
                  </a:lnTo>
                  <a:lnTo>
                    <a:pt x="993423" y="62473"/>
                  </a:lnTo>
                  <a:lnTo>
                    <a:pt x="941030" y="75115"/>
                  </a:lnTo>
                  <a:lnTo>
                    <a:pt x="889612" y="88825"/>
                  </a:lnTo>
                  <a:lnTo>
                    <a:pt x="839209" y="103579"/>
                  </a:lnTo>
                  <a:lnTo>
                    <a:pt x="789862" y="119354"/>
                  </a:lnTo>
                  <a:lnTo>
                    <a:pt x="741612" y="136126"/>
                  </a:lnTo>
                  <a:lnTo>
                    <a:pt x="694500" y="153871"/>
                  </a:lnTo>
                  <a:lnTo>
                    <a:pt x="648564" y="172566"/>
                  </a:lnTo>
                  <a:lnTo>
                    <a:pt x="603846" y="192186"/>
                  </a:lnTo>
                  <a:lnTo>
                    <a:pt x="560387" y="212709"/>
                  </a:lnTo>
                  <a:lnTo>
                    <a:pt x="518226" y="234111"/>
                  </a:lnTo>
                  <a:lnTo>
                    <a:pt x="477405" y="256368"/>
                  </a:lnTo>
                  <a:lnTo>
                    <a:pt x="437963" y="279456"/>
                  </a:lnTo>
                  <a:lnTo>
                    <a:pt x="399941" y="303351"/>
                  </a:lnTo>
                  <a:lnTo>
                    <a:pt x="363380" y="328030"/>
                  </a:lnTo>
                  <a:lnTo>
                    <a:pt x="328320" y="353470"/>
                  </a:lnTo>
                  <a:lnTo>
                    <a:pt x="294801" y="379646"/>
                  </a:lnTo>
                  <a:lnTo>
                    <a:pt x="262864" y="406535"/>
                  </a:lnTo>
                  <a:lnTo>
                    <a:pt x="232549" y="434113"/>
                  </a:lnTo>
                  <a:lnTo>
                    <a:pt x="203897" y="462357"/>
                  </a:lnTo>
                  <a:lnTo>
                    <a:pt x="176948" y="491243"/>
                  </a:lnTo>
                  <a:lnTo>
                    <a:pt x="151743" y="520747"/>
                  </a:lnTo>
                  <a:lnTo>
                    <a:pt x="128322" y="550846"/>
                  </a:lnTo>
                  <a:lnTo>
                    <a:pt x="86993" y="612732"/>
                  </a:lnTo>
                  <a:lnTo>
                    <a:pt x="53286" y="676712"/>
                  </a:lnTo>
                  <a:lnTo>
                    <a:pt x="27523" y="742597"/>
                  </a:lnTo>
                  <a:lnTo>
                    <a:pt x="10029" y="810197"/>
                  </a:lnTo>
                  <a:lnTo>
                    <a:pt x="1127" y="879323"/>
                  </a:lnTo>
                  <a:lnTo>
                    <a:pt x="0" y="914400"/>
                  </a:lnTo>
                  <a:lnTo>
                    <a:pt x="459803" y="914400"/>
                  </a:lnTo>
                  <a:lnTo>
                    <a:pt x="461434" y="878996"/>
                  </a:lnTo>
                  <a:lnTo>
                    <a:pt x="466271" y="844092"/>
                  </a:lnTo>
                  <a:lnTo>
                    <a:pt x="485227" y="775978"/>
                  </a:lnTo>
                  <a:lnTo>
                    <a:pt x="515998" y="710451"/>
                  </a:lnTo>
                  <a:lnTo>
                    <a:pt x="557913" y="647903"/>
                  </a:lnTo>
                  <a:lnTo>
                    <a:pt x="582838" y="617870"/>
                  </a:lnTo>
                  <a:lnTo>
                    <a:pt x="610298" y="588730"/>
                  </a:lnTo>
                  <a:lnTo>
                    <a:pt x="640206" y="560531"/>
                  </a:lnTo>
                  <a:lnTo>
                    <a:pt x="672481" y="533324"/>
                  </a:lnTo>
                  <a:lnTo>
                    <a:pt x="707036" y="507156"/>
                  </a:lnTo>
                  <a:lnTo>
                    <a:pt x="743790" y="482078"/>
                  </a:lnTo>
                  <a:lnTo>
                    <a:pt x="782656" y="458139"/>
                  </a:lnTo>
                  <a:lnTo>
                    <a:pt x="823552" y="435388"/>
                  </a:lnTo>
                  <a:lnTo>
                    <a:pt x="866393" y="413874"/>
                  </a:lnTo>
                  <a:lnTo>
                    <a:pt x="911095" y="393646"/>
                  </a:lnTo>
                  <a:lnTo>
                    <a:pt x="957574" y="374754"/>
                  </a:lnTo>
                  <a:lnTo>
                    <a:pt x="1005747" y="357246"/>
                  </a:lnTo>
                  <a:lnTo>
                    <a:pt x="1055528" y="341172"/>
                  </a:lnTo>
                  <a:lnTo>
                    <a:pt x="1106835" y="326581"/>
                  </a:lnTo>
                  <a:lnTo>
                    <a:pt x="1159582" y="313523"/>
                  </a:lnTo>
                  <a:lnTo>
                    <a:pt x="1213686" y="302046"/>
                  </a:lnTo>
                  <a:lnTo>
                    <a:pt x="1269063" y="292199"/>
                  </a:lnTo>
                  <a:lnTo>
                    <a:pt x="1325629" y="284033"/>
                  </a:lnTo>
                  <a:lnTo>
                    <a:pt x="1383300" y="277596"/>
                  </a:lnTo>
                  <a:lnTo>
                    <a:pt x="1441991" y="272937"/>
                  </a:lnTo>
                  <a:lnTo>
                    <a:pt x="1501619" y="270105"/>
                  </a:lnTo>
                  <a:lnTo>
                    <a:pt x="1562100" y="269151"/>
                  </a:lnTo>
                  <a:lnTo>
                    <a:pt x="1620179" y="270040"/>
                  </a:lnTo>
                  <a:lnTo>
                    <a:pt x="1677620" y="272684"/>
                  </a:lnTo>
                  <a:lnTo>
                    <a:pt x="1734333" y="277042"/>
                  </a:lnTo>
                  <a:lnTo>
                    <a:pt x="1790229" y="283076"/>
                  </a:lnTo>
                  <a:lnTo>
                    <a:pt x="1845219" y="290749"/>
                  </a:lnTo>
                  <a:lnTo>
                    <a:pt x="1899214" y="300020"/>
                  </a:lnTo>
                  <a:lnTo>
                    <a:pt x="1952125" y="310852"/>
                  </a:lnTo>
                  <a:lnTo>
                    <a:pt x="2003864" y="323206"/>
                  </a:lnTo>
                  <a:lnTo>
                    <a:pt x="2054340" y="337043"/>
                  </a:lnTo>
                  <a:lnTo>
                    <a:pt x="2103465" y="352324"/>
                  </a:lnTo>
                  <a:lnTo>
                    <a:pt x="2151151" y="369012"/>
                  </a:lnTo>
                  <a:lnTo>
                    <a:pt x="2197307" y="387067"/>
                  </a:lnTo>
                  <a:lnTo>
                    <a:pt x="2241844" y="406451"/>
                  </a:lnTo>
                  <a:lnTo>
                    <a:pt x="2284675" y="427124"/>
                  </a:lnTo>
                  <a:lnTo>
                    <a:pt x="2325709" y="449050"/>
                  </a:lnTo>
                  <a:lnTo>
                    <a:pt x="2364859" y="472188"/>
                  </a:lnTo>
                  <a:lnTo>
                    <a:pt x="2402033" y="496500"/>
                  </a:lnTo>
                  <a:lnTo>
                    <a:pt x="2437145" y="521948"/>
                  </a:lnTo>
                  <a:lnTo>
                    <a:pt x="2470104" y="548493"/>
                  </a:lnTo>
                  <a:lnTo>
                    <a:pt x="2500822" y="576096"/>
                  </a:lnTo>
                  <a:lnTo>
                    <a:pt x="2529209" y="604719"/>
                  </a:lnTo>
                  <a:lnTo>
                    <a:pt x="2555177" y="634324"/>
                  </a:lnTo>
                  <a:lnTo>
                    <a:pt x="2578636" y="664870"/>
                  </a:lnTo>
                  <a:lnTo>
                    <a:pt x="2617673" y="728637"/>
                  </a:lnTo>
                  <a:lnTo>
                    <a:pt x="2243632" y="794423"/>
                  </a:lnTo>
                  <a:lnTo>
                    <a:pt x="3016580" y="1037755"/>
                  </a:lnTo>
                  <a:lnTo>
                    <a:pt x="3431984" y="585304"/>
                  </a:lnTo>
                  <a:lnTo>
                    <a:pt x="3057956" y="651167"/>
                  </a:lnTo>
                  <a:lnTo>
                    <a:pt x="3039951" y="618333"/>
                  </a:lnTo>
                  <a:lnTo>
                    <a:pt x="2998108" y="554537"/>
                  </a:lnTo>
                  <a:lnTo>
                    <a:pt x="2974361" y="523616"/>
                  </a:lnTo>
                  <a:lnTo>
                    <a:pt x="2948793" y="493372"/>
                  </a:lnTo>
                  <a:lnTo>
                    <a:pt x="2921449" y="463825"/>
                  </a:lnTo>
                  <a:lnTo>
                    <a:pt x="2892374" y="434995"/>
                  </a:lnTo>
                  <a:lnTo>
                    <a:pt x="2861615" y="406903"/>
                  </a:lnTo>
                  <a:lnTo>
                    <a:pt x="2829217" y="379568"/>
                  </a:lnTo>
                  <a:lnTo>
                    <a:pt x="2795227" y="353010"/>
                  </a:lnTo>
                  <a:lnTo>
                    <a:pt x="2759691" y="327250"/>
                  </a:lnTo>
                  <a:lnTo>
                    <a:pt x="2722653" y="302306"/>
                  </a:lnTo>
                  <a:lnTo>
                    <a:pt x="2684160" y="278199"/>
                  </a:lnTo>
                  <a:lnTo>
                    <a:pt x="2644259" y="254950"/>
                  </a:lnTo>
                  <a:lnTo>
                    <a:pt x="2602994" y="232577"/>
                  </a:lnTo>
                  <a:lnTo>
                    <a:pt x="2560412" y="211101"/>
                  </a:lnTo>
                  <a:lnTo>
                    <a:pt x="2516559" y="190542"/>
                  </a:lnTo>
                  <a:lnTo>
                    <a:pt x="2471480" y="170920"/>
                  </a:lnTo>
                  <a:lnTo>
                    <a:pt x="2425222" y="152254"/>
                  </a:lnTo>
                  <a:lnTo>
                    <a:pt x="2377830" y="134565"/>
                  </a:lnTo>
                  <a:lnTo>
                    <a:pt x="2329350" y="117873"/>
                  </a:lnTo>
                  <a:lnTo>
                    <a:pt x="2279828" y="102197"/>
                  </a:lnTo>
                  <a:lnTo>
                    <a:pt x="2229309" y="87558"/>
                  </a:lnTo>
                  <a:lnTo>
                    <a:pt x="2177841" y="73975"/>
                  </a:lnTo>
                  <a:lnTo>
                    <a:pt x="2125469" y="61469"/>
                  </a:lnTo>
                  <a:lnTo>
                    <a:pt x="2072238" y="50059"/>
                  </a:lnTo>
                  <a:lnTo>
                    <a:pt x="2018194" y="39766"/>
                  </a:lnTo>
                  <a:lnTo>
                    <a:pt x="1963384" y="30608"/>
                  </a:lnTo>
                  <a:lnTo>
                    <a:pt x="1907853" y="22607"/>
                  </a:lnTo>
                  <a:lnTo>
                    <a:pt x="1851647" y="15783"/>
                  </a:lnTo>
                  <a:lnTo>
                    <a:pt x="1794812" y="10154"/>
                  </a:lnTo>
                  <a:lnTo>
                    <a:pt x="1737394" y="5741"/>
                  </a:lnTo>
                  <a:lnTo>
                    <a:pt x="1679438" y="2565"/>
                  </a:lnTo>
                  <a:lnTo>
                    <a:pt x="1620992" y="644"/>
                  </a:lnTo>
                  <a:lnTo>
                    <a:pt x="1562100" y="0"/>
                  </a:lnTo>
                  <a:close/>
                </a:path>
              </a:pathLst>
            </a:custGeom>
            <a:solidFill>
              <a:srgbClr val="FFFD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51139" y="2298702"/>
              <a:ext cx="3432175" cy="1038225"/>
            </a:xfrm>
            <a:custGeom>
              <a:avLst/>
              <a:gdLst/>
              <a:ahLst/>
              <a:cxnLst/>
              <a:rect l="l" t="t" r="r" b="b"/>
              <a:pathLst>
                <a:path w="3432175" h="1038225">
                  <a:moveTo>
                    <a:pt x="2617671" y="728640"/>
                  </a:moveTo>
                  <a:lnTo>
                    <a:pt x="2578636" y="664873"/>
                  </a:lnTo>
                  <a:lnTo>
                    <a:pt x="2555178" y="634326"/>
                  </a:lnTo>
                  <a:lnTo>
                    <a:pt x="2529211" y="604721"/>
                  </a:lnTo>
                  <a:lnTo>
                    <a:pt x="2500824" y="576098"/>
                  </a:lnTo>
                  <a:lnTo>
                    <a:pt x="2470107" y="548494"/>
                  </a:lnTo>
                  <a:lnTo>
                    <a:pt x="2437149" y="521949"/>
                  </a:lnTo>
                  <a:lnTo>
                    <a:pt x="2402038" y="496501"/>
                  </a:lnTo>
                  <a:lnTo>
                    <a:pt x="2364863" y="472188"/>
                  </a:lnTo>
                  <a:lnTo>
                    <a:pt x="2325715" y="449050"/>
                  </a:lnTo>
                  <a:lnTo>
                    <a:pt x="2284681" y="427124"/>
                  </a:lnTo>
                  <a:lnTo>
                    <a:pt x="2241850" y="406450"/>
                  </a:lnTo>
                  <a:lnTo>
                    <a:pt x="2197313" y="387067"/>
                  </a:lnTo>
                  <a:lnTo>
                    <a:pt x="2151157" y="369011"/>
                  </a:lnTo>
                  <a:lnTo>
                    <a:pt x="2103472" y="352324"/>
                  </a:lnTo>
                  <a:lnTo>
                    <a:pt x="2054347" y="337042"/>
                  </a:lnTo>
                  <a:lnTo>
                    <a:pt x="2003870" y="323205"/>
                  </a:lnTo>
                  <a:lnTo>
                    <a:pt x="1952132" y="310851"/>
                  </a:lnTo>
                  <a:lnTo>
                    <a:pt x="1899220" y="300019"/>
                  </a:lnTo>
                  <a:lnTo>
                    <a:pt x="1845224" y="290748"/>
                  </a:lnTo>
                  <a:lnTo>
                    <a:pt x="1790233" y="283075"/>
                  </a:lnTo>
                  <a:lnTo>
                    <a:pt x="1734337" y="277041"/>
                  </a:lnTo>
                  <a:lnTo>
                    <a:pt x="1677623" y="272683"/>
                  </a:lnTo>
                  <a:lnTo>
                    <a:pt x="1620181" y="270039"/>
                  </a:lnTo>
                  <a:lnTo>
                    <a:pt x="1562100" y="269150"/>
                  </a:lnTo>
                  <a:lnTo>
                    <a:pt x="1501621" y="270104"/>
                  </a:lnTo>
                  <a:lnTo>
                    <a:pt x="1441993" y="272936"/>
                  </a:lnTo>
                  <a:lnTo>
                    <a:pt x="1383303" y="277595"/>
                  </a:lnTo>
                  <a:lnTo>
                    <a:pt x="1325633" y="284032"/>
                  </a:lnTo>
                  <a:lnTo>
                    <a:pt x="1269067" y="292199"/>
                  </a:lnTo>
                  <a:lnTo>
                    <a:pt x="1213691" y="302045"/>
                  </a:lnTo>
                  <a:lnTo>
                    <a:pt x="1159587" y="313522"/>
                  </a:lnTo>
                  <a:lnTo>
                    <a:pt x="1106840" y="326581"/>
                  </a:lnTo>
                  <a:lnTo>
                    <a:pt x="1055533" y="341172"/>
                  </a:lnTo>
                  <a:lnTo>
                    <a:pt x="1005752" y="357246"/>
                  </a:lnTo>
                  <a:lnTo>
                    <a:pt x="957580" y="374753"/>
                  </a:lnTo>
                  <a:lnTo>
                    <a:pt x="911101" y="393646"/>
                  </a:lnTo>
                  <a:lnTo>
                    <a:pt x="866399" y="413874"/>
                  </a:lnTo>
                  <a:lnTo>
                    <a:pt x="823558" y="435388"/>
                  </a:lnTo>
                  <a:lnTo>
                    <a:pt x="782662" y="458140"/>
                  </a:lnTo>
                  <a:lnTo>
                    <a:pt x="743796" y="482079"/>
                  </a:lnTo>
                  <a:lnTo>
                    <a:pt x="707043" y="507157"/>
                  </a:lnTo>
                  <a:lnTo>
                    <a:pt x="672487" y="533324"/>
                  </a:lnTo>
                  <a:lnTo>
                    <a:pt x="640213" y="560532"/>
                  </a:lnTo>
                  <a:lnTo>
                    <a:pt x="610304" y="588731"/>
                  </a:lnTo>
                  <a:lnTo>
                    <a:pt x="582845" y="617871"/>
                  </a:lnTo>
                  <a:lnTo>
                    <a:pt x="557919" y="647904"/>
                  </a:lnTo>
                  <a:lnTo>
                    <a:pt x="516005" y="710452"/>
                  </a:lnTo>
                  <a:lnTo>
                    <a:pt x="485234" y="775979"/>
                  </a:lnTo>
                  <a:lnTo>
                    <a:pt x="466278" y="844093"/>
                  </a:lnTo>
                  <a:lnTo>
                    <a:pt x="459810" y="914400"/>
                  </a:lnTo>
                  <a:lnTo>
                    <a:pt x="0" y="914400"/>
                  </a:lnTo>
                  <a:lnTo>
                    <a:pt x="4484" y="844582"/>
                  </a:lnTo>
                  <a:lnTo>
                    <a:pt x="17723" y="776195"/>
                  </a:lnTo>
                  <a:lnTo>
                    <a:pt x="39391" y="709429"/>
                  </a:lnTo>
                  <a:lnTo>
                    <a:pt x="69167" y="644472"/>
                  </a:lnTo>
                  <a:lnTo>
                    <a:pt x="106726" y="581516"/>
                  </a:lnTo>
                  <a:lnTo>
                    <a:pt x="151744" y="520748"/>
                  </a:lnTo>
                  <a:lnTo>
                    <a:pt x="176949" y="491244"/>
                  </a:lnTo>
                  <a:lnTo>
                    <a:pt x="203898" y="462358"/>
                  </a:lnTo>
                  <a:lnTo>
                    <a:pt x="232551" y="434114"/>
                  </a:lnTo>
                  <a:lnTo>
                    <a:pt x="262865" y="406536"/>
                  </a:lnTo>
                  <a:lnTo>
                    <a:pt x="294803" y="379647"/>
                  </a:lnTo>
                  <a:lnTo>
                    <a:pt x="328322" y="353470"/>
                  </a:lnTo>
                  <a:lnTo>
                    <a:pt x="363382" y="328031"/>
                  </a:lnTo>
                  <a:lnTo>
                    <a:pt x="399943" y="303351"/>
                  </a:lnTo>
                  <a:lnTo>
                    <a:pt x="437965" y="279456"/>
                  </a:lnTo>
                  <a:lnTo>
                    <a:pt x="477407" y="256368"/>
                  </a:lnTo>
                  <a:lnTo>
                    <a:pt x="518228" y="234112"/>
                  </a:lnTo>
                  <a:lnTo>
                    <a:pt x="560389" y="212710"/>
                  </a:lnTo>
                  <a:lnTo>
                    <a:pt x="603849" y="192187"/>
                  </a:lnTo>
                  <a:lnTo>
                    <a:pt x="648566" y="172566"/>
                  </a:lnTo>
                  <a:lnTo>
                    <a:pt x="694502" y="153871"/>
                  </a:lnTo>
                  <a:lnTo>
                    <a:pt x="741615" y="136126"/>
                  </a:lnTo>
                  <a:lnTo>
                    <a:pt x="789865" y="119354"/>
                  </a:lnTo>
                  <a:lnTo>
                    <a:pt x="839211" y="103579"/>
                  </a:lnTo>
                  <a:lnTo>
                    <a:pt x="889614" y="88825"/>
                  </a:lnTo>
                  <a:lnTo>
                    <a:pt x="941032" y="75115"/>
                  </a:lnTo>
                  <a:lnTo>
                    <a:pt x="993426" y="62473"/>
                  </a:lnTo>
                  <a:lnTo>
                    <a:pt x="1046754" y="50922"/>
                  </a:lnTo>
                  <a:lnTo>
                    <a:pt x="1100977" y="40487"/>
                  </a:lnTo>
                  <a:lnTo>
                    <a:pt x="1156053" y="31191"/>
                  </a:lnTo>
                  <a:lnTo>
                    <a:pt x="1211943" y="23058"/>
                  </a:lnTo>
                  <a:lnTo>
                    <a:pt x="1268606" y="16111"/>
                  </a:lnTo>
                  <a:lnTo>
                    <a:pt x="1326002" y="10374"/>
                  </a:lnTo>
                  <a:lnTo>
                    <a:pt x="1384089" y="5871"/>
                  </a:lnTo>
                  <a:lnTo>
                    <a:pt x="1442828" y="2625"/>
                  </a:lnTo>
                  <a:lnTo>
                    <a:pt x="1502179" y="660"/>
                  </a:lnTo>
                  <a:lnTo>
                    <a:pt x="1562100" y="0"/>
                  </a:lnTo>
                  <a:lnTo>
                    <a:pt x="1620992" y="644"/>
                  </a:lnTo>
                  <a:lnTo>
                    <a:pt x="1679439" y="2565"/>
                  </a:lnTo>
                  <a:lnTo>
                    <a:pt x="1737394" y="5741"/>
                  </a:lnTo>
                  <a:lnTo>
                    <a:pt x="1794811" y="10154"/>
                  </a:lnTo>
                  <a:lnTo>
                    <a:pt x="1851646" y="15783"/>
                  </a:lnTo>
                  <a:lnTo>
                    <a:pt x="1907852" y="22607"/>
                  </a:lnTo>
                  <a:lnTo>
                    <a:pt x="1963383" y="30609"/>
                  </a:lnTo>
                  <a:lnTo>
                    <a:pt x="2018193" y="39766"/>
                  </a:lnTo>
                  <a:lnTo>
                    <a:pt x="2072237" y="50059"/>
                  </a:lnTo>
                  <a:lnTo>
                    <a:pt x="2125468" y="61469"/>
                  </a:lnTo>
                  <a:lnTo>
                    <a:pt x="2177840" y="73976"/>
                  </a:lnTo>
                  <a:lnTo>
                    <a:pt x="2229309" y="87558"/>
                  </a:lnTo>
                  <a:lnTo>
                    <a:pt x="2279827" y="102198"/>
                  </a:lnTo>
                  <a:lnTo>
                    <a:pt x="2329349" y="117873"/>
                  </a:lnTo>
                  <a:lnTo>
                    <a:pt x="2377829" y="134566"/>
                  </a:lnTo>
                  <a:lnTo>
                    <a:pt x="2425221" y="152255"/>
                  </a:lnTo>
                  <a:lnTo>
                    <a:pt x="2471480" y="170920"/>
                  </a:lnTo>
                  <a:lnTo>
                    <a:pt x="2516559" y="190543"/>
                  </a:lnTo>
                  <a:lnTo>
                    <a:pt x="2560412" y="211102"/>
                  </a:lnTo>
                  <a:lnTo>
                    <a:pt x="2602994" y="232578"/>
                  </a:lnTo>
                  <a:lnTo>
                    <a:pt x="2644259" y="254951"/>
                  </a:lnTo>
                  <a:lnTo>
                    <a:pt x="2684160" y="278201"/>
                  </a:lnTo>
                  <a:lnTo>
                    <a:pt x="2722653" y="302307"/>
                  </a:lnTo>
                  <a:lnTo>
                    <a:pt x="2759690" y="327251"/>
                  </a:lnTo>
                  <a:lnTo>
                    <a:pt x="2795227" y="353012"/>
                  </a:lnTo>
                  <a:lnTo>
                    <a:pt x="2829217" y="379570"/>
                  </a:lnTo>
                  <a:lnTo>
                    <a:pt x="2861614" y="406905"/>
                  </a:lnTo>
                  <a:lnTo>
                    <a:pt x="2892373" y="434998"/>
                  </a:lnTo>
                  <a:lnTo>
                    <a:pt x="2921447" y="463827"/>
                  </a:lnTo>
                  <a:lnTo>
                    <a:pt x="2948791" y="493374"/>
                  </a:lnTo>
                  <a:lnTo>
                    <a:pt x="2974359" y="523618"/>
                  </a:lnTo>
                  <a:lnTo>
                    <a:pt x="2998105" y="554540"/>
                  </a:lnTo>
                  <a:lnTo>
                    <a:pt x="3019983" y="586119"/>
                  </a:lnTo>
                  <a:lnTo>
                    <a:pt x="3057951" y="651170"/>
                  </a:lnTo>
                  <a:lnTo>
                    <a:pt x="3431991" y="585300"/>
                  </a:lnTo>
                  <a:lnTo>
                    <a:pt x="3016591" y="1037760"/>
                  </a:lnTo>
                  <a:lnTo>
                    <a:pt x="2243641" y="794430"/>
                  </a:lnTo>
                  <a:lnTo>
                    <a:pt x="2617671" y="728640"/>
                  </a:lnTo>
                  <a:close/>
                </a:path>
              </a:pathLst>
            </a:custGeom>
            <a:ln w="4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202311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M</a:t>
            </a:r>
            <a:r>
              <a:rPr dirty="0">
                <a:latin typeface="Arial"/>
                <a:cs typeface="Arial"/>
              </a:rPr>
              <a:t>é</a:t>
            </a:r>
            <a:r>
              <a:rPr dirty="0"/>
              <a:t>todos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0118" y="4760609"/>
            <a:ext cx="3989704" cy="883919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5080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  software</a:t>
            </a:r>
            <a:r>
              <a:rPr sz="2800" spc="-3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(Din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mico)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7288" y="1613577"/>
            <a:ext cx="3004240" cy="2730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42536" y="2512184"/>
            <a:ext cx="1539875" cy="1359535"/>
            <a:chOff x="6842535" y="2512183"/>
            <a:chExt cx="1539875" cy="1359535"/>
          </a:xfrm>
        </p:grpSpPr>
        <p:sp>
          <p:nvSpPr>
            <p:cNvPr id="6" name="object 6"/>
            <p:cNvSpPr/>
            <p:nvPr/>
          </p:nvSpPr>
          <p:spPr>
            <a:xfrm>
              <a:off x="6843364" y="3018484"/>
              <a:ext cx="89535" cy="88265"/>
            </a:xfrm>
            <a:custGeom>
              <a:avLst/>
              <a:gdLst/>
              <a:ahLst/>
              <a:cxnLst/>
              <a:rect l="l" t="t" r="r" b="b"/>
              <a:pathLst>
                <a:path w="89534" h="88264">
                  <a:moveTo>
                    <a:pt x="89492" y="0"/>
                  </a:moveTo>
                  <a:lnTo>
                    <a:pt x="0" y="0"/>
                  </a:lnTo>
                  <a:lnTo>
                    <a:pt x="0" y="87836"/>
                  </a:lnTo>
                  <a:lnTo>
                    <a:pt x="89492" y="87836"/>
                  </a:lnTo>
                  <a:lnTo>
                    <a:pt x="89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43364" y="3018484"/>
              <a:ext cx="89535" cy="88265"/>
            </a:xfrm>
            <a:custGeom>
              <a:avLst/>
              <a:gdLst/>
              <a:ahLst/>
              <a:cxnLst/>
              <a:rect l="l" t="t" r="r" b="b"/>
              <a:pathLst>
                <a:path w="89534" h="88264">
                  <a:moveTo>
                    <a:pt x="0" y="87836"/>
                  </a:moveTo>
                  <a:lnTo>
                    <a:pt x="0" y="0"/>
                  </a:lnTo>
                  <a:lnTo>
                    <a:pt x="89492" y="0"/>
                  </a:lnTo>
                  <a:lnTo>
                    <a:pt x="89492" y="87836"/>
                  </a:lnTo>
                  <a:lnTo>
                    <a:pt x="0" y="878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46944" y="2512183"/>
              <a:ext cx="1435210" cy="13589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079183" y="2578475"/>
            <a:ext cx="1692089" cy="12495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9593" y="4760609"/>
            <a:ext cx="3391535" cy="883919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12698" marR="5080">
              <a:lnSpc>
                <a:spcPct val="101200"/>
              </a:lnSpc>
              <a:spcBef>
                <a:spcPts val="6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Inspecciones del  software</a:t>
            </a:r>
            <a:r>
              <a:rPr sz="2800" spc="-7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(Est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tico)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866179"/>
            <a:ext cx="6392545" cy="168406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4234296" algn="l"/>
              </a:tabLst>
            </a:pPr>
            <a:r>
              <a:rPr spc="-5" dirty="0"/>
              <a:t>Inspecciones</a:t>
            </a:r>
            <a:r>
              <a:rPr spc="30" dirty="0"/>
              <a:t> </a:t>
            </a:r>
            <a:r>
              <a:rPr spc="-5" dirty="0"/>
              <a:t>del	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6184265" cy="10922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Manualmente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Automáticamente (ej. FindBugs)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2682" y="6370320"/>
            <a:ext cx="3710304" cy="135933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800" spc="-5" dirty="0">
                <a:solidFill>
                  <a:srgbClr val="9B172C"/>
                </a:solidFill>
                <a:latin typeface="Verdana"/>
                <a:cs typeface="Verdana"/>
              </a:rPr>
              <a:t>Imagen obtenida </a:t>
            </a:r>
            <a:r>
              <a:rPr sz="800" dirty="0">
                <a:solidFill>
                  <a:srgbClr val="9B172C"/>
                </a:solidFill>
                <a:latin typeface="Verdana"/>
                <a:cs typeface="Verdana"/>
              </a:rPr>
              <a:t>de</a:t>
            </a:r>
            <a:r>
              <a:rPr sz="800" spc="2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8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Arial"/>
                <a:cs typeface="Arial"/>
                <a:hlinkClick r:id="rId2"/>
              </a:rPr>
              <a:t>http://penyaskitodice.wordpress.com/2007/10/08/findbugs/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53078" y="1317057"/>
            <a:ext cx="985176" cy="8060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2341" y="2390776"/>
            <a:ext cx="7192962" cy="3870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15595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Ín</a:t>
            </a:r>
            <a:r>
              <a:rPr spc="-5" dirty="0"/>
              <a:t>di</a:t>
            </a:r>
            <a:r>
              <a:rPr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6203315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Conceptos fundamentales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Pruebas del</a:t>
            </a:r>
            <a:r>
              <a:rPr sz="2800" b="1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software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unitarias automatizadas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Desarrollo guiado por</a:t>
            </a: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Conclusiones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247972"/>
            <a:ext cx="3907154" cy="5699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Tipos de</a:t>
            </a:r>
            <a:r>
              <a:rPr spc="-60" dirty="0"/>
              <a:t> </a:t>
            </a:r>
            <a:r>
              <a:rPr spc="-5" dirty="0"/>
              <a:t>prueba</a:t>
            </a:r>
          </a:p>
        </p:txBody>
      </p:sp>
      <p:sp>
        <p:nvSpPr>
          <p:cNvPr id="3" name="object 3"/>
          <p:cNvSpPr/>
          <p:nvPr/>
        </p:nvSpPr>
        <p:spPr>
          <a:xfrm>
            <a:off x="596209" y="2578433"/>
            <a:ext cx="2421890" cy="605155"/>
          </a:xfrm>
          <a:custGeom>
            <a:avLst/>
            <a:gdLst/>
            <a:ahLst/>
            <a:cxnLst/>
            <a:rect l="l" t="t" r="r" b="b"/>
            <a:pathLst>
              <a:path w="2421890" h="605155">
                <a:moveTo>
                  <a:pt x="0" y="0"/>
                </a:moveTo>
                <a:lnTo>
                  <a:pt x="2421841" y="0"/>
                </a:lnTo>
                <a:lnTo>
                  <a:pt x="2421841" y="604800"/>
                </a:lnTo>
                <a:lnTo>
                  <a:pt x="0" y="6048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8908" y="2591133"/>
            <a:ext cx="2396490" cy="442386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116191" rIns="0" bIns="0" rtlCol="0">
            <a:spAutoFit/>
          </a:bodyPr>
          <a:lstStyle/>
          <a:p>
            <a:pPr marL="140952">
              <a:spcBef>
                <a:spcPts val="915"/>
              </a:spcBef>
            </a:pPr>
            <a:r>
              <a:rPr sz="2100" dirty="0">
                <a:latin typeface="Verdana"/>
                <a:cs typeface="Verdana"/>
              </a:rPr>
              <a:t>Qué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conocemos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209" y="3183234"/>
            <a:ext cx="2421890" cy="748801"/>
          </a:xfrm>
          <a:prstGeom prst="rect">
            <a:avLst/>
          </a:prstGeom>
          <a:solidFill>
            <a:srgbClr val="EFFFFF">
              <a:alpha val="90199"/>
            </a:srgbClr>
          </a:solidFill>
          <a:ln w="25400">
            <a:solidFill>
              <a:srgbClr val="000000"/>
            </a:solidFill>
          </a:ln>
        </p:spPr>
        <p:txBody>
          <a:bodyPr vert="horz" wrap="square" lIns="0" tIns="85080" rIns="0" bIns="0" rtlCol="0">
            <a:spAutoFit/>
          </a:bodyPr>
          <a:lstStyle/>
          <a:p>
            <a:pPr marL="340318" indent="-229207">
              <a:spcBef>
                <a:spcPts val="67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Caja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negra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8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Caja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blanca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57110" y="2578433"/>
            <a:ext cx="2421890" cy="605155"/>
          </a:xfrm>
          <a:custGeom>
            <a:avLst/>
            <a:gdLst/>
            <a:ahLst/>
            <a:cxnLst/>
            <a:rect l="l" t="t" r="r" b="b"/>
            <a:pathLst>
              <a:path w="2421890" h="605155">
                <a:moveTo>
                  <a:pt x="0" y="0"/>
                </a:moveTo>
                <a:lnTo>
                  <a:pt x="2421841" y="0"/>
                </a:lnTo>
                <a:lnTo>
                  <a:pt x="2421841" y="604800"/>
                </a:lnTo>
                <a:lnTo>
                  <a:pt x="0" y="6048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69809" y="2591133"/>
            <a:ext cx="2396490" cy="442386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116191" rIns="0" bIns="0" rtlCol="0">
            <a:spAutoFit/>
          </a:bodyPr>
          <a:lstStyle/>
          <a:p>
            <a:pPr marL="172064">
              <a:spcBef>
                <a:spcPts val="915"/>
              </a:spcBef>
            </a:pPr>
            <a:r>
              <a:rPr sz="2100" spc="-5" dirty="0">
                <a:latin typeface="Verdana"/>
                <a:cs typeface="Verdana"/>
              </a:rPr>
              <a:t>Automatización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7110" y="3183234"/>
            <a:ext cx="2421890" cy="748801"/>
          </a:xfrm>
          <a:prstGeom prst="rect">
            <a:avLst/>
          </a:prstGeom>
          <a:solidFill>
            <a:srgbClr val="EFFFFF">
              <a:alpha val="90199"/>
            </a:srgbClr>
          </a:solidFill>
          <a:ln w="25400">
            <a:solidFill>
              <a:srgbClr val="000000"/>
            </a:solidFill>
          </a:ln>
        </p:spPr>
        <p:txBody>
          <a:bodyPr vert="horz" wrap="square" lIns="0" tIns="85080" rIns="0" bIns="0" rtlCol="0">
            <a:spAutoFit/>
          </a:bodyPr>
          <a:lstStyle/>
          <a:p>
            <a:pPr marL="340318" indent="-229207">
              <a:spcBef>
                <a:spcPts val="670"/>
              </a:spcBef>
              <a:buChar char="•"/>
              <a:tabLst>
                <a:tab pos="340953" algn="l"/>
              </a:tabLst>
            </a:pPr>
            <a:r>
              <a:rPr sz="2100" dirty="0">
                <a:latin typeface="Verdana"/>
                <a:cs typeface="Verdana"/>
              </a:rPr>
              <a:t>Manuales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8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Automáticas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18012" y="2578433"/>
            <a:ext cx="2421890" cy="605155"/>
          </a:xfrm>
          <a:custGeom>
            <a:avLst/>
            <a:gdLst/>
            <a:ahLst/>
            <a:cxnLst/>
            <a:rect l="l" t="t" r="r" b="b"/>
            <a:pathLst>
              <a:path w="2421890" h="605155">
                <a:moveTo>
                  <a:pt x="0" y="0"/>
                </a:moveTo>
                <a:lnTo>
                  <a:pt x="2421841" y="0"/>
                </a:lnTo>
                <a:lnTo>
                  <a:pt x="2421841" y="604800"/>
                </a:lnTo>
                <a:lnTo>
                  <a:pt x="0" y="6048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30711" y="2591133"/>
            <a:ext cx="2396490" cy="442386"/>
          </a:xfrm>
          <a:prstGeom prst="rect">
            <a:avLst/>
          </a:prstGeom>
          <a:solidFill>
            <a:srgbClr val="D4FEFF"/>
          </a:solidFill>
        </p:spPr>
        <p:txBody>
          <a:bodyPr vert="horz" wrap="square" lIns="0" tIns="116191" rIns="0" bIns="0" rtlCol="0">
            <a:spAutoFit/>
          </a:bodyPr>
          <a:lstStyle/>
          <a:p>
            <a:pPr marL="222858">
              <a:spcBef>
                <a:spcPts val="915"/>
              </a:spcBef>
            </a:pPr>
            <a:r>
              <a:rPr sz="2100" dirty="0">
                <a:latin typeface="Verdana"/>
                <a:cs typeface="Verdana"/>
              </a:rPr>
              <a:t>Qué se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prueba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8012" y="3183234"/>
            <a:ext cx="2421890" cy="1788159"/>
          </a:xfrm>
          <a:prstGeom prst="rect">
            <a:avLst/>
          </a:prstGeom>
          <a:solidFill>
            <a:srgbClr val="EFFFFF">
              <a:alpha val="90199"/>
            </a:srgbClr>
          </a:solidFill>
          <a:ln w="25400">
            <a:solidFill>
              <a:srgbClr val="000000"/>
            </a:solidFill>
          </a:ln>
        </p:spPr>
        <p:txBody>
          <a:bodyPr vert="horz" wrap="square" lIns="0" tIns="85080" rIns="0" bIns="0" rtlCol="0">
            <a:spAutoFit/>
          </a:bodyPr>
          <a:lstStyle/>
          <a:p>
            <a:pPr marL="340318" indent="-229207">
              <a:spcBef>
                <a:spcPts val="67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Unitarias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80"/>
              </a:spcBef>
              <a:buChar char="•"/>
              <a:tabLst>
                <a:tab pos="340953" algn="l"/>
              </a:tabLst>
            </a:pPr>
            <a:r>
              <a:rPr sz="2100" spc="-10" dirty="0">
                <a:latin typeface="Verdana"/>
                <a:cs typeface="Verdana"/>
              </a:rPr>
              <a:t>Integración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18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Funcionales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80"/>
              </a:spcBef>
              <a:buChar char="•"/>
              <a:tabLst>
                <a:tab pos="340953" algn="l"/>
              </a:tabLst>
            </a:pPr>
            <a:r>
              <a:rPr sz="2100" spc="-10" dirty="0">
                <a:latin typeface="Verdana"/>
                <a:cs typeface="Verdana"/>
              </a:rPr>
              <a:t>Rendimiento</a:t>
            </a:r>
            <a:endParaRPr sz="2100">
              <a:latin typeface="Verdana"/>
              <a:cs typeface="Verdana"/>
            </a:endParaRPr>
          </a:p>
          <a:p>
            <a:pPr marL="340318" indent="-229207">
              <a:spcBef>
                <a:spcPts val="180"/>
              </a:spcBef>
              <a:buChar char="•"/>
              <a:tabLst>
                <a:tab pos="340953" algn="l"/>
              </a:tabLst>
            </a:pPr>
            <a:r>
              <a:rPr sz="2100" spc="-5" dirty="0">
                <a:latin typeface="Verdana"/>
                <a:cs typeface="Verdana"/>
              </a:rPr>
              <a:t>Aceptación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379412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Qu</a:t>
            </a:r>
            <a:r>
              <a:rPr dirty="0">
                <a:latin typeface="Arial"/>
                <a:cs typeface="Arial"/>
              </a:rPr>
              <a:t>é</a:t>
            </a:r>
            <a:r>
              <a:rPr spc="145" dirty="0">
                <a:latin typeface="Arial"/>
                <a:cs typeface="Arial"/>
              </a:rPr>
              <a:t> </a:t>
            </a:r>
            <a:r>
              <a:rPr spc="-5" dirty="0"/>
              <a:t>conocemos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4738" y="1958505"/>
            <a:ext cx="2209800" cy="1909445"/>
            <a:chOff x="1074738" y="1958504"/>
            <a:chExt cx="2209800" cy="1909445"/>
          </a:xfrm>
        </p:grpSpPr>
        <p:sp>
          <p:nvSpPr>
            <p:cNvPr id="4" name="object 4"/>
            <p:cNvSpPr/>
            <p:nvPr/>
          </p:nvSpPr>
          <p:spPr>
            <a:xfrm>
              <a:off x="1684341" y="1960576"/>
              <a:ext cx="1219200" cy="1905000"/>
            </a:xfrm>
            <a:custGeom>
              <a:avLst/>
              <a:gdLst/>
              <a:ahLst/>
              <a:cxnLst/>
              <a:rect l="l" t="t" r="r" b="b"/>
              <a:pathLst>
                <a:path w="1219200" h="1905000">
                  <a:moveTo>
                    <a:pt x="1219200" y="0"/>
                  </a:moveTo>
                  <a:lnTo>
                    <a:pt x="914400" y="304800"/>
                  </a:lnTo>
                  <a:lnTo>
                    <a:pt x="0" y="304800"/>
                  </a:lnTo>
                  <a:lnTo>
                    <a:pt x="0" y="1905000"/>
                  </a:lnTo>
                  <a:lnTo>
                    <a:pt x="914400" y="1905000"/>
                  </a:lnTo>
                  <a:lnTo>
                    <a:pt x="1219200" y="1600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84341" y="1960576"/>
              <a:ext cx="1219200" cy="304800"/>
            </a:xfrm>
            <a:custGeom>
              <a:avLst/>
              <a:gdLst/>
              <a:ahLst/>
              <a:cxnLst/>
              <a:rect l="l" t="t" r="r" b="b"/>
              <a:pathLst>
                <a:path w="1219200" h="304800">
                  <a:moveTo>
                    <a:pt x="1219200" y="0"/>
                  </a:moveTo>
                  <a:lnTo>
                    <a:pt x="304800" y="0"/>
                  </a:lnTo>
                  <a:lnTo>
                    <a:pt x="0" y="304800"/>
                  </a:lnTo>
                  <a:lnTo>
                    <a:pt x="914400" y="304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414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4338" y="1960582"/>
              <a:ext cx="1219200" cy="1905000"/>
            </a:xfrm>
            <a:custGeom>
              <a:avLst/>
              <a:gdLst/>
              <a:ahLst/>
              <a:cxnLst/>
              <a:rect l="l" t="t" r="r" b="b"/>
              <a:pathLst>
                <a:path w="1219200" h="1905000">
                  <a:moveTo>
                    <a:pt x="0" y="304800"/>
                  </a:moveTo>
                  <a:lnTo>
                    <a:pt x="304800" y="0"/>
                  </a:lnTo>
                  <a:lnTo>
                    <a:pt x="1219200" y="0"/>
                  </a:lnTo>
                  <a:lnTo>
                    <a:pt x="1219200" y="1600200"/>
                  </a:lnTo>
                  <a:lnTo>
                    <a:pt x="914400" y="1905001"/>
                  </a:lnTo>
                  <a:lnTo>
                    <a:pt x="0" y="1905001"/>
                  </a:lnTo>
                  <a:lnTo>
                    <a:pt x="0" y="304800"/>
                  </a:lnTo>
                  <a:close/>
                </a:path>
                <a:path w="1219200" h="1905000">
                  <a:moveTo>
                    <a:pt x="0" y="304800"/>
                  </a:moveTo>
                  <a:lnTo>
                    <a:pt x="914400" y="304800"/>
                  </a:lnTo>
                  <a:lnTo>
                    <a:pt x="1219200" y="0"/>
                  </a:lnTo>
                </a:path>
                <a:path w="1219200" h="1905000">
                  <a:moveTo>
                    <a:pt x="914400" y="304800"/>
                  </a:moveTo>
                  <a:lnTo>
                    <a:pt x="914400" y="1905001"/>
                  </a:lnTo>
                </a:path>
              </a:pathLst>
            </a:custGeom>
            <a:ln w="4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4738" y="2951162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8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08141" y="29130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7339" y="2951162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8341" y="29130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951541" y="1960582"/>
            <a:ext cx="1219200" cy="1905000"/>
          </a:xfrm>
          <a:custGeom>
            <a:avLst/>
            <a:gdLst/>
            <a:ahLst/>
            <a:cxnLst/>
            <a:rect l="l" t="t" r="r" b="b"/>
            <a:pathLst>
              <a:path w="1219200" h="1905000">
                <a:moveTo>
                  <a:pt x="0" y="304800"/>
                </a:moveTo>
                <a:lnTo>
                  <a:pt x="304800" y="0"/>
                </a:lnTo>
                <a:lnTo>
                  <a:pt x="1219200" y="0"/>
                </a:lnTo>
                <a:lnTo>
                  <a:pt x="1219200" y="1600200"/>
                </a:lnTo>
                <a:lnTo>
                  <a:pt x="914400" y="1905001"/>
                </a:lnTo>
                <a:lnTo>
                  <a:pt x="0" y="1905001"/>
                </a:lnTo>
                <a:lnTo>
                  <a:pt x="0" y="304800"/>
                </a:lnTo>
                <a:close/>
              </a:path>
              <a:path w="1219200" h="1905000">
                <a:moveTo>
                  <a:pt x="0" y="304800"/>
                </a:moveTo>
                <a:lnTo>
                  <a:pt x="914400" y="304800"/>
                </a:lnTo>
                <a:lnTo>
                  <a:pt x="1219200" y="0"/>
                </a:lnTo>
              </a:path>
              <a:path w="1219200" h="1905000">
                <a:moveTo>
                  <a:pt x="914400" y="304800"/>
                </a:moveTo>
                <a:lnTo>
                  <a:pt x="914400" y="1905001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30282" y="2363167"/>
            <a:ext cx="1123315" cy="129286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900" spc="-5" dirty="0">
                <a:solidFill>
                  <a:srgbClr val="9B172C"/>
                </a:solidFill>
                <a:latin typeface="Courier New"/>
                <a:cs typeface="Courier New"/>
              </a:rPr>
              <a:t>Public class </a:t>
            </a: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A</a:t>
            </a:r>
            <a:r>
              <a:rPr sz="900" spc="-9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12698">
              <a:spcBef>
                <a:spcPts val="720"/>
              </a:spcBef>
            </a:pP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…</a:t>
            </a:r>
            <a:endParaRPr sz="900">
              <a:latin typeface="Courier New"/>
              <a:cs typeface="Courier New"/>
            </a:endParaRPr>
          </a:p>
          <a:p>
            <a:pPr marL="12698">
              <a:spcBef>
                <a:spcPts val="620"/>
              </a:spcBef>
            </a:pPr>
            <a:r>
              <a:rPr sz="900" spc="-5" dirty="0">
                <a:solidFill>
                  <a:srgbClr val="9B172C"/>
                </a:solidFill>
                <a:latin typeface="Courier New"/>
                <a:cs typeface="Courier New"/>
              </a:rPr>
              <a:t>If (x </a:t>
            </a: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&lt; </a:t>
            </a:r>
            <a:r>
              <a:rPr sz="900" spc="-5" dirty="0">
                <a:solidFill>
                  <a:srgbClr val="9B172C"/>
                </a:solidFill>
                <a:latin typeface="Courier New"/>
                <a:cs typeface="Courier New"/>
              </a:rPr>
              <a:t>0)</a:t>
            </a:r>
            <a:r>
              <a:rPr sz="900" spc="-5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12698">
              <a:spcBef>
                <a:spcPts val="720"/>
              </a:spcBef>
            </a:pP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…</a:t>
            </a:r>
            <a:endParaRPr sz="900">
              <a:latin typeface="Courier New"/>
              <a:cs typeface="Courier New"/>
            </a:endParaRPr>
          </a:p>
          <a:p>
            <a:pPr marL="12698">
              <a:spcBef>
                <a:spcPts val="720"/>
              </a:spcBef>
            </a:pP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  <a:p>
            <a:pPr marL="12698">
              <a:spcBef>
                <a:spcPts val="720"/>
              </a:spcBef>
            </a:pPr>
            <a:r>
              <a:rPr sz="9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41940" y="2836864"/>
            <a:ext cx="2286000" cy="76200"/>
            <a:chOff x="5341940" y="2836863"/>
            <a:chExt cx="2286000" cy="76200"/>
          </a:xfrm>
        </p:grpSpPr>
        <p:sp>
          <p:nvSpPr>
            <p:cNvPr id="14" name="object 14"/>
            <p:cNvSpPr/>
            <p:nvPr/>
          </p:nvSpPr>
          <p:spPr>
            <a:xfrm>
              <a:off x="5341940" y="2874962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8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5341" y="28368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18341" y="2874962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83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51741" y="28368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3881" y="4203397"/>
            <a:ext cx="3134360" cy="883919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12698" marR="5080">
              <a:lnSpc>
                <a:spcPct val="101200"/>
              </a:lnSpc>
              <a:spcBef>
                <a:spcPts val="6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</a:t>
            </a:r>
            <a:r>
              <a:rPr sz="2800" spc="-7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caja  </a:t>
            </a:r>
            <a:r>
              <a:rPr sz="2800" spc="-15" dirty="0">
                <a:solidFill>
                  <a:srgbClr val="9B172C"/>
                </a:solidFill>
                <a:latin typeface="Verdana"/>
                <a:cs typeface="Verdana"/>
              </a:rPr>
              <a:t>negra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(interfaz)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82481" y="4050996"/>
            <a:ext cx="3165475" cy="1306766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12698" marR="5080">
              <a:lnSpc>
                <a:spcPct val="99700"/>
              </a:lnSpc>
              <a:spcBef>
                <a:spcPts val="11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 caja  blanca 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(im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lemen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ta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ci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n)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3770629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Automatizaci</a:t>
            </a:r>
            <a:r>
              <a:rPr spc="-5" dirty="0">
                <a:latin typeface="Arial"/>
                <a:cs typeface="Arial"/>
              </a:rPr>
              <a:t>ó</a:t>
            </a:r>
            <a:r>
              <a:rPr spc="-5"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06" y="4522471"/>
            <a:ext cx="1965325" cy="4521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280636" indent="-268572">
              <a:spcBef>
                <a:spcPts val="10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Manuales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681" y="4541521"/>
            <a:ext cx="2483485" cy="4521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280636" indent="-268572">
              <a:spcBef>
                <a:spcPts val="10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Autom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ticos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9142" y="2755901"/>
            <a:ext cx="1335087" cy="1344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66519" y="2683984"/>
            <a:ext cx="1838257" cy="1387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401256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¿Qu</a:t>
            </a:r>
            <a:r>
              <a:rPr dirty="0">
                <a:latin typeface="Arial"/>
                <a:cs typeface="Arial"/>
              </a:rPr>
              <a:t>é </a:t>
            </a:r>
            <a:r>
              <a:rPr dirty="0"/>
              <a:t>se</a:t>
            </a:r>
            <a:r>
              <a:rPr spc="140" dirty="0"/>
              <a:t> </a:t>
            </a:r>
            <a:r>
              <a:rPr spc="-5" dirty="0"/>
              <a:t>prueba?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1918" y="1409702"/>
            <a:ext cx="5648960" cy="4064000"/>
            <a:chOff x="1521918" y="1409701"/>
            <a:chExt cx="5648960" cy="4064000"/>
          </a:xfrm>
        </p:grpSpPr>
        <p:sp>
          <p:nvSpPr>
            <p:cNvPr id="4" name="object 4"/>
            <p:cNvSpPr/>
            <p:nvPr/>
          </p:nvSpPr>
          <p:spPr>
            <a:xfrm>
              <a:off x="1989141" y="1409701"/>
              <a:ext cx="5181600" cy="4064000"/>
            </a:xfrm>
            <a:custGeom>
              <a:avLst/>
              <a:gdLst/>
              <a:ahLst/>
              <a:cxnLst/>
              <a:rect l="l" t="t" r="r" b="b"/>
              <a:pathLst>
                <a:path w="5181600" h="4064000">
                  <a:moveTo>
                    <a:pt x="3149600" y="0"/>
                  </a:moveTo>
                  <a:lnTo>
                    <a:pt x="3149600" y="1016000"/>
                  </a:lnTo>
                  <a:lnTo>
                    <a:pt x="0" y="1016000"/>
                  </a:lnTo>
                  <a:lnTo>
                    <a:pt x="0" y="3048000"/>
                  </a:lnTo>
                  <a:lnTo>
                    <a:pt x="3149600" y="3048000"/>
                  </a:lnTo>
                  <a:lnTo>
                    <a:pt x="3149600" y="4064000"/>
                  </a:lnTo>
                  <a:lnTo>
                    <a:pt x="5181600" y="2032000"/>
                  </a:lnTo>
                  <a:lnTo>
                    <a:pt x="314960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4620" y="2628901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976058" y="0"/>
                  </a:moveTo>
                  <a:lnTo>
                    <a:pt x="195211" y="0"/>
                  </a:lnTo>
                  <a:lnTo>
                    <a:pt x="150452" y="5155"/>
                  </a:lnTo>
                  <a:lnTo>
                    <a:pt x="109363" y="19841"/>
                  </a:lnTo>
                  <a:lnTo>
                    <a:pt x="73117" y="42886"/>
                  </a:lnTo>
                  <a:lnTo>
                    <a:pt x="42886" y="73117"/>
                  </a:lnTo>
                  <a:lnTo>
                    <a:pt x="19841" y="109363"/>
                  </a:lnTo>
                  <a:lnTo>
                    <a:pt x="5155" y="150452"/>
                  </a:lnTo>
                  <a:lnTo>
                    <a:pt x="0" y="195211"/>
                  </a:lnTo>
                  <a:lnTo>
                    <a:pt x="0" y="1430375"/>
                  </a:lnTo>
                  <a:lnTo>
                    <a:pt x="5155" y="1475139"/>
                  </a:lnTo>
                  <a:lnTo>
                    <a:pt x="19841" y="1516231"/>
                  </a:lnTo>
                  <a:lnTo>
                    <a:pt x="42886" y="1552479"/>
                  </a:lnTo>
                  <a:lnTo>
                    <a:pt x="73117" y="1582712"/>
                  </a:lnTo>
                  <a:lnTo>
                    <a:pt x="109363" y="1605757"/>
                  </a:lnTo>
                  <a:lnTo>
                    <a:pt x="150452" y="1620444"/>
                  </a:lnTo>
                  <a:lnTo>
                    <a:pt x="195211" y="1625600"/>
                  </a:lnTo>
                  <a:lnTo>
                    <a:pt x="976058" y="1625600"/>
                  </a:lnTo>
                  <a:lnTo>
                    <a:pt x="1020818" y="1620444"/>
                  </a:lnTo>
                  <a:lnTo>
                    <a:pt x="1061906" y="1605757"/>
                  </a:lnTo>
                  <a:lnTo>
                    <a:pt x="1098152" y="1582712"/>
                  </a:lnTo>
                  <a:lnTo>
                    <a:pt x="1128383" y="1552479"/>
                  </a:lnTo>
                  <a:lnTo>
                    <a:pt x="1151428" y="1516231"/>
                  </a:lnTo>
                  <a:lnTo>
                    <a:pt x="1166114" y="1475139"/>
                  </a:lnTo>
                  <a:lnTo>
                    <a:pt x="1171270" y="1430375"/>
                  </a:lnTo>
                  <a:lnTo>
                    <a:pt x="1171270" y="195211"/>
                  </a:lnTo>
                  <a:lnTo>
                    <a:pt x="1166114" y="150452"/>
                  </a:lnTo>
                  <a:lnTo>
                    <a:pt x="1151428" y="109363"/>
                  </a:lnTo>
                  <a:lnTo>
                    <a:pt x="1128383" y="73117"/>
                  </a:lnTo>
                  <a:lnTo>
                    <a:pt x="1098152" y="42886"/>
                  </a:lnTo>
                  <a:lnTo>
                    <a:pt x="1061906" y="19841"/>
                  </a:lnTo>
                  <a:lnTo>
                    <a:pt x="1020818" y="5155"/>
                  </a:lnTo>
                  <a:lnTo>
                    <a:pt x="976058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4618" y="2628902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0" y="195220"/>
                  </a:moveTo>
                  <a:lnTo>
                    <a:pt x="5155" y="150456"/>
                  </a:lnTo>
                  <a:lnTo>
                    <a:pt x="19841" y="109365"/>
                  </a:lnTo>
                  <a:lnTo>
                    <a:pt x="42885" y="73118"/>
                  </a:lnTo>
                  <a:lnTo>
                    <a:pt x="73116" y="42886"/>
                  </a:lnTo>
                  <a:lnTo>
                    <a:pt x="109362" y="19841"/>
                  </a:lnTo>
                  <a:lnTo>
                    <a:pt x="150450" y="5155"/>
                  </a:lnTo>
                  <a:lnTo>
                    <a:pt x="195210" y="0"/>
                  </a:lnTo>
                  <a:lnTo>
                    <a:pt x="976060" y="0"/>
                  </a:lnTo>
                  <a:lnTo>
                    <a:pt x="1020819" y="5155"/>
                  </a:lnTo>
                  <a:lnTo>
                    <a:pt x="1061908" y="19841"/>
                  </a:lnTo>
                  <a:lnTo>
                    <a:pt x="1098153" y="42886"/>
                  </a:lnTo>
                  <a:lnTo>
                    <a:pt x="1128384" y="73118"/>
                  </a:lnTo>
                  <a:lnTo>
                    <a:pt x="1151429" y="109365"/>
                  </a:lnTo>
                  <a:lnTo>
                    <a:pt x="1166114" y="150456"/>
                  </a:lnTo>
                  <a:lnTo>
                    <a:pt x="1171270" y="195220"/>
                  </a:lnTo>
                  <a:lnTo>
                    <a:pt x="1171270" y="1430380"/>
                  </a:lnTo>
                  <a:lnTo>
                    <a:pt x="1166114" y="1475143"/>
                  </a:lnTo>
                  <a:lnTo>
                    <a:pt x="1151429" y="1516234"/>
                  </a:lnTo>
                  <a:lnTo>
                    <a:pt x="1128384" y="1552482"/>
                  </a:lnTo>
                  <a:lnTo>
                    <a:pt x="1098153" y="1582714"/>
                  </a:lnTo>
                  <a:lnTo>
                    <a:pt x="1061908" y="1605759"/>
                  </a:lnTo>
                  <a:lnTo>
                    <a:pt x="1020819" y="1620445"/>
                  </a:lnTo>
                  <a:lnTo>
                    <a:pt x="976060" y="1625600"/>
                  </a:lnTo>
                  <a:lnTo>
                    <a:pt x="195210" y="1625600"/>
                  </a:lnTo>
                  <a:lnTo>
                    <a:pt x="150450" y="1620445"/>
                  </a:lnTo>
                  <a:lnTo>
                    <a:pt x="109362" y="1605759"/>
                  </a:lnTo>
                  <a:lnTo>
                    <a:pt x="73116" y="1582714"/>
                  </a:lnTo>
                  <a:lnTo>
                    <a:pt x="42885" y="1552482"/>
                  </a:lnTo>
                  <a:lnTo>
                    <a:pt x="19841" y="1516234"/>
                  </a:lnTo>
                  <a:lnTo>
                    <a:pt x="5155" y="1475143"/>
                  </a:lnTo>
                  <a:lnTo>
                    <a:pt x="0" y="1430380"/>
                  </a:lnTo>
                  <a:lnTo>
                    <a:pt x="0" y="1952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47226" y="3262759"/>
            <a:ext cx="952500" cy="345440"/>
          </a:xfrm>
          <a:prstGeom prst="rect">
            <a:avLst/>
          </a:prstGeom>
        </p:spPr>
        <p:txBody>
          <a:bodyPr vert="horz" wrap="square" lIns="0" tIns="30477" rIns="0" bIns="0" rtlCol="0">
            <a:spAutoFit/>
          </a:bodyPr>
          <a:lstStyle/>
          <a:p>
            <a:pPr marL="12698" marR="5080" indent="34920">
              <a:lnSpc>
                <a:spcPts val="1200"/>
              </a:lnSpc>
              <a:spcBef>
                <a:spcPts val="240"/>
              </a:spcBef>
            </a:pPr>
            <a:r>
              <a:rPr sz="1100" spc="-5" dirty="0">
                <a:latin typeface="Verdana"/>
                <a:cs typeface="Verdana"/>
              </a:rPr>
              <a:t>Unitarias(de  </a:t>
            </a:r>
            <a:r>
              <a:rPr sz="1100" dirty="0">
                <a:latin typeface="Verdana"/>
                <a:cs typeface="Verdana"/>
              </a:rPr>
              <a:t>c</a:t>
            </a:r>
            <a:r>
              <a:rPr sz="1100" spc="-5" dirty="0">
                <a:latin typeface="Verdana"/>
                <a:cs typeface="Verdana"/>
              </a:rPr>
              <a:t>o</a:t>
            </a:r>
            <a:r>
              <a:rPr sz="1100" dirty="0">
                <a:latin typeface="Verdana"/>
                <a:cs typeface="Verdana"/>
              </a:rPr>
              <a:t>m</a:t>
            </a:r>
            <a:r>
              <a:rPr sz="1100" spc="-5" dirty="0">
                <a:latin typeface="Verdana"/>
                <a:cs typeface="Verdana"/>
              </a:rPr>
              <a:t>po</a:t>
            </a:r>
            <a:r>
              <a:rPr sz="1100" dirty="0">
                <a:latin typeface="Verdana"/>
                <a:cs typeface="Verdana"/>
              </a:rPr>
              <a:t>nent</a:t>
            </a:r>
            <a:r>
              <a:rPr sz="1100" spc="-5" dirty="0">
                <a:latin typeface="Verdana"/>
                <a:cs typeface="Verdana"/>
              </a:rPr>
              <a:t>e</a:t>
            </a:r>
            <a:r>
              <a:rPr sz="1100" dirty="0">
                <a:latin typeface="Verdana"/>
                <a:cs typeface="Verdana"/>
              </a:rPr>
              <a:t>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51760" y="2616202"/>
            <a:ext cx="1196975" cy="1651000"/>
            <a:chOff x="2751759" y="2616202"/>
            <a:chExt cx="1196975" cy="1651000"/>
          </a:xfrm>
        </p:grpSpPr>
        <p:sp>
          <p:nvSpPr>
            <p:cNvPr id="9" name="object 9"/>
            <p:cNvSpPr/>
            <p:nvPr/>
          </p:nvSpPr>
          <p:spPr>
            <a:xfrm>
              <a:off x="2764451" y="2628901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976071" y="0"/>
                  </a:moveTo>
                  <a:lnTo>
                    <a:pt x="195224" y="0"/>
                  </a:lnTo>
                  <a:lnTo>
                    <a:pt x="150460" y="5155"/>
                  </a:lnTo>
                  <a:lnTo>
                    <a:pt x="109368" y="19841"/>
                  </a:lnTo>
                  <a:lnTo>
                    <a:pt x="73120" y="42886"/>
                  </a:lnTo>
                  <a:lnTo>
                    <a:pt x="42887" y="73117"/>
                  </a:lnTo>
                  <a:lnTo>
                    <a:pt x="19842" y="109363"/>
                  </a:lnTo>
                  <a:lnTo>
                    <a:pt x="5155" y="150452"/>
                  </a:lnTo>
                  <a:lnTo>
                    <a:pt x="0" y="195211"/>
                  </a:lnTo>
                  <a:lnTo>
                    <a:pt x="0" y="1430375"/>
                  </a:lnTo>
                  <a:lnTo>
                    <a:pt x="5155" y="1475139"/>
                  </a:lnTo>
                  <a:lnTo>
                    <a:pt x="19842" y="1516231"/>
                  </a:lnTo>
                  <a:lnTo>
                    <a:pt x="42887" y="1552479"/>
                  </a:lnTo>
                  <a:lnTo>
                    <a:pt x="73120" y="1582712"/>
                  </a:lnTo>
                  <a:lnTo>
                    <a:pt x="109368" y="1605757"/>
                  </a:lnTo>
                  <a:lnTo>
                    <a:pt x="150460" y="1620444"/>
                  </a:lnTo>
                  <a:lnTo>
                    <a:pt x="195224" y="1625600"/>
                  </a:lnTo>
                  <a:lnTo>
                    <a:pt x="976071" y="1625600"/>
                  </a:lnTo>
                  <a:lnTo>
                    <a:pt x="1020830" y="1620444"/>
                  </a:lnTo>
                  <a:lnTo>
                    <a:pt x="1061919" y="1605757"/>
                  </a:lnTo>
                  <a:lnTo>
                    <a:pt x="1098165" y="1582712"/>
                  </a:lnTo>
                  <a:lnTo>
                    <a:pt x="1128396" y="1552479"/>
                  </a:lnTo>
                  <a:lnTo>
                    <a:pt x="1151440" y="1516231"/>
                  </a:lnTo>
                  <a:lnTo>
                    <a:pt x="1166127" y="1475139"/>
                  </a:lnTo>
                  <a:lnTo>
                    <a:pt x="1171282" y="1430375"/>
                  </a:lnTo>
                  <a:lnTo>
                    <a:pt x="1171282" y="195211"/>
                  </a:lnTo>
                  <a:lnTo>
                    <a:pt x="1166127" y="150452"/>
                  </a:lnTo>
                  <a:lnTo>
                    <a:pt x="1151440" y="109363"/>
                  </a:lnTo>
                  <a:lnTo>
                    <a:pt x="1128396" y="73117"/>
                  </a:lnTo>
                  <a:lnTo>
                    <a:pt x="1098165" y="42886"/>
                  </a:lnTo>
                  <a:lnTo>
                    <a:pt x="1061919" y="19841"/>
                  </a:lnTo>
                  <a:lnTo>
                    <a:pt x="1020830" y="5155"/>
                  </a:lnTo>
                  <a:lnTo>
                    <a:pt x="976071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64459" y="2628902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0" y="195220"/>
                  </a:moveTo>
                  <a:lnTo>
                    <a:pt x="5155" y="150456"/>
                  </a:lnTo>
                  <a:lnTo>
                    <a:pt x="19841" y="109365"/>
                  </a:lnTo>
                  <a:lnTo>
                    <a:pt x="42886" y="73118"/>
                  </a:lnTo>
                  <a:lnTo>
                    <a:pt x="73118" y="42886"/>
                  </a:lnTo>
                  <a:lnTo>
                    <a:pt x="109365" y="19841"/>
                  </a:lnTo>
                  <a:lnTo>
                    <a:pt x="150456" y="5155"/>
                  </a:lnTo>
                  <a:lnTo>
                    <a:pt x="195220" y="0"/>
                  </a:lnTo>
                  <a:lnTo>
                    <a:pt x="976060" y="0"/>
                  </a:lnTo>
                  <a:lnTo>
                    <a:pt x="1020823" y="5155"/>
                  </a:lnTo>
                  <a:lnTo>
                    <a:pt x="1061914" y="19841"/>
                  </a:lnTo>
                  <a:lnTo>
                    <a:pt x="1098162" y="42886"/>
                  </a:lnTo>
                  <a:lnTo>
                    <a:pt x="1128393" y="73118"/>
                  </a:lnTo>
                  <a:lnTo>
                    <a:pt x="1151438" y="109365"/>
                  </a:lnTo>
                  <a:lnTo>
                    <a:pt x="1166124" y="150456"/>
                  </a:lnTo>
                  <a:lnTo>
                    <a:pt x="1171280" y="195220"/>
                  </a:lnTo>
                  <a:lnTo>
                    <a:pt x="1171280" y="1430380"/>
                  </a:lnTo>
                  <a:lnTo>
                    <a:pt x="1166124" y="1475143"/>
                  </a:lnTo>
                  <a:lnTo>
                    <a:pt x="1151438" y="1516234"/>
                  </a:lnTo>
                  <a:lnTo>
                    <a:pt x="1128393" y="1552482"/>
                  </a:lnTo>
                  <a:lnTo>
                    <a:pt x="1098162" y="1582714"/>
                  </a:lnTo>
                  <a:lnTo>
                    <a:pt x="1061914" y="1605759"/>
                  </a:lnTo>
                  <a:lnTo>
                    <a:pt x="1020823" y="1620445"/>
                  </a:lnTo>
                  <a:lnTo>
                    <a:pt x="976060" y="1625600"/>
                  </a:lnTo>
                  <a:lnTo>
                    <a:pt x="195220" y="1625600"/>
                  </a:lnTo>
                  <a:lnTo>
                    <a:pt x="150456" y="1620445"/>
                  </a:lnTo>
                  <a:lnTo>
                    <a:pt x="109365" y="1605759"/>
                  </a:lnTo>
                  <a:lnTo>
                    <a:pt x="73118" y="1582714"/>
                  </a:lnTo>
                  <a:lnTo>
                    <a:pt x="42886" y="1552482"/>
                  </a:lnTo>
                  <a:lnTo>
                    <a:pt x="19841" y="1516234"/>
                  </a:lnTo>
                  <a:lnTo>
                    <a:pt x="5155" y="1475143"/>
                  </a:lnTo>
                  <a:lnTo>
                    <a:pt x="0" y="1430380"/>
                  </a:lnTo>
                  <a:lnTo>
                    <a:pt x="0" y="1952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55411" y="3262759"/>
            <a:ext cx="796290" cy="345440"/>
          </a:xfrm>
          <a:prstGeom prst="rect">
            <a:avLst/>
          </a:prstGeom>
        </p:spPr>
        <p:txBody>
          <a:bodyPr vert="horz" wrap="square" lIns="0" tIns="30477" rIns="0" bIns="0" rtlCol="0">
            <a:spAutoFit/>
          </a:bodyPr>
          <a:lstStyle/>
          <a:p>
            <a:pPr marL="12698" marR="5080" indent="289524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Verdana"/>
                <a:cs typeface="Verdana"/>
              </a:rPr>
              <a:t>De  int</a:t>
            </a:r>
            <a:r>
              <a:rPr sz="1100" spc="-5" dirty="0">
                <a:latin typeface="Verdana"/>
                <a:cs typeface="Verdana"/>
              </a:rPr>
              <a:t>eg</a:t>
            </a:r>
            <a:r>
              <a:rPr sz="1100" spc="-20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aci</a:t>
            </a:r>
            <a:r>
              <a:rPr sz="1100" dirty="0">
                <a:latin typeface="Arial"/>
                <a:cs typeface="Arial"/>
              </a:rPr>
              <a:t>ó</a:t>
            </a:r>
            <a:r>
              <a:rPr sz="1100" dirty="0">
                <a:latin typeface="Verdana"/>
                <a:cs typeface="Verdana"/>
              </a:rPr>
              <a:t>n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81599" y="2616202"/>
            <a:ext cx="1196975" cy="1651000"/>
            <a:chOff x="3981599" y="2616202"/>
            <a:chExt cx="1196975" cy="1651000"/>
          </a:xfrm>
        </p:grpSpPr>
        <p:sp>
          <p:nvSpPr>
            <p:cNvPr id="13" name="object 13"/>
            <p:cNvSpPr/>
            <p:nvPr/>
          </p:nvSpPr>
          <p:spPr>
            <a:xfrm>
              <a:off x="3994293" y="2628901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976058" y="0"/>
                  </a:moveTo>
                  <a:lnTo>
                    <a:pt x="195224" y="0"/>
                  </a:lnTo>
                  <a:lnTo>
                    <a:pt x="150460" y="5155"/>
                  </a:lnTo>
                  <a:lnTo>
                    <a:pt x="109368" y="19841"/>
                  </a:lnTo>
                  <a:lnTo>
                    <a:pt x="73120" y="42886"/>
                  </a:lnTo>
                  <a:lnTo>
                    <a:pt x="42887" y="73117"/>
                  </a:lnTo>
                  <a:lnTo>
                    <a:pt x="19842" y="109363"/>
                  </a:lnTo>
                  <a:lnTo>
                    <a:pt x="5155" y="150452"/>
                  </a:lnTo>
                  <a:lnTo>
                    <a:pt x="0" y="195211"/>
                  </a:lnTo>
                  <a:lnTo>
                    <a:pt x="0" y="1430375"/>
                  </a:lnTo>
                  <a:lnTo>
                    <a:pt x="5155" y="1475139"/>
                  </a:lnTo>
                  <a:lnTo>
                    <a:pt x="19842" y="1516231"/>
                  </a:lnTo>
                  <a:lnTo>
                    <a:pt x="42887" y="1552479"/>
                  </a:lnTo>
                  <a:lnTo>
                    <a:pt x="73120" y="1582712"/>
                  </a:lnTo>
                  <a:lnTo>
                    <a:pt x="109368" y="1605757"/>
                  </a:lnTo>
                  <a:lnTo>
                    <a:pt x="150460" y="1620444"/>
                  </a:lnTo>
                  <a:lnTo>
                    <a:pt x="195224" y="1625600"/>
                  </a:lnTo>
                  <a:lnTo>
                    <a:pt x="976058" y="1625600"/>
                  </a:lnTo>
                  <a:lnTo>
                    <a:pt x="1020822" y="1620444"/>
                  </a:lnTo>
                  <a:lnTo>
                    <a:pt x="1061914" y="1605757"/>
                  </a:lnTo>
                  <a:lnTo>
                    <a:pt x="1098162" y="1582712"/>
                  </a:lnTo>
                  <a:lnTo>
                    <a:pt x="1128395" y="1552479"/>
                  </a:lnTo>
                  <a:lnTo>
                    <a:pt x="1151440" y="1516231"/>
                  </a:lnTo>
                  <a:lnTo>
                    <a:pt x="1166127" y="1475139"/>
                  </a:lnTo>
                  <a:lnTo>
                    <a:pt x="1171282" y="1430375"/>
                  </a:lnTo>
                  <a:lnTo>
                    <a:pt x="1171282" y="195211"/>
                  </a:lnTo>
                  <a:lnTo>
                    <a:pt x="1166127" y="150452"/>
                  </a:lnTo>
                  <a:lnTo>
                    <a:pt x="1151440" y="109363"/>
                  </a:lnTo>
                  <a:lnTo>
                    <a:pt x="1128395" y="73117"/>
                  </a:lnTo>
                  <a:lnTo>
                    <a:pt x="1098162" y="42886"/>
                  </a:lnTo>
                  <a:lnTo>
                    <a:pt x="1061914" y="19841"/>
                  </a:lnTo>
                  <a:lnTo>
                    <a:pt x="1020822" y="5155"/>
                  </a:lnTo>
                  <a:lnTo>
                    <a:pt x="976058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94299" y="2628902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0" y="195220"/>
                  </a:moveTo>
                  <a:lnTo>
                    <a:pt x="5155" y="150456"/>
                  </a:lnTo>
                  <a:lnTo>
                    <a:pt x="19841" y="109365"/>
                  </a:lnTo>
                  <a:lnTo>
                    <a:pt x="42886" y="73118"/>
                  </a:lnTo>
                  <a:lnTo>
                    <a:pt x="73118" y="42886"/>
                  </a:lnTo>
                  <a:lnTo>
                    <a:pt x="109365" y="19841"/>
                  </a:lnTo>
                  <a:lnTo>
                    <a:pt x="150456" y="5155"/>
                  </a:lnTo>
                  <a:lnTo>
                    <a:pt x="195220" y="0"/>
                  </a:lnTo>
                  <a:lnTo>
                    <a:pt x="976060" y="0"/>
                  </a:lnTo>
                  <a:lnTo>
                    <a:pt x="1020823" y="5155"/>
                  </a:lnTo>
                  <a:lnTo>
                    <a:pt x="1061914" y="19841"/>
                  </a:lnTo>
                  <a:lnTo>
                    <a:pt x="1098162" y="42886"/>
                  </a:lnTo>
                  <a:lnTo>
                    <a:pt x="1128393" y="73118"/>
                  </a:lnTo>
                  <a:lnTo>
                    <a:pt x="1151438" y="109365"/>
                  </a:lnTo>
                  <a:lnTo>
                    <a:pt x="1166124" y="150456"/>
                  </a:lnTo>
                  <a:lnTo>
                    <a:pt x="1171280" y="195220"/>
                  </a:lnTo>
                  <a:lnTo>
                    <a:pt x="1171280" y="1430380"/>
                  </a:lnTo>
                  <a:lnTo>
                    <a:pt x="1166124" y="1475143"/>
                  </a:lnTo>
                  <a:lnTo>
                    <a:pt x="1151438" y="1516234"/>
                  </a:lnTo>
                  <a:lnTo>
                    <a:pt x="1128393" y="1552482"/>
                  </a:lnTo>
                  <a:lnTo>
                    <a:pt x="1098162" y="1582714"/>
                  </a:lnTo>
                  <a:lnTo>
                    <a:pt x="1061914" y="1605759"/>
                  </a:lnTo>
                  <a:lnTo>
                    <a:pt x="1020823" y="1620445"/>
                  </a:lnTo>
                  <a:lnTo>
                    <a:pt x="976060" y="1625600"/>
                  </a:lnTo>
                  <a:lnTo>
                    <a:pt x="195220" y="1625600"/>
                  </a:lnTo>
                  <a:lnTo>
                    <a:pt x="150456" y="1620445"/>
                  </a:lnTo>
                  <a:lnTo>
                    <a:pt x="109365" y="1605759"/>
                  </a:lnTo>
                  <a:lnTo>
                    <a:pt x="73118" y="1582714"/>
                  </a:lnTo>
                  <a:lnTo>
                    <a:pt x="42886" y="1552482"/>
                  </a:lnTo>
                  <a:lnTo>
                    <a:pt x="19841" y="1516234"/>
                  </a:lnTo>
                  <a:lnTo>
                    <a:pt x="5155" y="1475143"/>
                  </a:lnTo>
                  <a:lnTo>
                    <a:pt x="0" y="1430380"/>
                  </a:lnTo>
                  <a:lnTo>
                    <a:pt x="0" y="1952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60583" y="3338196"/>
            <a:ext cx="845185" cy="18305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Funcionales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11440" y="2616202"/>
            <a:ext cx="1196975" cy="1651000"/>
            <a:chOff x="5211440" y="2616202"/>
            <a:chExt cx="1196975" cy="1651000"/>
          </a:xfrm>
        </p:grpSpPr>
        <p:sp>
          <p:nvSpPr>
            <p:cNvPr id="17" name="object 17"/>
            <p:cNvSpPr/>
            <p:nvPr/>
          </p:nvSpPr>
          <p:spPr>
            <a:xfrm>
              <a:off x="5224136" y="2628901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976058" y="0"/>
                  </a:moveTo>
                  <a:lnTo>
                    <a:pt x="195224" y="0"/>
                  </a:lnTo>
                  <a:lnTo>
                    <a:pt x="150460" y="5155"/>
                  </a:lnTo>
                  <a:lnTo>
                    <a:pt x="109368" y="19841"/>
                  </a:lnTo>
                  <a:lnTo>
                    <a:pt x="73120" y="42886"/>
                  </a:lnTo>
                  <a:lnTo>
                    <a:pt x="42887" y="73117"/>
                  </a:lnTo>
                  <a:lnTo>
                    <a:pt x="19842" y="109363"/>
                  </a:lnTo>
                  <a:lnTo>
                    <a:pt x="5155" y="150452"/>
                  </a:lnTo>
                  <a:lnTo>
                    <a:pt x="0" y="195211"/>
                  </a:lnTo>
                  <a:lnTo>
                    <a:pt x="0" y="1430375"/>
                  </a:lnTo>
                  <a:lnTo>
                    <a:pt x="5155" y="1475139"/>
                  </a:lnTo>
                  <a:lnTo>
                    <a:pt x="19842" y="1516231"/>
                  </a:lnTo>
                  <a:lnTo>
                    <a:pt x="42887" y="1552479"/>
                  </a:lnTo>
                  <a:lnTo>
                    <a:pt x="73120" y="1582712"/>
                  </a:lnTo>
                  <a:lnTo>
                    <a:pt x="109368" y="1605757"/>
                  </a:lnTo>
                  <a:lnTo>
                    <a:pt x="150460" y="1620444"/>
                  </a:lnTo>
                  <a:lnTo>
                    <a:pt x="195224" y="1625600"/>
                  </a:lnTo>
                  <a:lnTo>
                    <a:pt x="976058" y="1625600"/>
                  </a:lnTo>
                  <a:lnTo>
                    <a:pt x="1020822" y="1620444"/>
                  </a:lnTo>
                  <a:lnTo>
                    <a:pt x="1061914" y="1605757"/>
                  </a:lnTo>
                  <a:lnTo>
                    <a:pt x="1098162" y="1582712"/>
                  </a:lnTo>
                  <a:lnTo>
                    <a:pt x="1128395" y="1552479"/>
                  </a:lnTo>
                  <a:lnTo>
                    <a:pt x="1151440" y="1516231"/>
                  </a:lnTo>
                  <a:lnTo>
                    <a:pt x="1166127" y="1475139"/>
                  </a:lnTo>
                  <a:lnTo>
                    <a:pt x="1171282" y="1430375"/>
                  </a:lnTo>
                  <a:lnTo>
                    <a:pt x="1171282" y="195211"/>
                  </a:lnTo>
                  <a:lnTo>
                    <a:pt x="1166127" y="150452"/>
                  </a:lnTo>
                  <a:lnTo>
                    <a:pt x="1151440" y="109363"/>
                  </a:lnTo>
                  <a:lnTo>
                    <a:pt x="1128395" y="73117"/>
                  </a:lnTo>
                  <a:lnTo>
                    <a:pt x="1098162" y="42886"/>
                  </a:lnTo>
                  <a:lnTo>
                    <a:pt x="1061914" y="19841"/>
                  </a:lnTo>
                  <a:lnTo>
                    <a:pt x="1020822" y="5155"/>
                  </a:lnTo>
                  <a:lnTo>
                    <a:pt x="976058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24140" y="2628902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0" y="195220"/>
                  </a:moveTo>
                  <a:lnTo>
                    <a:pt x="5155" y="150456"/>
                  </a:lnTo>
                  <a:lnTo>
                    <a:pt x="19841" y="109365"/>
                  </a:lnTo>
                  <a:lnTo>
                    <a:pt x="42886" y="73118"/>
                  </a:lnTo>
                  <a:lnTo>
                    <a:pt x="73118" y="42886"/>
                  </a:lnTo>
                  <a:lnTo>
                    <a:pt x="109365" y="19841"/>
                  </a:lnTo>
                  <a:lnTo>
                    <a:pt x="150456" y="5155"/>
                  </a:lnTo>
                  <a:lnTo>
                    <a:pt x="195220" y="0"/>
                  </a:lnTo>
                  <a:lnTo>
                    <a:pt x="976060" y="0"/>
                  </a:lnTo>
                  <a:lnTo>
                    <a:pt x="1020823" y="5155"/>
                  </a:lnTo>
                  <a:lnTo>
                    <a:pt x="1061914" y="19841"/>
                  </a:lnTo>
                  <a:lnTo>
                    <a:pt x="1098162" y="42886"/>
                  </a:lnTo>
                  <a:lnTo>
                    <a:pt x="1128393" y="73118"/>
                  </a:lnTo>
                  <a:lnTo>
                    <a:pt x="1151438" y="109365"/>
                  </a:lnTo>
                  <a:lnTo>
                    <a:pt x="1166124" y="150456"/>
                  </a:lnTo>
                  <a:lnTo>
                    <a:pt x="1171280" y="195220"/>
                  </a:lnTo>
                  <a:lnTo>
                    <a:pt x="1171280" y="1430380"/>
                  </a:lnTo>
                  <a:lnTo>
                    <a:pt x="1166124" y="1475143"/>
                  </a:lnTo>
                  <a:lnTo>
                    <a:pt x="1151438" y="1516234"/>
                  </a:lnTo>
                  <a:lnTo>
                    <a:pt x="1128393" y="1552482"/>
                  </a:lnTo>
                  <a:lnTo>
                    <a:pt x="1098162" y="1582714"/>
                  </a:lnTo>
                  <a:lnTo>
                    <a:pt x="1061914" y="1605759"/>
                  </a:lnTo>
                  <a:lnTo>
                    <a:pt x="1020823" y="1620445"/>
                  </a:lnTo>
                  <a:lnTo>
                    <a:pt x="976060" y="1625600"/>
                  </a:lnTo>
                  <a:lnTo>
                    <a:pt x="195220" y="1625600"/>
                  </a:lnTo>
                  <a:lnTo>
                    <a:pt x="150456" y="1620445"/>
                  </a:lnTo>
                  <a:lnTo>
                    <a:pt x="109365" y="1605759"/>
                  </a:lnTo>
                  <a:lnTo>
                    <a:pt x="73118" y="1582714"/>
                  </a:lnTo>
                  <a:lnTo>
                    <a:pt x="42886" y="1552482"/>
                  </a:lnTo>
                  <a:lnTo>
                    <a:pt x="19841" y="1516234"/>
                  </a:lnTo>
                  <a:lnTo>
                    <a:pt x="5155" y="1475143"/>
                  </a:lnTo>
                  <a:lnTo>
                    <a:pt x="0" y="1430380"/>
                  </a:lnTo>
                  <a:lnTo>
                    <a:pt x="0" y="1952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79101" y="3187319"/>
            <a:ext cx="868044" cy="497841"/>
          </a:xfrm>
          <a:prstGeom prst="rect">
            <a:avLst/>
          </a:prstGeom>
        </p:spPr>
        <p:txBody>
          <a:bodyPr vert="horz" wrap="square" lIns="0" tIns="30477" rIns="0" bIns="0" rtlCol="0">
            <a:spAutoFit/>
          </a:bodyPr>
          <a:lstStyle/>
          <a:p>
            <a:pPr marL="12698" marR="5080" algn="ctr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Verdana"/>
                <a:cs typeface="Verdana"/>
              </a:rPr>
              <a:t>De    ren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imiento  </a:t>
            </a:r>
            <a:r>
              <a:rPr sz="1100" spc="-5" dirty="0">
                <a:latin typeface="Verdana"/>
                <a:cs typeface="Verdana"/>
              </a:rPr>
              <a:t>(de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estr</a:t>
            </a:r>
            <a:r>
              <a:rPr sz="1100" dirty="0">
                <a:latin typeface="Arial"/>
                <a:cs typeface="Arial"/>
              </a:rPr>
              <a:t>é</a:t>
            </a:r>
            <a:r>
              <a:rPr sz="1100" dirty="0">
                <a:latin typeface="Verdana"/>
                <a:cs typeface="Verdana"/>
              </a:rPr>
              <a:t>s)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41281" y="2616202"/>
            <a:ext cx="1196975" cy="1651000"/>
            <a:chOff x="6441281" y="2616202"/>
            <a:chExt cx="1196975" cy="1651000"/>
          </a:xfrm>
        </p:grpSpPr>
        <p:sp>
          <p:nvSpPr>
            <p:cNvPr id="21" name="object 21"/>
            <p:cNvSpPr/>
            <p:nvPr/>
          </p:nvSpPr>
          <p:spPr>
            <a:xfrm>
              <a:off x="6453978" y="2628901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976058" y="0"/>
                  </a:moveTo>
                  <a:lnTo>
                    <a:pt x="195211" y="0"/>
                  </a:lnTo>
                  <a:lnTo>
                    <a:pt x="150452" y="5155"/>
                  </a:lnTo>
                  <a:lnTo>
                    <a:pt x="109363" y="19841"/>
                  </a:lnTo>
                  <a:lnTo>
                    <a:pt x="73117" y="42886"/>
                  </a:lnTo>
                  <a:lnTo>
                    <a:pt x="42886" y="73117"/>
                  </a:lnTo>
                  <a:lnTo>
                    <a:pt x="19841" y="109363"/>
                  </a:lnTo>
                  <a:lnTo>
                    <a:pt x="5155" y="150452"/>
                  </a:lnTo>
                  <a:lnTo>
                    <a:pt x="0" y="195211"/>
                  </a:lnTo>
                  <a:lnTo>
                    <a:pt x="0" y="1430375"/>
                  </a:lnTo>
                  <a:lnTo>
                    <a:pt x="5155" y="1475139"/>
                  </a:lnTo>
                  <a:lnTo>
                    <a:pt x="19841" y="1516231"/>
                  </a:lnTo>
                  <a:lnTo>
                    <a:pt x="42886" y="1552479"/>
                  </a:lnTo>
                  <a:lnTo>
                    <a:pt x="73117" y="1582712"/>
                  </a:lnTo>
                  <a:lnTo>
                    <a:pt x="109363" y="1605757"/>
                  </a:lnTo>
                  <a:lnTo>
                    <a:pt x="150452" y="1620444"/>
                  </a:lnTo>
                  <a:lnTo>
                    <a:pt x="195211" y="1625600"/>
                  </a:lnTo>
                  <a:lnTo>
                    <a:pt x="976058" y="1625600"/>
                  </a:lnTo>
                  <a:lnTo>
                    <a:pt x="1020822" y="1620444"/>
                  </a:lnTo>
                  <a:lnTo>
                    <a:pt x="1061914" y="1605757"/>
                  </a:lnTo>
                  <a:lnTo>
                    <a:pt x="1098162" y="1582712"/>
                  </a:lnTo>
                  <a:lnTo>
                    <a:pt x="1128395" y="1552479"/>
                  </a:lnTo>
                  <a:lnTo>
                    <a:pt x="1151440" y="1516231"/>
                  </a:lnTo>
                  <a:lnTo>
                    <a:pt x="1166127" y="1475139"/>
                  </a:lnTo>
                  <a:lnTo>
                    <a:pt x="1171282" y="1430375"/>
                  </a:lnTo>
                  <a:lnTo>
                    <a:pt x="1171282" y="195211"/>
                  </a:lnTo>
                  <a:lnTo>
                    <a:pt x="1166127" y="150452"/>
                  </a:lnTo>
                  <a:lnTo>
                    <a:pt x="1151440" y="109363"/>
                  </a:lnTo>
                  <a:lnTo>
                    <a:pt x="1128395" y="73117"/>
                  </a:lnTo>
                  <a:lnTo>
                    <a:pt x="1098162" y="42886"/>
                  </a:lnTo>
                  <a:lnTo>
                    <a:pt x="1061914" y="19841"/>
                  </a:lnTo>
                  <a:lnTo>
                    <a:pt x="1020822" y="5155"/>
                  </a:lnTo>
                  <a:lnTo>
                    <a:pt x="976058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53981" y="2628902"/>
              <a:ext cx="1171575" cy="1625600"/>
            </a:xfrm>
            <a:custGeom>
              <a:avLst/>
              <a:gdLst/>
              <a:ahLst/>
              <a:cxnLst/>
              <a:rect l="l" t="t" r="r" b="b"/>
              <a:pathLst>
                <a:path w="1171575" h="1625600">
                  <a:moveTo>
                    <a:pt x="0" y="195220"/>
                  </a:moveTo>
                  <a:lnTo>
                    <a:pt x="5155" y="150456"/>
                  </a:lnTo>
                  <a:lnTo>
                    <a:pt x="19841" y="109365"/>
                  </a:lnTo>
                  <a:lnTo>
                    <a:pt x="42886" y="73118"/>
                  </a:lnTo>
                  <a:lnTo>
                    <a:pt x="73118" y="42886"/>
                  </a:lnTo>
                  <a:lnTo>
                    <a:pt x="109365" y="19841"/>
                  </a:lnTo>
                  <a:lnTo>
                    <a:pt x="150456" y="5155"/>
                  </a:lnTo>
                  <a:lnTo>
                    <a:pt x="195220" y="0"/>
                  </a:lnTo>
                  <a:lnTo>
                    <a:pt x="976060" y="0"/>
                  </a:lnTo>
                  <a:lnTo>
                    <a:pt x="1020823" y="5155"/>
                  </a:lnTo>
                  <a:lnTo>
                    <a:pt x="1061914" y="19841"/>
                  </a:lnTo>
                  <a:lnTo>
                    <a:pt x="1098162" y="42886"/>
                  </a:lnTo>
                  <a:lnTo>
                    <a:pt x="1128393" y="73118"/>
                  </a:lnTo>
                  <a:lnTo>
                    <a:pt x="1151438" y="109365"/>
                  </a:lnTo>
                  <a:lnTo>
                    <a:pt x="1166124" y="150456"/>
                  </a:lnTo>
                  <a:lnTo>
                    <a:pt x="1171280" y="195220"/>
                  </a:lnTo>
                  <a:lnTo>
                    <a:pt x="1171280" y="1430380"/>
                  </a:lnTo>
                  <a:lnTo>
                    <a:pt x="1166124" y="1475143"/>
                  </a:lnTo>
                  <a:lnTo>
                    <a:pt x="1151438" y="1516234"/>
                  </a:lnTo>
                  <a:lnTo>
                    <a:pt x="1128393" y="1552482"/>
                  </a:lnTo>
                  <a:lnTo>
                    <a:pt x="1098162" y="1582714"/>
                  </a:lnTo>
                  <a:lnTo>
                    <a:pt x="1061914" y="1605759"/>
                  </a:lnTo>
                  <a:lnTo>
                    <a:pt x="1020823" y="1620445"/>
                  </a:lnTo>
                  <a:lnTo>
                    <a:pt x="976060" y="1625600"/>
                  </a:lnTo>
                  <a:lnTo>
                    <a:pt x="195220" y="1625600"/>
                  </a:lnTo>
                  <a:lnTo>
                    <a:pt x="150456" y="1620445"/>
                  </a:lnTo>
                  <a:lnTo>
                    <a:pt x="109365" y="1605759"/>
                  </a:lnTo>
                  <a:lnTo>
                    <a:pt x="73118" y="1582714"/>
                  </a:lnTo>
                  <a:lnTo>
                    <a:pt x="42886" y="1552482"/>
                  </a:lnTo>
                  <a:lnTo>
                    <a:pt x="19841" y="1516234"/>
                  </a:lnTo>
                  <a:lnTo>
                    <a:pt x="5155" y="1475143"/>
                  </a:lnTo>
                  <a:lnTo>
                    <a:pt x="0" y="1430380"/>
                  </a:lnTo>
                  <a:lnTo>
                    <a:pt x="0" y="1952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58535" y="3262759"/>
            <a:ext cx="768985" cy="345440"/>
          </a:xfrm>
          <a:prstGeom prst="rect">
            <a:avLst/>
          </a:prstGeom>
        </p:spPr>
        <p:txBody>
          <a:bodyPr vert="horz" wrap="square" lIns="0" tIns="30477" rIns="0" bIns="0" rtlCol="0">
            <a:spAutoFit/>
          </a:bodyPr>
          <a:lstStyle/>
          <a:p>
            <a:pPr marL="12698" marR="5080" indent="275556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Verdana"/>
                <a:cs typeface="Verdana"/>
              </a:rPr>
              <a:t>De  ac</a:t>
            </a:r>
            <a:r>
              <a:rPr sz="1100" spc="-5" dirty="0">
                <a:latin typeface="Verdana"/>
                <a:cs typeface="Verdana"/>
              </a:rPr>
              <a:t>epta</a:t>
            </a:r>
            <a:r>
              <a:rPr sz="1100" dirty="0">
                <a:latin typeface="Verdana"/>
                <a:cs typeface="Verdana"/>
              </a:rPr>
              <a:t>ci</a:t>
            </a:r>
            <a:r>
              <a:rPr sz="1100" dirty="0">
                <a:latin typeface="Arial"/>
                <a:cs typeface="Arial"/>
              </a:rPr>
              <a:t>ó</a:t>
            </a:r>
            <a:r>
              <a:rPr sz="1100" dirty="0">
                <a:latin typeface="Verdana"/>
                <a:cs typeface="Verdana"/>
              </a:rPr>
              <a:t>n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3951604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Otros</a:t>
            </a:r>
            <a:r>
              <a:rPr spc="-80" dirty="0"/>
              <a:t> </a:t>
            </a:r>
            <a:r>
              <a:rPr spc="-5" dirty="0"/>
              <a:t>conceptos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2"/>
            <a:ext cx="4130040" cy="16129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Completitud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Depuraci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</a:t>
            </a:r>
            <a:r>
              <a:rPr sz="2800" spc="-4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regresi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15595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Ín</a:t>
            </a:r>
            <a:r>
              <a:rPr spc="-5" dirty="0"/>
              <a:t>di</a:t>
            </a:r>
            <a:r>
              <a:rPr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6951980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Conceptos fundamentales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software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Pruebas </a:t>
            </a:r>
            <a:r>
              <a:rPr sz="2800" b="1" dirty="0">
                <a:solidFill>
                  <a:srgbClr val="9B172C"/>
                </a:solidFill>
                <a:latin typeface="Verdana"/>
                <a:cs typeface="Verdana"/>
              </a:rPr>
              <a:t>unitarias</a:t>
            </a:r>
            <a:r>
              <a:rPr sz="2800" b="1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automatizadas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Desarrollo guiado por pruebas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Conclusiones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801941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Pruebas </a:t>
            </a:r>
            <a:r>
              <a:rPr dirty="0"/>
              <a:t>unitarias</a:t>
            </a:r>
            <a:r>
              <a:rPr spc="-10" dirty="0"/>
              <a:t> </a:t>
            </a:r>
            <a:r>
              <a:rPr spc="-5" dirty="0"/>
              <a:t>automatizadas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2529841"/>
            <a:ext cx="7505065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¿POR QU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É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r>
              <a:rPr sz="2800" spc="2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unitarias?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¿QU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É</a:t>
            </a:r>
            <a:r>
              <a:rPr sz="2800" spc="200" dirty="0">
                <a:solidFill>
                  <a:srgbClr val="9B172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probamos?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¿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C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MO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hacemos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pruebas?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¿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NDE implementamos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pruebas?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¿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CU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NDO implementamos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pruebas?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22623" y="1448296"/>
            <a:ext cx="1512417" cy="1822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679069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¿Por </a:t>
            </a:r>
            <a:r>
              <a:rPr spc="-5" dirty="0"/>
              <a:t>qu</a:t>
            </a:r>
            <a:r>
              <a:rPr spc="-5" dirty="0">
                <a:latin typeface="Arial"/>
                <a:cs typeface="Arial"/>
              </a:rPr>
              <a:t>é </a:t>
            </a:r>
            <a:r>
              <a:rPr spc="-5" dirty="0"/>
              <a:t>pruebas</a:t>
            </a:r>
            <a:r>
              <a:rPr spc="150" dirty="0"/>
              <a:t> </a:t>
            </a:r>
            <a:r>
              <a:rPr dirty="0"/>
              <a:t>unitarias?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7122795" cy="30988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M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exhaustivas</a:t>
            </a:r>
            <a:endParaRPr sz="2800">
              <a:latin typeface="Verdana"/>
              <a:cs typeface="Verdana"/>
            </a:endParaRPr>
          </a:p>
          <a:p>
            <a:pPr marL="355556" marR="5080" indent="-342858">
              <a:lnSpc>
                <a:spcPts val="3299"/>
              </a:lnSpc>
              <a:spcBef>
                <a:spcPts val="10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Probar trozos de c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digo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sin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esperar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al  resto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Confianza para modificar</a:t>
            </a:r>
            <a:r>
              <a:rPr sz="28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digo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Mejora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API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Documentaci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601992"/>
            <a:ext cx="6584950" cy="1681493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  <a:tabLst>
                <a:tab pos="4167629" algn="l"/>
              </a:tabLst>
            </a:pPr>
            <a:r>
              <a:rPr dirty="0"/>
              <a:t>¿Qu</a:t>
            </a:r>
            <a:r>
              <a:rPr dirty="0">
                <a:latin typeface="Arial"/>
                <a:cs typeface="Arial"/>
              </a:rPr>
              <a:t>é</a:t>
            </a:r>
            <a:r>
              <a:rPr spc="225" dirty="0">
                <a:latin typeface="Arial"/>
                <a:cs typeface="Arial"/>
              </a:rPr>
              <a:t> </a:t>
            </a:r>
            <a:r>
              <a:rPr spc="-5" dirty="0"/>
              <a:t>probamos?	</a:t>
            </a:r>
            <a:r>
              <a:rPr dirty="0"/>
              <a:t>- </a:t>
            </a:r>
            <a:r>
              <a:rPr spc="-5" dirty="0"/>
              <a:t>Seg</a:t>
            </a:r>
            <a:r>
              <a:rPr spc="-5" dirty="0">
                <a:latin typeface="Arial"/>
                <a:cs typeface="Arial"/>
              </a:rPr>
              <a:t>ú</a:t>
            </a:r>
            <a:r>
              <a:rPr spc="-5" dirty="0"/>
              <a:t>n</a:t>
            </a:r>
            <a:r>
              <a:rPr spc="-90" dirty="0"/>
              <a:t> </a:t>
            </a:r>
            <a:r>
              <a:rPr dirty="0"/>
              <a:t>el  tipo de</a:t>
            </a:r>
            <a:r>
              <a:rPr spc="-15" dirty="0"/>
              <a:t> </a:t>
            </a:r>
            <a:r>
              <a:rPr dirty="0"/>
              <a:t>componente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64921"/>
            <a:ext cx="7517130" cy="3855720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1160637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Funciones individuales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é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todos  estáticos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Clases de objetos</a:t>
            </a:r>
            <a:endParaRPr sz="2800">
              <a:latin typeface="Verdana"/>
              <a:cs typeface="Verdana"/>
            </a:endParaRPr>
          </a:p>
          <a:p>
            <a:pPr marL="755558" lvl="1" indent="-285715">
              <a:spcBef>
                <a:spcPts val="84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Pruebas aisladas de los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métodos</a:t>
            </a:r>
            <a:endParaRPr sz="2600">
              <a:latin typeface="Verdana"/>
              <a:cs typeface="Verdana"/>
            </a:endParaRPr>
          </a:p>
          <a:p>
            <a:pPr marL="755558" lvl="1" indent="-285715">
              <a:spcBef>
                <a:spcPts val="78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Asignación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y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consulta de</a:t>
            </a:r>
            <a:r>
              <a:rPr sz="26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atributos</a:t>
            </a:r>
            <a:endParaRPr sz="2600">
              <a:latin typeface="Verdana"/>
              <a:cs typeface="Verdana"/>
            </a:endParaRPr>
          </a:p>
          <a:p>
            <a:pPr marL="755558" lvl="1" indent="-285715">
              <a:spcBef>
                <a:spcPts val="78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Pruebas de secuencias de</a:t>
            </a:r>
            <a:r>
              <a:rPr sz="26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operaciones</a:t>
            </a:r>
            <a:endParaRPr sz="2600">
              <a:latin typeface="Verdana"/>
              <a:cs typeface="Verdana"/>
            </a:endParaRPr>
          </a:p>
          <a:p>
            <a:pPr marL="355556" marR="5080" indent="-342858">
              <a:lnSpc>
                <a:spcPct val="101200"/>
              </a:lnSpc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No olvidar probar también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manejo de  errores (Excepciones)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553910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Funciones</a:t>
            </a:r>
            <a:r>
              <a:rPr spc="-15" dirty="0"/>
              <a:t> </a:t>
            </a:r>
            <a:r>
              <a:rPr spc="-5" dirty="0"/>
              <a:t>individuales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264921"/>
            <a:ext cx="4850130" cy="4521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355556" indent="-342858">
              <a:spcBef>
                <a:spcPts val="1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Probar entradas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/</a:t>
            </a:r>
            <a:r>
              <a:rPr sz="2800" spc="-4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salidas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8739" y="2146302"/>
            <a:ext cx="4278630" cy="3873500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29">
              <a:lnSpc>
                <a:spcPts val="1799"/>
              </a:lnSpc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600">
              <a:latin typeface="Courier New"/>
              <a:cs typeface="Courier New"/>
            </a:endParaRPr>
          </a:p>
          <a:p>
            <a:pPr marL="1005717" marR="216509" indent="-914288">
              <a:lnSpc>
                <a:spcPts val="2199"/>
              </a:lnSpc>
              <a:spcBef>
                <a:spcPts val="2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void factorial1()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 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assert factorial(0) ==</a:t>
            </a:r>
            <a:r>
              <a:rPr sz="1600" spc="-9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6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00">
              <a:latin typeface="Courier New"/>
              <a:cs typeface="Courier New"/>
            </a:endParaRPr>
          </a:p>
          <a:p>
            <a:pPr marL="91429"/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600">
              <a:latin typeface="Courier New"/>
              <a:cs typeface="Courier New"/>
            </a:endParaRPr>
          </a:p>
          <a:p>
            <a:pPr marL="1005717" marR="216509" indent="-914288">
              <a:lnSpc>
                <a:spcPct val="109400"/>
              </a:lnSpc>
              <a:spcBef>
                <a:spcPts val="10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void factorial2()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 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assert factorial(1) ==</a:t>
            </a:r>
            <a:r>
              <a:rPr sz="1600" spc="-9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2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5"/>
              </a:spcBef>
            </a:pPr>
            <a:endParaRPr sz="2000">
              <a:latin typeface="Courier New"/>
              <a:cs typeface="Courier New"/>
            </a:endParaRPr>
          </a:p>
          <a:p>
            <a:pPr marL="91429"/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2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void factorial3()</a:t>
            </a:r>
            <a:r>
              <a:rPr sz="1600" spc="-3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005717">
              <a:spcBef>
                <a:spcPts val="1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assert factorial(4) ==</a:t>
            </a:r>
            <a:r>
              <a:rPr sz="1600" spc="-7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24;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2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426593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Clases de</a:t>
            </a:r>
            <a:r>
              <a:rPr spc="-50" dirty="0"/>
              <a:t> </a:t>
            </a:r>
            <a:r>
              <a:rPr spc="-5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6784975" cy="10922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aisladas de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operaciones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Secuencias de operaciones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5738" y="3060702"/>
            <a:ext cx="2590800" cy="89463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984" rIns="0" bIns="0" rtlCol="0">
            <a:spAutoFit/>
          </a:bodyPr>
          <a:lstStyle/>
          <a:p>
            <a:pPr marL="91429" marR="1024765">
              <a:lnSpc>
                <a:spcPct val="136900"/>
              </a:lnSpc>
              <a:spcBef>
                <a:spcPts val="55"/>
              </a:spcBef>
            </a:pPr>
            <a:r>
              <a:rPr sz="1400" spc="-5" dirty="0">
                <a:solidFill>
                  <a:srgbClr val="9B172C"/>
                </a:solidFill>
                <a:latin typeface="Verdana"/>
                <a:cs typeface="Verdana"/>
              </a:rPr>
              <a:t>open(String</a:t>
            </a:r>
            <a:r>
              <a:rPr sz="1400" spc="-7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file)  </a:t>
            </a:r>
            <a:r>
              <a:rPr sz="1400" spc="-5" dirty="0">
                <a:solidFill>
                  <a:srgbClr val="9B172C"/>
                </a:solidFill>
                <a:latin typeface="Verdana"/>
                <a:cs typeface="Verdana"/>
              </a:rPr>
              <a:t>close()</a:t>
            </a:r>
            <a:endParaRPr sz="1400">
              <a:latin typeface="Verdana"/>
              <a:cs typeface="Verdana"/>
            </a:endParaRPr>
          </a:p>
          <a:p>
            <a:pPr marL="91429">
              <a:spcBef>
                <a:spcPts val="620"/>
              </a:spcBef>
            </a:pPr>
            <a:r>
              <a:rPr sz="1400" spc="-5" dirty="0">
                <a:solidFill>
                  <a:srgbClr val="9B172C"/>
                </a:solidFill>
                <a:latin typeface="Verdana"/>
                <a:cs typeface="Verdana"/>
              </a:rPr>
              <a:t>read(int numbytes):</a:t>
            </a:r>
            <a:r>
              <a:rPr sz="14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Verdana"/>
                <a:cs typeface="Verdana"/>
              </a:rPr>
              <a:t>String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5738" y="2755902"/>
            <a:ext cx="2590800" cy="2628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714" rIns="0" bIns="0" rtlCol="0">
            <a:spAutoFit/>
          </a:bodyPr>
          <a:lstStyle/>
          <a:p>
            <a:pPr marL="827938">
              <a:spcBef>
                <a:spcPts val="359"/>
              </a:spcBef>
            </a:pPr>
            <a:r>
              <a:rPr sz="1400" spc="-5" dirty="0">
                <a:solidFill>
                  <a:srgbClr val="9B172C"/>
                </a:solidFill>
                <a:latin typeface="Verdana"/>
                <a:cs typeface="Verdana"/>
              </a:rPr>
              <a:t>FileReader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9682" y="4287521"/>
            <a:ext cx="2792095" cy="1651000"/>
          </a:xfrm>
          <a:prstGeom prst="rect">
            <a:avLst/>
          </a:prstGeom>
        </p:spPr>
        <p:txBody>
          <a:bodyPr vert="horz" wrap="square" lIns="0" tIns="114286" rIns="0" bIns="0" rtlCol="0">
            <a:spAutoFit/>
          </a:bodyPr>
          <a:lstStyle/>
          <a:p>
            <a:pPr marL="204445" indent="-192381">
              <a:spcBef>
                <a:spcPts val="900"/>
              </a:spcBef>
              <a:buSzPct val="95000"/>
              <a:buFont typeface="Symbol"/>
              <a:buChar char=""/>
              <a:tabLst>
                <a:tab pos="205079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Open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- </a:t>
            </a:r>
            <a:r>
              <a:rPr sz="2000" spc="-15" dirty="0">
                <a:solidFill>
                  <a:srgbClr val="9B172C"/>
                </a:solidFill>
                <a:latin typeface="Verdana"/>
                <a:cs typeface="Verdana"/>
              </a:rPr>
              <a:t>Read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-</a:t>
            </a:r>
            <a:r>
              <a:rPr sz="2000" spc="-5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Close</a:t>
            </a:r>
            <a:endParaRPr sz="2000">
              <a:latin typeface="Verdana"/>
              <a:cs typeface="Verdana"/>
            </a:endParaRPr>
          </a:p>
          <a:p>
            <a:pPr marL="204445" indent="-192381">
              <a:spcBef>
                <a:spcPts val="800"/>
              </a:spcBef>
              <a:buSzPct val="95000"/>
              <a:buFont typeface="Symbol"/>
              <a:buChar char=""/>
              <a:tabLst>
                <a:tab pos="205079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Close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-</a:t>
            </a:r>
            <a:r>
              <a:rPr sz="2000" spc="-15" dirty="0">
                <a:solidFill>
                  <a:srgbClr val="9B172C"/>
                </a:solidFill>
                <a:latin typeface="Verdana"/>
                <a:cs typeface="Verdana"/>
              </a:rPr>
              <a:t> Read</a:t>
            </a:r>
            <a:endParaRPr sz="2000">
              <a:latin typeface="Verdana"/>
              <a:cs typeface="Verdana"/>
            </a:endParaRPr>
          </a:p>
          <a:p>
            <a:pPr marL="204445" indent="-192381">
              <a:spcBef>
                <a:spcPts val="800"/>
              </a:spcBef>
              <a:buSzPct val="95000"/>
              <a:buFont typeface="Symbol"/>
              <a:buChar char=""/>
              <a:tabLst>
                <a:tab pos="205079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Open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-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Close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-</a:t>
            </a:r>
            <a:r>
              <a:rPr sz="2000" spc="-6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9B172C"/>
                </a:solidFill>
                <a:latin typeface="Verdana"/>
                <a:cs typeface="Verdana"/>
              </a:rPr>
              <a:t>Read</a:t>
            </a:r>
            <a:endParaRPr sz="2000">
              <a:latin typeface="Verdana"/>
              <a:cs typeface="Verdana"/>
            </a:endParaRPr>
          </a:p>
          <a:p>
            <a:pPr marL="12698">
              <a:spcBef>
                <a:spcPts val="800"/>
              </a:spcBef>
            </a:pPr>
            <a:r>
              <a:rPr sz="2000" dirty="0">
                <a:solidFill>
                  <a:srgbClr val="9B172C"/>
                </a:solidFill>
                <a:latin typeface="Symbol"/>
                <a:cs typeface="Symbol"/>
              </a:rPr>
              <a:t>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38877" y="2217741"/>
            <a:ext cx="4704080" cy="4560570"/>
            <a:chOff x="4238877" y="2217740"/>
            <a:chExt cx="4704080" cy="4560570"/>
          </a:xfrm>
        </p:grpSpPr>
        <p:sp>
          <p:nvSpPr>
            <p:cNvPr id="8" name="object 8"/>
            <p:cNvSpPr/>
            <p:nvPr/>
          </p:nvSpPr>
          <p:spPr>
            <a:xfrm>
              <a:off x="4243632" y="2222494"/>
              <a:ext cx="4694555" cy="4551045"/>
            </a:xfrm>
            <a:custGeom>
              <a:avLst/>
              <a:gdLst/>
              <a:ahLst/>
              <a:cxnLst/>
              <a:rect l="l" t="t" r="r" b="b"/>
              <a:pathLst>
                <a:path w="4694555" h="4551045">
                  <a:moveTo>
                    <a:pt x="4694021" y="0"/>
                  </a:moveTo>
                  <a:lnTo>
                    <a:pt x="0" y="0"/>
                  </a:lnTo>
                  <a:lnTo>
                    <a:pt x="0" y="4550994"/>
                  </a:lnTo>
                  <a:lnTo>
                    <a:pt x="4694021" y="4550994"/>
                  </a:lnTo>
                  <a:lnTo>
                    <a:pt x="4694021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43639" y="2222502"/>
              <a:ext cx="4694555" cy="4551045"/>
            </a:xfrm>
            <a:custGeom>
              <a:avLst/>
              <a:gdLst/>
              <a:ahLst/>
              <a:cxnLst/>
              <a:rect l="l" t="t" r="r" b="b"/>
              <a:pathLst>
                <a:path w="4694555" h="4551045">
                  <a:moveTo>
                    <a:pt x="0" y="0"/>
                  </a:moveTo>
                  <a:lnTo>
                    <a:pt x="4694022" y="0"/>
                  </a:lnTo>
                  <a:lnTo>
                    <a:pt x="4694022" y="4550992"/>
                  </a:lnTo>
                  <a:lnTo>
                    <a:pt x="0" y="4550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22372" y="2161542"/>
            <a:ext cx="4507230" cy="4546600"/>
          </a:xfrm>
          <a:prstGeom prst="rect">
            <a:avLst/>
          </a:prstGeom>
        </p:spPr>
        <p:txBody>
          <a:bodyPr vert="horz" wrap="square" lIns="0" tIns="53333" rIns="0" bIns="0" rtlCol="0">
            <a:spAutoFit/>
          </a:bodyPr>
          <a:lstStyle/>
          <a:p>
            <a:pPr marL="12698">
              <a:spcBef>
                <a:spcPts val="420"/>
              </a:spcBef>
            </a:pP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400">
              <a:latin typeface="Courier New"/>
              <a:cs typeface="Courier New"/>
            </a:endParaRPr>
          </a:p>
          <a:p>
            <a:pPr marL="332699" marR="1605084" indent="-320636">
              <a:lnSpc>
                <a:spcPct val="119000"/>
              </a:lnSpc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Public void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filereader1()</a:t>
            </a:r>
            <a:r>
              <a:rPr sz="1400" spc="-10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{ 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file.open(“isg2”);</a:t>
            </a:r>
            <a:endParaRPr sz="1400">
              <a:latin typeface="Courier New"/>
              <a:cs typeface="Courier New"/>
            </a:endParaRPr>
          </a:p>
          <a:p>
            <a:pPr marL="332699" marR="1498417">
              <a:lnSpc>
                <a:spcPts val="1999"/>
              </a:lnSpc>
              <a:spcBef>
                <a:spcPts val="2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String s =</a:t>
            </a:r>
            <a:r>
              <a:rPr sz="1400" spc="-6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file.read(10);  file.close();</a:t>
            </a:r>
            <a:endParaRPr sz="1400">
              <a:latin typeface="Courier New"/>
              <a:cs typeface="Courier New"/>
            </a:endParaRPr>
          </a:p>
          <a:p>
            <a:pPr marL="332699">
              <a:spcBef>
                <a:spcPts val="20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assert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s.equals(“Hola</a:t>
            </a:r>
            <a:r>
              <a:rPr sz="1400" spc="-1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mundo”);</a:t>
            </a:r>
            <a:endParaRPr sz="1400">
              <a:latin typeface="Courier New"/>
              <a:cs typeface="Courier New"/>
            </a:endParaRPr>
          </a:p>
          <a:p>
            <a:pPr marL="12698">
              <a:spcBef>
                <a:spcPts val="319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698" marR="5080">
              <a:lnSpc>
                <a:spcPts val="1999"/>
              </a:lnSpc>
              <a:spcBef>
                <a:spcPts val="20"/>
              </a:spcBef>
            </a:pP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@Test(expected=FileNotOpenException.class) 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Public void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filereader2()</a:t>
            </a:r>
            <a:r>
              <a:rPr sz="1400" spc="-2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32699" marR="2671752">
              <a:lnSpc>
                <a:spcPts val="1999"/>
              </a:lnSpc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file.rea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d(10);  file.close();</a:t>
            </a:r>
            <a:endParaRPr sz="1400">
              <a:latin typeface="Courier New"/>
              <a:cs typeface="Courier New"/>
            </a:endParaRPr>
          </a:p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698" marR="5080">
              <a:lnSpc>
                <a:spcPct val="119000"/>
              </a:lnSpc>
            </a:pP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@Test(expected=FileNotOpenException.class) 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Public void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filereader3()</a:t>
            </a:r>
            <a:r>
              <a:rPr sz="1400" spc="-2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32699" marR="2245085">
              <a:lnSpc>
                <a:spcPct val="113100"/>
              </a:lnSpc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file.ope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n(“isg2”);  file.close();</a:t>
            </a:r>
            <a:endParaRPr sz="1400">
              <a:latin typeface="Courier New"/>
              <a:cs typeface="Courier New"/>
            </a:endParaRPr>
          </a:p>
          <a:p>
            <a:pPr marL="332699">
              <a:spcBef>
                <a:spcPts val="319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String s =</a:t>
            </a:r>
            <a:r>
              <a:rPr sz="1400" spc="-2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file.read(10);</a:t>
            </a:r>
            <a:endParaRPr sz="1400">
              <a:latin typeface="Courier New"/>
              <a:cs typeface="Courier New"/>
            </a:endParaRPr>
          </a:p>
          <a:p>
            <a:pPr marL="12698">
              <a:spcBef>
                <a:spcPts val="319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247972"/>
            <a:ext cx="4080510" cy="5699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¿Qué</a:t>
            </a:r>
            <a:r>
              <a:rPr spc="-70" dirty="0"/>
              <a:t> </a:t>
            </a:r>
            <a:r>
              <a:rPr spc="-5" dirty="0"/>
              <a:t>probamos?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377315" y="2451947"/>
            <a:ext cx="6427470" cy="847163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355556" marR="5080" indent="-342858">
              <a:lnSpc>
                <a:spcPct val="100200"/>
              </a:lnSpc>
              <a:spcBef>
                <a:spcPts val="90"/>
              </a:spcBef>
              <a:buFont typeface="Symbol"/>
              <a:buChar char=""/>
              <a:tabLst>
                <a:tab pos="355556" algn="l"/>
              </a:tabLst>
            </a:pPr>
            <a:r>
              <a:rPr spc="-5" dirty="0"/>
              <a:t>Casos de prueba positivos: Probar que  </a:t>
            </a:r>
            <a:r>
              <a:rPr dirty="0"/>
              <a:t>las </a:t>
            </a:r>
            <a:r>
              <a:rPr spc="-5" dirty="0"/>
              <a:t>cosas funcionan bien. Todo test  positivo debe tener </a:t>
            </a:r>
            <a:r>
              <a:rPr dirty="0"/>
              <a:t>un </a:t>
            </a:r>
            <a:r>
              <a:rPr i="1" spc="-5" dirty="0">
                <a:latin typeface="Verdana"/>
                <a:cs typeface="Verdana"/>
              </a:rPr>
              <a:t>assert </a:t>
            </a:r>
            <a:r>
              <a:rPr spc="-5" dirty="0"/>
              <a:t>para  comprobar que </a:t>
            </a:r>
            <a:r>
              <a:rPr dirty="0"/>
              <a:t>el </a:t>
            </a:r>
            <a:r>
              <a:rPr spc="-5" dirty="0"/>
              <a:t>test </a:t>
            </a:r>
            <a:r>
              <a:rPr dirty="0"/>
              <a:t>es</a:t>
            </a:r>
            <a:r>
              <a:rPr spc="-10" dirty="0"/>
              <a:t> </a:t>
            </a:r>
            <a:r>
              <a:rPr spc="-5" dirty="0"/>
              <a:t>pasado: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2468" y="4655822"/>
            <a:ext cx="7429500" cy="878060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5080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Casos de prueba negativos: Probar que 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sistema maneja bien los</a:t>
            </a:r>
            <a:r>
              <a:rPr sz="2800" spc="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errores.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9608" y="2964022"/>
            <a:ext cx="4694555" cy="1764030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794">
              <a:lnSpc>
                <a:spcPts val="1620"/>
              </a:lnSpc>
            </a:pP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400">
              <a:latin typeface="Courier New"/>
              <a:cs typeface="Courier New"/>
            </a:endParaRPr>
          </a:p>
          <a:p>
            <a:pPr marL="411430" marR="1713653" indent="-320636">
              <a:lnSpc>
                <a:spcPct val="119000"/>
              </a:lnSpc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Public void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filereader1()</a:t>
            </a:r>
            <a:r>
              <a:rPr sz="1400" spc="-10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{ 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file.open(“isg2”);</a:t>
            </a:r>
            <a:endParaRPr sz="1400">
              <a:latin typeface="Courier New"/>
              <a:cs typeface="Courier New"/>
            </a:endParaRPr>
          </a:p>
          <a:p>
            <a:pPr marL="411430" marR="1606989">
              <a:lnSpc>
                <a:spcPts val="1999"/>
              </a:lnSpc>
              <a:spcBef>
                <a:spcPts val="2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String s =</a:t>
            </a:r>
            <a:r>
              <a:rPr sz="1400" spc="-6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file.read(10);  file.close();</a:t>
            </a:r>
            <a:endParaRPr sz="1400">
              <a:latin typeface="Courier New"/>
              <a:cs typeface="Courier New"/>
            </a:endParaRPr>
          </a:p>
          <a:p>
            <a:pPr marL="411430">
              <a:spcBef>
                <a:spcPts val="20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assert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s.equals(“Hola</a:t>
            </a:r>
            <a:r>
              <a:rPr sz="1400" spc="-1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mundo”);</a:t>
            </a:r>
            <a:endParaRPr sz="1400">
              <a:latin typeface="Courier New"/>
              <a:cs typeface="Courier New"/>
            </a:endParaRPr>
          </a:p>
          <a:p>
            <a:pPr marL="90794">
              <a:spcBef>
                <a:spcPts val="319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9608" y="5584844"/>
            <a:ext cx="4694555" cy="1257300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794">
              <a:lnSpc>
                <a:spcPts val="1620"/>
              </a:lnSpc>
            </a:pP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@Test(expected=FileNotOpenException.class)</a:t>
            </a:r>
            <a:endParaRPr sz="1400">
              <a:latin typeface="Courier New"/>
              <a:cs typeface="Courier New"/>
            </a:endParaRPr>
          </a:p>
          <a:p>
            <a:pPr marL="411430" marR="1713653" indent="-320636">
              <a:lnSpc>
                <a:spcPct val="116100"/>
              </a:lnSpc>
              <a:spcBef>
                <a:spcPts val="50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Public void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filereader2()</a:t>
            </a:r>
            <a:r>
              <a:rPr sz="1400" spc="-10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{  </a:t>
            </a:r>
            <a:r>
              <a:rPr sz="1400" spc="-5" dirty="0">
                <a:solidFill>
                  <a:srgbClr val="9B172C"/>
                </a:solidFill>
                <a:latin typeface="Courier New"/>
                <a:cs typeface="Courier New"/>
              </a:rPr>
              <a:t>file.read(10);  file.close();</a:t>
            </a:r>
            <a:endParaRPr sz="1400">
              <a:latin typeface="Courier New"/>
              <a:cs typeface="Courier New"/>
            </a:endParaRPr>
          </a:p>
          <a:p>
            <a:pPr marL="90794">
              <a:spcBef>
                <a:spcPts val="319"/>
              </a:spcBef>
            </a:pPr>
            <a:r>
              <a:rPr sz="14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403352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¿Qu</a:t>
            </a:r>
            <a:r>
              <a:rPr dirty="0">
                <a:latin typeface="Arial"/>
                <a:cs typeface="Arial"/>
              </a:rPr>
              <a:t>é</a:t>
            </a:r>
            <a:r>
              <a:rPr spc="145" dirty="0">
                <a:latin typeface="Arial"/>
                <a:cs typeface="Arial"/>
              </a:rPr>
              <a:t> </a:t>
            </a:r>
            <a:r>
              <a:rPr spc="-5" dirty="0"/>
              <a:t>probamos?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64921"/>
            <a:ext cx="7548245" cy="1303020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355556" marR="5080" indent="-342858">
              <a:lnSpc>
                <a:spcPct val="99700"/>
              </a:lnSpc>
              <a:spcBef>
                <a:spcPts val="11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En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unitarias debemos  considerar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 clase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 forma aislada,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sin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importarnos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 resto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del</a:t>
            </a: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sistema: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2140" y="3217870"/>
            <a:ext cx="1681480" cy="1228725"/>
            <a:chOff x="3132139" y="3217870"/>
            <a:chExt cx="1681480" cy="1228725"/>
          </a:xfrm>
        </p:grpSpPr>
        <p:sp>
          <p:nvSpPr>
            <p:cNvPr id="5" name="object 5"/>
            <p:cNvSpPr/>
            <p:nvPr/>
          </p:nvSpPr>
          <p:spPr>
            <a:xfrm>
              <a:off x="3741741" y="3222626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1066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066800" y="12192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007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1739" y="3222632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0" y="0"/>
                  </a:moveTo>
                  <a:lnTo>
                    <a:pt x="1066800" y="0"/>
                  </a:lnTo>
                  <a:lnTo>
                    <a:pt x="10668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2139" y="33750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65541" y="33369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2139" y="35274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65541" y="34893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32139" y="36798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5541" y="36417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139" y="38322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65541" y="37941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2139" y="398463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541" y="39465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2139" y="41370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65541" y="40989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32139" y="428943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65541" y="42513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39282" y="3636659"/>
            <a:ext cx="940435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P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r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ue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ba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s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247972"/>
            <a:ext cx="4080510" cy="5699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¿Qué</a:t>
            </a:r>
            <a:r>
              <a:rPr spc="-70" dirty="0"/>
              <a:t> </a:t>
            </a:r>
            <a:r>
              <a:rPr spc="-5" dirty="0"/>
              <a:t>probamos?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32140" y="3198821"/>
            <a:ext cx="1681480" cy="1228725"/>
            <a:chOff x="3132139" y="3198820"/>
            <a:chExt cx="1681480" cy="1228725"/>
          </a:xfrm>
        </p:grpSpPr>
        <p:sp>
          <p:nvSpPr>
            <p:cNvPr id="4" name="object 4"/>
            <p:cNvSpPr/>
            <p:nvPr/>
          </p:nvSpPr>
          <p:spPr>
            <a:xfrm>
              <a:off x="3741741" y="3203576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1066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066800" y="12192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007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41739" y="3203582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0" y="0"/>
                  </a:moveTo>
                  <a:lnTo>
                    <a:pt x="1066800" y="0"/>
                  </a:lnTo>
                  <a:lnTo>
                    <a:pt x="10668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32139" y="335598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5541" y="33178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2139" y="350837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65541" y="34702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2139" y="366077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65541" y="3622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32139" y="381317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65541" y="37750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2139" y="396558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65541" y="39274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32139" y="411797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5541" y="40798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2139" y="427038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65541" y="42322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39282" y="3617596"/>
            <a:ext cx="940435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P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r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ue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ba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s</a:t>
            </a:r>
            <a:endParaRPr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51579" y="2513021"/>
            <a:ext cx="1000125" cy="542925"/>
            <a:chOff x="6251578" y="2513020"/>
            <a:chExt cx="1000125" cy="542925"/>
          </a:xfrm>
        </p:grpSpPr>
        <p:sp>
          <p:nvSpPr>
            <p:cNvPr id="22" name="object 22"/>
            <p:cNvSpPr/>
            <p:nvPr/>
          </p:nvSpPr>
          <p:spPr>
            <a:xfrm>
              <a:off x="6256341" y="2517776"/>
              <a:ext cx="990600" cy="533400"/>
            </a:xfrm>
            <a:custGeom>
              <a:avLst/>
              <a:gdLst/>
              <a:ahLst/>
              <a:cxnLst/>
              <a:rect l="l" t="t" r="r" b="b"/>
              <a:pathLst>
                <a:path w="990600" h="533400">
                  <a:moveTo>
                    <a:pt x="495300" y="0"/>
                  </a:moveTo>
                  <a:lnTo>
                    <a:pt x="422108" y="963"/>
                  </a:lnTo>
                  <a:lnTo>
                    <a:pt x="352251" y="3763"/>
                  </a:lnTo>
                  <a:lnTo>
                    <a:pt x="286494" y="8262"/>
                  </a:lnTo>
                  <a:lnTo>
                    <a:pt x="225604" y="14322"/>
                  </a:lnTo>
                  <a:lnTo>
                    <a:pt x="170347" y="21805"/>
                  </a:lnTo>
                  <a:lnTo>
                    <a:pt x="121489" y="30575"/>
                  </a:lnTo>
                  <a:lnTo>
                    <a:pt x="79796" y="40492"/>
                  </a:lnTo>
                  <a:lnTo>
                    <a:pt x="20970" y="63224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46034" y="481978"/>
                  </a:lnTo>
                  <a:lnTo>
                    <a:pt x="121489" y="502824"/>
                  </a:lnTo>
                  <a:lnTo>
                    <a:pt x="170347" y="511594"/>
                  </a:lnTo>
                  <a:lnTo>
                    <a:pt x="225604" y="519077"/>
                  </a:lnTo>
                  <a:lnTo>
                    <a:pt x="286494" y="525137"/>
                  </a:lnTo>
                  <a:lnTo>
                    <a:pt x="352251" y="529636"/>
                  </a:lnTo>
                  <a:lnTo>
                    <a:pt x="422108" y="532436"/>
                  </a:lnTo>
                  <a:lnTo>
                    <a:pt x="495300" y="533400"/>
                  </a:lnTo>
                  <a:lnTo>
                    <a:pt x="568491" y="532436"/>
                  </a:lnTo>
                  <a:lnTo>
                    <a:pt x="638348" y="529636"/>
                  </a:lnTo>
                  <a:lnTo>
                    <a:pt x="704105" y="525137"/>
                  </a:lnTo>
                  <a:lnTo>
                    <a:pt x="764995" y="519077"/>
                  </a:lnTo>
                  <a:lnTo>
                    <a:pt x="820252" y="511594"/>
                  </a:lnTo>
                  <a:lnTo>
                    <a:pt x="869110" y="502824"/>
                  </a:lnTo>
                  <a:lnTo>
                    <a:pt x="910803" y="492907"/>
                  </a:lnTo>
                  <a:lnTo>
                    <a:pt x="969629" y="470175"/>
                  </a:lnTo>
                  <a:lnTo>
                    <a:pt x="990600" y="444500"/>
                  </a:lnTo>
                  <a:lnTo>
                    <a:pt x="990600" y="88900"/>
                  </a:lnTo>
                  <a:lnTo>
                    <a:pt x="944565" y="51421"/>
                  </a:lnTo>
                  <a:lnTo>
                    <a:pt x="869110" y="30575"/>
                  </a:lnTo>
                  <a:lnTo>
                    <a:pt x="820252" y="21805"/>
                  </a:lnTo>
                  <a:lnTo>
                    <a:pt x="764995" y="14322"/>
                  </a:lnTo>
                  <a:lnTo>
                    <a:pt x="704105" y="8262"/>
                  </a:lnTo>
                  <a:lnTo>
                    <a:pt x="638348" y="3763"/>
                  </a:lnTo>
                  <a:lnTo>
                    <a:pt x="568491" y="963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D4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6340" y="2517782"/>
              <a:ext cx="990600" cy="533400"/>
            </a:xfrm>
            <a:custGeom>
              <a:avLst/>
              <a:gdLst/>
              <a:ahLst/>
              <a:cxnLst/>
              <a:rect l="l" t="t" r="r" b="b"/>
              <a:pathLst>
                <a:path w="990600" h="533400">
                  <a:moveTo>
                    <a:pt x="990600" y="88900"/>
                  </a:moveTo>
                  <a:lnTo>
                    <a:pt x="985230" y="102035"/>
                  </a:lnTo>
                  <a:lnTo>
                    <a:pt x="969630" y="114572"/>
                  </a:lnTo>
                  <a:lnTo>
                    <a:pt x="910805" y="137303"/>
                  </a:lnTo>
                  <a:lnTo>
                    <a:pt x="869112" y="147221"/>
                  </a:lnTo>
                  <a:lnTo>
                    <a:pt x="820255" y="155991"/>
                  </a:lnTo>
                  <a:lnTo>
                    <a:pt x="764997" y="163475"/>
                  </a:lnTo>
                  <a:lnTo>
                    <a:pt x="704107" y="169536"/>
                  </a:lnTo>
                  <a:lnTo>
                    <a:pt x="638350" y="174035"/>
                  </a:lnTo>
                  <a:lnTo>
                    <a:pt x="568492" y="176836"/>
                  </a:lnTo>
                  <a:lnTo>
                    <a:pt x="495300" y="177800"/>
                  </a:lnTo>
                  <a:lnTo>
                    <a:pt x="422107" y="176836"/>
                  </a:lnTo>
                  <a:lnTo>
                    <a:pt x="352249" y="174035"/>
                  </a:lnTo>
                  <a:lnTo>
                    <a:pt x="286492" y="169536"/>
                  </a:lnTo>
                  <a:lnTo>
                    <a:pt x="225602" y="163475"/>
                  </a:lnTo>
                  <a:lnTo>
                    <a:pt x="170345" y="155991"/>
                  </a:lnTo>
                  <a:lnTo>
                    <a:pt x="121487" y="147221"/>
                  </a:lnTo>
                  <a:lnTo>
                    <a:pt x="79795" y="137303"/>
                  </a:lnTo>
                  <a:lnTo>
                    <a:pt x="20970" y="114572"/>
                  </a:lnTo>
                  <a:lnTo>
                    <a:pt x="0" y="88900"/>
                  </a:lnTo>
                </a:path>
                <a:path w="990600" h="533400">
                  <a:moveTo>
                    <a:pt x="0" y="88900"/>
                  </a:moveTo>
                  <a:lnTo>
                    <a:pt x="5370" y="75762"/>
                  </a:lnTo>
                  <a:lnTo>
                    <a:pt x="20970" y="63223"/>
                  </a:lnTo>
                  <a:lnTo>
                    <a:pt x="79795" y="40492"/>
                  </a:lnTo>
                  <a:lnTo>
                    <a:pt x="121487" y="30574"/>
                  </a:lnTo>
                  <a:lnTo>
                    <a:pt x="170345" y="21805"/>
                  </a:lnTo>
                  <a:lnTo>
                    <a:pt x="225602" y="14321"/>
                  </a:lnTo>
                  <a:lnTo>
                    <a:pt x="286492" y="8262"/>
                  </a:lnTo>
                  <a:lnTo>
                    <a:pt x="352249" y="3763"/>
                  </a:lnTo>
                  <a:lnTo>
                    <a:pt x="422107" y="963"/>
                  </a:lnTo>
                  <a:lnTo>
                    <a:pt x="495300" y="0"/>
                  </a:lnTo>
                  <a:lnTo>
                    <a:pt x="568492" y="963"/>
                  </a:lnTo>
                  <a:lnTo>
                    <a:pt x="638350" y="3763"/>
                  </a:lnTo>
                  <a:lnTo>
                    <a:pt x="704107" y="8262"/>
                  </a:lnTo>
                  <a:lnTo>
                    <a:pt x="764997" y="14321"/>
                  </a:lnTo>
                  <a:lnTo>
                    <a:pt x="820255" y="21805"/>
                  </a:lnTo>
                  <a:lnTo>
                    <a:pt x="869112" y="30574"/>
                  </a:lnTo>
                  <a:lnTo>
                    <a:pt x="910805" y="40492"/>
                  </a:lnTo>
                  <a:lnTo>
                    <a:pt x="969630" y="63223"/>
                  </a:lnTo>
                  <a:lnTo>
                    <a:pt x="990600" y="88900"/>
                  </a:lnTo>
                  <a:lnTo>
                    <a:pt x="990600" y="444500"/>
                  </a:lnTo>
                  <a:lnTo>
                    <a:pt x="944566" y="481974"/>
                  </a:lnTo>
                  <a:lnTo>
                    <a:pt x="869112" y="502821"/>
                  </a:lnTo>
                  <a:lnTo>
                    <a:pt x="820255" y="511591"/>
                  </a:lnTo>
                  <a:lnTo>
                    <a:pt x="764997" y="519075"/>
                  </a:lnTo>
                  <a:lnTo>
                    <a:pt x="704107" y="525136"/>
                  </a:lnTo>
                  <a:lnTo>
                    <a:pt x="638350" y="529635"/>
                  </a:lnTo>
                  <a:lnTo>
                    <a:pt x="568492" y="532436"/>
                  </a:lnTo>
                  <a:lnTo>
                    <a:pt x="495300" y="533400"/>
                  </a:lnTo>
                  <a:lnTo>
                    <a:pt x="422107" y="532436"/>
                  </a:lnTo>
                  <a:lnTo>
                    <a:pt x="352249" y="529635"/>
                  </a:lnTo>
                  <a:lnTo>
                    <a:pt x="286492" y="525136"/>
                  </a:lnTo>
                  <a:lnTo>
                    <a:pt x="225602" y="519075"/>
                  </a:lnTo>
                  <a:lnTo>
                    <a:pt x="170345" y="511591"/>
                  </a:lnTo>
                  <a:lnTo>
                    <a:pt x="121487" y="502821"/>
                  </a:lnTo>
                  <a:lnTo>
                    <a:pt x="79795" y="492903"/>
                  </a:lnTo>
                  <a:lnTo>
                    <a:pt x="20970" y="470172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72469" y="1264922"/>
            <a:ext cx="7664450" cy="1729105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5080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¿Qué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pasa cuando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una clase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depende de  otras?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500">
              <a:latin typeface="Verdana"/>
              <a:cs typeface="Verdana"/>
            </a:endParaRPr>
          </a:p>
          <a:p>
            <a:pPr marR="1394924" algn="r"/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BD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80140" y="4117984"/>
            <a:ext cx="1066800" cy="793682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93016"/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Login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03778" y="2268741"/>
            <a:ext cx="2428875" cy="2901950"/>
            <a:chOff x="4803777" y="2268740"/>
            <a:chExt cx="2428875" cy="2901950"/>
          </a:xfrm>
        </p:grpSpPr>
        <p:sp>
          <p:nvSpPr>
            <p:cNvPr id="27" name="object 27"/>
            <p:cNvSpPr/>
            <p:nvPr/>
          </p:nvSpPr>
          <p:spPr>
            <a:xfrm>
              <a:off x="4808540" y="2799192"/>
              <a:ext cx="1427480" cy="1014094"/>
            </a:xfrm>
            <a:custGeom>
              <a:avLst/>
              <a:gdLst/>
              <a:ahLst/>
              <a:cxnLst/>
              <a:rect l="l" t="t" r="r" b="b"/>
              <a:pathLst>
                <a:path w="1427479" h="1014095">
                  <a:moveTo>
                    <a:pt x="0" y="1013980"/>
                  </a:moveTo>
                  <a:lnTo>
                    <a:pt x="142709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72153" y="2784476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84188" y="0"/>
                  </a:moveTo>
                  <a:lnTo>
                    <a:pt x="0" y="13081"/>
                  </a:lnTo>
                  <a:lnTo>
                    <a:pt x="44132" y="75196"/>
                  </a:lnTo>
                  <a:lnTo>
                    <a:pt x="84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8540" y="3813173"/>
              <a:ext cx="1350645" cy="900430"/>
            </a:xfrm>
            <a:custGeom>
              <a:avLst/>
              <a:gdLst/>
              <a:ahLst/>
              <a:cxnLst/>
              <a:rect l="l" t="t" r="r" b="b"/>
              <a:pathLst>
                <a:path w="1350645" h="900429">
                  <a:moveTo>
                    <a:pt x="0" y="0"/>
                  </a:moveTo>
                  <a:lnTo>
                    <a:pt x="1350470" y="90032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5597" y="4653611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42265" y="0"/>
                  </a:moveTo>
                  <a:lnTo>
                    <a:pt x="0" y="63398"/>
                  </a:lnTo>
                  <a:lnTo>
                    <a:pt x="84543" y="73964"/>
                  </a:lnTo>
                  <a:lnTo>
                    <a:pt x="42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75632" y="2273504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47027" y="0"/>
                  </a:moveTo>
                  <a:lnTo>
                    <a:pt x="16065" y="124917"/>
                  </a:lnTo>
                  <a:lnTo>
                    <a:pt x="348068" y="472973"/>
                  </a:lnTo>
                  <a:lnTo>
                    <a:pt x="0" y="804976"/>
                  </a:lnTo>
                  <a:lnTo>
                    <a:pt x="124917" y="935926"/>
                  </a:lnTo>
                  <a:lnTo>
                    <a:pt x="472986" y="603935"/>
                  </a:lnTo>
                  <a:lnTo>
                    <a:pt x="804976" y="951991"/>
                  </a:lnTo>
                  <a:lnTo>
                    <a:pt x="935939" y="827074"/>
                  </a:lnTo>
                  <a:lnTo>
                    <a:pt x="603935" y="479018"/>
                  </a:lnTo>
                  <a:lnTo>
                    <a:pt x="952004" y="147015"/>
                  </a:lnTo>
                  <a:lnTo>
                    <a:pt x="827087" y="16065"/>
                  </a:lnTo>
                  <a:lnTo>
                    <a:pt x="479031" y="348056"/>
                  </a:lnTo>
                  <a:lnTo>
                    <a:pt x="147027" y="0"/>
                  </a:lnTo>
                  <a:close/>
                </a:path>
              </a:pathLst>
            </a:custGeom>
            <a:solidFill>
              <a:srgbClr val="AD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75641" y="2273502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47020" y="0"/>
                  </a:moveTo>
                  <a:lnTo>
                    <a:pt x="479020" y="348060"/>
                  </a:lnTo>
                  <a:lnTo>
                    <a:pt x="827080" y="16060"/>
                  </a:lnTo>
                  <a:lnTo>
                    <a:pt x="952000" y="147020"/>
                  </a:lnTo>
                  <a:lnTo>
                    <a:pt x="603940" y="479020"/>
                  </a:lnTo>
                  <a:lnTo>
                    <a:pt x="935940" y="827080"/>
                  </a:lnTo>
                  <a:lnTo>
                    <a:pt x="804980" y="952000"/>
                  </a:lnTo>
                  <a:lnTo>
                    <a:pt x="472980" y="603940"/>
                  </a:lnTo>
                  <a:lnTo>
                    <a:pt x="124920" y="935940"/>
                  </a:lnTo>
                  <a:lnTo>
                    <a:pt x="0" y="804980"/>
                  </a:lnTo>
                  <a:lnTo>
                    <a:pt x="348060" y="472980"/>
                  </a:lnTo>
                  <a:lnTo>
                    <a:pt x="16060" y="124920"/>
                  </a:lnTo>
                  <a:lnTo>
                    <a:pt x="14702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75632" y="421348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47027" y="0"/>
                  </a:moveTo>
                  <a:lnTo>
                    <a:pt x="16065" y="124917"/>
                  </a:lnTo>
                  <a:lnTo>
                    <a:pt x="348068" y="472973"/>
                  </a:lnTo>
                  <a:lnTo>
                    <a:pt x="0" y="804976"/>
                  </a:lnTo>
                  <a:lnTo>
                    <a:pt x="124917" y="935926"/>
                  </a:lnTo>
                  <a:lnTo>
                    <a:pt x="472986" y="603935"/>
                  </a:lnTo>
                  <a:lnTo>
                    <a:pt x="804976" y="951992"/>
                  </a:lnTo>
                  <a:lnTo>
                    <a:pt x="935939" y="827074"/>
                  </a:lnTo>
                  <a:lnTo>
                    <a:pt x="603935" y="479018"/>
                  </a:lnTo>
                  <a:lnTo>
                    <a:pt x="952004" y="147015"/>
                  </a:lnTo>
                  <a:lnTo>
                    <a:pt x="827087" y="16065"/>
                  </a:lnTo>
                  <a:lnTo>
                    <a:pt x="479031" y="348056"/>
                  </a:lnTo>
                  <a:lnTo>
                    <a:pt x="147027" y="0"/>
                  </a:lnTo>
                  <a:close/>
                </a:path>
              </a:pathLst>
            </a:custGeom>
            <a:solidFill>
              <a:srgbClr val="AD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75641" y="421348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147020" y="0"/>
                  </a:moveTo>
                  <a:lnTo>
                    <a:pt x="479020" y="348060"/>
                  </a:lnTo>
                  <a:lnTo>
                    <a:pt x="827080" y="16060"/>
                  </a:lnTo>
                  <a:lnTo>
                    <a:pt x="952000" y="147020"/>
                  </a:lnTo>
                  <a:lnTo>
                    <a:pt x="603940" y="479020"/>
                  </a:lnTo>
                  <a:lnTo>
                    <a:pt x="935940" y="827080"/>
                  </a:lnTo>
                  <a:lnTo>
                    <a:pt x="804980" y="952000"/>
                  </a:lnTo>
                  <a:lnTo>
                    <a:pt x="472980" y="603930"/>
                  </a:lnTo>
                  <a:lnTo>
                    <a:pt x="124920" y="935930"/>
                  </a:lnTo>
                  <a:lnTo>
                    <a:pt x="0" y="804970"/>
                  </a:lnTo>
                  <a:lnTo>
                    <a:pt x="348060" y="472970"/>
                  </a:lnTo>
                  <a:lnTo>
                    <a:pt x="16060" y="124910"/>
                  </a:lnTo>
                  <a:lnTo>
                    <a:pt x="14702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247972"/>
            <a:ext cx="4080510" cy="5699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¿Qué</a:t>
            </a:r>
            <a:r>
              <a:rPr spc="-70" dirty="0"/>
              <a:t> </a:t>
            </a:r>
            <a:r>
              <a:rPr spc="-5" dirty="0"/>
              <a:t>probamos?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264921"/>
            <a:ext cx="7284720" cy="1303020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355556" marR="5080" indent="-342858">
              <a:lnSpc>
                <a:spcPct val="99700"/>
              </a:lnSpc>
              <a:spcBef>
                <a:spcPts val="11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Es conveniente sustituirlas por objetos  </a:t>
            </a:r>
            <a:r>
              <a:rPr sz="2800" i="1" spc="-5" dirty="0">
                <a:solidFill>
                  <a:srgbClr val="9B172C"/>
                </a:solidFill>
                <a:latin typeface="Verdana"/>
                <a:cs typeface="Verdana"/>
              </a:rPr>
              <a:t>mock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,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si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no,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estamos haciendo  pruebas unitarias propiamente</a:t>
            </a:r>
            <a:r>
              <a:rPr sz="28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dichas: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27377" y="2800781"/>
            <a:ext cx="3113405" cy="1633220"/>
            <a:chOff x="3127376" y="2800780"/>
            <a:chExt cx="3113405" cy="1633220"/>
          </a:xfrm>
        </p:grpSpPr>
        <p:sp>
          <p:nvSpPr>
            <p:cNvPr id="5" name="object 5"/>
            <p:cNvSpPr/>
            <p:nvPr/>
          </p:nvSpPr>
          <p:spPr>
            <a:xfrm>
              <a:off x="3741741" y="3209951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1066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1066800" y="12192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007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1739" y="3209952"/>
              <a:ext cx="1066800" cy="1219200"/>
            </a:xfrm>
            <a:custGeom>
              <a:avLst/>
              <a:gdLst/>
              <a:ahLst/>
              <a:cxnLst/>
              <a:rect l="l" t="t" r="r" b="b"/>
              <a:pathLst>
                <a:path w="1066800" h="1219200">
                  <a:moveTo>
                    <a:pt x="0" y="0"/>
                  </a:moveTo>
                  <a:lnTo>
                    <a:pt x="1066800" y="0"/>
                  </a:lnTo>
                  <a:lnTo>
                    <a:pt x="10668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2139" y="33623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65541" y="33242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2139" y="35147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65541" y="3476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32139" y="36671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5541" y="36290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139" y="38195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65541" y="3781425"/>
              <a:ext cx="76200" cy="228600"/>
            </a:xfrm>
            <a:custGeom>
              <a:avLst/>
              <a:gdLst/>
              <a:ahLst/>
              <a:cxnLst/>
              <a:rect l="l" t="t" r="r" b="b"/>
              <a:pathLst>
                <a:path w="76200" h="228600">
                  <a:moveTo>
                    <a:pt x="76200" y="190500"/>
                  </a:moveTo>
                  <a:lnTo>
                    <a:pt x="0" y="152400"/>
                  </a:lnTo>
                  <a:lnTo>
                    <a:pt x="0" y="228600"/>
                  </a:lnTo>
                  <a:lnTo>
                    <a:pt x="76200" y="190500"/>
                  </a:lnTo>
                  <a:close/>
                </a:path>
                <a:path w="76200" h="2286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32139" y="412432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65541" y="40862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2139" y="4276733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65541" y="423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8540" y="2805542"/>
              <a:ext cx="1427480" cy="1014094"/>
            </a:xfrm>
            <a:custGeom>
              <a:avLst/>
              <a:gdLst/>
              <a:ahLst/>
              <a:cxnLst/>
              <a:rect l="l" t="t" r="r" b="b"/>
              <a:pathLst>
                <a:path w="1427479" h="1014095">
                  <a:moveTo>
                    <a:pt x="0" y="1013980"/>
                  </a:moveTo>
                  <a:lnTo>
                    <a:pt x="142709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39282" y="3623971"/>
            <a:ext cx="1889760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1292066" algn="l"/>
                <a:tab pos="1876195" algn="l"/>
              </a:tabLst>
            </a:pP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Pruebas	</a:t>
            </a:r>
            <a:r>
              <a:rPr u="sng" spc="-5" dirty="0">
                <a:solidFill>
                  <a:srgbClr val="9B172C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	</a:t>
            </a:r>
            <a:endParaRPr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03778" y="2790827"/>
            <a:ext cx="1452880" cy="1943100"/>
            <a:chOff x="4803777" y="2790826"/>
            <a:chExt cx="1452880" cy="1943100"/>
          </a:xfrm>
        </p:grpSpPr>
        <p:sp>
          <p:nvSpPr>
            <p:cNvPr id="22" name="object 22"/>
            <p:cNvSpPr/>
            <p:nvPr/>
          </p:nvSpPr>
          <p:spPr>
            <a:xfrm>
              <a:off x="6172153" y="2790826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84188" y="0"/>
                  </a:moveTo>
                  <a:lnTo>
                    <a:pt x="0" y="13081"/>
                  </a:lnTo>
                  <a:lnTo>
                    <a:pt x="44132" y="75196"/>
                  </a:lnTo>
                  <a:lnTo>
                    <a:pt x="84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08540" y="3819523"/>
              <a:ext cx="1350645" cy="900430"/>
            </a:xfrm>
            <a:custGeom>
              <a:avLst/>
              <a:gdLst/>
              <a:ahLst/>
              <a:cxnLst/>
              <a:rect l="l" t="t" r="r" b="b"/>
              <a:pathLst>
                <a:path w="1350645" h="900429">
                  <a:moveTo>
                    <a:pt x="0" y="0"/>
                  </a:moveTo>
                  <a:lnTo>
                    <a:pt x="1350470" y="90032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5597" y="4659961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42265" y="0"/>
                  </a:moveTo>
                  <a:lnTo>
                    <a:pt x="0" y="63398"/>
                  </a:lnTo>
                  <a:lnTo>
                    <a:pt x="84543" y="73964"/>
                  </a:lnTo>
                  <a:lnTo>
                    <a:pt x="42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56340" y="2524151"/>
            <a:ext cx="1143000" cy="463487"/>
          </a:xfrm>
          <a:prstGeom prst="rect">
            <a:avLst/>
          </a:prstGeom>
          <a:solidFill>
            <a:srgbClr val="FFFDA9"/>
          </a:solidFill>
          <a:ln w="9525">
            <a:solidFill>
              <a:srgbClr val="000000"/>
            </a:solidFill>
          </a:ln>
        </p:spPr>
        <p:txBody>
          <a:bodyPr vert="horz" wrap="square" lIns="0" tIns="152381" rIns="0" bIns="0" rtlCol="0">
            <a:spAutoFit/>
          </a:bodyPr>
          <a:lstStyle/>
          <a:p>
            <a:pPr marL="53333">
              <a:spcBef>
                <a:spcPts val="1200"/>
              </a:spcBef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BDMock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0140" y="4429153"/>
            <a:ext cx="1371600" cy="463487"/>
          </a:xfrm>
          <a:prstGeom prst="rect">
            <a:avLst/>
          </a:prstGeom>
          <a:solidFill>
            <a:srgbClr val="FFFDA9"/>
          </a:solidFill>
          <a:ln w="9525">
            <a:solidFill>
              <a:srgbClr val="000000"/>
            </a:solidFill>
          </a:ln>
        </p:spPr>
        <p:txBody>
          <a:bodyPr vert="horz" wrap="square" lIns="0" tIns="152381" rIns="0" bIns="0" rtlCol="0">
            <a:spAutoFit/>
          </a:bodyPr>
          <a:lstStyle/>
          <a:p>
            <a:pPr marL="15238">
              <a:spcBef>
                <a:spcPts val="1200"/>
              </a:spcBef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LoginMock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25481" y="3395371"/>
            <a:ext cx="2379345" cy="63500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 marR="5080">
              <a:spcBef>
                <a:spcPts val="100"/>
              </a:spcBef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Componentes de  </a:t>
            </a:r>
            <a:r>
              <a:rPr sz="2000" spc="-10" dirty="0">
                <a:solidFill>
                  <a:srgbClr val="9B172C"/>
                </a:solidFill>
                <a:latin typeface="Verdana"/>
                <a:cs typeface="Verdana"/>
              </a:rPr>
              <a:t>“mentira”</a:t>
            </a:r>
            <a:r>
              <a:rPr sz="2000" spc="-4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(</a:t>
            </a:r>
            <a:r>
              <a:rPr sz="2000" i="1" spc="-5" dirty="0">
                <a:solidFill>
                  <a:srgbClr val="9B172C"/>
                </a:solidFill>
                <a:latin typeface="Verdana"/>
                <a:cs typeface="Verdana"/>
              </a:rPr>
              <a:t>mocks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337" y="5038754"/>
            <a:ext cx="5791200" cy="1610697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794">
              <a:lnSpc>
                <a:spcPts val="1799"/>
              </a:lnSpc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public class LoginMock implements ILogin</a:t>
            </a:r>
            <a:r>
              <a:rPr sz="1600" spc="-5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822859" marR="448254" indent="-366350">
              <a:lnSpc>
                <a:spcPts val="2199"/>
              </a:lnSpc>
              <a:spcBef>
                <a:spcPts val="2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boolean login(String name, String</a:t>
            </a:r>
            <a:r>
              <a:rPr sz="1600" spc="-8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pass){ 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if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(name.equals(“isg2”))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return</a:t>
            </a:r>
            <a:r>
              <a:rPr sz="1600" spc="-3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true;</a:t>
            </a:r>
            <a:endParaRPr sz="1600">
              <a:latin typeface="Courier New"/>
              <a:cs typeface="Courier New"/>
            </a:endParaRPr>
          </a:p>
          <a:p>
            <a:pPr marL="1371432">
              <a:spcBef>
                <a:spcPts val="6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else return</a:t>
            </a:r>
            <a:r>
              <a:rPr sz="1600" spc="-1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false;</a:t>
            </a:r>
            <a:endParaRPr sz="1600">
              <a:latin typeface="Courier New"/>
              <a:cs typeface="Courier New"/>
            </a:endParaRPr>
          </a:p>
          <a:p>
            <a:pPr marL="457144">
              <a:spcBef>
                <a:spcPts val="2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794">
              <a:spcBef>
                <a:spcPts val="1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44917"/>
            <a:ext cx="6860540" cy="1124417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  <a:tabLst>
                <a:tab pos="1755560" algn="l"/>
              </a:tabLst>
            </a:pPr>
            <a:r>
              <a:rPr dirty="0"/>
              <a:t>¿C</a:t>
            </a:r>
            <a:r>
              <a:rPr dirty="0">
                <a:latin typeface="Arial"/>
                <a:cs typeface="Arial"/>
              </a:rPr>
              <a:t>ó</a:t>
            </a:r>
            <a:r>
              <a:rPr dirty="0"/>
              <a:t>mo	</a:t>
            </a:r>
            <a:r>
              <a:rPr spc="-5" dirty="0"/>
              <a:t>hacemos </a:t>
            </a:r>
            <a:r>
              <a:rPr dirty="0"/>
              <a:t>las</a:t>
            </a:r>
            <a:r>
              <a:rPr spc="-40" dirty="0"/>
              <a:t> </a:t>
            </a:r>
            <a:r>
              <a:rPr spc="-5" dirty="0"/>
              <a:t>pruebas  </a:t>
            </a:r>
            <a:r>
              <a:rPr dirty="0"/>
              <a:t>unitarias?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7004684" cy="304292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Existen muchas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alternativas</a:t>
            </a:r>
            <a:endParaRPr sz="2800">
              <a:latin typeface="Verdana"/>
              <a:cs typeface="Verdana"/>
            </a:endParaRPr>
          </a:p>
          <a:p>
            <a:pPr marL="355556" marR="5080" indent="-342858">
              <a:lnSpc>
                <a:spcPts val="3299"/>
              </a:lnSpc>
              <a:spcBef>
                <a:spcPts val="10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Hacer buenas pruebas depende de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intuición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y la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experiencia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Ideas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a la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hora de hacer pruebas:</a:t>
            </a:r>
            <a:endParaRPr sz="2800">
              <a:latin typeface="Verdana"/>
              <a:cs typeface="Verdana"/>
            </a:endParaRPr>
          </a:p>
          <a:p>
            <a:pPr marL="755558" lvl="1" indent="-285715">
              <a:spcBef>
                <a:spcPts val="739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Pruebas de particiones</a:t>
            </a:r>
            <a:endParaRPr sz="2600">
              <a:latin typeface="Verdana"/>
              <a:cs typeface="Verdana"/>
            </a:endParaRPr>
          </a:p>
          <a:p>
            <a:pPr marL="755558" lvl="1" indent="-285715">
              <a:spcBef>
                <a:spcPts val="88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Pruebas estructurales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557974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Pruebas de</a:t>
            </a:r>
            <a:r>
              <a:rPr spc="-15" dirty="0"/>
              <a:t> </a:t>
            </a:r>
            <a:r>
              <a:rPr spc="-5" dirty="0"/>
              <a:t>particiones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2060576" y="1455740"/>
            <a:ext cx="4962527" cy="4200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61781" y="3634741"/>
            <a:ext cx="949960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Sistema</a:t>
            </a:r>
            <a:endParaRPr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1482" y="5303521"/>
            <a:ext cx="752475" cy="26924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600" dirty="0">
                <a:solidFill>
                  <a:srgbClr val="9B172C"/>
                </a:solidFill>
                <a:latin typeface="Verdana"/>
                <a:cs typeface="Verdana"/>
              </a:rPr>
              <a:t>Sali</a:t>
            </a:r>
            <a:r>
              <a:rPr sz="1600" spc="-5" dirty="0">
                <a:solidFill>
                  <a:srgbClr val="9B172C"/>
                </a:solidFill>
                <a:latin typeface="Verdana"/>
                <a:cs typeface="Verdana"/>
              </a:rPr>
              <a:t>da</a:t>
            </a:r>
            <a:r>
              <a:rPr sz="1600" dirty="0">
                <a:solidFill>
                  <a:srgbClr val="9B172C"/>
                </a:solidFill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7281" y="2255521"/>
            <a:ext cx="1692910" cy="26924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600" spc="-10" dirty="0">
                <a:solidFill>
                  <a:srgbClr val="9B172C"/>
                </a:solidFill>
                <a:latin typeface="Verdana"/>
                <a:cs typeface="Verdana"/>
              </a:rPr>
              <a:t>Entradas</a:t>
            </a:r>
            <a:r>
              <a:rPr sz="1600" spc="-3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Verdana"/>
                <a:cs typeface="Verdana"/>
              </a:rPr>
              <a:t>v</a:t>
            </a:r>
            <a:r>
              <a:rPr sz="16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1600" spc="-5" dirty="0">
                <a:solidFill>
                  <a:srgbClr val="9B172C"/>
                </a:solidFill>
                <a:latin typeface="Verdana"/>
                <a:cs typeface="Verdana"/>
              </a:rPr>
              <a:t>lidas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8882" y="2255521"/>
            <a:ext cx="1875789" cy="26924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600" spc="-10" dirty="0">
                <a:solidFill>
                  <a:srgbClr val="9B172C"/>
                </a:solidFill>
                <a:latin typeface="Verdana"/>
                <a:cs typeface="Verdana"/>
              </a:rPr>
              <a:t>Entradas</a:t>
            </a:r>
            <a:r>
              <a:rPr sz="1600" spc="-4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Verdana"/>
                <a:cs typeface="Verdana"/>
              </a:rPr>
              <a:t>inv</a:t>
            </a:r>
            <a:r>
              <a:rPr sz="16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1600" spc="-5" dirty="0">
                <a:solidFill>
                  <a:srgbClr val="9B172C"/>
                </a:solidFill>
                <a:latin typeface="Verdana"/>
                <a:cs typeface="Verdana"/>
              </a:rPr>
              <a:t>lidas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814705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Pruebas de particiones</a:t>
            </a:r>
            <a:r>
              <a:rPr spc="15" dirty="0"/>
              <a:t> </a:t>
            </a:r>
            <a:r>
              <a:rPr spc="-5" dirty="0"/>
              <a:t>(ejemplo)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9138" y="1231902"/>
            <a:ext cx="5791200" cy="791769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29">
              <a:lnSpc>
                <a:spcPts val="1799"/>
              </a:lnSpc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interface ILogin</a:t>
            </a:r>
            <a:r>
              <a:rPr sz="1600" spc="-2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57144">
              <a:spcBef>
                <a:spcPts val="1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boolean login(String name, String</a:t>
            </a:r>
            <a:r>
              <a:rPr sz="1600" spc="-5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pass);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2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169" y="2072642"/>
            <a:ext cx="7656830" cy="108489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280636" indent="-268572">
              <a:spcBef>
                <a:spcPts val="939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Usuarios que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existen (resultado</a:t>
            </a:r>
            <a:r>
              <a:rPr sz="2800" spc="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falso)</a:t>
            </a:r>
            <a:endParaRPr sz="2800">
              <a:latin typeface="Verdana"/>
              <a:cs typeface="Verdana"/>
            </a:endParaRPr>
          </a:p>
          <a:p>
            <a:pPr marL="280636" indent="-268572">
              <a:spcBef>
                <a:spcPts val="84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Usuarios que existen (resultado</a:t>
            </a:r>
            <a:r>
              <a:rPr sz="2800" spc="1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cierto)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482" y="5532122"/>
            <a:ext cx="7740015" cy="883919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12698" marR="5080">
              <a:lnSpc>
                <a:spcPct val="101200"/>
              </a:lnSpc>
              <a:spcBef>
                <a:spcPts val="60"/>
              </a:spcBef>
              <a:buSzPct val="96428"/>
              <a:buFont typeface="Symbol"/>
              <a:buChar char=""/>
              <a:tabLst>
                <a:tab pos="281271" algn="l"/>
              </a:tabLst>
            </a:pP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Entradas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inválidas: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¿Qu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é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pasa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si </a:t>
            </a:r>
            <a:r>
              <a:rPr sz="2800" i="1" dirty="0">
                <a:solidFill>
                  <a:srgbClr val="9B172C"/>
                </a:solidFill>
                <a:latin typeface="Verdana"/>
                <a:cs typeface="Verdana"/>
              </a:rPr>
              <a:t>name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es  </a:t>
            </a:r>
            <a:r>
              <a:rPr sz="2800" spc="-15" dirty="0">
                <a:solidFill>
                  <a:srgbClr val="9B172C"/>
                </a:solidFill>
                <a:latin typeface="Verdana"/>
                <a:cs typeface="Verdana"/>
              </a:rPr>
              <a:t>vac</a:t>
            </a:r>
            <a:r>
              <a:rPr sz="2800" spc="-1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sz="2800" spc="-15" dirty="0">
                <a:solidFill>
                  <a:srgbClr val="9B172C"/>
                </a:solidFill>
                <a:latin typeface="Verdana"/>
                <a:cs typeface="Verdana"/>
              </a:rPr>
              <a:t>o?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1538" y="3213104"/>
            <a:ext cx="6107430" cy="2235200"/>
          </a:xfrm>
          <a:prstGeom prst="rect">
            <a:avLst/>
          </a:prstGeom>
          <a:solidFill>
            <a:srgbClr val="D4FEFF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29">
              <a:lnSpc>
                <a:spcPts val="1799"/>
              </a:lnSpc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1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void loginvalido()</a:t>
            </a:r>
            <a:r>
              <a:rPr sz="1600" spc="-1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005717">
              <a:spcBef>
                <a:spcPts val="2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assert login(“prueba”,”isg2”) ==</a:t>
            </a:r>
            <a:r>
              <a:rPr sz="1600" spc="-45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true;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1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2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@Test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1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public void logininvalido()</a:t>
            </a:r>
            <a:r>
              <a:rPr sz="1600" spc="-2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005717">
              <a:spcBef>
                <a:spcPts val="280"/>
              </a:spcBef>
            </a:pP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assert login(“prueba”,”prueba”) ==</a:t>
            </a:r>
            <a:r>
              <a:rPr sz="1600" spc="-70" dirty="0">
                <a:solidFill>
                  <a:srgbClr val="9B172C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172C"/>
                </a:solidFill>
                <a:latin typeface="Courier New"/>
                <a:cs typeface="Courier New"/>
              </a:rPr>
              <a:t>false;</a:t>
            </a:r>
            <a:endParaRPr sz="1600">
              <a:latin typeface="Courier New"/>
              <a:cs typeface="Courier New"/>
            </a:endParaRPr>
          </a:p>
          <a:p>
            <a:pPr marL="91429">
              <a:spcBef>
                <a:spcPts val="180"/>
              </a:spcBef>
            </a:pPr>
            <a:r>
              <a:rPr sz="1600" dirty="0">
                <a:solidFill>
                  <a:srgbClr val="9B172C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315" y="867790"/>
            <a:ext cx="6427470" cy="1124417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</a:pPr>
            <a:r>
              <a:rPr spc="-5" dirty="0"/>
              <a:t>Pruebas de particiones </a:t>
            </a:r>
            <a:r>
              <a:rPr dirty="0"/>
              <a:t>-  </a:t>
            </a:r>
            <a:r>
              <a:rPr spc="-5" dirty="0"/>
              <a:t>Consejos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7276465" cy="3172648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Probar siempre los</a:t>
            </a:r>
            <a:r>
              <a:rPr sz="28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l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mites: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Ejemplo:</a:t>
            </a:r>
            <a:endParaRPr sz="2800">
              <a:latin typeface="Verdana"/>
              <a:cs typeface="Verdana"/>
            </a:endParaRPr>
          </a:p>
          <a:p>
            <a:pPr marL="761906" marR="18413" lvl="1" indent="-292064">
              <a:lnSpc>
                <a:spcPct val="100400"/>
              </a:lnSpc>
              <a:spcBef>
                <a:spcPts val="725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Supongamos que tenemos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una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función  devuelve resultados distintos  dependiendo de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si la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entrada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es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menor  que 4, entre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4 y 7 y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mayor que</a:t>
            </a:r>
            <a:r>
              <a:rPr sz="26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7.</a:t>
            </a:r>
            <a:endParaRPr sz="2600">
              <a:latin typeface="Verdana"/>
              <a:cs typeface="Verdana"/>
            </a:endParaRPr>
          </a:p>
          <a:p>
            <a:pPr marL="761906">
              <a:lnSpc>
                <a:spcPts val="3099"/>
              </a:lnSpc>
            </a:pP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¿Qué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valores probamos como</a:t>
            </a:r>
            <a:r>
              <a:rPr sz="2600" spc="-1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entrada?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566" y="5527689"/>
            <a:ext cx="6915150" cy="422909"/>
            <a:chOff x="1198566" y="5527689"/>
            <a:chExt cx="6915150" cy="422909"/>
          </a:xfrm>
        </p:grpSpPr>
        <p:sp>
          <p:nvSpPr>
            <p:cNvPr id="5" name="object 5"/>
            <p:cNvSpPr/>
            <p:nvPr/>
          </p:nvSpPr>
          <p:spPr>
            <a:xfrm>
              <a:off x="3513142" y="5541976"/>
              <a:ext cx="2286000" cy="394335"/>
            </a:xfrm>
            <a:custGeom>
              <a:avLst/>
              <a:gdLst/>
              <a:ahLst/>
              <a:cxnLst/>
              <a:rect l="l" t="t" r="r" b="b"/>
              <a:pathLst>
                <a:path w="2286000" h="394335">
                  <a:moveTo>
                    <a:pt x="0" y="0"/>
                  </a:moveTo>
                  <a:lnTo>
                    <a:pt x="0" y="394334"/>
                  </a:lnTo>
                </a:path>
                <a:path w="2286000" h="394335">
                  <a:moveTo>
                    <a:pt x="2286001" y="0"/>
                  </a:moveTo>
                  <a:lnTo>
                    <a:pt x="2286001" y="39433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2854" y="5541976"/>
              <a:ext cx="6886575" cy="394335"/>
            </a:xfrm>
            <a:custGeom>
              <a:avLst/>
              <a:gdLst/>
              <a:ahLst/>
              <a:cxnLst/>
              <a:rect l="l" t="t" r="r" b="b"/>
              <a:pathLst>
                <a:path w="6886575" h="394335">
                  <a:moveTo>
                    <a:pt x="14286" y="0"/>
                  </a:moveTo>
                  <a:lnTo>
                    <a:pt x="14286" y="394334"/>
                  </a:lnTo>
                </a:path>
                <a:path w="6886575" h="394335">
                  <a:moveTo>
                    <a:pt x="6872290" y="0"/>
                  </a:moveTo>
                  <a:lnTo>
                    <a:pt x="6872290" y="394334"/>
                  </a:lnTo>
                </a:path>
                <a:path w="6886575" h="394335">
                  <a:moveTo>
                    <a:pt x="0" y="14286"/>
                  </a:moveTo>
                  <a:lnTo>
                    <a:pt x="6886580" y="14286"/>
                  </a:lnTo>
                </a:path>
                <a:path w="6886575" h="394335">
                  <a:moveTo>
                    <a:pt x="0" y="380047"/>
                  </a:moveTo>
                  <a:lnTo>
                    <a:pt x="6886580" y="38004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41429" y="5589284"/>
            <a:ext cx="2265680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411430">
              <a:spcBef>
                <a:spcPts val="100"/>
              </a:spcBef>
            </a:pP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Menor que</a:t>
            </a:r>
            <a:r>
              <a:rPr spc="-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4</a:t>
            </a:r>
            <a:endParaRPr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9492" y="5589284"/>
            <a:ext cx="2273300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426032">
              <a:spcBef>
                <a:spcPts val="100"/>
              </a:spcBef>
            </a:pP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Entre </a:t>
            </a:r>
            <a:r>
              <a:rPr dirty="0">
                <a:solidFill>
                  <a:srgbClr val="9B172C"/>
                </a:solidFill>
                <a:latin typeface="Verdana"/>
                <a:cs typeface="Verdana"/>
              </a:rPr>
              <a:t>4 y</a:t>
            </a:r>
            <a:r>
              <a:rPr spc="-2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10</a:t>
            </a:r>
            <a:endParaRPr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5495" y="5589284"/>
            <a:ext cx="2265680" cy="2997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352381">
              <a:spcBef>
                <a:spcPts val="100"/>
              </a:spcBef>
            </a:pPr>
            <a:r>
              <a:rPr spc="-10" dirty="0">
                <a:solidFill>
                  <a:srgbClr val="9B172C"/>
                </a:solidFill>
                <a:latin typeface="Verdana"/>
                <a:cs typeface="Verdana"/>
              </a:rPr>
              <a:t>Mayor 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que</a:t>
            </a:r>
            <a:r>
              <a:rPr spc="-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pc="-5" dirty="0">
                <a:solidFill>
                  <a:srgbClr val="9B172C"/>
                </a:solidFill>
                <a:latin typeface="Verdana"/>
                <a:cs typeface="Verdana"/>
              </a:rPr>
              <a:t>10</a:t>
            </a:r>
            <a:endParaRPr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22491" y="5246694"/>
            <a:ext cx="4933950" cy="309880"/>
            <a:chOff x="2122491" y="5246694"/>
            <a:chExt cx="4933950" cy="309880"/>
          </a:xfrm>
        </p:grpSpPr>
        <p:sp>
          <p:nvSpPr>
            <p:cNvPr id="11" name="object 11"/>
            <p:cNvSpPr/>
            <p:nvPr/>
          </p:nvSpPr>
          <p:spPr>
            <a:xfrm>
              <a:off x="3360739" y="525145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22641" y="54800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89339" y="525145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51241" y="54800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9940" y="525145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41841" y="54800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22940" y="525145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84841" y="54800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75340" y="525145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37241" y="54800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18341" y="524669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80241" y="54752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60588" y="524669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2491" y="54752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87082" y="4979683"/>
            <a:ext cx="367030" cy="22947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3</a:t>
            </a:r>
            <a:r>
              <a:rPr sz="1400" spc="32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6281" y="4979683"/>
            <a:ext cx="138430" cy="22947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6882" y="4979683"/>
            <a:ext cx="556895" cy="22947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10</a:t>
            </a:r>
            <a:r>
              <a:rPr sz="1400" spc="3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11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4694" y="4974921"/>
            <a:ext cx="252095" cy="22947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15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86905" y="4974921"/>
            <a:ext cx="138430" cy="22947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z="1400" dirty="0">
                <a:solidFill>
                  <a:srgbClr val="9B172C"/>
                </a:solidFill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315" y="867790"/>
            <a:ext cx="6427470" cy="1124417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</a:pPr>
            <a:r>
              <a:rPr spc="-5" dirty="0"/>
              <a:t>Pruebas de particiones </a:t>
            </a:r>
            <a:r>
              <a:rPr dirty="0"/>
              <a:t>-  </a:t>
            </a:r>
            <a:r>
              <a:rPr spc="-5" dirty="0"/>
              <a:t>Consejos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0036"/>
            <a:ext cx="7676515" cy="3012357"/>
          </a:xfrm>
          <a:prstGeom prst="rect">
            <a:avLst/>
          </a:prstGeom>
        </p:spPr>
        <p:txBody>
          <a:bodyPr vert="horz" wrap="square" lIns="0" tIns="127619" rIns="0" bIns="0" rtlCol="0">
            <a:spAutoFit/>
          </a:bodyPr>
          <a:lstStyle/>
          <a:p>
            <a:pPr marL="355556" indent="-342858">
              <a:spcBef>
                <a:spcPts val="1005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Cuando tenemos listas, vectores,</a:t>
            </a:r>
            <a:r>
              <a:rPr sz="2800" spc="2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tablas:</a:t>
            </a:r>
            <a:endParaRPr sz="2800">
              <a:latin typeface="Verdana"/>
              <a:cs typeface="Verdana"/>
            </a:endParaRPr>
          </a:p>
          <a:p>
            <a:pPr marL="755558" lvl="1" indent="-285715">
              <a:spcBef>
                <a:spcPts val="84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Listas de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un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solo valor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y vac</a:t>
            </a:r>
            <a:r>
              <a:rPr sz="2600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as</a:t>
            </a:r>
            <a:endParaRPr sz="2600">
              <a:latin typeface="Verdana"/>
              <a:cs typeface="Verdana"/>
            </a:endParaRPr>
          </a:p>
          <a:p>
            <a:pPr marL="755558" lvl="1" indent="-285715">
              <a:spcBef>
                <a:spcPts val="78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Probar siempre distintos</a:t>
            </a:r>
            <a:r>
              <a:rPr sz="26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tama</a:t>
            </a:r>
            <a:r>
              <a:rPr sz="2600" spc="-5" dirty="0">
                <a:solidFill>
                  <a:srgbClr val="9B172C"/>
                </a:solidFill>
                <a:latin typeface="Arial"/>
                <a:cs typeface="Arial"/>
              </a:rPr>
              <a:t>ñ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os</a:t>
            </a:r>
            <a:endParaRPr sz="2600">
              <a:latin typeface="Verdana"/>
              <a:cs typeface="Verdana"/>
            </a:endParaRPr>
          </a:p>
          <a:p>
            <a:pPr marL="761906" marR="422223" lvl="1" indent="-292064">
              <a:lnSpc>
                <a:spcPts val="3099"/>
              </a:lnSpc>
              <a:spcBef>
                <a:spcPts val="90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Comprobar primer elemento, elemento  central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y </a:t>
            </a:r>
            <a:r>
              <a:rPr sz="2600" spc="-5" dirty="0">
                <a:solidFill>
                  <a:srgbClr val="9B172C"/>
                </a:solidFill>
                <a:latin typeface="Arial"/>
                <a:cs typeface="Arial"/>
              </a:rPr>
              <a:t>ú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ltimo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elemento</a:t>
            </a:r>
            <a:endParaRPr sz="2600">
              <a:latin typeface="Verdana"/>
              <a:cs typeface="Verdana"/>
            </a:endParaRPr>
          </a:p>
          <a:p>
            <a:pPr marL="355556" indent="-342858">
              <a:spcBef>
                <a:spcPts val="68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Pasar </a:t>
            </a:r>
            <a:r>
              <a:rPr sz="2800" i="1" dirty="0">
                <a:solidFill>
                  <a:srgbClr val="9B172C"/>
                </a:solidFill>
                <a:latin typeface="Verdana"/>
                <a:cs typeface="Verdana"/>
              </a:rPr>
              <a:t>null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en vez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del</a:t>
            </a:r>
            <a:r>
              <a:rPr sz="2800" spc="-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objeto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0979" y="2727320"/>
            <a:ext cx="5800725" cy="4067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535940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Pruebas</a:t>
            </a:r>
            <a:r>
              <a:rPr spc="-10" dirty="0"/>
              <a:t> </a:t>
            </a:r>
            <a:r>
              <a:rPr spc="-5" dirty="0"/>
              <a:t>estructurales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2469" y="1158242"/>
            <a:ext cx="7967345" cy="1526044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Son de caja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blanca</a:t>
            </a:r>
            <a:endParaRPr sz="2800">
              <a:latin typeface="Verdana"/>
              <a:cs typeface="Verdana"/>
            </a:endParaRPr>
          </a:p>
          <a:p>
            <a:pPr marL="355556" marR="5080" indent="-342858">
              <a:lnSpc>
                <a:spcPts val="3299"/>
              </a:lnSpc>
              <a:spcBef>
                <a:spcPts val="10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Preparo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para intentar ejecutar  cada sentencia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al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menos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una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vez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601992"/>
            <a:ext cx="5601970" cy="1681493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</a:pPr>
            <a:r>
              <a:rPr spc="-5" dirty="0"/>
              <a:t>¿D</a:t>
            </a:r>
            <a:r>
              <a:rPr spc="-5" dirty="0">
                <a:latin typeface="Arial"/>
                <a:cs typeface="Arial"/>
              </a:rPr>
              <a:t>ó</a:t>
            </a:r>
            <a:r>
              <a:rPr spc="-5" dirty="0"/>
              <a:t>nde ejecutamos</a:t>
            </a:r>
            <a:r>
              <a:rPr spc="-30" dirty="0"/>
              <a:t> </a:t>
            </a:r>
            <a:r>
              <a:rPr dirty="0"/>
              <a:t>las  </a:t>
            </a:r>
            <a:r>
              <a:rPr spc="-5" dirty="0"/>
              <a:t>pruebas</a:t>
            </a:r>
            <a:r>
              <a:rPr spc="-10" dirty="0"/>
              <a:t> </a:t>
            </a:r>
            <a:r>
              <a:rPr dirty="0"/>
              <a:t>unitarias?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264920"/>
            <a:ext cx="7327265" cy="4743745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1440638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Software para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realizar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 autom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ticas (para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Java):</a:t>
            </a:r>
            <a:endParaRPr sz="2800">
              <a:latin typeface="Verdana"/>
              <a:cs typeface="Verdana"/>
            </a:endParaRPr>
          </a:p>
          <a:p>
            <a:pPr marL="755558" lvl="1" indent="-285715">
              <a:spcBef>
                <a:spcPts val="739"/>
              </a:spcBef>
              <a:buFont typeface="Symbol"/>
              <a:buChar char=""/>
              <a:tabLst>
                <a:tab pos="755558" algn="l"/>
              </a:tabLst>
            </a:pP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JUnit</a:t>
            </a:r>
            <a:endParaRPr sz="2600">
              <a:latin typeface="Verdana"/>
              <a:cs typeface="Verdana"/>
            </a:endParaRPr>
          </a:p>
          <a:p>
            <a:pPr marL="755558" lvl="1" indent="-285715">
              <a:spcBef>
                <a:spcPts val="78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TestNG</a:t>
            </a:r>
            <a:endParaRPr sz="2600">
              <a:latin typeface="Verdana"/>
              <a:cs typeface="Verdana"/>
            </a:endParaRPr>
          </a:p>
          <a:p>
            <a:pPr marL="355556" marR="5080" indent="-342858">
              <a:lnSpc>
                <a:spcPts val="3299"/>
              </a:lnSpc>
              <a:spcBef>
                <a:spcPts val="10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Se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integran con entornos de desarrollo  como Eclipse</a:t>
            </a:r>
            <a:endParaRPr sz="2800">
              <a:latin typeface="Verdana"/>
              <a:cs typeface="Verdana"/>
            </a:endParaRPr>
          </a:p>
          <a:p>
            <a:pPr marL="355556" marR="983495" indent="-342858">
              <a:lnSpc>
                <a:spcPts val="3299"/>
              </a:lnSpc>
              <a:spcBef>
                <a:spcPts val="9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Hay frameworks para ayudar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a la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creación de objetos </a:t>
            </a:r>
            <a:r>
              <a:rPr sz="2800" i="1" spc="-5" dirty="0">
                <a:solidFill>
                  <a:srgbClr val="9B172C"/>
                </a:solidFill>
                <a:latin typeface="Verdana"/>
                <a:cs typeface="Verdana"/>
              </a:rPr>
              <a:t>mock:</a:t>
            </a:r>
            <a:endParaRPr sz="2800">
              <a:latin typeface="Verdana"/>
              <a:cs typeface="Verdana"/>
            </a:endParaRPr>
          </a:p>
          <a:p>
            <a:pPr marL="761906" marR="779049" lvl="1" indent="-292064">
              <a:lnSpc>
                <a:spcPts val="3099"/>
              </a:lnSpc>
              <a:spcBef>
                <a:spcPts val="86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Moq, jMock, EasyMock, Typemock,  jMockit, Mockito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o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 PowerMock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44917"/>
            <a:ext cx="6932295" cy="1124417"/>
          </a:xfrm>
          <a:prstGeom prst="rect">
            <a:avLst/>
          </a:prstGeom>
        </p:spPr>
        <p:txBody>
          <a:bodyPr vert="horz" wrap="square" lIns="0" tIns="10159" rIns="0" bIns="0" rtlCol="0">
            <a:spAutoFit/>
          </a:bodyPr>
          <a:lstStyle/>
          <a:p>
            <a:pPr marL="12698" marR="5080">
              <a:lnSpc>
                <a:spcPct val="100499"/>
              </a:lnSpc>
              <a:spcBef>
                <a:spcPts val="80"/>
              </a:spcBef>
              <a:tabLst>
                <a:tab pos="2192386" algn="l"/>
              </a:tabLst>
            </a:pPr>
            <a:r>
              <a:rPr spc="-5" dirty="0"/>
              <a:t>¿Cu</a:t>
            </a:r>
            <a:r>
              <a:rPr spc="-5" dirty="0">
                <a:latin typeface="Arial"/>
                <a:cs typeface="Arial"/>
              </a:rPr>
              <a:t>á</a:t>
            </a:r>
            <a:r>
              <a:rPr spc="-5" dirty="0"/>
              <a:t>ndo	implementamos</a:t>
            </a:r>
            <a:r>
              <a:rPr spc="-45" dirty="0"/>
              <a:t> </a:t>
            </a:r>
            <a:r>
              <a:rPr dirty="0"/>
              <a:t>las  </a:t>
            </a:r>
            <a:r>
              <a:rPr spc="-5" dirty="0"/>
              <a:t>pruebas </a:t>
            </a:r>
            <a:r>
              <a:rPr dirty="0"/>
              <a:t>unitarias?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143" y="1224903"/>
            <a:ext cx="7786370" cy="1533955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De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forma paralela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a la</a:t>
            </a:r>
            <a:r>
              <a:rPr sz="28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codificaci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marL="355556" marR="5080" indent="-342858">
              <a:lnSpc>
                <a:spcPts val="3299"/>
              </a:lnSpc>
              <a:spcBef>
                <a:spcPts val="10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Incluso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antes siguiendo desarrollo guiado  por pruebas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22097" y="3658300"/>
            <a:ext cx="1795881" cy="1815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0399" y="3658300"/>
            <a:ext cx="1795881" cy="1815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15595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Ín</a:t>
            </a:r>
            <a:r>
              <a:rPr spc="-5" dirty="0"/>
              <a:t>di</a:t>
            </a:r>
            <a:r>
              <a:rPr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6433185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Conceptos fundamentales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software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unitarias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automatizadas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Desarrollo guiado por</a:t>
            </a:r>
            <a:r>
              <a:rPr sz="2800" b="1" spc="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Conclusiones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739013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2666673" algn="l"/>
                <a:tab pos="4458424" algn="l"/>
                <a:tab pos="5418425" algn="l"/>
              </a:tabLst>
            </a:pPr>
            <a:r>
              <a:rPr spc="-5" dirty="0"/>
              <a:t>Desarrollo	guiado	por	pruebas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34442"/>
            <a:ext cx="5335270" cy="39116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355556" indent="-342858">
              <a:spcBef>
                <a:spcPts val="100"/>
              </a:spcBef>
              <a:buFont typeface="Symbol"/>
              <a:buChar char=""/>
              <a:tabLst>
                <a:tab pos="355556" algn="l"/>
              </a:tabLst>
            </a:pP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Test-Driven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Development</a:t>
            </a:r>
            <a:r>
              <a:rPr sz="2400" spc="-6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(TDD)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482" y="2834642"/>
            <a:ext cx="4637405" cy="2373199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12698">
              <a:spcBef>
                <a:spcPts val="939"/>
              </a:spcBef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Filosof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a:</a:t>
            </a:r>
            <a:endParaRPr sz="2800">
              <a:latin typeface="Verdana"/>
              <a:cs typeface="Verdana"/>
            </a:endParaRPr>
          </a:p>
          <a:p>
            <a:pPr marL="12698" marR="5080">
              <a:lnSpc>
                <a:spcPct val="99200"/>
              </a:lnSpc>
              <a:spcBef>
                <a:spcPts val="865"/>
              </a:spcBef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Escribir nuevo c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digo s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lo  cuando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falle una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  unitaria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o </a:t>
            </a:r>
            <a:r>
              <a:rPr sz="2800" spc="-15" dirty="0">
                <a:solidFill>
                  <a:srgbClr val="9B172C"/>
                </a:solidFill>
                <a:latin typeface="Verdana"/>
                <a:cs typeface="Verdana"/>
              </a:rPr>
              <a:t>para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eliminar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digo</a:t>
            </a: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 duplicado.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70542" y="2070100"/>
            <a:ext cx="3373437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247206"/>
            <a:ext cx="7390130" cy="1065087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2666673" algn="l"/>
                <a:tab pos="4458424" algn="l"/>
                <a:tab pos="5418425" algn="l"/>
              </a:tabLst>
            </a:pPr>
            <a:r>
              <a:rPr spc="-5" dirty="0"/>
              <a:t>Desarrollo	guiado	por	pruebas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672469" y="1264921"/>
            <a:ext cx="3402329" cy="3552222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1223496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dirty="0"/>
              <a:t>Des</a:t>
            </a:r>
            <a:r>
              <a:rPr spc="-5" dirty="0"/>
              <a:t>a</a:t>
            </a:r>
            <a:r>
              <a:rPr dirty="0"/>
              <a:t>rr</a:t>
            </a:r>
            <a:r>
              <a:rPr spc="-5" dirty="0"/>
              <a:t>o</a:t>
            </a:r>
            <a:r>
              <a:rPr dirty="0"/>
              <a:t>llo  </a:t>
            </a:r>
            <a:r>
              <a:rPr spc="-5" dirty="0"/>
              <a:t>habitual:</a:t>
            </a:r>
          </a:p>
          <a:p>
            <a:pPr marL="926986" marR="778414" lvl="1" indent="-457144">
              <a:spcBef>
                <a:spcPts val="739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Elijo una 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funci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nali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da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Programo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el</a:t>
            </a:r>
            <a:r>
              <a:rPr sz="2000" spc="-6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código</a:t>
            </a:r>
            <a:endParaRPr sz="2000">
              <a:latin typeface="Verdana"/>
              <a:cs typeface="Verdana"/>
            </a:endParaRPr>
          </a:p>
          <a:p>
            <a:pPr marL="926986" marR="608890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Implemento</a:t>
            </a:r>
            <a:r>
              <a:rPr sz="2000" spc="-6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la 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prueba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Ejecuto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la</a:t>
            </a:r>
            <a:r>
              <a:rPr sz="2000" spc="-7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prueba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Corrijo los</a:t>
            </a:r>
            <a:r>
              <a:rPr sz="2000" spc="-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errores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722182" y="1264921"/>
            <a:ext cx="3698875" cy="4274357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200001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pc="-5" dirty="0"/>
              <a:t>Desarrollo</a:t>
            </a:r>
            <a:r>
              <a:rPr spc="-50" dirty="0"/>
              <a:t> </a:t>
            </a:r>
            <a:r>
              <a:rPr spc="-5" dirty="0"/>
              <a:t>guiado  por</a:t>
            </a:r>
            <a:r>
              <a:rPr spc="-10" dirty="0"/>
              <a:t> </a:t>
            </a:r>
            <a:r>
              <a:rPr spc="-5" dirty="0"/>
              <a:t>pruebas:</a:t>
            </a:r>
          </a:p>
          <a:p>
            <a:pPr marL="926986" marR="1074289" lvl="1" indent="-457144">
              <a:spcBef>
                <a:spcPts val="739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Elijo una 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funci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nali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da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  <a:p>
            <a:pPr marL="926986" marR="904765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Implemento</a:t>
            </a:r>
            <a:r>
              <a:rPr sz="2000" spc="-6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la 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prueba</a:t>
            </a:r>
            <a:endParaRPr sz="2000">
              <a:latin typeface="Verdana"/>
              <a:cs typeface="Verdana"/>
            </a:endParaRPr>
          </a:p>
          <a:p>
            <a:pPr marL="926986" marR="5080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Ejecuto los tests para 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ver si el nuevo</a:t>
            </a:r>
            <a:r>
              <a:rPr sz="2000" spc="-6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falla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Programo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el</a:t>
            </a:r>
            <a:r>
              <a:rPr sz="2000" spc="-2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código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Ejecuto los</a:t>
            </a:r>
            <a:r>
              <a:rPr sz="2000" spc="-1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tests</a:t>
            </a:r>
            <a:endParaRPr sz="2000">
              <a:latin typeface="Verdana"/>
              <a:cs typeface="Verdana"/>
            </a:endParaRPr>
          </a:p>
          <a:p>
            <a:pPr marL="926986" lvl="1" indent="-457144">
              <a:spcBef>
                <a:spcPts val="800"/>
              </a:spcBef>
              <a:buAutoNum type="arabicPeriod"/>
              <a:tabLst>
                <a:tab pos="926351" algn="l"/>
                <a:tab pos="92698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Refactorizo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739013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2666673" algn="l"/>
                <a:tab pos="4458424" algn="l"/>
                <a:tab pos="5418425" algn="l"/>
              </a:tabLst>
            </a:pPr>
            <a:r>
              <a:rPr spc="-5" dirty="0"/>
              <a:t>Desarrollo	guiado	por	pruebas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64922"/>
            <a:ext cx="7721600" cy="5340279"/>
          </a:xfrm>
          <a:prstGeom prst="rect">
            <a:avLst/>
          </a:prstGeom>
        </p:spPr>
        <p:txBody>
          <a:bodyPr vert="horz" wrap="square" lIns="0" tIns="7619" rIns="0" bIns="0" rtlCol="0">
            <a:spAutoFit/>
          </a:bodyPr>
          <a:lstStyle/>
          <a:p>
            <a:pPr marL="355556" marR="5080" indent="-342858">
              <a:lnSpc>
                <a:spcPct val="101200"/>
              </a:lnSpc>
              <a:spcBef>
                <a:spcPts val="6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Algunas puntualizaciones sobre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Paso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4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(Programar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código):</a:t>
            </a:r>
            <a:endParaRPr sz="2800">
              <a:latin typeface="Verdana"/>
              <a:cs typeface="Verdana"/>
            </a:endParaRPr>
          </a:p>
          <a:p>
            <a:pPr marL="761906" marR="81270" lvl="1" indent="-292064">
              <a:lnSpc>
                <a:spcPct val="101000"/>
              </a:lnSpc>
              <a:spcBef>
                <a:spcPts val="705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El tamaño del paso debe ser pequeño. Es  decir, programar poco código entre  prueba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y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 prueba.</a:t>
            </a:r>
            <a:endParaRPr sz="2600">
              <a:latin typeface="Verdana"/>
              <a:cs typeface="Verdana"/>
            </a:endParaRPr>
          </a:p>
          <a:p>
            <a:pPr marL="761906" marR="181587" lvl="1" indent="-292064" algn="just">
              <a:lnSpc>
                <a:spcPts val="3099"/>
              </a:lnSpc>
              <a:spcBef>
                <a:spcPts val="90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Sólo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se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debe escribir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el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código necesario  para pasar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la nueva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prueba. Ningún otro  código</a:t>
            </a:r>
            <a:r>
              <a:rPr sz="26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adicional.</a:t>
            </a:r>
            <a:endParaRPr sz="2600">
              <a:latin typeface="Verdana"/>
              <a:cs typeface="Verdana"/>
            </a:endParaRPr>
          </a:p>
          <a:p>
            <a:pPr marL="761906" marR="177779" lvl="1" indent="-292064">
              <a:lnSpc>
                <a:spcPct val="101000"/>
              </a:lnSpc>
              <a:spcBef>
                <a:spcPts val="650"/>
              </a:spcBef>
              <a:buFont typeface="Symbol"/>
              <a:buChar char=""/>
              <a:tabLst>
                <a:tab pos="755558" algn="l"/>
              </a:tabLst>
            </a:pP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El código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nuevo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puede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ser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muy 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elegante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o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eficiente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(mal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diseño). Eso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se 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resuelve </a:t>
            </a:r>
            <a:r>
              <a:rPr sz="2600" dirty="0">
                <a:solidFill>
                  <a:srgbClr val="9B172C"/>
                </a:solidFill>
                <a:latin typeface="Verdana"/>
                <a:cs typeface="Verdana"/>
              </a:rPr>
              <a:t>en la</a:t>
            </a:r>
            <a:r>
              <a:rPr sz="26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600" spc="-5" dirty="0">
                <a:solidFill>
                  <a:srgbClr val="9B172C"/>
                </a:solidFill>
                <a:latin typeface="Verdana"/>
                <a:cs typeface="Verdana"/>
              </a:rPr>
              <a:t>refactorización.</a:t>
            </a:r>
            <a:endParaRPr sz="2600">
              <a:latin typeface="Verdana"/>
              <a:cs typeface="Verdana"/>
            </a:endParaRPr>
          </a:p>
          <a:p>
            <a:pPr marL="355556" indent="-342858">
              <a:spcBef>
                <a:spcPts val="78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Refactorizar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es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MUY</a:t>
            </a:r>
            <a:r>
              <a:rPr sz="2800" spc="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IMPORTANTE.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866179"/>
            <a:ext cx="4196080" cy="168406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  <a:tabLst>
                <a:tab pos="3171436" algn="l"/>
              </a:tabLst>
            </a:pPr>
            <a:r>
              <a:rPr dirty="0"/>
              <a:t>Venta</a:t>
            </a:r>
            <a:r>
              <a:rPr spc="-5" dirty="0"/>
              <a:t>j</a:t>
            </a:r>
            <a:r>
              <a:rPr dirty="0"/>
              <a:t>as </a:t>
            </a:r>
            <a:r>
              <a:rPr spc="-5" dirty="0"/>
              <a:t>d</a:t>
            </a:r>
            <a:r>
              <a:rPr dirty="0"/>
              <a:t>el	</a:t>
            </a:r>
            <a:r>
              <a:rPr spc="-5" dirty="0"/>
              <a:t>T</a:t>
            </a:r>
            <a:r>
              <a:rPr dirty="0"/>
              <a:t>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2"/>
            <a:ext cx="4121150" cy="1612900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Comprensi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Documentaci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n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Evita</a:t>
            </a:r>
            <a:r>
              <a:rPr sz="2800" spc="-4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sobreingenier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155956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dirty="0"/>
              <a:t>Ín</a:t>
            </a:r>
            <a:r>
              <a:rPr spc="-5" dirty="0"/>
              <a:t>di</a:t>
            </a:r>
            <a:r>
              <a:rPr dirty="0"/>
              <a:t>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8241"/>
            <a:ext cx="6203315" cy="2659687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Conceptos fundamentales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 software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unitarias automatizadas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84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Desarrollo guiado por</a:t>
            </a:r>
            <a:r>
              <a:rPr sz="28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b="1" spc="-5" dirty="0">
                <a:solidFill>
                  <a:srgbClr val="9B172C"/>
                </a:solidFill>
                <a:latin typeface="Verdana"/>
                <a:cs typeface="Verdana"/>
              </a:rPr>
              <a:t>Conclusiones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320357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Conclusiones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8241"/>
            <a:ext cx="7125970" cy="4424301"/>
          </a:xfrm>
          <a:prstGeom prst="rect">
            <a:avLst/>
          </a:prstGeom>
        </p:spPr>
        <p:txBody>
          <a:bodyPr vert="horz" wrap="square" lIns="0" tIns="119365" rIns="0" bIns="0" rtlCol="0">
            <a:spAutoFit/>
          </a:bodyPr>
          <a:lstStyle/>
          <a:p>
            <a:pPr marL="355556" indent="-342858">
              <a:spcBef>
                <a:spcPts val="9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Las pruebas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son demostraciones</a:t>
            </a:r>
            <a:endParaRPr sz="2800">
              <a:latin typeface="Verdana"/>
              <a:cs typeface="Verdana"/>
            </a:endParaRPr>
          </a:p>
          <a:p>
            <a:pPr marL="355556" marR="118730" indent="-342858">
              <a:lnSpc>
                <a:spcPct val="99700"/>
              </a:lnSpc>
              <a:spcBef>
                <a:spcPts val="85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Pasar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las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significa que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 haya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errores,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</a:t>
            </a:r>
            <a:r>
              <a:rPr sz="2800" dirty="0">
                <a:solidFill>
                  <a:srgbClr val="9B172C"/>
                </a:solidFill>
                <a:latin typeface="Arial"/>
                <a:cs typeface="Arial"/>
              </a:rPr>
              <a:t>ó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que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se han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detectado</a:t>
            </a:r>
            <a:endParaRPr sz="2800"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Incrementan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confianza</a:t>
            </a:r>
            <a:endParaRPr sz="2800">
              <a:latin typeface="Verdana"/>
              <a:cs typeface="Verdana"/>
            </a:endParaRPr>
          </a:p>
          <a:p>
            <a:pPr marL="355556" marR="490160" indent="-342858">
              <a:lnSpc>
                <a:spcPct val="101200"/>
              </a:lnSpc>
              <a:spcBef>
                <a:spcPts val="8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Son costosas,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hay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que planificarlas  cuidadosamente</a:t>
            </a:r>
            <a:endParaRPr sz="2800">
              <a:latin typeface="Verdana"/>
              <a:cs typeface="Verdana"/>
            </a:endParaRPr>
          </a:p>
          <a:p>
            <a:pPr marL="355556" marR="5080" indent="-342858">
              <a:lnSpc>
                <a:spcPct val="101200"/>
              </a:lnSpc>
              <a:spcBef>
                <a:spcPts val="7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Hacer pruebas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asegura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calidad, 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sino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que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la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 demuestran</a:t>
            </a:r>
            <a:r>
              <a:rPr sz="2800" spc="-5" dirty="0">
                <a:solidFill>
                  <a:srgbClr val="9B172C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309104"/>
            <a:ext cx="3203575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Conclusiones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264921"/>
            <a:ext cx="7610475" cy="261252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355556" marR="5080" indent="-342858">
              <a:spcBef>
                <a:spcPts val="100"/>
              </a:spcBef>
              <a:buFont typeface="Symbol"/>
              <a:buChar char=""/>
              <a:tabLst>
                <a:tab pos="355556" algn="l"/>
              </a:tabLst>
            </a:pP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Actualmente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hay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sistemas de gestión de  software que integran inspecciones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y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pruebas del software para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ver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de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un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vistazo cómo de bien evoluciona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un  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</a:rPr>
              <a:t>proyecto. Por ejemplo, Sonar </a:t>
            </a:r>
            <a:r>
              <a:rPr sz="2800" dirty="0">
                <a:solidFill>
                  <a:srgbClr val="9B172C"/>
                </a:solidFill>
                <a:latin typeface="Verdana"/>
                <a:cs typeface="Verdana"/>
              </a:rPr>
              <a:t>( </a:t>
            </a:r>
            <a:r>
              <a:rPr sz="2800" u="heavy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2"/>
              </a:rPr>
              <a:t> </a:t>
            </a:r>
            <a:r>
              <a:rPr sz="2800" u="heavy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2"/>
              </a:rPr>
              <a:t>http://sonar.codehaus.org/</a:t>
            </a:r>
            <a:r>
              <a:rPr sz="2800" spc="-5" dirty="0">
                <a:solidFill>
                  <a:srgbClr val="9B172C"/>
                </a:solidFill>
                <a:latin typeface="Verdana"/>
                <a:cs typeface="Verdana"/>
                <a:hlinkClick r:id="rId2"/>
              </a:rPr>
              <a:t>)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-247206"/>
            <a:ext cx="3203575" cy="1065087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Conclusiones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5580066" y="1512876"/>
            <a:ext cx="2928962" cy="1334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8392" y="1320660"/>
            <a:ext cx="8520430" cy="4950460"/>
            <a:chOff x="308392" y="1320659"/>
            <a:chExt cx="8520430" cy="4950460"/>
          </a:xfrm>
        </p:grpSpPr>
        <p:sp>
          <p:nvSpPr>
            <p:cNvPr id="5" name="object 5"/>
            <p:cNvSpPr/>
            <p:nvPr/>
          </p:nvSpPr>
          <p:spPr>
            <a:xfrm>
              <a:off x="308392" y="1320659"/>
              <a:ext cx="4899058" cy="322594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51378" y="3227382"/>
              <a:ext cx="4177334" cy="292893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4158" y="4918085"/>
              <a:ext cx="3714750" cy="13525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9" y="-309104"/>
            <a:ext cx="2819400" cy="112698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Bibliografía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8" y="1152033"/>
            <a:ext cx="7752715" cy="2559230"/>
          </a:xfrm>
          <a:prstGeom prst="rect">
            <a:avLst/>
          </a:prstGeom>
        </p:spPr>
        <p:txBody>
          <a:bodyPr vert="horz" wrap="square" lIns="0" tIns="125080" rIns="0" bIns="0" rtlCol="0">
            <a:spAutoFit/>
          </a:bodyPr>
          <a:lstStyle/>
          <a:p>
            <a:pPr marL="355556" indent="-342858">
              <a:spcBef>
                <a:spcPts val="985"/>
              </a:spcBef>
              <a:buFont typeface="Symbol"/>
              <a:buChar char=""/>
              <a:tabLst>
                <a:tab pos="354921" algn="l"/>
                <a:tab pos="355556" algn="l"/>
              </a:tabLst>
            </a:pPr>
            <a:r>
              <a:rPr sz="2000" spc="-5" dirty="0">
                <a:solidFill>
                  <a:srgbClr val="9B172C"/>
                </a:solidFill>
                <a:latin typeface="Verdana"/>
                <a:cs typeface="Verdana"/>
              </a:rPr>
              <a:t>Basica (de</a:t>
            </a:r>
            <a:r>
              <a:rPr sz="2000" spc="-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9B172C"/>
                </a:solidFill>
                <a:latin typeface="Verdana"/>
                <a:cs typeface="Verdana"/>
              </a:rPr>
              <a:t>referencia):</a:t>
            </a:r>
            <a:endParaRPr sz="2000">
              <a:latin typeface="Verdana"/>
              <a:cs typeface="Verdana"/>
            </a:endParaRPr>
          </a:p>
          <a:p>
            <a:pPr marL="761906" marR="5080" lvl="1" indent="-292064">
              <a:lnSpc>
                <a:spcPct val="101899"/>
              </a:lnSpc>
              <a:spcBef>
                <a:spcPts val="760"/>
              </a:spcBef>
              <a:buFont typeface="Symbol"/>
              <a:buChar char=""/>
              <a:tabLst>
                <a:tab pos="755558" algn="l"/>
              </a:tabLst>
            </a:pP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“Ingenier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a del Software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”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. 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Ian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Sommerville. Pearson Addison  Wesley (7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ª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ed.) [Cap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tulo</a:t>
            </a:r>
            <a:r>
              <a:rPr i="1" spc="14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23]</a:t>
            </a:r>
            <a:endParaRPr>
              <a:latin typeface="Verdana"/>
              <a:cs typeface="Verdana"/>
            </a:endParaRPr>
          </a:p>
          <a:p>
            <a:pPr marL="355556" indent="-342858">
              <a:spcBef>
                <a:spcPts val="739"/>
              </a:spcBef>
              <a:buFont typeface="Symbol"/>
              <a:buChar char=""/>
              <a:tabLst>
                <a:tab pos="354921" algn="l"/>
                <a:tab pos="355556" algn="l"/>
              </a:tabLst>
            </a:pPr>
            <a:r>
              <a:rPr sz="2000" i="1" spc="-5" dirty="0">
                <a:solidFill>
                  <a:srgbClr val="9B172C"/>
                </a:solidFill>
                <a:latin typeface="Verdana"/>
                <a:cs typeface="Verdana"/>
              </a:rPr>
              <a:t>De apoyo:</a:t>
            </a:r>
            <a:endParaRPr sz="2000">
              <a:latin typeface="Verdana"/>
              <a:cs typeface="Verdana"/>
            </a:endParaRPr>
          </a:p>
          <a:p>
            <a:pPr marL="755558" lvl="1" indent="-285715">
              <a:spcBef>
                <a:spcPts val="800"/>
              </a:spcBef>
              <a:buFont typeface="Symbol"/>
              <a:buChar char=""/>
              <a:tabLst>
                <a:tab pos="755558" algn="l"/>
              </a:tabLst>
            </a:pP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“JUnit 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in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Action”. Vicent Massol.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 Manning.</a:t>
            </a:r>
            <a:endParaRPr>
              <a:latin typeface="Verdana"/>
              <a:cs typeface="Verdana"/>
            </a:endParaRPr>
          </a:p>
          <a:p>
            <a:pPr marL="761906" marR="507303" lvl="1" indent="-292064">
              <a:lnSpc>
                <a:spcPts val="2100"/>
              </a:lnSpc>
              <a:spcBef>
                <a:spcPts val="959"/>
              </a:spcBef>
              <a:buFont typeface="Symbol"/>
              <a:buChar char=""/>
              <a:tabLst>
                <a:tab pos="755558" algn="l"/>
              </a:tabLst>
            </a:pP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“Ingenier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a del Software. Un enfoque pr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á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ctico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”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. Roger 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S. 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Pressman. 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Mc Graw Hill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(6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ª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ed.) [Cap</a:t>
            </a:r>
            <a:r>
              <a:rPr i="1" spc="-5" dirty="0">
                <a:solidFill>
                  <a:srgbClr val="9B172C"/>
                </a:solidFill>
                <a:latin typeface="Arial"/>
                <a:cs typeface="Arial"/>
              </a:rPr>
              <a:t>í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tulos 13 </a:t>
            </a:r>
            <a:r>
              <a:rPr i="1" dirty="0">
                <a:solidFill>
                  <a:srgbClr val="9B172C"/>
                </a:solidFill>
                <a:latin typeface="Verdana"/>
                <a:cs typeface="Verdana"/>
              </a:rPr>
              <a:t>y</a:t>
            </a:r>
            <a:r>
              <a:rPr i="1" spc="155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i="1" spc="-5" dirty="0">
                <a:solidFill>
                  <a:srgbClr val="9B172C"/>
                </a:solidFill>
                <a:latin typeface="Verdana"/>
                <a:cs typeface="Verdana"/>
              </a:rPr>
              <a:t>14]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618" y="247972"/>
            <a:ext cx="2172970" cy="5699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>
              <a:spcBef>
                <a:spcPts val="100"/>
              </a:spcBef>
            </a:pPr>
            <a:r>
              <a:rPr spc="-5" dirty="0"/>
              <a:t>¡Gracias!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9" y="1151314"/>
            <a:ext cx="6929755" cy="2684145"/>
          </a:xfrm>
          <a:prstGeom prst="rect">
            <a:avLst/>
          </a:prstGeom>
        </p:spPr>
        <p:txBody>
          <a:bodyPr vert="horz" wrap="square" lIns="0" tIns="126349" rIns="0" bIns="0" rtlCol="0">
            <a:spAutoFit/>
          </a:bodyPr>
          <a:lstStyle/>
          <a:p>
            <a:pPr marL="355556" indent="-342858">
              <a:spcBef>
                <a:spcPts val="995"/>
              </a:spcBef>
              <a:buFont typeface="Symbol"/>
              <a:buChar char=""/>
              <a:tabLst>
                <a:tab pos="355556" algn="l"/>
              </a:tabLst>
            </a:pP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¿Podemos mejorar </a:t>
            </a:r>
            <a:r>
              <a:rPr sz="2400" dirty="0">
                <a:solidFill>
                  <a:srgbClr val="9B172C"/>
                </a:solidFill>
                <a:latin typeface="Verdana"/>
                <a:cs typeface="Verdana"/>
              </a:rPr>
              <a:t>esta</a:t>
            </a:r>
            <a:r>
              <a:rPr sz="2400" spc="-3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9B172C"/>
                </a:solidFill>
                <a:latin typeface="Verdana"/>
                <a:cs typeface="Verdana"/>
              </a:rPr>
              <a:t>lección?</a:t>
            </a:r>
            <a:endParaRPr sz="2400">
              <a:latin typeface="Verdana"/>
              <a:cs typeface="Verdana"/>
            </a:endParaRPr>
          </a:p>
          <a:p>
            <a:pPr marL="755558" lvl="1" indent="-285715">
              <a:spcBef>
                <a:spcPts val="820"/>
              </a:spcBef>
              <a:buFont typeface="Symbol"/>
              <a:buChar char=""/>
              <a:tabLst>
                <a:tab pos="755558" algn="l"/>
                <a:tab pos="3940327" algn="l"/>
              </a:tabLst>
            </a:pP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Mándanos un</a:t>
            </a:r>
            <a:r>
              <a:rPr sz="2200" spc="2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email</a:t>
            </a:r>
            <a:r>
              <a:rPr sz="2200" spc="10" dirty="0">
                <a:solidFill>
                  <a:srgbClr val="9B172C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a	</a:t>
            </a: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2"/>
              </a:rPr>
              <a:t>aruiz@us.es</a:t>
            </a:r>
            <a:endParaRPr sz="2200">
              <a:latin typeface="Verdana"/>
              <a:cs typeface="Verdana"/>
            </a:endParaRPr>
          </a:p>
          <a:p>
            <a:pPr marL="3237468" marR="1419051">
              <a:lnSpc>
                <a:spcPts val="3499"/>
              </a:lnSpc>
              <a:spcBef>
                <a:spcPts val="160"/>
              </a:spcBef>
            </a:pP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ptr</a:t>
            </a:r>
            <a:r>
              <a:rPr sz="2200" u="sng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ini</a:t>
            </a: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dad@u</a:t>
            </a:r>
            <a:r>
              <a:rPr sz="2200" u="sng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s</a:t>
            </a: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.</a:t>
            </a:r>
            <a:r>
              <a:rPr sz="2200" u="sng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3"/>
              </a:rPr>
              <a:t>es </a:t>
            </a:r>
            <a:r>
              <a:rPr sz="2200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4"/>
              </a:rPr>
              <a:t>resinas@us.es</a:t>
            </a:r>
            <a:endParaRPr sz="2200">
              <a:latin typeface="Verdana"/>
              <a:cs typeface="Verdana"/>
            </a:endParaRPr>
          </a:p>
          <a:p>
            <a:pPr>
              <a:spcBef>
                <a:spcPts val="10"/>
              </a:spcBef>
            </a:pPr>
            <a:endParaRPr sz="3200">
              <a:latin typeface="Verdana"/>
              <a:cs typeface="Verdana"/>
            </a:endParaRPr>
          </a:p>
          <a:p>
            <a:pPr marL="755558" lvl="1" indent="-285715">
              <a:buFont typeface="Symbol"/>
              <a:buChar char=""/>
              <a:tabLst>
                <a:tab pos="755558" algn="l"/>
              </a:tabLst>
            </a:pP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Visite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la web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de </a:t>
            </a:r>
            <a:r>
              <a:rPr sz="2200" dirty="0">
                <a:solidFill>
                  <a:srgbClr val="9B172C"/>
                </a:solidFill>
                <a:latin typeface="Verdana"/>
                <a:cs typeface="Verdana"/>
              </a:rPr>
              <a:t>la </a:t>
            </a:r>
            <a:r>
              <a:rPr sz="2200" spc="-5" dirty="0">
                <a:solidFill>
                  <a:srgbClr val="9B172C"/>
                </a:solidFill>
                <a:latin typeface="Verdana"/>
                <a:cs typeface="Verdana"/>
              </a:rPr>
              <a:t>asignatura</a:t>
            </a:r>
            <a:r>
              <a:rPr sz="2200" spc="10" dirty="0">
                <a:solidFill>
                  <a:srgbClr val="000099"/>
                </a:solidFill>
                <a:latin typeface="Verdana"/>
                <a:cs typeface="Verdana"/>
              </a:rPr>
              <a:t> </a:t>
            </a:r>
            <a:r>
              <a:rPr sz="2200" u="sng" spc="-5" dirty="0">
                <a:solidFill>
                  <a:srgbClr val="000099"/>
                </a:solidFill>
                <a:uFill>
                  <a:solidFill>
                    <a:srgbClr val="021EAA"/>
                  </a:solidFill>
                </a:uFill>
                <a:latin typeface="Verdana"/>
                <a:cs typeface="Verdana"/>
                <a:hlinkClick r:id="rId5"/>
              </a:rPr>
              <a:t>www.lsi.us.es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21</TotalTime>
  <Words>1292</Words>
  <Application>Microsoft Office PowerPoint</Application>
  <PresentationFormat>Personalizado</PresentationFormat>
  <Paragraphs>283</Paragraphs>
  <Slides>43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4" baseType="lpstr">
      <vt:lpstr>Ángulos</vt:lpstr>
      <vt:lpstr>Presentación de PowerPoint</vt:lpstr>
      <vt:lpstr>Objetivos</vt:lpstr>
      <vt:lpstr>Índice</vt:lpstr>
      <vt:lpstr>Conceptos fundamentales</vt:lpstr>
      <vt:lpstr>Verificación</vt:lpstr>
      <vt:lpstr>Validación</vt:lpstr>
      <vt:lpstr>Métodos</vt:lpstr>
      <vt:lpstr>Inspecciones del software</vt:lpstr>
      <vt:lpstr>Índice</vt:lpstr>
      <vt:lpstr>Tipos de prueba</vt:lpstr>
      <vt:lpstr>Qué conocemos</vt:lpstr>
      <vt:lpstr>Automatización</vt:lpstr>
      <vt:lpstr>¿Qué se prueba?</vt:lpstr>
      <vt:lpstr>Otros conceptos</vt:lpstr>
      <vt:lpstr>Índice</vt:lpstr>
      <vt:lpstr>Pruebas unitarias automatizadas</vt:lpstr>
      <vt:lpstr>¿Por qué pruebas unitarias?</vt:lpstr>
      <vt:lpstr>¿Qué probamos? - Según el  tipo de componente</vt:lpstr>
      <vt:lpstr>Funciones individuales</vt:lpstr>
      <vt:lpstr>Clases de objetos</vt:lpstr>
      <vt:lpstr>¿Qué probamos?</vt:lpstr>
      <vt:lpstr>¿Qué probamos?</vt:lpstr>
      <vt:lpstr>¿Qué probamos?</vt:lpstr>
      <vt:lpstr>¿Qué probamos?</vt:lpstr>
      <vt:lpstr>¿Cómo hacemos las pruebas  unitarias?</vt:lpstr>
      <vt:lpstr>Pruebas de particiones</vt:lpstr>
      <vt:lpstr>Pruebas de particiones (ejemplo)</vt:lpstr>
      <vt:lpstr>Pruebas de particiones -  Consejos</vt:lpstr>
      <vt:lpstr>Pruebas de particiones -  Consejos</vt:lpstr>
      <vt:lpstr>Pruebas estructurales</vt:lpstr>
      <vt:lpstr>¿Dónde ejecutamos las  pruebas unitarias?</vt:lpstr>
      <vt:lpstr>¿Cuándo implementamos las  pruebas unitarias?</vt:lpstr>
      <vt:lpstr>Índice</vt:lpstr>
      <vt:lpstr>Desarrollo guiado por pruebas</vt:lpstr>
      <vt:lpstr>Desarrollo guiado por pruebas</vt:lpstr>
      <vt:lpstr>Desarrollo guiado por pruebas</vt:lpstr>
      <vt:lpstr>Ventajas del TDD</vt:lpstr>
      <vt:lpstr>Índice</vt:lpstr>
      <vt:lpstr>Conclusiones</vt:lpstr>
      <vt:lpstr>Conclusiones</vt:lpstr>
      <vt:lpstr>Conclusiones</vt:lpstr>
      <vt:lpstr>Bibliografía</vt:lpstr>
      <vt:lpstr>¡Gracias!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5 - Pruebas del software</dc:title>
  <dc:creator>MRX</dc:creator>
  <cp:lastModifiedBy>MRX</cp:lastModifiedBy>
  <cp:revision>8</cp:revision>
  <dcterms:created xsi:type="dcterms:W3CDTF">2019-12-16T03:06:31Z</dcterms:created>
  <dcterms:modified xsi:type="dcterms:W3CDTF">2019-12-16T23:39:27Z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2019-12-16T00:00:00Z</vt:filetime>
  </property>
</Properties>
</file>