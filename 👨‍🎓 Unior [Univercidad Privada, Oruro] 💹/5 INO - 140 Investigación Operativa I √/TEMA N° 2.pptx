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2" r:id="rId3"/>
    <p:sldId id="260" r:id="rId4"/>
    <p:sldId id="261" r:id="rId5"/>
    <p:sldId id="262" r:id="rId6"/>
    <p:sldId id="263" r:id="rId7"/>
    <p:sldId id="264" r:id="rId8"/>
    <p:sldId id="275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10/1/2020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10/1/2020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75765" y="2146413"/>
            <a:ext cx="10219763" cy="2896234"/>
          </a:xfrm>
        </p:spPr>
        <p:txBody>
          <a:bodyPr>
            <a:noAutofit/>
          </a:bodyPr>
          <a:lstStyle/>
          <a:p>
            <a:pPr algn="ctr"/>
            <a:r>
              <a:rPr lang="es-ES" sz="4000" b="1" i="1" smtClean="0">
                <a:solidFill>
                  <a:srgbClr val="FFFF00"/>
                </a:solidFill>
              </a:rPr>
              <a:t>FORMULACIÓN </a:t>
            </a:r>
          </a:p>
          <a:p>
            <a:pPr algn="ctr"/>
            <a:r>
              <a:rPr lang="es-ES" sz="4000" b="1" i="1" smtClean="0">
                <a:solidFill>
                  <a:srgbClr val="FFFF00"/>
                </a:solidFill>
              </a:rPr>
              <a:t>DEL </a:t>
            </a:r>
          </a:p>
          <a:p>
            <a:pPr algn="ctr"/>
            <a:r>
              <a:rPr lang="es-ES" sz="4000" b="1" i="1" smtClean="0">
                <a:solidFill>
                  <a:srgbClr val="FFFF00"/>
                </a:solidFill>
              </a:rPr>
              <a:t>MODELO DE PROGRAMACIÓN LINEAL </a:t>
            </a:r>
            <a:endParaRPr lang="es-ES" sz="4000" b="1" i="1" dirty="0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227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71"/>
    </mc:Choice>
    <mc:Fallback xmlns="">
      <p:transition spd="slow" advTm="1847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070617" y="922961"/>
            <a:ext cx="6174314" cy="723088"/>
          </a:xfrm>
          <a:ln w="15875">
            <a:solidFill>
              <a:srgbClr val="FFFF00"/>
            </a:solidFill>
          </a:ln>
        </p:spPr>
        <p:txBody>
          <a:bodyPr>
            <a:noAutofit/>
          </a:bodyPr>
          <a:lstStyle/>
          <a:p>
            <a:r>
              <a:rPr lang="es-BO" sz="3600" b="1" dirty="0" smtClean="0">
                <a:solidFill>
                  <a:srgbClr val="FFFF00"/>
                </a:solidFill>
              </a:rPr>
              <a:t>PROGRAMACIÓN LÍNEAL</a:t>
            </a:r>
            <a:endParaRPr lang="es-BO" sz="3600" b="1" dirty="0">
              <a:solidFill>
                <a:srgbClr val="FFFF00"/>
              </a:solidFill>
            </a:endParaRPr>
          </a:p>
        </p:txBody>
      </p:sp>
      <p:sp>
        <p:nvSpPr>
          <p:cNvPr id="6" name="Flecha abajo 5"/>
          <p:cNvSpPr/>
          <p:nvPr/>
        </p:nvSpPr>
        <p:spPr>
          <a:xfrm>
            <a:off x="5492652" y="1886060"/>
            <a:ext cx="1603717" cy="492368"/>
          </a:xfrm>
          <a:prstGeom prst="downArrow">
            <a:avLst/>
          </a:prstGeom>
          <a:noFill/>
          <a:ln w="158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" name="Rectángulo 1"/>
          <p:cNvSpPr/>
          <p:nvPr/>
        </p:nvSpPr>
        <p:spPr>
          <a:xfrm>
            <a:off x="3109774" y="2618440"/>
            <a:ext cx="6096000" cy="1338828"/>
          </a:xfrm>
          <a:prstGeom prst="rect">
            <a:avLst/>
          </a:prstGeom>
          <a:ln>
            <a:solidFill>
              <a:srgbClr val="FFFF00"/>
            </a:solidFill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BO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una técnica  cuantitativa  de la  investigación operativa, utilizada normalmente  para resolver los problemas  llamados  de asignación  de recursos.</a:t>
            </a:r>
            <a:endParaRPr lang="es-BO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3112310" y="4409731"/>
            <a:ext cx="6096000" cy="1338828"/>
          </a:xfrm>
          <a:prstGeom prst="rect">
            <a:avLst/>
          </a:prstGeom>
          <a:ln>
            <a:solidFill>
              <a:srgbClr val="FFFF00"/>
            </a:solidFill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BO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programación lineal  se aplica  a modelos  de optimización  en los que la función objetivo  y restricciones  son  estrictamente lineales.</a:t>
            </a:r>
            <a:endParaRPr lang="es-BO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9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596"/>
    </mc:Choice>
    <mc:Fallback xmlns="">
      <p:transition spd="slow" advTm="98596"/>
    </mc:Fallback>
  </mc:AlternateContent>
  <p:timing>
    <p:tnLst>
      <p:par>
        <p:cTn id="1" dur="indefinite" restart="never" nodeType="tmRoot"/>
      </p:par>
    </p:tn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0210" y="866562"/>
            <a:ext cx="9614869" cy="723088"/>
          </a:xfrm>
          <a:ln w="15875"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ctr"/>
            <a:r>
              <a:rPr lang="es-BO" sz="4400" b="1" dirty="0" smtClean="0">
                <a:solidFill>
                  <a:srgbClr val="FFFF00"/>
                </a:solidFill>
              </a:rPr>
              <a:t>MODELO MATEMÁTICO GENERAL</a:t>
            </a:r>
            <a:endParaRPr lang="es-BO" sz="4400" b="1" dirty="0">
              <a:solidFill>
                <a:srgbClr val="FFFF00"/>
              </a:solidFill>
            </a:endParaRPr>
          </a:p>
        </p:txBody>
      </p:sp>
      <p:sp>
        <p:nvSpPr>
          <p:cNvPr id="6" name="Flecha abajo 5"/>
          <p:cNvSpPr/>
          <p:nvPr/>
        </p:nvSpPr>
        <p:spPr>
          <a:xfrm>
            <a:off x="5391054" y="1688124"/>
            <a:ext cx="1603717" cy="492368"/>
          </a:xfrm>
          <a:prstGeom prst="downArrow">
            <a:avLst/>
          </a:prstGeom>
          <a:noFill/>
          <a:ln w="158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080" y="2305415"/>
            <a:ext cx="6377434" cy="381961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92369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857"/>
    </mc:Choice>
    <mc:Fallback xmlns="">
      <p:transition spd="slow" advTm="222857"/>
    </mc:Fallback>
  </mc:AlternateContent>
  <p:timing>
    <p:tnLst>
      <p:par>
        <p:cTn id="1" dur="indefinite" restart="never" nodeType="tmRoot"/>
      </p:par>
    </p:tn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191239" y="737759"/>
            <a:ext cx="9855199" cy="5283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BO" b="1" u="words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EJEMPLO 1</a:t>
            </a:r>
            <a:r>
              <a:rPr lang="es-BO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BO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BO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profesional carpintero fabrica ventanas de dos  medidas las cuales  son, pequeñas  y grandes. La utilidad que obtiene por cada una de ellas  es de 100 Bs. y 200 Bs. respectivamente, el consumo de madera   es de 2 mts.</a:t>
            </a:r>
            <a:r>
              <a:rPr lang="es-BO" baseline="30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BO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por unidad en la  ventana pequeña y de 3mts.</a:t>
            </a:r>
            <a:r>
              <a:rPr lang="es-BO" baseline="30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BO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por unidad en la ventana grande.</a:t>
            </a:r>
            <a:endParaRPr lang="es-BO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BO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tiempo de elaboración  es de 4 hrs. por unidad para la ventana pequeña y  6 hrs. por unidad para  la ventana grande. Finalmente  el carpintero según su experiencia estima que puede vender máximo 5 ventanas pequeñas  y 6 ventanas grandes semanalmente. Se dispone  de 48 horas-hombre  y 35 mts.</a:t>
            </a:r>
            <a:r>
              <a:rPr lang="es-BO" baseline="30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BO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BO" dirty="0" smtClean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madera, por semana para la fabricación de ambos tipos de ventanas. </a:t>
            </a:r>
            <a:r>
              <a:rPr lang="es-BO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¿Cuántas ventanas pequeñas  y cuantas ventanas grandes se le recomiendan fabricar al carpintero semanalmente  con el objetivo que pueda maximizar sus utilidades?</a:t>
            </a:r>
            <a:endParaRPr lang="es-BO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76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77"/>
    </mc:Choice>
    <mc:Fallback xmlns="">
      <p:transition spd="slow" advTm="30177"/>
    </mc:Fallback>
  </mc:AlternateContent>
  <p:timing>
    <p:tnLst>
      <p:par>
        <p:cTn id="1" dur="indefinite" restart="never" nodeType="tmRoot"/>
      </p:par>
    </p:tn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514" y="624115"/>
            <a:ext cx="9579429" cy="5638800"/>
          </a:xfrm>
          <a:prstGeom prst="rect">
            <a:avLst/>
          </a:prstGeom>
        </p:spPr>
      </p:pic>
      <p:sp>
        <p:nvSpPr>
          <p:cNvPr id="9" name="Subtítulo 2"/>
          <p:cNvSpPr>
            <a:spLocks noGrp="1"/>
          </p:cNvSpPr>
          <p:nvPr>
            <p:ph type="subTitle" idx="1"/>
          </p:nvPr>
        </p:nvSpPr>
        <p:spPr>
          <a:xfrm rot="16200000">
            <a:off x="-1269468" y="2769914"/>
            <a:ext cx="5052532" cy="1347203"/>
          </a:xfrm>
          <a:ln w="15875"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ctr"/>
            <a:r>
              <a:rPr lang="es-BO" sz="4400" b="1" dirty="0" smtClean="0">
                <a:solidFill>
                  <a:srgbClr val="FFFF00"/>
                </a:solidFill>
              </a:rPr>
              <a:t>COMPRENSIÓN DEL CASO</a:t>
            </a:r>
            <a:endParaRPr lang="es-BO" sz="4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38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91"/>
    </mc:Choice>
    <mc:Fallback xmlns="">
      <p:transition spd="slow" advTm="17491"/>
    </mc:Fallback>
  </mc:AlternateContent>
  <p:timing>
    <p:tnLst>
      <p:par>
        <p:cTn id="1" dur="indefinite" restart="never" nodeType="tmRoot"/>
      </p:par>
    </p:tn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ítulo 2"/>
          <p:cNvSpPr>
            <a:spLocks noGrp="1"/>
          </p:cNvSpPr>
          <p:nvPr>
            <p:ph type="subTitle" idx="1"/>
          </p:nvPr>
        </p:nvSpPr>
        <p:spPr>
          <a:xfrm rot="16200000">
            <a:off x="-1691743" y="3093681"/>
            <a:ext cx="5720279" cy="723088"/>
          </a:xfrm>
          <a:ln w="15875"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ctr"/>
            <a:r>
              <a:rPr lang="es-BO" sz="4400" b="1" dirty="0" smtClean="0">
                <a:solidFill>
                  <a:srgbClr val="FFFF00"/>
                </a:solidFill>
              </a:rPr>
              <a:t>ANÁLISIS DEL CASO</a:t>
            </a:r>
            <a:endParaRPr lang="es-BO" sz="4400" b="1" dirty="0">
              <a:solidFill>
                <a:srgbClr val="FFFF00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3048000" y="992696"/>
            <a:ext cx="7605486" cy="4773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algn="just">
              <a:lnSpc>
                <a:spcPct val="150000"/>
              </a:lnSpc>
              <a:spcAft>
                <a:spcPts val="800"/>
              </a:spcAft>
            </a:pPr>
            <a:r>
              <a:rPr lang="es-BO" sz="1400" b="1" i="1" u="words" dirty="0">
                <a:solidFill>
                  <a:srgbClr val="FFFF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IDENTIFICAR EL OBJETIVO DEL CASO:</a:t>
            </a:r>
            <a:endParaRPr lang="es-BO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es-BO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Maximizar las utilidades semanales</a:t>
            </a:r>
            <a:endParaRPr lang="es-BO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50000"/>
              </a:lnSpc>
              <a:spcAft>
                <a:spcPts val="800"/>
              </a:spcAft>
            </a:pPr>
            <a:r>
              <a:rPr lang="es-BO" sz="1400" b="1" i="1" u="words" dirty="0">
                <a:solidFill>
                  <a:srgbClr val="FFFF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IDENTIFICAR LAS RESTRICCIONES:</a:t>
            </a:r>
            <a:endParaRPr lang="es-BO" b="1" i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s-BO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Tiempo (Solo se  dispone de 48 hrs.-hombre, por semana)</a:t>
            </a:r>
            <a:endParaRPr lang="es-BO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s-BO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Madera (Se dispone de 35 mts.</a:t>
            </a:r>
            <a:r>
              <a:rPr lang="es-BO" i="1" baseline="30000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BO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por semana)</a:t>
            </a:r>
            <a:endParaRPr lang="es-BO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es-BO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Demanda del mercado (La  demanda  máxima por semana, de las ventanas pequeñas es </a:t>
            </a:r>
            <a:r>
              <a:rPr lang="es-BO" i="1" dirty="0" smtClean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5)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es-BO" i="1" dirty="0" smtClean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(La  demanda  máxima por semana, de las ventanas  grandes es 6)</a:t>
            </a:r>
            <a:endParaRPr lang="es-BO" dirty="0" smtClean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50000"/>
              </a:lnSpc>
              <a:spcAft>
                <a:spcPts val="800"/>
              </a:spcAft>
            </a:pPr>
            <a:r>
              <a:rPr lang="es-BO" sz="1400" b="1" i="1" dirty="0" smtClean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BO" dirty="0" smtClean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50000"/>
              </a:lnSpc>
              <a:spcAft>
                <a:spcPts val="800"/>
              </a:spcAft>
            </a:pPr>
            <a:r>
              <a:rPr lang="es-BO" sz="1400" b="1" i="1" u="words" dirty="0" smtClean="0">
                <a:solidFill>
                  <a:srgbClr val="FFFF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IDENTIFICAR  LAS  VARIABLES DE DECISIÓN:</a:t>
            </a:r>
            <a:endParaRPr lang="es-BO" b="1" i="1" dirty="0" smtClean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s-BO" i="1" dirty="0" smtClean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Cantidad </a:t>
            </a:r>
            <a:r>
              <a:rPr lang="es-BO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ventanas pequeñas  a fabricar  por semana</a:t>
            </a:r>
            <a:endParaRPr lang="es-BO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s-BO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Cantidad de ventanas grandes  a fabricar  por semana</a:t>
            </a:r>
            <a:endParaRPr lang="es-BO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73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5"/>
    </mc:Choice>
    <mc:Fallback xmlns="">
      <p:transition spd="slow" advTm="965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 rot="16200000">
            <a:off x="-1677066" y="3022545"/>
            <a:ext cx="5490919" cy="723088"/>
          </a:xfrm>
          <a:ln w="15875">
            <a:solidFill>
              <a:srgbClr val="FFFF00"/>
            </a:solidFill>
          </a:ln>
        </p:spPr>
        <p:txBody>
          <a:bodyPr>
            <a:noAutofit/>
          </a:bodyPr>
          <a:lstStyle/>
          <a:p>
            <a:r>
              <a:rPr lang="es-BO" sz="3200" b="1" dirty="0" smtClean="0">
                <a:solidFill>
                  <a:srgbClr val="FFFF00"/>
                </a:solidFill>
              </a:rPr>
              <a:t>DESARROLLO DEL MODELO</a:t>
            </a:r>
            <a:endParaRPr lang="es-BO" sz="3200" b="1" dirty="0">
              <a:solidFill>
                <a:srgbClr val="FFFF0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611085" y="1470744"/>
            <a:ext cx="9913257" cy="3826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BO" sz="2400" b="1" i="1" dirty="0">
                <a:solidFill>
                  <a:srgbClr val="FF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1°</a:t>
            </a:r>
            <a:r>
              <a:rPr lang="es-BO" sz="2400" b="1" i="1" u="words" dirty="0">
                <a:solidFill>
                  <a:srgbClr val="FF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DEFINIMOS  LAS VARIABLES  DE DECISIÓN:</a:t>
            </a:r>
            <a:endParaRPr lang="es-BO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9160" algn="just">
              <a:lnSpc>
                <a:spcPct val="150000"/>
              </a:lnSpc>
              <a:spcAft>
                <a:spcPts val="800"/>
              </a:spcAft>
            </a:pPr>
            <a:r>
              <a:rPr lang="es-BO" sz="24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BO" sz="2400" i="1" baseline="-25000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s-BO" sz="24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Nro. de ventanas pequeñas  a fabricar  semanalmente.</a:t>
            </a:r>
            <a:endParaRPr lang="es-BO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9160" algn="just">
              <a:lnSpc>
                <a:spcPct val="150000"/>
              </a:lnSpc>
              <a:spcAft>
                <a:spcPts val="800"/>
              </a:spcAft>
            </a:pPr>
            <a:r>
              <a:rPr lang="es-BO" sz="24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BO" sz="2400" i="1" baseline="-25000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BO" sz="24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Nro. de ventanas </a:t>
            </a:r>
            <a:r>
              <a:rPr lang="es-BO" sz="2400" i="1" dirty="0" smtClean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grandes  </a:t>
            </a:r>
            <a:r>
              <a:rPr lang="es-BO" sz="24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fabricar  semanalmente.</a:t>
            </a:r>
            <a:endParaRPr lang="es-BO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BO" sz="2400" b="1" i="1" dirty="0">
                <a:solidFill>
                  <a:srgbClr val="FF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2° </a:t>
            </a:r>
            <a:r>
              <a:rPr lang="es-BO" sz="2400" b="1" i="1" u="words" dirty="0">
                <a:solidFill>
                  <a:srgbClr val="FF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ESTRUCTURAMOS  LA  FUNCIÓN  OBJETIVO DEL MODELO MATEMATICO:</a:t>
            </a:r>
            <a:endParaRPr lang="es-BO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9160" algn="just">
              <a:lnSpc>
                <a:spcPct val="150000"/>
              </a:lnSpc>
              <a:spcAft>
                <a:spcPts val="800"/>
              </a:spcAft>
            </a:pPr>
            <a:r>
              <a:rPr lang="es-BO" sz="24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Max.:   X</a:t>
            </a:r>
            <a:r>
              <a:rPr lang="es-BO" sz="24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s-BO" sz="24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100X</a:t>
            </a:r>
            <a:r>
              <a:rPr lang="es-BO" sz="24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BO" sz="24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+ 200X</a:t>
            </a:r>
            <a:r>
              <a:rPr lang="es-BO" sz="24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s-BO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02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4"/>
    </mc:Choice>
    <mc:Fallback xmlns="">
      <p:transition spd="slow" advTm="1794"/>
    </mc:Fallback>
  </mc:AlternateContent>
  <p:timing>
    <p:tnLst>
      <p:par>
        <p:cTn id="1" dur="indefinite" restart="never" nodeType="tmRoot"/>
      </p:par>
    </p:tn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 rot="16200000">
            <a:off x="-1677066" y="3022545"/>
            <a:ext cx="5490919" cy="723088"/>
          </a:xfrm>
          <a:ln w="15875">
            <a:solidFill>
              <a:srgbClr val="FFFF00"/>
            </a:solidFill>
          </a:ln>
        </p:spPr>
        <p:txBody>
          <a:bodyPr>
            <a:noAutofit/>
          </a:bodyPr>
          <a:lstStyle/>
          <a:p>
            <a:r>
              <a:rPr lang="es-BO" sz="3200" b="1" dirty="0" smtClean="0">
                <a:solidFill>
                  <a:srgbClr val="FFFF00"/>
                </a:solidFill>
              </a:rPr>
              <a:t>DESARROLLO DEL MODELO</a:t>
            </a:r>
            <a:endParaRPr lang="es-BO" sz="3200" b="1" dirty="0">
              <a:solidFill>
                <a:srgbClr val="FFFF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959429" y="1414319"/>
            <a:ext cx="9085942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BO" sz="2000" b="1" i="1" dirty="0">
                <a:solidFill>
                  <a:srgbClr val="FF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3° </a:t>
            </a:r>
            <a:r>
              <a:rPr lang="es-BO" sz="2000" b="1" i="1" u="words" dirty="0">
                <a:solidFill>
                  <a:srgbClr val="FF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PLANTEAMOS  LAS RESTRICCIONES  DEL MODELO MATEMÁTICO</a:t>
            </a:r>
            <a:r>
              <a:rPr lang="es-BO" sz="2000" b="1" i="1" u="words" dirty="0" smtClean="0">
                <a:solidFill>
                  <a:srgbClr val="FF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BO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algn="just">
              <a:lnSpc>
                <a:spcPct val="150000"/>
              </a:lnSpc>
              <a:spcAft>
                <a:spcPts val="800"/>
              </a:spcAft>
            </a:pPr>
            <a:r>
              <a:rPr lang="es-BO" sz="20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Restricción  de tiempo de fabricación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		4X</a:t>
            </a:r>
            <a:r>
              <a:rPr lang="es-BO" sz="20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+ 6X</a:t>
            </a:r>
            <a:r>
              <a:rPr lang="es-BO" sz="20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≤ 48</a:t>
            </a:r>
            <a:endParaRPr lang="es-BO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algn="just">
              <a:lnSpc>
                <a:spcPct val="150000"/>
              </a:lnSpc>
              <a:spcAft>
                <a:spcPts val="800"/>
              </a:spcAft>
            </a:pPr>
            <a:r>
              <a:rPr lang="es-BO" sz="20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Restricción  de materia prima (madera)	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2X</a:t>
            </a:r>
            <a:r>
              <a:rPr lang="es-BO" sz="20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+ 3X</a:t>
            </a:r>
            <a:r>
              <a:rPr lang="es-BO" sz="20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≤ 35</a:t>
            </a:r>
            <a:endParaRPr lang="es-BO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algn="just">
              <a:lnSpc>
                <a:spcPct val="150000"/>
              </a:lnSpc>
              <a:spcAft>
                <a:spcPts val="800"/>
              </a:spcAft>
            </a:pPr>
            <a:r>
              <a:rPr lang="es-BO" sz="20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Restricción de demanda  ventanas pequeñas	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X</a:t>
            </a:r>
            <a:r>
              <a:rPr lang="es-BO" sz="20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≤ 5</a:t>
            </a:r>
            <a:endParaRPr lang="es-BO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algn="just">
              <a:lnSpc>
                <a:spcPct val="150000"/>
              </a:lnSpc>
              <a:spcAft>
                <a:spcPts val="800"/>
              </a:spcAft>
            </a:pPr>
            <a:r>
              <a:rPr lang="es-BO" sz="20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Restricción de demanda  ventanas grandes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X</a:t>
            </a:r>
            <a:r>
              <a:rPr lang="es-BO" sz="20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≤ 6</a:t>
            </a:r>
            <a:endParaRPr lang="es-BO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algn="just">
              <a:lnSpc>
                <a:spcPct val="150000"/>
              </a:lnSpc>
              <a:spcAft>
                <a:spcPts val="800"/>
              </a:spcAft>
            </a:pPr>
            <a:r>
              <a:rPr lang="es-BO" sz="20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Restricción técnica de X</a:t>
            </a:r>
            <a:r>
              <a:rPr lang="es-BO" sz="2000" i="1" baseline="-25000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BO" sz="2000" i="1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X</a:t>
            </a:r>
            <a:r>
              <a:rPr lang="es-BO" sz="2000" i="1" baseline="-25000" dirty="0">
                <a:solidFill>
                  <a:schemeClr val="bg1"/>
                </a:solidFill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X</a:t>
            </a:r>
            <a:r>
              <a:rPr lang="es-BO" sz="20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 X</a:t>
            </a:r>
            <a:r>
              <a:rPr lang="es-BO" sz="2000" baseline="-25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BO" sz="2000" dirty="0"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≥ 0</a:t>
            </a:r>
            <a:endParaRPr lang="es-BO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47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7"/>
    </mc:Choice>
    <mc:Fallback xmlns="">
      <p:transition spd="slow" advTm="119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ítulo 2"/>
          <p:cNvSpPr>
            <a:spLocks noGrp="1"/>
          </p:cNvSpPr>
          <p:nvPr>
            <p:ph type="subTitle" idx="1"/>
          </p:nvPr>
        </p:nvSpPr>
        <p:spPr>
          <a:xfrm rot="16200000">
            <a:off x="-1799350" y="3132487"/>
            <a:ext cx="5782434" cy="591512"/>
          </a:xfrm>
          <a:ln w="15875">
            <a:solidFill>
              <a:srgbClr val="FFFF00"/>
            </a:solidFill>
          </a:ln>
        </p:spPr>
        <p:txBody>
          <a:bodyPr>
            <a:noAutofit/>
          </a:bodyPr>
          <a:lstStyle/>
          <a:p>
            <a:r>
              <a:rPr lang="es-BO" sz="3200" b="1" dirty="0" smtClean="0">
                <a:solidFill>
                  <a:srgbClr val="FFFF00"/>
                </a:solidFill>
              </a:rPr>
              <a:t>PRESENTACIÓN DEL MODELO</a:t>
            </a:r>
            <a:endParaRPr lang="es-BO" sz="3200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1741714" y="1155037"/>
                <a:ext cx="9129486" cy="41118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9580"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BO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BO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BO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ú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𝑚𝑒𝑟𝑜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𝑑𝑒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𝑣𝑒𝑛𝑡𝑎𝑛𝑎𝑠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𝑝𝑒𝑞𝑢𝑒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ñ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𝑓𝑎𝑏𝑟𝑖𝑐𝑎𝑟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𝑠𝑒𝑚𝑎𝑛𝑎𝑙𝑚𝑒𝑛𝑡𝑒</m:t>
                      </m:r>
                    </m:oMath>
                  </m:oMathPara>
                </a14:m>
                <a:endParaRPr lang="es-BO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49580"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BO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BO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BO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ú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𝑚𝑒𝑟𝑜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𝑑𝑒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𝑣𝑒𝑛𝑡𝑎𝑛𝑎𝑠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𝑔𝑟𝑎𝑛𝑑𝑒𝑠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𝑓𝑎𝑏𝑟𝑖𝑐𝑎𝑟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𝑠𝑒𝑚𝑎𝑛𝑎𝑙𝑚𝑒𝑛𝑡𝑒</m:t>
                      </m:r>
                    </m:oMath>
                  </m:oMathPara>
                </a14:m>
                <a:endParaRPr lang="es-BO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s-BO" sz="2000" dirty="0">
                    <a:solidFill>
                      <a:schemeClr val="bg1"/>
                    </a:solidFill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𝑀𝑎𝑥</m:t>
                    </m:r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.: </m:t>
                    </m:r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0 </m:t>
                        </m:r>
                      </m:sub>
                    </m:sSub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=100</m:t>
                    </m:r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+  200</m:t>
                    </m:r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BO" sz="2000" i="1" dirty="0" smtClean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899160"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s-BO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.:</m:t>
                      </m:r>
                    </m:oMath>
                  </m:oMathPara>
                </a14:m>
                <a:endParaRPr lang="es-BO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9832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BO" sz="2000" dirty="0" smtClean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							</a:t>
                </a:r>
                <a14:m>
                  <m:oMath xmlns:m="http://schemas.openxmlformats.org/officeDocument/2006/math"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4</m:t>
                    </m:r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+  6</m:t>
                    </m:r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≤  48</m:t>
                    </m:r>
                  </m:oMath>
                </a14:m>
                <a:endParaRPr lang="es-BO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9832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BO" sz="2000" dirty="0" smtClean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							</a:t>
                </a:r>
                <a14:m>
                  <m:oMath xmlns:m="http://schemas.openxmlformats.org/officeDocument/2006/math"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+  3</m:t>
                    </m:r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≤  35</m:t>
                    </m:r>
                  </m:oMath>
                </a14:m>
                <a:endParaRPr lang="es-BO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9832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BO" sz="2000" dirty="0" smtClean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+             ≤   5</m:t>
                    </m:r>
                  </m:oMath>
                </a14:m>
                <a:endParaRPr lang="es-BO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9832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BO" sz="2000" dirty="0" smtClean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                </m:t>
                        </m:r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≤   6</m:t>
                    </m:r>
                  </m:oMath>
                </a14:m>
                <a:endParaRPr lang="es-BO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9832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BO" sz="2000" dirty="0" smtClean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 </m:t>
                        </m:r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, </m:t>
                    </m:r>
                    <m:sSub>
                      <m:sSubPr>
                        <m:ctrlP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     </m:t>
                        </m:r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BO" sz="20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BO" sz="20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≥  0</m:t>
                    </m:r>
                  </m:oMath>
                </a14:m>
                <a:endParaRPr lang="es-BO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14" y="1155037"/>
                <a:ext cx="9129486" cy="411189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43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687</TotalTime>
  <Words>354</Words>
  <Application>Microsoft Office PowerPoint</Application>
  <PresentationFormat>Panorámica</PresentationFormat>
  <Paragraphs>47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Agency FB</vt:lpstr>
      <vt:lpstr>Arial</vt:lpstr>
      <vt:lpstr>Calibri</vt:lpstr>
      <vt:lpstr>Cambria Math</vt:lpstr>
      <vt:lpstr>Century Gothic</vt:lpstr>
      <vt:lpstr>Symbol</vt:lpstr>
      <vt:lpstr>Times New Roman</vt:lpstr>
      <vt:lpstr>Wingdings 3</vt:lpstr>
      <vt:lpstr>Sala de reuniones 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FLORES</dc:creator>
  <cp:lastModifiedBy>LUIS FLORES</cp:lastModifiedBy>
  <cp:revision>42</cp:revision>
  <dcterms:created xsi:type="dcterms:W3CDTF">2017-03-10T14:52:52Z</dcterms:created>
  <dcterms:modified xsi:type="dcterms:W3CDTF">2020-10-02T01:36:55Z</dcterms:modified>
</cp:coreProperties>
</file>